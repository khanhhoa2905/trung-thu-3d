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0"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71" r:id="rId14"/>
    <p:sldId id="269" r:id="rId15"/>
    <p:sldId id="270"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6341"/>
  </p:normalViewPr>
  <p:slideViewPr>
    <p:cSldViewPr snapToGrid="0">
      <p:cViewPr varScale="1">
        <p:scale>
          <a:sx n="121" d="100"/>
          <a:sy n="121" d="100"/>
        </p:scale>
        <p:origin x="200"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05/09/2023</a:t>
            </a:fld>
            <a:endParaRPr lang="en-VN"/>
          </a:p>
        </p:txBody>
      </p:sp>
      <p:sp>
        <p:nvSpPr>
          <p:cNvPr id="5" name="Footer Placeholder 4"/>
          <p:cNvSpPr>
            <a:spLocks noGrp="1"/>
          </p:cNvSpPr>
          <p:nvPr>
            <p:ph type="ftr" sz="quarter" idx="11"/>
          </p:nvPr>
        </p:nvSpPr>
        <p:spPr>
          <a:xfrm>
            <a:off x="2416500" y="329307"/>
            <a:ext cx="4973915" cy="309201"/>
          </a:xfrm>
        </p:spPr>
        <p:txBody>
          <a:bodyPr/>
          <a:lstStyle/>
          <a:p>
            <a:endParaRPr lang="en-VN"/>
          </a:p>
        </p:txBody>
      </p:sp>
      <p:sp>
        <p:nvSpPr>
          <p:cNvPr id="6" name="Slide Number Placeholder 5"/>
          <p:cNvSpPr>
            <a:spLocks noGrp="1"/>
          </p:cNvSpPr>
          <p:nvPr>
            <p:ph type="sldNum" sz="quarter" idx="12"/>
          </p:nvPr>
        </p:nvSpPr>
        <p:spPr>
          <a:xfrm>
            <a:off x="1437664" y="798973"/>
            <a:ext cx="811019" cy="503578"/>
          </a:xfrm>
        </p:spPr>
        <p:txBody>
          <a:bodyPr/>
          <a:lstStyle/>
          <a:p>
            <a:fld id="{AB7131A4-70E5-2C47-979D-CC0A508A1115}" type="slidenum">
              <a:rPr lang="en-VN" smtClean="0"/>
              <a:t>‹#›</a:t>
            </a:fld>
            <a:endParaRPr lang="en-V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4653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198069"/>
            <a:ext cx="9603275" cy="674212"/>
          </a:xfrm>
        </p:spPr>
        <p:txBody>
          <a:bodyPr/>
          <a:lstStyle>
            <a:lvl1pPr>
              <a:defRPr>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1451579" y="1244014"/>
            <a:ext cx="9603275" cy="4444399"/>
          </a:xfrm>
        </p:spPr>
        <p:txBody>
          <a:bodyPr ancho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480060" y="479993"/>
            <a:ext cx="811019" cy="503578"/>
          </a:xfrm>
        </p:spPr>
        <p:txBody>
          <a:bodyPr/>
          <a:lstStyle>
            <a:lvl1pPr>
              <a:defRPr>
                <a:latin typeface="Arial" panose="020B0604020202020204" pitchFamily="34" charset="0"/>
                <a:cs typeface="Arial" panose="020B0604020202020204" pitchFamily="34" charset="0"/>
              </a:defRPr>
            </a:lvl1pPr>
          </a:lstStyle>
          <a:p>
            <a:fld id="{AB7131A4-70E5-2C47-979D-CC0A508A1115}" type="slidenum">
              <a:rPr lang="en-VN" smtClean="0"/>
              <a:pPr/>
              <a:t>‹#›</a:t>
            </a:fld>
            <a:endParaRPr lang="en-VN"/>
          </a:p>
        </p:txBody>
      </p:sp>
      <p:cxnSp>
        <p:nvCxnSpPr>
          <p:cNvPr id="33" name="Straight Connector 32"/>
          <p:cNvCxnSpPr/>
          <p:nvPr/>
        </p:nvCxnSpPr>
        <p:spPr>
          <a:xfrm>
            <a:off x="1447332" y="983571"/>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58719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F61E88-A186-394E-83B0-C95AB89BE3CE}" type="datetimeFigureOut">
              <a:rPr lang="en-VN" smtClean="0"/>
              <a:t>05/09/2023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4645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F61E88-A186-394E-83B0-C95AB89BE3CE}" type="datetimeFigureOut">
              <a:rPr lang="en-VN" smtClean="0"/>
              <a:t>05/09/2023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3193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F61E88-A186-394E-83B0-C95AB89BE3CE}" type="datetimeFigureOut">
              <a:rPr lang="en-VN" smtClean="0"/>
              <a:t>05/09/2023</a:t>
            </a:fld>
            <a:endParaRPr lang="en-VN"/>
          </a:p>
        </p:txBody>
      </p:sp>
      <p:sp>
        <p:nvSpPr>
          <p:cNvPr id="8" name="Footer Placeholder 7"/>
          <p:cNvSpPr>
            <a:spLocks noGrp="1"/>
          </p:cNvSpPr>
          <p:nvPr>
            <p:ph type="ftr" sz="quarter" idx="11"/>
          </p:nvPr>
        </p:nvSpPr>
        <p:spPr/>
        <p:txBody>
          <a:bodyPr/>
          <a:lstStyle/>
          <a:p>
            <a:endParaRPr lang="en-VN"/>
          </a:p>
        </p:txBody>
      </p:sp>
      <p:sp>
        <p:nvSpPr>
          <p:cNvPr id="9" name="Slide Number Placeholder 8"/>
          <p:cNvSpPr>
            <a:spLocks noGrp="1"/>
          </p:cNvSpPr>
          <p:nvPr>
            <p:ph type="sldNum" sz="quarter" idx="12"/>
          </p:nvPr>
        </p:nvSpPr>
        <p:spPr/>
        <p:txBody>
          <a:bodyPr/>
          <a:lstStyle/>
          <a:p>
            <a:fld id="{AB7131A4-70E5-2C47-979D-CC0A508A1115}" type="slidenum">
              <a:rPr lang="en-VN" smtClean="0"/>
              <a:t>‹#›</a:t>
            </a:fld>
            <a:endParaRPr lang="en-V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07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F61E88-A186-394E-83B0-C95AB89BE3CE}" type="datetimeFigureOut">
              <a:rPr lang="en-VN" smtClean="0"/>
              <a:t>05/09/2023</a:t>
            </a:fld>
            <a:endParaRPr lang="en-VN"/>
          </a:p>
        </p:txBody>
      </p:sp>
      <p:sp>
        <p:nvSpPr>
          <p:cNvPr id="4" name="Footer Placeholder 3"/>
          <p:cNvSpPr>
            <a:spLocks noGrp="1"/>
          </p:cNvSpPr>
          <p:nvPr>
            <p:ph type="ftr" sz="quarter" idx="11"/>
          </p:nvPr>
        </p:nvSpPr>
        <p:spPr/>
        <p:txBody>
          <a:bodyPr/>
          <a:lstStyle/>
          <a:p>
            <a:endParaRPr lang="en-VN"/>
          </a:p>
        </p:txBody>
      </p:sp>
      <p:sp>
        <p:nvSpPr>
          <p:cNvPr id="5" name="Slide Number Placeholder 4"/>
          <p:cNvSpPr>
            <a:spLocks noGrp="1"/>
          </p:cNvSpPr>
          <p:nvPr>
            <p:ph type="sldNum" sz="quarter" idx="12"/>
          </p:nvPr>
        </p:nvSpPr>
        <p:spPr/>
        <p:txBody>
          <a:bodyPr/>
          <a:lstStyle/>
          <a:p>
            <a:fld id="{AB7131A4-70E5-2C47-979D-CC0A508A1115}" type="slidenum">
              <a:rPr lang="en-VN" smtClean="0"/>
              <a:t>‹#›</a:t>
            </a:fld>
            <a:endParaRPr lang="en-V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69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F61E88-A186-394E-83B0-C95AB89BE3CE}" type="datetimeFigureOut">
              <a:rPr lang="en-VN" smtClean="0"/>
              <a:t>05/09/2023</a:t>
            </a:fld>
            <a:endParaRPr lang="en-VN"/>
          </a:p>
        </p:txBody>
      </p:sp>
      <p:sp>
        <p:nvSpPr>
          <p:cNvPr id="3" name="Footer Placeholder 2"/>
          <p:cNvSpPr>
            <a:spLocks noGrp="1"/>
          </p:cNvSpPr>
          <p:nvPr>
            <p:ph type="ftr" sz="quarter" idx="11"/>
          </p:nvPr>
        </p:nvSpPr>
        <p:spPr/>
        <p:txBody>
          <a:bodyPr/>
          <a:lstStyle/>
          <a:p>
            <a:endParaRPr lang="en-VN"/>
          </a:p>
        </p:txBody>
      </p:sp>
      <p:sp>
        <p:nvSpPr>
          <p:cNvPr id="4" name="Slide Number Placeholder 3"/>
          <p:cNvSpPr>
            <a:spLocks noGrp="1"/>
          </p:cNvSpPr>
          <p:nvPr>
            <p:ph type="sldNum" sz="quarter" idx="12"/>
          </p:nvPr>
        </p:nvSpPr>
        <p:spPr/>
        <p:txBody>
          <a:bodyPr/>
          <a:lstStyle/>
          <a:p>
            <a:fld id="{AB7131A4-70E5-2C47-979D-CC0A508A1115}" type="slidenum">
              <a:rPr lang="en-VN" smtClean="0"/>
              <a:t>‹#›</a:t>
            </a:fld>
            <a:endParaRPr lang="en-VN"/>
          </a:p>
        </p:txBody>
      </p:sp>
    </p:spTree>
    <p:extLst>
      <p:ext uri="{BB962C8B-B14F-4D97-AF65-F5344CB8AC3E}">
        <p14:creationId xmlns:p14="http://schemas.microsoft.com/office/powerpoint/2010/main" val="3528770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F61E88-A186-394E-83B0-C95AB89BE3CE}" type="datetimeFigureOut">
              <a:rPr lang="en-VN" smtClean="0"/>
              <a:t>05/09/2023</a:t>
            </a:fld>
            <a:endParaRPr lang="en-VN"/>
          </a:p>
        </p:txBody>
      </p:sp>
      <p:sp>
        <p:nvSpPr>
          <p:cNvPr id="6" name="Footer Placeholder 5"/>
          <p:cNvSpPr>
            <a:spLocks noGrp="1"/>
          </p:cNvSpPr>
          <p:nvPr>
            <p:ph type="ftr" sz="quarter" idx="11"/>
          </p:nvPr>
        </p:nvSpPr>
        <p:spPr/>
        <p:txBody>
          <a:bodyPr/>
          <a:lstStyle/>
          <a:p>
            <a:endParaRPr lang="en-VN"/>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633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EF61E88-A186-394E-83B0-C95AB89BE3CE}" type="datetimeFigureOut">
              <a:rPr lang="en-VN" smtClean="0"/>
              <a:t>05/09/2023</a:t>
            </a:fld>
            <a:endParaRPr lang="en-VN"/>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AB7131A4-70E5-2C47-979D-CC0A508A1115}" type="slidenum">
              <a:rPr lang="en-VN" smtClean="0"/>
              <a:t>‹#›</a:t>
            </a:fld>
            <a:endParaRPr lang="en-V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0226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05/09/2023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0032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F61E88-A186-394E-83B0-C95AB89BE3CE}" type="datetimeFigureOut">
              <a:rPr lang="en-VN" smtClean="0"/>
              <a:t>05/09/2023</a:t>
            </a:fld>
            <a:endParaRPr lang="en-VN"/>
          </a:p>
        </p:txBody>
      </p:sp>
      <p:sp>
        <p:nvSpPr>
          <p:cNvPr id="5" name="Footer Placeholder 4"/>
          <p:cNvSpPr>
            <a:spLocks noGrp="1"/>
          </p:cNvSpPr>
          <p:nvPr>
            <p:ph type="ftr" sz="quarter" idx="11"/>
          </p:nvPr>
        </p:nvSpPr>
        <p:spPr/>
        <p:txBody>
          <a:bodyPr/>
          <a:lstStyle/>
          <a:p>
            <a:endParaRPr lang="en-VN"/>
          </a:p>
        </p:txBody>
      </p:sp>
      <p:sp>
        <p:nvSpPr>
          <p:cNvPr id="6" name="Slide Number Placeholder 5"/>
          <p:cNvSpPr>
            <a:spLocks noGrp="1"/>
          </p:cNvSpPr>
          <p:nvPr>
            <p:ph type="sldNum" sz="quarter" idx="12"/>
          </p:nvPr>
        </p:nvSpPr>
        <p:spPr/>
        <p:txBody>
          <a:bodyPr/>
          <a:lstStyle/>
          <a:p>
            <a:fld id="{AB7131A4-70E5-2C47-979D-CC0A508A1115}" type="slidenum">
              <a:rPr lang="en-VN" smtClean="0"/>
              <a:t>‹#›</a:t>
            </a:fld>
            <a:endParaRPr lang="en-V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06921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EF61E88-A186-394E-83B0-C95AB89BE3CE}" type="datetimeFigureOut">
              <a:rPr lang="en-VN" smtClean="0"/>
              <a:t>05/09/2023</a:t>
            </a:fld>
            <a:endParaRPr lang="en-V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VN"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B7131A4-70E5-2C47-979D-CC0A508A1115}" type="slidenum">
              <a:rPr lang="en-VN" smtClean="0"/>
              <a:t>‹#›</a:t>
            </a:fld>
            <a:endParaRPr lang="en-V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7159300"/>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7.emf"/><Relationship Id="rId12" Type="http://schemas.openxmlformats.org/officeDocument/2006/relationships/image" Target="../media/image10.emf"/><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oleObject" Target="../embeddings/oleObject2.bin"/><Relationship Id="rId11" Type="http://schemas.openxmlformats.org/officeDocument/2006/relationships/image" Target="../media/image9.emf"/><Relationship Id="rId5" Type="http://schemas.openxmlformats.org/officeDocument/2006/relationships/image" Target="../media/image6.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8.emf"/></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13693-A035-3C4E-7F71-6028A05A4966}"/>
              </a:ext>
            </a:extLst>
          </p:cNvPr>
          <p:cNvSpPr>
            <a:spLocks noGrp="1"/>
          </p:cNvSpPr>
          <p:nvPr>
            <p:ph type="ctrTitle"/>
          </p:nvPr>
        </p:nvSpPr>
        <p:spPr/>
        <p:txBody>
          <a:bodyPr>
            <a:normAutofit fontScale="90000"/>
          </a:bodyPr>
          <a:lstStyle/>
          <a:p>
            <a:r>
              <a:rPr lang="en-VN" dirty="0">
                <a:latin typeface="Arial" panose="020B0604020202020204" pitchFamily="34" charset="0"/>
                <a:cs typeface="Arial" panose="020B0604020202020204" pitchFamily="34" charset="0"/>
              </a:rPr>
              <a:t>CHƯƠNG 2: MÔ HÌNH TRONG MIỀN TẦN SỐ</a:t>
            </a:r>
          </a:p>
        </p:txBody>
      </p:sp>
      <p:sp>
        <p:nvSpPr>
          <p:cNvPr id="3" name="Subtitle 2">
            <a:extLst>
              <a:ext uri="{FF2B5EF4-FFF2-40B4-BE49-F238E27FC236}">
                <a16:creationId xmlns:a16="http://schemas.microsoft.com/office/drawing/2014/main" id="{AFEE02D5-7413-F104-1030-A7A1F479E957}"/>
              </a:ext>
            </a:extLst>
          </p:cNvPr>
          <p:cNvSpPr>
            <a:spLocks noGrp="1"/>
          </p:cNvSpPr>
          <p:nvPr>
            <p:ph type="subTitle" idx="1"/>
          </p:nvPr>
        </p:nvSpPr>
        <p:spPr/>
        <p:txBody>
          <a:bodyPr>
            <a:normAutofit/>
          </a:bodyPr>
          <a:lstStyle/>
          <a:p>
            <a:r>
              <a:rPr kumimoji="0" lang="en-VN" altLang="en-VN" sz="36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Modeling in the Frequency Domain </a:t>
            </a:r>
          </a:p>
        </p:txBody>
      </p:sp>
      <p:pic>
        <p:nvPicPr>
          <p:cNvPr id="1025" name="Picture 1" descr="page53image1145757968">
            <a:extLst>
              <a:ext uri="{FF2B5EF4-FFF2-40B4-BE49-F238E27FC236}">
                <a16:creationId xmlns:a16="http://schemas.microsoft.com/office/drawing/2014/main" id="{93647881-E3F9-0241-C1ED-5F534C819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019800" cy="44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696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6F87F-9540-6807-463C-A18DC1A6FD39}"/>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G</a:t>
            </a:r>
            <a:r>
              <a:rPr lang="en-VN" dirty="0">
                <a:latin typeface="Arial" panose="020B0604020202020204" pitchFamily="34" charset="0"/>
                <a:cs typeface="Arial" panose="020B0604020202020204" pitchFamily="34" charset="0"/>
              </a:rPr>
              <a:t>iới thiệu</a:t>
            </a:r>
            <a:endParaRPr lang="en-VN" dirty="0"/>
          </a:p>
        </p:txBody>
      </p:sp>
      <p:sp>
        <p:nvSpPr>
          <p:cNvPr id="3" name="Content Placeholder 2">
            <a:extLst>
              <a:ext uri="{FF2B5EF4-FFF2-40B4-BE49-F238E27FC236}">
                <a16:creationId xmlns:a16="http://schemas.microsoft.com/office/drawing/2014/main" id="{51FFE0DA-2280-E682-2A9C-68F2365493EE}"/>
              </a:ext>
            </a:extLst>
          </p:cNvPr>
          <p:cNvSpPr>
            <a:spLocks noGrp="1"/>
          </p:cNvSpPr>
          <p:nvPr>
            <p:ph idx="1"/>
          </p:nvPr>
        </p:nvSpPr>
        <p:spPr>
          <a:xfrm>
            <a:off x="4380614" y="1244014"/>
            <a:ext cx="6674240" cy="4444399"/>
          </a:xfrm>
        </p:spPr>
        <p:txBody>
          <a:bodyPr/>
          <a:lstStyle/>
          <a:p>
            <a:r>
              <a:rPr lang="en-VN" dirty="0">
                <a:latin typeface="Arial" panose="020B0604020202020204" pitchFamily="34" charset="0"/>
                <a:cs typeface="Arial" panose="020B0604020202020204" pitchFamily="34" charset="0"/>
              </a:rPr>
              <a:t>Mô hình toán học của hệ thống:</a:t>
            </a:r>
          </a:p>
          <a:p>
            <a:pPr lvl="1"/>
            <a:r>
              <a:rPr lang="en-VN" dirty="0">
                <a:latin typeface="Arial" panose="020B0604020202020204" pitchFamily="34" charset="0"/>
                <a:cs typeface="Arial" panose="020B0604020202020204" pitchFamily="34" charset="0"/>
              </a:rPr>
              <a:t>Phương trình vi phân: Dựa trên các định luật vật lý để biểu diễn hệ thống -&gt; Phương trình vi phân thể hiện quan hệ giữa lối ra và lối vào </a:t>
            </a:r>
          </a:p>
          <a:p>
            <a:pPr lvl="1"/>
            <a:r>
              <a:rPr lang="en-VN" b="1" dirty="0">
                <a:latin typeface="Arial" panose="020B0604020202020204" pitchFamily="34" charset="0"/>
                <a:cs typeface="Arial" panose="020B0604020202020204" pitchFamily="34" charset="0"/>
              </a:rPr>
              <a:t>Hàm truyền (Transfer functions) trong miền tần số</a:t>
            </a:r>
          </a:p>
          <a:p>
            <a:pPr marL="457200" lvl="1" indent="0">
              <a:buNone/>
            </a:pPr>
            <a:r>
              <a:rPr lang="en-VN" b="1" dirty="0">
                <a:latin typeface="Arial" panose="020B0604020202020204" pitchFamily="34" charset="0"/>
                <a:cs typeface="Arial" panose="020B0604020202020204" pitchFamily="34" charset="0"/>
              </a:rPr>
              <a:t>	Sơ đồ khối của hệ thống</a:t>
            </a:r>
          </a:p>
          <a:p>
            <a:pPr lvl="1"/>
            <a:r>
              <a:rPr lang="en-VN" dirty="0">
                <a:latin typeface="Arial" panose="020B0604020202020204" pitchFamily="34" charset="0"/>
                <a:cs typeface="Arial" panose="020B0604020202020204" pitchFamily="34" charset="0"/>
              </a:rPr>
              <a:t>Phương trình trạng thái (State equations) trong miền thời gian (Chương 3)</a:t>
            </a:r>
          </a:p>
          <a:p>
            <a:pPr lvl="1"/>
            <a:endParaRPr lang="en-VN" dirty="0">
              <a:latin typeface="Arial" panose="020B0604020202020204" pitchFamily="34" charset="0"/>
              <a:cs typeface="Arial" panose="020B0604020202020204" pitchFamily="34" charset="0"/>
            </a:endParaRPr>
          </a:p>
        </p:txBody>
      </p:sp>
      <p:pic>
        <p:nvPicPr>
          <p:cNvPr id="4" name="Content Placeholder 8">
            <a:extLst>
              <a:ext uri="{FF2B5EF4-FFF2-40B4-BE49-F238E27FC236}">
                <a16:creationId xmlns:a16="http://schemas.microsoft.com/office/drawing/2014/main" id="{3A6A0331-5FD2-9BDB-0407-1FA7001FE81B}"/>
              </a:ext>
            </a:extLst>
          </p:cNvPr>
          <p:cNvPicPr>
            <a:picLocks noChangeAspect="1"/>
          </p:cNvPicPr>
          <p:nvPr/>
        </p:nvPicPr>
        <p:blipFill>
          <a:blip r:embed="rId2"/>
          <a:stretch>
            <a:fillRect/>
          </a:stretch>
        </p:blipFill>
        <p:spPr>
          <a:xfrm>
            <a:off x="170119" y="2253158"/>
            <a:ext cx="4091209" cy="1739939"/>
          </a:xfrm>
          <a:prstGeom prst="rect">
            <a:avLst/>
          </a:prstGeom>
        </p:spPr>
      </p:pic>
    </p:spTree>
    <p:extLst>
      <p:ext uri="{BB962C8B-B14F-4D97-AF65-F5344CB8AC3E}">
        <p14:creationId xmlns:p14="http://schemas.microsoft.com/office/powerpoint/2010/main" val="2521175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BF9F0-8421-A07E-4FF3-E3051CE10AFC}"/>
              </a:ext>
            </a:extLst>
          </p:cNvPr>
          <p:cNvSpPr>
            <a:spLocks noGrp="1"/>
          </p:cNvSpPr>
          <p:nvPr>
            <p:ph type="title"/>
          </p:nvPr>
        </p:nvSpPr>
        <p:spPr/>
        <p:txBody>
          <a:bodyPr/>
          <a:lstStyle/>
          <a:p>
            <a:r>
              <a:rPr lang="en-VN" dirty="0"/>
              <a:t>BIẾN ĐỔI LAPLACE</a:t>
            </a:r>
          </a:p>
        </p:txBody>
      </p:sp>
      <p:pic>
        <p:nvPicPr>
          <p:cNvPr id="5" name="Content Placeholder 4">
            <a:extLst>
              <a:ext uri="{FF2B5EF4-FFF2-40B4-BE49-F238E27FC236}">
                <a16:creationId xmlns:a16="http://schemas.microsoft.com/office/drawing/2014/main" id="{CB9B6876-6D0A-A8E0-0C6C-53C40A4DB20A}"/>
              </a:ext>
            </a:extLst>
          </p:cNvPr>
          <p:cNvPicPr>
            <a:picLocks noGrp="1" noChangeAspect="1"/>
          </p:cNvPicPr>
          <p:nvPr>
            <p:ph idx="1"/>
          </p:nvPr>
        </p:nvPicPr>
        <p:blipFill>
          <a:blip r:embed="rId2"/>
          <a:stretch>
            <a:fillRect/>
          </a:stretch>
        </p:blipFill>
        <p:spPr>
          <a:xfrm>
            <a:off x="7231134" y="2170352"/>
            <a:ext cx="4432300" cy="1028700"/>
          </a:xfrm>
        </p:spPr>
      </p:pic>
      <p:grpSp>
        <p:nvGrpSpPr>
          <p:cNvPr id="6" name="Group 23">
            <a:extLst>
              <a:ext uri="{FF2B5EF4-FFF2-40B4-BE49-F238E27FC236}">
                <a16:creationId xmlns:a16="http://schemas.microsoft.com/office/drawing/2014/main" id="{A31FA98E-4C11-C1CA-2E87-0BB2BEE860F3}"/>
              </a:ext>
            </a:extLst>
          </p:cNvPr>
          <p:cNvGrpSpPr>
            <a:grpSpLocks/>
          </p:cNvGrpSpPr>
          <p:nvPr/>
        </p:nvGrpSpPr>
        <p:grpSpPr bwMode="auto">
          <a:xfrm>
            <a:off x="369091" y="1916594"/>
            <a:ext cx="5435009" cy="3889263"/>
            <a:chOff x="1392" y="1824"/>
            <a:chExt cx="2992" cy="2057"/>
          </a:xfrm>
        </p:grpSpPr>
        <p:pic>
          <p:nvPicPr>
            <p:cNvPr id="7" name="Picture 3">
              <a:extLst>
                <a:ext uri="{FF2B5EF4-FFF2-40B4-BE49-F238E27FC236}">
                  <a16:creationId xmlns:a16="http://schemas.microsoft.com/office/drawing/2014/main" id="{2755A489-76C9-0A78-EDAC-286D2904FE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 y="1824"/>
              <a:ext cx="2564" cy="2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Object 6">
              <a:extLst>
                <a:ext uri="{FF2B5EF4-FFF2-40B4-BE49-F238E27FC236}">
                  <a16:creationId xmlns:a16="http://schemas.microsoft.com/office/drawing/2014/main" id="{FE64D919-DDD8-015E-7503-E6E3DF379390}"/>
                </a:ext>
              </a:extLst>
            </p:cNvPr>
            <p:cNvGraphicFramePr>
              <a:graphicFrameLocks noChangeAspect="1"/>
            </p:cNvGraphicFramePr>
            <p:nvPr/>
          </p:nvGraphicFramePr>
          <p:xfrm>
            <a:off x="1800" y="2534"/>
            <a:ext cx="693" cy="317"/>
          </p:xfrm>
          <a:graphic>
            <a:graphicData uri="http://schemas.openxmlformats.org/presentationml/2006/ole">
              <mc:AlternateContent xmlns:mc="http://schemas.openxmlformats.org/markup-compatibility/2006">
                <mc:Choice xmlns:v="urn:schemas-microsoft-com:vml" Requires="v">
                  <p:oleObj name="Equation" r:id="rId4" imgW="23406100" imgH="10528300" progId="Equation.3">
                    <p:embed/>
                  </p:oleObj>
                </mc:Choice>
                <mc:Fallback>
                  <p:oleObj name="Equation" r:id="rId4" imgW="23406100" imgH="10528300" progId="Equation.3">
                    <p:embed/>
                    <p:pic>
                      <p:nvPicPr>
                        <p:cNvPr id="20495" name="Object 6">
                          <a:extLst>
                            <a:ext uri="{FF2B5EF4-FFF2-40B4-BE49-F238E27FC236}">
                              <a16:creationId xmlns:a16="http://schemas.microsoft.com/office/drawing/2014/main" id="{14C75C8E-FD17-B3A8-CB4B-E42F317A8D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0" y="2534"/>
                          <a:ext cx="693"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4">
              <a:extLst>
                <a:ext uri="{FF2B5EF4-FFF2-40B4-BE49-F238E27FC236}">
                  <a16:creationId xmlns:a16="http://schemas.microsoft.com/office/drawing/2014/main" id="{93710B8E-85A4-2DAD-7F38-EB6E474E50C6}"/>
                </a:ext>
              </a:extLst>
            </p:cNvPr>
            <p:cNvGraphicFramePr>
              <a:graphicFrameLocks noChangeAspect="1"/>
            </p:cNvGraphicFramePr>
            <p:nvPr/>
          </p:nvGraphicFramePr>
          <p:xfrm>
            <a:off x="1920" y="3203"/>
            <a:ext cx="812" cy="291"/>
          </p:xfrm>
          <a:graphic>
            <a:graphicData uri="http://schemas.openxmlformats.org/presentationml/2006/ole">
              <mc:AlternateContent xmlns:mc="http://schemas.openxmlformats.org/markup-compatibility/2006">
                <mc:Choice xmlns:v="urn:schemas-microsoft-com:vml" Requires="v">
                  <p:oleObj name="Equation" r:id="rId6" imgW="27203400" imgH="9652000" progId="Equation.3">
                    <p:embed/>
                  </p:oleObj>
                </mc:Choice>
                <mc:Fallback>
                  <p:oleObj name="Equation" r:id="rId6" imgW="27203400" imgH="9652000" progId="Equation.3">
                    <p:embed/>
                    <p:pic>
                      <p:nvPicPr>
                        <p:cNvPr id="20496" name="Object 14">
                          <a:extLst>
                            <a:ext uri="{FF2B5EF4-FFF2-40B4-BE49-F238E27FC236}">
                              <a16:creationId xmlns:a16="http://schemas.microsoft.com/office/drawing/2014/main" id="{0297C1FB-049A-F6CD-435E-0118F6AF20E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0" y="3203"/>
                          <a:ext cx="81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25">
              <a:extLst>
                <a:ext uri="{FF2B5EF4-FFF2-40B4-BE49-F238E27FC236}">
                  <a16:creationId xmlns:a16="http://schemas.microsoft.com/office/drawing/2014/main" id="{12A24383-4B79-97D0-2A70-C67F81EFBEB7}"/>
                </a:ext>
              </a:extLst>
            </p:cNvPr>
            <p:cNvGraphicFramePr>
              <a:graphicFrameLocks noChangeAspect="1"/>
            </p:cNvGraphicFramePr>
            <p:nvPr/>
          </p:nvGraphicFramePr>
          <p:xfrm>
            <a:off x="3573" y="3324"/>
            <a:ext cx="811" cy="292"/>
          </p:xfrm>
          <a:graphic>
            <a:graphicData uri="http://schemas.openxmlformats.org/presentationml/2006/ole">
              <mc:AlternateContent xmlns:mc="http://schemas.openxmlformats.org/markup-compatibility/2006">
                <mc:Choice xmlns:v="urn:schemas-microsoft-com:vml" Requires="v">
                  <p:oleObj name="Equation" r:id="rId8" imgW="27203400" imgH="9652000" progId="Equation.3">
                    <p:embed/>
                  </p:oleObj>
                </mc:Choice>
                <mc:Fallback>
                  <p:oleObj name="Equation" r:id="rId8" imgW="27203400" imgH="9652000" progId="Equation.3">
                    <p:embed/>
                    <p:pic>
                      <p:nvPicPr>
                        <p:cNvPr id="20497" name="Object 25">
                          <a:extLst>
                            <a:ext uri="{FF2B5EF4-FFF2-40B4-BE49-F238E27FC236}">
                              <a16:creationId xmlns:a16="http://schemas.microsoft.com/office/drawing/2014/main" id="{EAAF3EC3-14FB-FECD-294A-7AB9A45F6A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3" y="3324"/>
                          <a:ext cx="81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26">
              <a:extLst>
                <a:ext uri="{FF2B5EF4-FFF2-40B4-BE49-F238E27FC236}">
                  <a16:creationId xmlns:a16="http://schemas.microsoft.com/office/drawing/2014/main" id="{314048C5-9C20-5A8D-E871-4840E30DA343}"/>
                </a:ext>
              </a:extLst>
            </p:cNvPr>
            <p:cNvGraphicFramePr>
              <a:graphicFrameLocks noChangeAspect="1"/>
            </p:cNvGraphicFramePr>
            <p:nvPr/>
          </p:nvGraphicFramePr>
          <p:xfrm>
            <a:off x="2939" y="1836"/>
            <a:ext cx="1273" cy="271"/>
          </p:xfrm>
          <a:graphic>
            <a:graphicData uri="http://schemas.openxmlformats.org/presentationml/2006/ole">
              <mc:AlternateContent xmlns:mc="http://schemas.openxmlformats.org/markup-compatibility/2006">
                <mc:Choice xmlns:v="urn:schemas-microsoft-com:vml" Requires="v">
                  <p:oleObj name="Equation" r:id="rId10" imgW="43002200" imgH="9067800" progId="Equation.3">
                    <p:embed/>
                  </p:oleObj>
                </mc:Choice>
                <mc:Fallback>
                  <p:oleObj name="Equation" r:id="rId10" imgW="43002200" imgH="9067800" progId="Equation.3">
                    <p:embed/>
                    <p:pic>
                      <p:nvPicPr>
                        <p:cNvPr id="20498" name="Object 26">
                          <a:extLst>
                            <a:ext uri="{FF2B5EF4-FFF2-40B4-BE49-F238E27FC236}">
                              <a16:creationId xmlns:a16="http://schemas.microsoft.com/office/drawing/2014/main" id="{4525AE07-7F2C-751D-9CEE-3F686C6E125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39" y="1836"/>
                          <a:ext cx="127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Rectangle 11">
              <a:extLst>
                <a:ext uri="{FF2B5EF4-FFF2-40B4-BE49-F238E27FC236}">
                  <a16:creationId xmlns:a16="http://schemas.microsoft.com/office/drawing/2014/main" id="{ECF4BC39-D660-427F-7BA9-E4D0243924B6}"/>
                </a:ext>
              </a:extLst>
            </p:cNvPr>
            <p:cNvSpPr/>
            <p:nvPr/>
          </p:nvSpPr>
          <p:spPr>
            <a:xfrm>
              <a:off x="1985" y="3689"/>
              <a:ext cx="1009" cy="192"/>
            </a:xfrm>
            <a:prstGeom prst="rect">
              <a:avLst/>
            </a:prstGeom>
          </p:spPr>
          <p:txBody>
            <a:bodyPr wrap="none">
              <a:spAutoFit/>
            </a:bodyPr>
            <a:lstStyle/>
            <a:p>
              <a:pPr>
                <a:defRPr/>
              </a:pPr>
              <a:r>
                <a:rPr lang="en-US" sz="1400" dirty="0">
                  <a:latin typeface="+mn-lt"/>
                </a:rPr>
                <a:t>Algebraic operation</a:t>
              </a:r>
            </a:p>
          </p:txBody>
        </p:sp>
      </p:grpSp>
      <p:sp>
        <p:nvSpPr>
          <p:cNvPr id="13" name="Rectangle 10">
            <a:extLst>
              <a:ext uri="{FF2B5EF4-FFF2-40B4-BE49-F238E27FC236}">
                <a16:creationId xmlns:a16="http://schemas.microsoft.com/office/drawing/2014/main" id="{F0DA6DFA-76D3-236F-7C14-EB0D5C4064D0}"/>
              </a:ext>
            </a:extLst>
          </p:cNvPr>
          <p:cNvSpPr txBox="1">
            <a:spLocks noChangeArrowheads="1"/>
          </p:cNvSpPr>
          <p:nvPr/>
        </p:nvSpPr>
        <p:spPr>
          <a:xfrm>
            <a:off x="1446284" y="1264393"/>
            <a:ext cx="8001000" cy="381000"/>
          </a:xfrm>
          <a:prstGeom prst="rect">
            <a:avLst/>
          </a:prstGeom>
          <a:noFill/>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nSpc>
                <a:spcPct val="90000"/>
              </a:lnSpc>
              <a:buFontTx/>
              <a:buNone/>
            </a:pPr>
            <a:r>
              <a:rPr lang="en-US" altLang="en-US" sz="1800" i="1" dirty="0" err="1"/>
              <a:t>Tại</a:t>
            </a:r>
            <a:r>
              <a:rPr lang="en-US" altLang="en-US" sz="1800" i="1" dirty="0"/>
              <a:t> </a:t>
            </a:r>
            <a:r>
              <a:rPr lang="en-US" altLang="en-US" sz="1800" i="1" dirty="0" err="1"/>
              <a:t>sao</a:t>
            </a:r>
            <a:r>
              <a:rPr lang="en-US" altLang="en-US" sz="1800" i="1" dirty="0"/>
              <a:t> </a:t>
            </a:r>
            <a:r>
              <a:rPr lang="en-US" altLang="en-US" sz="1800" i="1" dirty="0" err="1"/>
              <a:t>sử</a:t>
            </a:r>
            <a:r>
              <a:rPr lang="en-US" altLang="en-US" sz="1800" i="1" dirty="0"/>
              <a:t> </a:t>
            </a:r>
            <a:r>
              <a:rPr lang="en-US" altLang="en-US" sz="1800" i="1" dirty="0" err="1"/>
              <a:t>dụng</a:t>
            </a:r>
            <a:r>
              <a:rPr lang="en-US" altLang="en-US" sz="1800" i="1" dirty="0"/>
              <a:t> </a:t>
            </a:r>
            <a:r>
              <a:rPr lang="en-US" altLang="en-US" sz="1800" i="1" dirty="0" err="1"/>
              <a:t>biến</a:t>
            </a:r>
            <a:r>
              <a:rPr lang="en-US" altLang="en-US" sz="1800" i="1" dirty="0"/>
              <a:t> </a:t>
            </a:r>
            <a:r>
              <a:rPr lang="en-US" altLang="en-US" sz="1800" i="1" dirty="0" err="1"/>
              <a:t>đổi</a:t>
            </a:r>
            <a:r>
              <a:rPr lang="en-US" altLang="en-US" sz="1800" i="1" dirty="0"/>
              <a:t> Laplace </a:t>
            </a:r>
            <a:r>
              <a:rPr lang="en-US" altLang="en-US" sz="1800" i="1" dirty="0" err="1"/>
              <a:t>trong</a:t>
            </a:r>
            <a:r>
              <a:rPr lang="en-US" altLang="en-US" sz="1800" i="1" dirty="0"/>
              <a:t> </a:t>
            </a:r>
            <a:r>
              <a:rPr lang="en-US" altLang="en-US" sz="1800" i="1" dirty="0" err="1"/>
              <a:t>hệ</a:t>
            </a:r>
            <a:r>
              <a:rPr lang="en-US" altLang="en-US" sz="1800" i="1" dirty="0"/>
              <a:t> </a:t>
            </a:r>
            <a:r>
              <a:rPr lang="en-US" altLang="en-US" sz="1800" i="1" dirty="0" err="1"/>
              <a:t>thống</a:t>
            </a:r>
            <a:r>
              <a:rPr lang="en-US" altLang="en-US" sz="1800" i="1" dirty="0"/>
              <a:t> </a:t>
            </a:r>
            <a:r>
              <a:rPr lang="en-US" altLang="en-US" sz="1800" i="1" dirty="0" err="1"/>
              <a:t>điều</a:t>
            </a:r>
            <a:r>
              <a:rPr lang="en-US" altLang="en-US" sz="1800" i="1" dirty="0"/>
              <a:t> </a:t>
            </a:r>
            <a:r>
              <a:rPr lang="en-US" altLang="en-US" sz="1800" i="1" dirty="0" err="1"/>
              <a:t>khiển</a:t>
            </a:r>
            <a:r>
              <a:rPr lang="en-US" altLang="en-US" sz="1800" i="1" dirty="0"/>
              <a:t> </a:t>
            </a:r>
            <a:r>
              <a:rPr lang="en-US" altLang="en-US" sz="1800" i="1" dirty="0" err="1"/>
              <a:t>tuyến</a:t>
            </a:r>
            <a:r>
              <a:rPr lang="en-US" altLang="en-US" sz="1800" i="1" dirty="0"/>
              <a:t> </a:t>
            </a:r>
            <a:r>
              <a:rPr lang="en-US" altLang="en-US" sz="1800" i="1" dirty="0" err="1"/>
              <a:t>tính</a:t>
            </a:r>
            <a:r>
              <a:rPr lang="en-US" altLang="en-US" sz="1800" i="1" dirty="0"/>
              <a:t>?</a:t>
            </a:r>
          </a:p>
        </p:txBody>
      </p:sp>
      <p:pic>
        <p:nvPicPr>
          <p:cNvPr id="14" name="Picture 9" descr="j0134549[1]">
            <a:extLst>
              <a:ext uri="{FF2B5EF4-FFF2-40B4-BE49-F238E27FC236}">
                <a16:creationId xmlns:a16="http://schemas.microsoft.com/office/drawing/2014/main" id="{000D33E4-4D5D-4C98-01C7-733CAB6840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8469" y="764069"/>
            <a:ext cx="5778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EFA6D76F-3B78-D027-39BA-F11F6EE7CBDD}"/>
              </a:ext>
            </a:extLst>
          </p:cNvPr>
          <p:cNvPicPr>
            <a:picLocks noChangeAspect="1"/>
          </p:cNvPicPr>
          <p:nvPr/>
        </p:nvPicPr>
        <p:blipFill>
          <a:blip r:embed="rId13"/>
          <a:stretch>
            <a:fillRect/>
          </a:stretch>
        </p:blipFill>
        <p:spPr>
          <a:xfrm>
            <a:off x="6765035" y="3858389"/>
            <a:ext cx="5186552" cy="1009099"/>
          </a:xfrm>
          <a:prstGeom prst="rect">
            <a:avLst/>
          </a:prstGeom>
        </p:spPr>
      </p:pic>
    </p:spTree>
    <p:extLst>
      <p:ext uri="{BB962C8B-B14F-4D97-AF65-F5344CB8AC3E}">
        <p14:creationId xmlns:p14="http://schemas.microsoft.com/office/powerpoint/2010/main" val="115678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AE8E4-5417-3751-A44F-32D2AF70EDD3}"/>
              </a:ext>
            </a:extLst>
          </p:cNvPr>
          <p:cNvSpPr>
            <a:spLocks noGrp="1"/>
          </p:cNvSpPr>
          <p:nvPr>
            <p:ph type="title"/>
          </p:nvPr>
        </p:nvSpPr>
        <p:spPr/>
        <p:txBody>
          <a:bodyPr/>
          <a:lstStyle/>
          <a:p>
            <a:r>
              <a:rPr lang="en-VN" dirty="0"/>
              <a:t>BIẾN ĐỔI LAPLACE</a:t>
            </a:r>
          </a:p>
        </p:txBody>
      </p:sp>
      <p:pic>
        <p:nvPicPr>
          <p:cNvPr id="5" name="Content Placeholder 4">
            <a:extLst>
              <a:ext uri="{FF2B5EF4-FFF2-40B4-BE49-F238E27FC236}">
                <a16:creationId xmlns:a16="http://schemas.microsoft.com/office/drawing/2014/main" id="{A2F91C8E-082D-ACB5-A188-E942192E9DA1}"/>
              </a:ext>
            </a:extLst>
          </p:cNvPr>
          <p:cNvPicPr>
            <a:picLocks noGrp="1" noChangeAspect="1"/>
          </p:cNvPicPr>
          <p:nvPr>
            <p:ph idx="1"/>
          </p:nvPr>
        </p:nvPicPr>
        <p:blipFill>
          <a:blip r:embed="rId2"/>
          <a:stretch>
            <a:fillRect/>
          </a:stretch>
        </p:blipFill>
        <p:spPr>
          <a:xfrm>
            <a:off x="1095411" y="1100153"/>
            <a:ext cx="3767050" cy="3635281"/>
          </a:xfrm>
        </p:spPr>
      </p:pic>
      <p:pic>
        <p:nvPicPr>
          <p:cNvPr id="7" name="Picture 6">
            <a:extLst>
              <a:ext uri="{FF2B5EF4-FFF2-40B4-BE49-F238E27FC236}">
                <a16:creationId xmlns:a16="http://schemas.microsoft.com/office/drawing/2014/main" id="{CF0F847E-C6CC-6541-F945-9BDF2451C32F}"/>
              </a:ext>
            </a:extLst>
          </p:cNvPr>
          <p:cNvPicPr>
            <a:picLocks noChangeAspect="1"/>
          </p:cNvPicPr>
          <p:nvPr/>
        </p:nvPicPr>
        <p:blipFill>
          <a:blip r:embed="rId3"/>
          <a:stretch>
            <a:fillRect/>
          </a:stretch>
        </p:blipFill>
        <p:spPr>
          <a:xfrm>
            <a:off x="5851064" y="1100153"/>
            <a:ext cx="5947890" cy="4983921"/>
          </a:xfrm>
          <a:prstGeom prst="rect">
            <a:avLst/>
          </a:prstGeom>
        </p:spPr>
      </p:pic>
      <p:sp>
        <p:nvSpPr>
          <p:cNvPr id="8" name="TextBox 7">
            <a:extLst>
              <a:ext uri="{FF2B5EF4-FFF2-40B4-BE49-F238E27FC236}">
                <a16:creationId xmlns:a16="http://schemas.microsoft.com/office/drawing/2014/main" id="{4863A651-D79F-A3BE-B2E0-C77F5663BF59}"/>
              </a:ext>
            </a:extLst>
          </p:cNvPr>
          <p:cNvSpPr txBox="1"/>
          <p:nvPr/>
        </p:nvSpPr>
        <p:spPr>
          <a:xfrm>
            <a:off x="533910" y="5181599"/>
            <a:ext cx="4890052" cy="830997"/>
          </a:xfrm>
          <a:prstGeom prst="rect">
            <a:avLst/>
          </a:prstGeom>
          <a:noFill/>
        </p:spPr>
        <p:txBody>
          <a:bodyPr wrap="square" rtlCol="0">
            <a:spAutoFit/>
          </a:bodyPr>
          <a:lstStyle/>
          <a:p>
            <a:r>
              <a:rPr lang="en-VN" sz="2400" dirty="0">
                <a:latin typeface="Arial" panose="020B0604020202020204" pitchFamily="34" charset="0"/>
                <a:cs typeface="Arial" panose="020B0604020202020204" pitchFamily="34" charset="0"/>
              </a:rPr>
              <a:t> 👉 Phương pháp phân tích thành các phân thức tối giản</a:t>
            </a:r>
          </a:p>
        </p:txBody>
      </p:sp>
    </p:spTree>
    <p:extLst>
      <p:ext uri="{BB962C8B-B14F-4D97-AF65-F5344CB8AC3E}">
        <p14:creationId xmlns:p14="http://schemas.microsoft.com/office/powerpoint/2010/main" val="2494524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D057-4693-889E-58E9-FC41323E7ED4}"/>
              </a:ext>
            </a:extLst>
          </p:cNvPr>
          <p:cNvSpPr>
            <a:spLocks noGrp="1"/>
          </p:cNvSpPr>
          <p:nvPr>
            <p:ph type="title"/>
          </p:nvPr>
        </p:nvSpPr>
        <p:spPr/>
        <p:txBody>
          <a:bodyPr/>
          <a:lstStyle/>
          <a:p>
            <a:r>
              <a:rPr lang="en-VN" dirty="0"/>
              <a:t>HÀM TRUYỀN</a:t>
            </a:r>
          </a:p>
        </p:txBody>
      </p:sp>
      <p:sp>
        <p:nvSpPr>
          <p:cNvPr id="3" name="Content Placeholder 2">
            <a:extLst>
              <a:ext uri="{FF2B5EF4-FFF2-40B4-BE49-F238E27FC236}">
                <a16:creationId xmlns:a16="http://schemas.microsoft.com/office/drawing/2014/main" id="{492A1AA2-7FAB-1671-D09F-81755BDA3B09}"/>
              </a:ext>
            </a:extLst>
          </p:cNvPr>
          <p:cNvSpPr>
            <a:spLocks noGrp="1"/>
          </p:cNvSpPr>
          <p:nvPr>
            <p:ph idx="1"/>
          </p:nvPr>
        </p:nvSpPr>
        <p:spPr/>
        <p:txBody>
          <a:bodyPr/>
          <a:lstStyle/>
          <a:p>
            <a:r>
              <a:rPr lang="en-VN" b="1" dirty="0"/>
              <a:t>Khái niệm: </a:t>
            </a:r>
            <a:r>
              <a:rPr lang="en-US" dirty="0" err="1"/>
              <a:t>hàm</a:t>
            </a:r>
            <a:r>
              <a:rPr lang="en-US" dirty="0"/>
              <a:t> </a:t>
            </a:r>
            <a:r>
              <a:rPr lang="en-US" dirty="0" err="1"/>
              <a:t>truyền</a:t>
            </a:r>
            <a:r>
              <a:rPr lang="en-US" dirty="0"/>
              <a:t> </a:t>
            </a:r>
            <a:r>
              <a:rPr lang="en-US" dirty="0" err="1"/>
              <a:t>của</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tuyến</a:t>
            </a:r>
            <a:r>
              <a:rPr lang="en-US" dirty="0"/>
              <a:t> </a:t>
            </a:r>
            <a:r>
              <a:rPr lang="en-US" dirty="0" err="1"/>
              <a:t>tính</a:t>
            </a:r>
            <a:r>
              <a:rPr lang="en-US" dirty="0"/>
              <a:t> </a:t>
            </a:r>
            <a:r>
              <a:rPr lang="en-US" dirty="0" err="1"/>
              <a:t>là</a:t>
            </a:r>
            <a:r>
              <a:rPr lang="en-US" dirty="0"/>
              <a:t> </a:t>
            </a:r>
            <a:r>
              <a:rPr lang="en-US" dirty="0" err="1"/>
              <a:t>tỷ</a:t>
            </a:r>
            <a:r>
              <a:rPr lang="en-US" dirty="0"/>
              <a:t> </a:t>
            </a:r>
            <a:r>
              <a:rPr lang="en-US" dirty="0" err="1"/>
              <a:t>số</a:t>
            </a:r>
            <a:r>
              <a:rPr lang="en-US" dirty="0"/>
              <a:t> </a:t>
            </a:r>
            <a:r>
              <a:rPr lang="en-US" dirty="0" err="1"/>
              <a:t>giữa</a:t>
            </a:r>
            <a:r>
              <a:rPr lang="en-US" dirty="0"/>
              <a:t> </a:t>
            </a:r>
            <a:r>
              <a:rPr lang="en-US" dirty="0" err="1"/>
              <a:t>biến</a:t>
            </a:r>
            <a:r>
              <a:rPr lang="en-US" dirty="0"/>
              <a:t> </a:t>
            </a:r>
            <a:r>
              <a:rPr lang="en-US" dirty="0" err="1"/>
              <a:t>đổi</a:t>
            </a:r>
            <a:r>
              <a:rPr lang="en-US" dirty="0"/>
              <a:t> Laplace </a:t>
            </a:r>
            <a:r>
              <a:rPr lang="en-US" dirty="0" err="1"/>
              <a:t>của</a:t>
            </a:r>
            <a:r>
              <a:rPr lang="en-US" dirty="0"/>
              <a:t> </a:t>
            </a:r>
            <a:r>
              <a:rPr lang="en-US" dirty="0" err="1"/>
              <a:t>biến</a:t>
            </a:r>
            <a:r>
              <a:rPr lang="en-US" dirty="0"/>
              <a:t> </a:t>
            </a:r>
            <a:r>
              <a:rPr lang="en-US" dirty="0" err="1"/>
              <a:t>ra</a:t>
            </a:r>
            <a:r>
              <a:rPr lang="en-US" dirty="0"/>
              <a:t> </a:t>
            </a:r>
            <a:r>
              <a:rPr lang="en-US" dirty="0" err="1"/>
              <a:t>và</a:t>
            </a:r>
            <a:r>
              <a:rPr lang="en-US" dirty="0"/>
              <a:t>  </a:t>
            </a:r>
            <a:r>
              <a:rPr lang="en-US" dirty="0" err="1"/>
              <a:t>biến</a:t>
            </a:r>
            <a:r>
              <a:rPr lang="en-US" dirty="0"/>
              <a:t> </a:t>
            </a:r>
            <a:r>
              <a:rPr lang="en-US" dirty="0" err="1"/>
              <a:t>đổi</a:t>
            </a:r>
            <a:r>
              <a:rPr lang="en-US" dirty="0"/>
              <a:t> Laplace </a:t>
            </a:r>
            <a:r>
              <a:rPr lang="en-US" dirty="0" err="1"/>
              <a:t>của</a:t>
            </a:r>
            <a:r>
              <a:rPr lang="en-US" dirty="0"/>
              <a:t> </a:t>
            </a:r>
            <a:r>
              <a:rPr lang="en-US" dirty="0" err="1"/>
              <a:t>biến</a:t>
            </a:r>
            <a:r>
              <a:rPr lang="en-US" dirty="0"/>
              <a:t> </a:t>
            </a:r>
            <a:r>
              <a:rPr lang="en-US" dirty="0" err="1"/>
              <a:t>vào</a:t>
            </a:r>
            <a:r>
              <a:rPr lang="en-US" dirty="0"/>
              <a:t>, </a:t>
            </a:r>
            <a:r>
              <a:rPr lang="en-US" dirty="0" err="1"/>
              <a:t>với</a:t>
            </a:r>
            <a:r>
              <a:rPr lang="en-US" dirty="0"/>
              <a:t> </a:t>
            </a:r>
            <a:r>
              <a:rPr lang="en-US" dirty="0" err="1"/>
              <a:t>giả</a:t>
            </a:r>
            <a:r>
              <a:rPr lang="en-US" dirty="0"/>
              <a:t> </a:t>
            </a:r>
            <a:r>
              <a:rPr lang="en-US" dirty="0" err="1"/>
              <a:t>thiết</a:t>
            </a:r>
            <a:r>
              <a:rPr lang="en-US" dirty="0"/>
              <a:t> </a:t>
            </a:r>
            <a:r>
              <a:rPr lang="en-US" dirty="0" err="1"/>
              <a:t>tất</a:t>
            </a:r>
            <a:r>
              <a:rPr lang="en-US" dirty="0"/>
              <a:t> </a:t>
            </a:r>
            <a:r>
              <a:rPr lang="en-US" dirty="0" err="1"/>
              <a:t>cả</a:t>
            </a:r>
            <a:r>
              <a:rPr lang="en-US" dirty="0"/>
              <a:t> </a:t>
            </a:r>
            <a:r>
              <a:rPr lang="en-US" dirty="0" err="1"/>
              <a:t>các</a:t>
            </a:r>
            <a:r>
              <a:rPr lang="en-US" dirty="0"/>
              <a:t> </a:t>
            </a:r>
            <a:r>
              <a:rPr lang="en-US" dirty="0" err="1"/>
              <a:t>điều</a:t>
            </a:r>
            <a:r>
              <a:rPr lang="en-US" dirty="0"/>
              <a:t> </a:t>
            </a:r>
            <a:r>
              <a:rPr lang="en-US" dirty="0" err="1"/>
              <a:t>kiện</a:t>
            </a:r>
            <a:r>
              <a:rPr lang="en-US" dirty="0"/>
              <a:t> ban </a:t>
            </a:r>
            <a:r>
              <a:rPr lang="en-US" dirty="0" err="1"/>
              <a:t>đầu</a:t>
            </a:r>
            <a:r>
              <a:rPr lang="en-US" dirty="0"/>
              <a:t> </a:t>
            </a:r>
            <a:r>
              <a:rPr lang="en-US" dirty="0" err="1"/>
              <a:t>đều</a:t>
            </a:r>
            <a:r>
              <a:rPr lang="en-US" dirty="0"/>
              <a:t> </a:t>
            </a:r>
            <a:r>
              <a:rPr lang="en-US" dirty="0" err="1"/>
              <a:t>bằng</a:t>
            </a:r>
            <a:r>
              <a:rPr lang="en-US" dirty="0"/>
              <a:t> </a:t>
            </a:r>
            <a:r>
              <a:rPr lang="en-US" dirty="0" err="1"/>
              <a:t>không</a:t>
            </a:r>
            <a:endParaRPr lang="en-US" dirty="0"/>
          </a:p>
          <a:p>
            <a:pPr marL="0" indent="0">
              <a:buNone/>
            </a:pPr>
            <a:r>
              <a:rPr lang="en-VN" dirty="0"/>
              <a:t>➔ Các thành phần đầu vào, đầu ra và hệ thống được phân tách riêng biệt trong phương trình, có thể kết nối đại số các hệ thống con để biểu diễn hệ thống tổng thể</a:t>
            </a:r>
          </a:p>
        </p:txBody>
      </p:sp>
      <p:grpSp>
        <p:nvGrpSpPr>
          <p:cNvPr id="13" name="Group 13">
            <a:extLst>
              <a:ext uri="{FF2B5EF4-FFF2-40B4-BE49-F238E27FC236}">
                <a16:creationId xmlns:a16="http://schemas.microsoft.com/office/drawing/2014/main" id="{51F0CDC8-C096-35AE-613D-598FB8877744}"/>
              </a:ext>
            </a:extLst>
          </p:cNvPr>
          <p:cNvGrpSpPr>
            <a:grpSpLocks/>
          </p:cNvGrpSpPr>
          <p:nvPr/>
        </p:nvGrpSpPr>
        <p:grpSpPr bwMode="auto">
          <a:xfrm>
            <a:off x="642730" y="3466212"/>
            <a:ext cx="4830418" cy="2147773"/>
            <a:chOff x="3015" y="3754"/>
            <a:chExt cx="5880" cy="1841"/>
          </a:xfrm>
        </p:grpSpPr>
        <p:sp>
          <p:nvSpPr>
            <p:cNvPr id="14" name="Text Box 14">
              <a:extLst>
                <a:ext uri="{FF2B5EF4-FFF2-40B4-BE49-F238E27FC236}">
                  <a16:creationId xmlns:a16="http://schemas.microsoft.com/office/drawing/2014/main" id="{C6041CB2-A168-4838-A638-6FEBB36904B9}"/>
                </a:ext>
              </a:extLst>
            </p:cNvPr>
            <p:cNvSpPr txBox="1">
              <a:spLocks noChangeArrowheads="1"/>
            </p:cNvSpPr>
            <p:nvPr/>
          </p:nvSpPr>
          <p:spPr bwMode="auto">
            <a:xfrm>
              <a:off x="5348" y="3754"/>
              <a:ext cx="1260" cy="540"/>
            </a:xfrm>
            <a:prstGeom prst="rect">
              <a:avLst/>
            </a:prstGeom>
            <a:solidFill>
              <a:srgbClr val="FFFFFF"/>
            </a:solidFill>
            <a:ln w="9525">
              <a:solidFill>
                <a:srgbClr val="000000"/>
              </a:solidFill>
              <a:miter lim="800000"/>
              <a:headEnd/>
              <a:tailEnd/>
            </a:ln>
          </p:spPr>
          <p:txBody>
            <a:bodyPr tIns="73152"/>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dirty="0" err="1">
                  <a:latin typeface="Arial" panose="020B0604020202020204" pitchFamily="34" charset="0"/>
                  <a:cs typeface="Arial" panose="020B0604020202020204" pitchFamily="34" charset="0"/>
                </a:rPr>
                <a:t>Hệ</a:t>
              </a:r>
              <a:r>
                <a:rPr lang="en-US" altLang="en-US" sz="1200" dirty="0">
                  <a:latin typeface="Arial" panose="020B0604020202020204" pitchFamily="34" charset="0"/>
                  <a:cs typeface="Arial" panose="020B0604020202020204" pitchFamily="34" charset="0"/>
                </a:rPr>
                <a:t> </a:t>
              </a:r>
              <a:r>
                <a:rPr lang="en-US" altLang="en-US" sz="1200" dirty="0" err="1">
                  <a:latin typeface="Arial" panose="020B0604020202020204" pitchFamily="34" charset="0"/>
                  <a:cs typeface="Arial" panose="020B0604020202020204" pitchFamily="34" charset="0"/>
                </a:rPr>
                <a:t>thống</a:t>
              </a:r>
              <a:endParaRPr lang="en-US" altLang="en-US" sz="1200" dirty="0">
                <a:latin typeface="Arial" panose="020B0604020202020204" pitchFamily="34" charset="0"/>
                <a:cs typeface="Arial" panose="020B0604020202020204" pitchFamily="34" charset="0"/>
              </a:endParaRPr>
            </a:p>
          </p:txBody>
        </p:sp>
        <p:sp>
          <p:nvSpPr>
            <p:cNvPr id="15" name="Line 15">
              <a:extLst>
                <a:ext uri="{FF2B5EF4-FFF2-40B4-BE49-F238E27FC236}">
                  <a16:creationId xmlns:a16="http://schemas.microsoft.com/office/drawing/2014/main" id="{9F4F85EC-C9EC-0E17-E94D-40E990AE7654}"/>
                </a:ext>
              </a:extLst>
            </p:cNvPr>
            <p:cNvSpPr>
              <a:spLocks noChangeShapeType="1"/>
            </p:cNvSpPr>
            <p:nvPr/>
          </p:nvSpPr>
          <p:spPr bwMode="auto">
            <a:xfrm>
              <a:off x="4425" y="4030"/>
              <a:ext cx="900" cy="0"/>
            </a:xfrm>
            <a:prstGeom prst="line">
              <a:avLst/>
            </a:prstGeom>
            <a:noFill/>
            <a:ln w="952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VN">
                <a:latin typeface="Arial" panose="020B0604020202020204" pitchFamily="34" charset="0"/>
                <a:cs typeface="Arial" panose="020B0604020202020204" pitchFamily="34" charset="0"/>
              </a:endParaRPr>
            </a:p>
          </p:txBody>
        </p:sp>
        <p:sp>
          <p:nvSpPr>
            <p:cNvPr id="16" name="Line 16">
              <a:extLst>
                <a:ext uri="{FF2B5EF4-FFF2-40B4-BE49-F238E27FC236}">
                  <a16:creationId xmlns:a16="http://schemas.microsoft.com/office/drawing/2014/main" id="{1915BA54-B0EE-836C-6B35-ED1769A7BCF1}"/>
                </a:ext>
              </a:extLst>
            </p:cNvPr>
            <p:cNvSpPr>
              <a:spLocks noChangeShapeType="1"/>
            </p:cNvSpPr>
            <p:nvPr/>
          </p:nvSpPr>
          <p:spPr bwMode="auto">
            <a:xfrm>
              <a:off x="6585" y="4030"/>
              <a:ext cx="900" cy="0"/>
            </a:xfrm>
            <a:prstGeom prst="line">
              <a:avLst/>
            </a:prstGeom>
            <a:noFill/>
            <a:ln w="952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VN">
                <a:latin typeface="Arial" panose="020B0604020202020204" pitchFamily="34" charset="0"/>
                <a:cs typeface="Arial" panose="020B0604020202020204" pitchFamily="34" charset="0"/>
              </a:endParaRPr>
            </a:p>
          </p:txBody>
        </p:sp>
        <p:sp>
          <p:nvSpPr>
            <p:cNvPr id="17" name="Text Box 17">
              <a:extLst>
                <a:ext uri="{FF2B5EF4-FFF2-40B4-BE49-F238E27FC236}">
                  <a16:creationId xmlns:a16="http://schemas.microsoft.com/office/drawing/2014/main" id="{F0241A97-AD4E-968F-45D9-8FEE24E75922}"/>
                </a:ext>
              </a:extLst>
            </p:cNvPr>
            <p:cNvSpPr txBox="1">
              <a:spLocks noChangeArrowheads="1"/>
            </p:cNvSpPr>
            <p:nvPr/>
          </p:nvSpPr>
          <p:spPr bwMode="auto">
            <a:xfrm>
              <a:off x="3861" y="3814"/>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a:latin typeface="Arial" panose="020B0604020202020204" pitchFamily="34" charset="0"/>
                  <a:cs typeface="Arial" panose="020B0604020202020204" pitchFamily="34" charset="0"/>
                </a:rPr>
                <a:t>x(t)</a:t>
              </a:r>
            </a:p>
          </p:txBody>
        </p:sp>
        <p:sp>
          <p:nvSpPr>
            <p:cNvPr id="18" name="Text Box 18">
              <a:extLst>
                <a:ext uri="{FF2B5EF4-FFF2-40B4-BE49-F238E27FC236}">
                  <a16:creationId xmlns:a16="http://schemas.microsoft.com/office/drawing/2014/main" id="{B91CAF10-F412-8C44-1B9C-3083DB6963F2}"/>
                </a:ext>
              </a:extLst>
            </p:cNvPr>
            <p:cNvSpPr txBox="1">
              <a:spLocks noChangeArrowheads="1"/>
            </p:cNvSpPr>
            <p:nvPr/>
          </p:nvSpPr>
          <p:spPr bwMode="auto">
            <a:xfrm>
              <a:off x="7401" y="3814"/>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a:latin typeface="Arial" panose="020B0604020202020204" pitchFamily="34" charset="0"/>
                  <a:cs typeface="Arial" panose="020B0604020202020204" pitchFamily="34" charset="0"/>
                </a:rPr>
                <a:t>y(t)</a:t>
              </a:r>
            </a:p>
          </p:txBody>
        </p:sp>
        <p:sp>
          <p:nvSpPr>
            <p:cNvPr id="19" name="Text Box 19">
              <a:extLst>
                <a:ext uri="{FF2B5EF4-FFF2-40B4-BE49-F238E27FC236}">
                  <a16:creationId xmlns:a16="http://schemas.microsoft.com/office/drawing/2014/main" id="{661EC5F9-D455-BAB0-BAF8-AECECB19C487}"/>
                </a:ext>
              </a:extLst>
            </p:cNvPr>
            <p:cNvSpPr txBox="1">
              <a:spLocks noChangeArrowheads="1"/>
            </p:cNvSpPr>
            <p:nvPr/>
          </p:nvSpPr>
          <p:spPr bwMode="auto">
            <a:xfrm>
              <a:off x="3015" y="4455"/>
              <a:ext cx="108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a:latin typeface="Arial" panose="020B0604020202020204" pitchFamily="34" charset="0"/>
                  <a:cs typeface="Arial" panose="020B0604020202020204" pitchFamily="34" charset="0"/>
                </a:rPr>
                <a:t>Laplace</a:t>
              </a:r>
            </a:p>
          </p:txBody>
        </p:sp>
        <p:sp>
          <p:nvSpPr>
            <p:cNvPr id="20" name="Text Box 20">
              <a:extLst>
                <a:ext uri="{FF2B5EF4-FFF2-40B4-BE49-F238E27FC236}">
                  <a16:creationId xmlns:a16="http://schemas.microsoft.com/office/drawing/2014/main" id="{724CA7F7-0C53-BACC-83AC-4BB77C17D881}"/>
                </a:ext>
              </a:extLst>
            </p:cNvPr>
            <p:cNvSpPr txBox="1">
              <a:spLocks noChangeArrowheads="1"/>
            </p:cNvSpPr>
            <p:nvPr/>
          </p:nvSpPr>
          <p:spPr bwMode="auto">
            <a:xfrm>
              <a:off x="5295" y="4995"/>
              <a:ext cx="1560" cy="540"/>
            </a:xfrm>
            <a:prstGeom prst="rect">
              <a:avLst/>
            </a:prstGeom>
            <a:solidFill>
              <a:srgbClr val="FFFFFF"/>
            </a:solidFill>
            <a:ln w="9525">
              <a:solidFill>
                <a:srgbClr val="000000"/>
              </a:solidFill>
              <a:miter lim="800000"/>
              <a:headEnd/>
              <a:tailEnd/>
            </a:ln>
          </p:spPr>
          <p:txBody>
            <a:bodyPr tIns="73152"/>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dirty="0" err="1">
                  <a:latin typeface="Arial" panose="020B0604020202020204" pitchFamily="34" charset="0"/>
                  <a:cs typeface="Arial" panose="020B0604020202020204" pitchFamily="34" charset="0"/>
                </a:rPr>
                <a:t>Hàm</a:t>
              </a:r>
              <a:r>
                <a:rPr lang="en-US" altLang="en-US" sz="1200" dirty="0">
                  <a:latin typeface="Arial" panose="020B0604020202020204" pitchFamily="34" charset="0"/>
                  <a:cs typeface="Arial" panose="020B0604020202020204" pitchFamily="34" charset="0"/>
                </a:rPr>
                <a:t> </a:t>
              </a:r>
              <a:r>
                <a:rPr lang="en-US" altLang="en-US" sz="1200" dirty="0" err="1">
                  <a:latin typeface="Arial" panose="020B0604020202020204" pitchFamily="34" charset="0"/>
                  <a:cs typeface="Arial" panose="020B0604020202020204" pitchFamily="34" charset="0"/>
                </a:rPr>
                <a:t>truyền</a:t>
              </a:r>
              <a:endParaRPr lang="en-US" altLang="en-US" sz="1200" dirty="0">
                <a:latin typeface="Arial" panose="020B0604020202020204" pitchFamily="34" charset="0"/>
                <a:cs typeface="Arial" panose="020B0604020202020204" pitchFamily="34" charset="0"/>
              </a:endParaRPr>
            </a:p>
          </p:txBody>
        </p:sp>
        <p:sp>
          <p:nvSpPr>
            <p:cNvPr id="21" name="Line 21">
              <a:extLst>
                <a:ext uri="{FF2B5EF4-FFF2-40B4-BE49-F238E27FC236}">
                  <a16:creationId xmlns:a16="http://schemas.microsoft.com/office/drawing/2014/main" id="{0C2023E9-6F29-F25F-B610-7318ACC76234}"/>
                </a:ext>
              </a:extLst>
            </p:cNvPr>
            <p:cNvSpPr>
              <a:spLocks noChangeShapeType="1"/>
            </p:cNvSpPr>
            <p:nvPr/>
          </p:nvSpPr>
          <p:spPr bwMode="auto">
            <a:xfrm>
              <a:off x="4372" y="5271"/>
              <a:ext cx="900" cy="0"/>
            </a:xfrm>
            <a:prstGeom prst="line">
              <a:avLst/>
            </a:prstGeom>
            <a:noFill/>
            <a:ln w="9525">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endParaRPr lang="en-VN">
                <a:latin typeface="Arial" panose="020B0604020202020204" pitchFamily="34" charset="0"/>
                <a:cs typeface="Arial" panose="020B0604020202020204" pitchFamily="34" charset="0"/>
              </a:endParaRPr>
            </a:p>
          </p:txBody>
        </p:sp>
        <p:sp>
          <p:nvSpPr>
            <p:cNvPr id="22" name="Text Box 22">
              <a:extLst>
                <a:ext uri="{FF2B5EF4-FFF2-40B4-BE49-F238E27FC236}">
                  <a16:creationId xmlns:a16="http://schemas.microsoft.com/office/drawing/2014/main" id="{7E56601C-9E08-15B6-F18C-AF0EF25581BB}"/>
                </a:ext>
              </a:extLst>
            </p:cNvPr>
            <p:cNvSpPr txBox="1">
              <a:spLocks noChangeArrowheads="1"/>
            </p:cNvSpPr>
            <p:nvPr/>
          </p:nvSpPr>
          <p:spPr bwMode="auto">
            <a:xfrm>
              <a:off x="7348" y="5055"/>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a:latin typeface="Arial" panose="020B0604020202020204" pitchFamily="34" charset="0"/>
                  <a:cs typeface="Arial" panose="020B0604020202020204" pitchFamily="34" charset="0"/>
                </a:rPr>
                <a:t>Y(s)</a:t>
              </a:r>
            </a:p>
          </p:txBody>
        </p:sp>
        <p:sp>
          <p:nvSpPr>
            <p:cNvPr id="23" name="Text Box 23">
              <a:extLst>
                <a:ext uri="{FF2B5EF4-FFF2-40B4-BE49-F238E27FC236}">
                  <a16:creationId xmlns:a16="http://schemas.microsoft.com/office/drawing/2014/main" id="{0AD77B6F-83DF-84D6-310A-563CC0C041D0}"/>
                </a:ext>
              </a:extLst>
            </p:cNvPr>
            <p:cNvSpPr txBox="1">
              <a:spLocks noChangeArrowheads="1"/>
            </p:cNvSpPr>
            <p:nvPr/>
          </p:nvSpPr>
          <p:spPr bwMode="auto">
            <a:xfrm>
              <a:off x="3765" y="5025"/>
              <a:ext cx="72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n-US" altLang="en-US" sz="1200">
                  <a:latin typeface="Arial" panose="020B0604020202020204" pitchFamily="34" charset="0"/>
                  <a:cs typeface="Arial" panose="020B0604020202020204" pitchFamily="34" charset="0"/>
                </a:rPr>
                <a:t>X(s)</a:t>
              </a:r>
            </a:p>
          </p:txBody>
        </p:sp>
        <p:sp>
          <p:nvSpPr>
            <p:cNvPr id="24" name="Line 24">
              <a:extLst>
                <a:ext uri="{FF2B5EF4-FFF2-40B4-BE49-F238E27FC236}">
                  <a16:creationId xmlns:a16="http://schemas.microsoft.com/office/drawing/2014/main" id="{410D3FFA-8A1E-A325-8F19-0A6E54E5A331}"/>
                </a:ext>
              </a:extLst>
            </p:cNvPr>
            <p:cNvSpPr>
              <a:spLocks noChangeShapeType="1"/>
            </p:cNvSpPr>
            <p:nvPr/>
          </p:nvSpPr>
          <p:spPr bwMode="auto">
            <a:xfrm>
              <a:off x="4095" y="4275"/>
              <a:ext cx="0" cy="72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VN">
                <a:latin typeface="Arial" panose="020B0604020202020204" pitchFamily="34" charset="0"/>
                <a:cs typeface="Arial" panose="020B0604020202020204" pitchFamily="34" charset="0"/>
              </a:endParaRPr>
            </a:p>
          </p:txBody>
        </p:sp>
        <p:sp>
          <p:nvSpPr>
            <p:cNvPr id="25" name="Line 25">
              <a:extLst>
                <a:ext uri="{FF2B5EF4-FFF2-40B4-BE49-F238E27FC236}">
                  <a16:creationId xmlns:a16="http://schemas.microsoft.com/office/drawing/2014/main" id="{3F4D8F05-D643-5713-BE6E-9F7C7CE2E3B1}"/>
                </a:ext>
              </a:extLst>
            </p:cNvPr>
            <p:cNvSpPr>
              <a:spLocks noChangeShapeType="1"/>
            </p:cNvSpPr>
            <p:nvPr/>
          </p:nvSpPr>
          <p:spPr bwMode="auto">
            <a:xfrm>
              <a:off x="7695" y="4275"/>
              <a:ext cx="0" cy="72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VN">
                <a:latin typeface="Arial" panose="020B0604020202020204" pitchFamily="34" charset="0"/>
                <a:cs typeface="Arial" panose="020B0604020202020204" pitchFamily="34" charset="0"/>
              </a:endParaRPr>
            </a:p>
          </p:txBody>
        </p:sp>
        <p:sp>
          <p:nvSpPr>
            <p:cNvPr id="26" name="Text Box 26">
              <a:extLst>
                <a:ext uri="{FF2B5EF4-FFF2-40B4-BE49-F238E27FC236}">
                  <a16:creationId xmlns:a16="http://schemas.microsoft.com/office/drawing/2014/main" id="{4A01DF60-57CC-A1F0-E771-95D8D42A0BA4}"/>
                </a:ext>
              </a:extLst>
            </p:cNvPr>
            <p:cNvSpPr txBox="1">
              <a:spLocks noChangeArrowheads="1"/>
            </p:cNvSpPr>
            <p:nvPr/>
          </p:nvSpPr>
          <p:spPr bwMode="auto">
            <a:xfrm>
              <a:off x="7815" y="4455"/>
              <a:ext cx="1080" cy="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en-US" altLang="en-US" sz="1200">
                  <a:latin typeface="Arial" panose="020B0604020202020204" pitchFamily="34" charset="0"/>
                  <a:cs typeface="Arial" panose="020B0604020202020204" pitchFamily="34" charset="0"/>
                </a:rPr>
                <a:t>Laplace</a:t>
              </a:r>
            </a:p>
          </p:txBody>
        </p:sp>
        <p:sp>
          <p:nvSpPr>
            <p:cNvPr id="27" name="Line 27">
              <a:extLst>
                <a:ext uri="{FF2B5EF4-FFF2-40B4-BE49-F238E27FC236}">
                  <a16:creationId xmlns:a16="http://schemas.microsoft.com/office/drawing/2014/main" id="{3F8AA0CE-E6F4-7CFF-86AE-9ADA0FD2AFFC}"/>
                </a:ext>
              </a:extLst>
            </p:cNvPr>
            <p:cNvSpPr>
              <a:spLocks noChangeShapeType="1"/>
            </p:cNvSpPr>
            <p:nvPr/>
          </p:nvSpPr>
          <p:spPr bwMode="auto">
            <a:xfrm>
              <a:off x="6885" y="5265"/>
              <a:ext cx="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VN">
                <a:latin typeface="Arial" panose="020B0604020202020204" pitchFamily="34" charset="0"/>
                <a:cs typeface="Arial" panose="020B0604020202020204" pitchFamily="34" charset="0"/>
              </a:endParaRPr>
            </a:p>
          </p:txBody>
        </p:sp>
      </p:grpSp>
      <p:sp>
        <p:nvSpPr>
          <p:cNvPr id="28" name="TextBox 27">
            <a:extLst>
              <a:ext uri="{FF2B5EF4-FFF2-40B4-BE49-F238E27FC236}">
                <a16:creationId xmlns:a16="http://schemas.microsoft.com/office/drawing/2014/main" id="{13AB8464-85B5-8630-D0C4-359D3DF28F82}"/>
              </a:ext>
            </a:extLst>
          </p:cNvPr>
          <p:cNvSpPr txBox="1"/>
          <p:nvPr/>
        </p:nvSpPr>
        <p:spPr>
          <a:xfrm>
            <a:off x="6253216" y="3604591"/>
            <a:ext cx="4335271" cy="1200329"/>
          </a:xfrm>
          <a:prstGeom prst="rect">
            <a:avLst/>
          </a:prstGeom>
          <a:noFill/>
        </p:spPr>
        <p:txBody>
          <a:bodyPr wrap="square" rtlCol="0">
            <a:spAutoFit/>
          </a:bodyPr>
          <a:lstStyle/>
          <a:p>
            <a:r>
              <a:rPr lang="en-US" b="1" dirty="0" err="1">
                <a:latin typeface="Arial" panose="020B0604020202020204" pitchFamily="34" charset="0"/>
                <a:cs typeface="Arial" panose="020B0604020202020204" pitchFamily="34" charset="0"/>
              </a:rPr>
              <a:t>Giới</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hạn</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áp</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dụng</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hàm</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truyền</a:t>
            </a:r>
            <a:r>
              <a:rPr lang="en-US" b="1"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tuyến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tính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biến</a:t>
            </a:r>
            <a:r>
              <a:rPr lang="en-US" dirty="0">
                <a:latin typeface="Arial" panose="020B0604020202020204" pitchFamily="34" charset="0"/>
                <a:cs typeface="Arial" panose="020B0604020202020204" pitchFamily="34" charset="0"/>
              </a:rPr>
              <a:t> (LTI)</a:t>
            </a:r>
          </a:p>
          <a:p>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Mô</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quan</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vào-ra</a:t>
            </a:r>
            <a:endParaRPr lang="en-US" dirty="0">
              <a:latin typeface="Arial" panose="020B0604020202020204" pitchFamily="34" charset="0"/>
              <a:cs typeface="Arial" panose="020B0604020202020204" pitchFamily="34" charset="0"/>
            </a:endParaRPr>
          </a:p>
          <a:p>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72728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06735-5710-3310-DB3E-9C5EC0C1D088}"/>
              </a:ext>
            </a:extLst>
          </p:cNvPr>
          <p:cNvSpPr>
            <a:spLocks noGrp="1"/>
          </p:cNvSpPr>
          <p:nvPr>
            <p:ph type="title"/>
          </p:nvPr>
        </p:nvSpPr>
        <p:spPr/>
        <p:txBody>
          <a:bodyPr/>
          <a:lstStyle/>
          <a:p>
            <a:r>
              <a:rPr lang="en-VN" dirty="0"/>
              <a:t>HÀM TRUYỀN</a:t>
            </a:r>
          </a:p>
        </p:txBody>
      </p:sp>
      <p:pic>
        <p:nvPicPr>
          <p:cNvPr id="4" name="Picture 3">
            <a:extLst>
              <a:ext uri="{FF2B5EF4-FFF2-40B4-BE49-F238E27FC236}">
                <a16:creationId xmlns:a16="http://schemas.microsoft.com/office/drawing/2014/main" id="{3C949F39-E51B-7B9B-EFE1-FA73642ECE56}"/>
              </a:ext>
            </a:extLst>
          </p:cNvPr>
          <p:cNvPicPr>
            <a:picLocks noChangeAspect="1"/>
          </p:cNvPicPr>
          <p:nvPr/>
        </p:nvPicPr>
        <p:blipFill>
          <a:blip r:embed="rId2"/>
          <a:stretch>
            <a:fillRect/>
          </a:stretch>
        </p:blipFill>
        <p:spPr>
          <a:xfrm>
            <a:off x="2035711" y="1672616"/>
            <a:ext cx="7772400" cy="559759"/>
          </a:xfrm>
          <a:prstGeom prst="rect">
            <a:avLst/>
          </a:prstGeom>
        </p:spPr>
      </p:pic>
      <p:pic>
        <p:nvPicPr>
          <p:cNvPr id="5" name="Picture 4">
            <a:extLst>
              <a:ext uri="{FF2B5EF4-FFF2-40B4-BE49-F238E27FC236}">
                <a16:creationId xmlns:a16="http://schemas.microsoft.com/office/drawing/2014/main" id="{86F3B6AA-A2EE-6F19-8BAF-467D75FDE701}"/>
              </a:ext>
            </a:extLst>
          </p:cNvPr>
          <p:cNvPicPr>
            <a:picLocks noChangeAspect="1"/>
          </p:cNvPicPr>
          <p:nvPr/>
        </p:nvPicPr>
        <p:blipFill>
          <a:blip r:embed="rId3"/>
          <a:stretch>
            <a:fillRect/>
          </a:stretch>
        </p:blipFill>
        <p:spPr>
          <a:xfrm>
            <a:off x="355876" y="2676024"/>
            <a:ext cx="5249793" cy="992919"/>
          </a:xfrm>
          <a:prstGeom prst="rect">
            <a:avLst/>
          </a:prstGeom>
        </p:spPr>
      </p:pic>
      <p:pic>
        <p:nvPicPr>
          <p:cNvPr id="6" name="Picture 5">
            <a:extLst>
              <a:ext uri="{FF2B5EF4-FFF2-40B4-BE49-F238E27FC236}">
                <a16:creationId xmlns:a16="http://schemas.microsoft.com/office/drawing/2014/main" id="{12D53F94-C18E-141C-8ED8-32871CC9F212}"/>
              </a:ext>
            </a:extLst>
          </p:cNvPr>
          <p:cNvPicPr>
            <a:picLocks noChangeAspect="1"/>
          </p:cNvPicPr>
          <p:nvPr/>
        </p:nvPicPr>
        <p:blipFill>
          <a:blip r:embed="rId4"/>
          <a:stretch>
            <a:fillRect/>
          </a:stretch>
        </p:blipFill>
        <p:spPr>
          <a:xfrm>
            <a:off x="5921911" y="2676024"/>
            <a:ext cx="5511800" cy="990600"/>
          </a:xfrm>
          <a:prstGeom prst="rect">
            <a:avLst/>
          </a:prstGeom>
        </p:spPr>
      </p:pic>
      <p:sp>
        <p:nvSpPr>
          <p:cNvPr id="7" name="Text Box 33">
            <a:extLst>
              <a:ext uri="{FF2B5EF4-FFF2-40B4-BE49-F238E27FC236}">
                <a16:creationId xmlns:a16="http://schemas.microsoft.com/office/drawing/2014/main" id="{9D142A8E-615B-10E7-9A6B-EC52C76E1BAF}"/>
              </a:ext>
            </a:extLst>
          </p:cNvPr>
          <p:cNvSpPr txBox="1">
            <a:spLocks noChangeArrowheads="1"/>
          </p:cNvSpPr>
          <p:nvPr/>
        </p:nvSpPr>
        <p:spPr bwMode="auto">
          <a:xfrm>
            <a:off x="4374720" y="4284516"/>
            <a:ext cx="449098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n-US" sz="1800" dirty="0">
                <a:latin typeface="Arial" panose="020B0604020202020204" pitchFamily="34" charset="0"/>
                <a:cs typeface="Arial" panose="020B0604020202020204" pitchFamily="34" charset="0"/>
              </a:rPr>
              <a:t>MS = 0: </a:t>
            </a:r>
            <a:r>
              <a:rPr lang="en-US" altLang="en-US" sz="1800" dirty="0" err="1">
                <a:latin typeface="Arial" panose="020B0604020202020204" pitchFamily="34" charset="0"/>
                <a:cs typeface="Arial" panose="020B0604020202020204" pitchFamily="34" charset="0"/>
              </a:rPr>
              <a:t>phương</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trình</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đặc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trưng</a:t>
            </a:r>
            <a:endParaRPr lang="en-US" altLang="en-US" sz="1800" dirty="0">
              <a:latin typeface="Arial" panose="020B0604020202020204" pitchFamily="34" charset="0"/>
              <a:cs typeface="Arial" panose="020B0604020202020204" pitchFamily="34" charset="0"/>
            </a:endParaRPr>
          </a:p>
          <a:p>
            <a:pPr eaLnBrk="1" hangingPunct="1">
              <a:spcBef>
                <a:spcPct val="50000"/>
              </a:spcBef>
              <a:buClrTx/>
              <a:buSzTx/>
              <a:buFontTx/>
              <a:buNone/>
            </a:pPr>
            <a:r>
              <a:rPr lang="en-US" altLang="en-US" sz="1800" dirty="0">
                <a:latin typeface="Arial" panose="020B0604020202020204" pitchFamily="34" charset="0"/>
                <a:cs typeface="Arial" panose="020B0604020202020204" pitchFamily="34" charset="0"/>
              </a:rPr>
              <a:t>z</a:t>
            </a:r>
            <a:r>
              <a:rPr lang="en-US" altLang="en-US" sz="1800" baseline="-25000" dirty="0">
                <a:latin typeface="Arial" panose="020B0604020202020204" pitchFamily="34" charset="0"/>
                <a:cs typeface="Arial" panose="020B0604020202020204" pitchFamily="34" charset="0"/>
              </a:rPr>
              <a:t>i</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i</a:t>
            </a:r>
            <a:r>
              <a:rPr lang="en-US" altLang="en-US" sz="1800" dirty="0">
                <a:latin typeface="Arial" panose="020B0604020202020204" pitchFamily="34" charset="0"/>
                <a:cs typeface="Arial" panose="020B0604020202020204" pitchFamily="34" charset="0"/>
              </a:rPr>
              <a:t>=1...m): </a:t>
            </a:r>
            <a:r>
              <a:rPr lang="en-US" altLang="en-US" sz="1800" dirty="0" err="1">
                <a:latin typeface="Arial" panose="020B0604020202020204" pitchFamily="34" charset="0"/>
                <a:cs typeface="Arial" panose="020B0604020202020204" pitchFamily="34" charset="0"/>
              </a:rPr>
              <a:t>điểm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không</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của</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hệ</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thống</a:t>
            </a:r>
            <a:r>
              <a:rPr lang="en-US" altLang="en-US" sz="1800" dirty="0">
                <a:latin typeface="Arial" panose="020B0604020202020204" pitchFamily="34" charset="0"/>
                <a:cs typeface="Arial" panose="020B0604020202020204" pitchFamily="34" charset="0"/>
              </a:rPr>
              <a:t> (o)</a:t>
            </a:r>
          </a:p>
          <a:p>
            <a:pPr eaLnBrk="1" hangingPunct="1">
              <a:spcBef>
                <a:spcPct val="50000"/>
              </a:spcBef>
              <a:buClrTx/>
              <a:buSzTx/>
              <a:buFontTx/>
              <a:buNone/>
            </a:pPr>
            <a:r>
              <a:rPr lang="en-US" altLang="en-US" sz="1800" dirty="0" err="1">
                <a:latin typeface="Arial" panose="020B0604020202020204" pitchFamily="34" charset="0"/>
                <a:cs typeface="Arial" panose="020B0604020202020204" pitchFamily="34" charset="0"/>
              </a:rPr>
              <a:t>p</a:t>
            </a:r>
            <a:r>
              <a:rPr lang="en-US" altLang="en-US" sz="1800" baseline="-25000" dirty="0" err="1">
                <a:latin typeface="Arial" panose="020B0604020202020204" pitchFamily="34" charset="0"/>
                <a:cs typeface="Arial" panose="020B0604020202020204" pitchFamily="34" charset="0"/>
              </a:rPr>
              <a:t>j</a:t>
            </a:r>
            <a:r>
              <a:rPr lang="en-US" altLang="en-US" sz="1800" dirty="0">
                <a:latin typeface="Arial" panose="020B0604020202020204" pitchFamily="34" charset="0"/>
                <a:cs typeface="Arial" panose="020B0604020202020204" pitchFamily="34" charset="0"/>
              </a:rPr>
              <a:t> (j=1...n): </a:t>
            </a:r>
            <a:r>
              <a:rPr lang="en-US" altLang="en-US" sz="1800" dirty="0" err="1">
                <a:latin typeface="Arial" panose="020B0604020202020204" pitchFamily="34" charset="0"/>
                <a:cs typeface="Arial" panose="020B0604020202020204" pitchFamily="34" charset="0"/>
              </a:rPr>
              <a:t>điểm</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cực</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của</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hệ</a:t>
            </a:r>
            <a:r>
              <a:rPr lang="en-US" altLang="en-US" sz="1800" dirty="0">
                <a:latin typeface="Arial" panose="020B0604020202020204" pitchFamily="34" charset="0"/>
                <a:cs typeface="Arial" panose="020B0604020202020204" pitchFamily="34" charset="0"/>
              </a:rPr>
              <a:t> </a:t>
            </a:r>
            <a:r>
              <a:rPr lang="en-US" altLang="en-US" sz="1800" dirty="0" err="1">
                <a:latin typeface="Arial" panose="020B0604020202020204" pitchFamily="34" charset="0"/>
                <a:cs typeface="Arial" panose="020B0604020202020204" pitchFamily="34" charset="0"/>
              </a:rPr>
              <a:t>thống</a:t>
            </a:r>
            <a:r>
              <a:rPr lang="en-US" altLang="en-US" sz="1800" dirty="0">
                <a:latin typeface="Arial" panose="020B0604020202020204" pitchFamily="34" charset="0"/>
                <a:cs typeface="Arial" panose="020B0604020202020204" pitchFamily="34" charset="0"/>
              </a:rPr>
              <a:t> (x)</a:t>
            </a:r>
          </a:p>
        </p:txBody>
      </p:sp>
    </p:spTree>
    <p:extLst>
      <p:ext uri="{BB962C8B-B14F-4D97-AF65-F5344CB8AC3E}">
        <p14:creationId xmlns:p14="http://schemas.microsoft.com/office/powerpoint/2010/main" val="226834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FE847-FCE5-2D1D-D8EB-0BA4E0D39752}"/>
              </a:ext>
            </a:extLst>
          </p:cNvPr>
          <p:cNvSpPr>
            <a:spLocks noGrp="1"/>
          </p:cNvSpPr>
          <p:nvPr>
            <p:ph type="title"/>
          </p:nvPr>
        </p:nvSpPr>
        <p:spPr/>
        <p:txBody>
          <a:bodyPr/>
          <a:lstStyle/>
          <a:p>
            <a:r>
              <a:rPr lang="en-VN" dirty="0"/>
              <a:t>HÀM TRUYỀN </a:t>
            </a:r>
          </a:p>
        </p:txBody>
      </p:sp>
      <p:pic>
        <p:nvPicPr>
          <p:cNvPr id="9" name="Content Placeholder 8">
            <a:extLst>
              <a:ext uri="{FF2B5EF4-FFF2-40B4-BE49-F238E27FC236}">
                <a16:creationId xmlns:a16="http://schemas.microsoft.com/office/drawing/2014/main" id="{A1EB79D1-B192-1C03-71DA-B6052FD4A2D7}"/>
              </a:ext>
            </a:extLst>
          </p:cNvPr>
          <p:cNvPicPr>
            <a:picLocks noGrp="1" noChangeAspect="1"/>
          </p:cNvPicPr>
          <p:nvPr>
            <p:ph idx="1"/>
          </p:nvPr>
        </p:nvPicPr>
        <p:blipFill>
          <a:blip r:embed="rId2"/>
          <a:stretch>
            <a:fillRect/>
          </a:stretch>
        </p:blipFill>
        <p:spPr>
          <a:xfrm>
            <a:off x="1451579" y="2157087"/>
            <a:ext cx="5740851" cy="3186374"/>
          </a:xfrm>
        </p:spPr>
      </p:pic>
      <p:sp>
        <p:nvSpPr>
          <p:cNvPr id="10" name="TextBox 9">
            <a:extLst>
              <a:ext uri="{FF2B5EF4-FFF2-40B4-BE49-F238E27FC236}">
                <a16:creationId xmlns:a16="http://schemas.microsoft.com/office/drawing/2014/main" id="{2575B681-8CEA-3CA2-1D96-F109B19EABA8}"/>
              </a:ext>
            </a:extLst>
          </p:cNvPr>
          <p:cNvSpPr txBox="1"/>
          <p:nvPr/>
        </p:nvSpPr>
        <p:spPr>
          <a:xfrm>
            <a:off x="2297442" y="1514539"/>
            <a:ext cx="7911548" cy="400110"/>
          </a:xfrm>
          <a:prstGeom prst="rect">
            <a:avLst/>
          </a:prstGeom>
          <a:noFill/>
        </p:spPr>
        <p:txBody>
          <a:bodyPr wrap="square" rtlCol="0">
            <a:spAutoFit/>
          </a:bodyPr>
          <a:lstStyle/>
          <a:p>
            <a:pPr algn="ctr"/>
            <a:r>
              <a:rPr lang="en-VN" sz="2000" dirty="0">
                <a:latin typeface="Arial" panose="020B0604020202020204" pitchFamily="34" charset="0"/>
                <a:cs typeface="Arial" panose="020B0604020202020204" pitchFamily="34" charset="0"/>
              </a:rPr>
              <a:t>Xác định hàm truyền của hệ thống sau:</a:t>
            </a:r>
          </a:p>
        </p:txBody>
      </p:sp>
      <p:pic>
        <p:nvPicPr>
          <p:cNvPr id="12" name="Picture 11">
            <a:extLst>
              <a:ext uri="{FF2B5EF4-FFF2-40B4-BE49-F238E27FC236}">
                <a16:creationId xmlns:a16="http://schemas.microsoft.com/office/drawing/2014/main" id="{771C79B5-07BC-5384-7DFF-3845252F4423}"/>
              </a:ext>
            </a:extLst>
          </p:cNvPr>
          <p:cNvPicPr>
            <a:picLocks noChangeAspect="1"/>
          </p:cNvPicPr>
          <p:nvPr/>
        </p:nvPicPr>
        <p:blipFill>
          <a:blip r:embed="rId3"/>
          <a:stretch>
            <a:fillRect/>
          </a:stretch>
        </p:blipFill>
        <p:spPr>
          <a:xfrm>
            <a:off x="8376754" y="3429000"/>
            <a:ext cx="3416300" cy="1371600"/>
          </a:xfrm>
          <a:prstGeom prst="rect">
            <a:avLst/>
          </a:prstGeom>
        </p:spPr>
      </p:pic>
    </p:spTree>
    <p:extLst>
      <p:ext uri="{BB962C8B-B14F-4D97-AF65-F5344CB8AC3E}">
        <p14:creationId xmlns:p14="http://schemas.microsoft.com/office/powerpoint/2010/main" val="3019201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E1801-6117-86EF-037C-5374475E2623}"/>
              </a:ext>
            </a:extLst>
          </p:cNvPr>
          <p:cNvSpPr>
            <a:spLocks noGrp="1"/>
          </p:cNvSpPr>
          <p:nvPr>
            <p:ph type="title"/>
          </p:nvPr>
        </p:nvSpPr>
        <p:spPr/>
        <p:txBody>
          <a:bodyPr/>
          <a:lstStyle/>
          <a:p>
            <a:r>
              <a:rPr lang="en-VN" dirty="0"/>
              <a:t>HÀM TRUYỀN</a:t>
            </a:r>
          </a:p>
        </p:txBody>
      </p:sp>
      <p:pic>
        <p:nvPicPr>
          <p:cNvPr id="5" name="Content Placeholder 4">
            <a:extLst>
              <a:ext uri="{FF2B5EF4-FFF2-40B4-BE49-F238E27FC236}">
                <a16:creationId xmlns:a16="http://schemas.microsoft.com/office/drawing/2014/main" id="{BF9BB804-6650-76C9-2755-1917DFD4716A}"/>
              </a:ext>
            </a:extLst>
          </p:cNvPr>
          <p:cNvPicPr>
            <a:picLocks noGrp="1" noChangeAspect="1"/>
          </p:cNvPicPr>
          <p:nvPr>
            <p:ph idx="1"/>
          </p:nvPr>
        </p:nvPicPr>
        <p:blipFill>
          <a:blip r:embed="rId2"/>
          <a:stretch>
            <a:fillRect/>
          </a:stretch>
        </p:blipFill>
        <p:spPr>
          <a:xfrm>
            <a:off x="1293812" y="1104852"/>
            <a:ext cx="9604375" cy="3158377"/>
          </a:xfrm>
        </p:spPr>
      </p:pic>
      <p:pic>
        <p:nvPicPr>
          <p:cNvPr id="7" name="Picture 6">
            <a:extLst>
              <a:ext uri="{FF2B5EF4-FFF2-40B4-BE49-F238E27FC236}">
                <a16:creationId xmlns:a16="http://schemas.microsoft.com/office/drawing/2014/main" id="{3FE6CFE9-C6D9-48F0-9888-0B95F4BFEE9F}"/>
              </a:ext>
            </a:extLst>
          </p:cNvPr>
          <p:cNvPicPr>
            <a:picLocks noChangeAspect="1"/>
          </p:cNvPicPr>
          <p:nvPr/>
        </p:nvPicPr>
        <p:blipFill>
          <a:blip r:embed="rId3"/>
          <a:stretch>
            <a:fillRect/>
          </a:stretch>
        </p:blipFill>
        <p:spPr>
          <a:xfrm>
            <a:off x="273878" y="5105400"/>
            <a:ext cx="7112000" cy="571500"/>
          </a:xfrm>
          <a:prstGeom prst="rect">
            <a:avLst/>
          </a:prstGeom>
        </p:spPr>
      </p:pic>
      <p:pic>
        <p:nvPicPr>
          <p:cNvPr id="9" name="Picture 8">
            <a:extLst>
              <a:ext uri="{FF2B5EF4-FFF2-40B4-BE49-F238E27FC236}">
                <a16:creationId xmlns:a16="http://schemas.microsoft.com/office/drawing/2014/main" id="{EE29943F-8646-89E4-C9E9-2A8C759FE1D7}"/>
              </a:ext>
            </a:extLst>
          </p:cNvPr>
          <p:cNvPicPr>
            <a:picLocks noChangeAspect="1"/>
          </p:cNvPicPr>
          <p:nvPr/>
        </p:nvPicPr>
        <p:blipFill>
          <a:blip r:embed="rId4"/>
          <a:stretch>
            <a:fillRect/>
          </a:stretch>
        </p:blipFill>
        <p:spPr>
          <a:xfrm>
            <a:off x="7900366" y="4350739"/>
            <a:ext cx="4191000" cy="2362200"/>
          </a:xfrm>
          <a:prstGeom prst="rect">
            <a:avLst/>
          </a:prstGeom>
        </p:spPr>
      </p:pic>
    </p:spTree>
    <p:extLst>
      <p:ext uri="{BB962C8B-B14F-4D97-AF65-F5344CB8AC3E}">
        <p14:creationId xmlns:p14="http://schemas.microsoft.com/office/powerpoint/2010/main" val="1254325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C2956-7E27-6EF3-7095-54E3219E1E6D}"/>
              </a:ext>
            </a:extLst>
          </p:cNvPr>
          <p:cNvSpPr>
            <a:spLocks noGrp="1"/>
          </p:cNvSpPr>
          <p:nvPr>
            <p:ph type="title"/>
          </p:nvPr>
        </p:nvSpPr>
        <p:spPr/>
        <p:txBody>
          <a:bodyPr/>
          <a:lstStyle/>
          <a:p>
            <a:r>
              <a:rPr lang="en-VN" dirty="0"/>
              <a:t>HÀM TRUYỀN</a:t>
            </a:r>
          </a:p>
        </p:txBody>
      </p:sp>
      <p:pic>
        <p:nvPicPr>
          <p:cNvPr id="5" name="Content Placeholder 4">
            <a:extLst>
              <a:ext uri="{FF2B5EF4-FFF2-40B4-BE49-F238E27FC236}">
                <a16:creationId xmlns:a16="http://schemas.microsoft.com/office/drawing/2014/main" id="{D9F33708-3852-B553-960B-B830E9E38743}"/>
              </a:ext>
            </a:extLst>
          </p:cNvPr>
          <p:cNvPicPr>
            <a:picLocks noGrp="1" noChangeAspect="1"/>
          </p:cNvPicPr>
          <p:nvPr>
            <p:ph idx="1"/>
          </p:nvPr>
        </p:nvPicPr>
        <p:blipFill>
          <a:blip r:embed="rId2"/>
          <a:stretch>
            <a:fillRect/>
          </a:stretch>
        </p:blipFill>
        <p:spPr>
          <a:xfrm>
            <a:off x="2513066" y="2476534"/>
            <a:ext cx="7480300" cy="2933700"/>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0602B45-06F6-CC56-4DBC-9E7AC3372051}"/>
                  </a:ext>
                </a:extLst>
              </p:cNvPr>
              <p:cNvSpPr txBox="1"/>
              <p:nvPr/>
            </p:nvSpPr>
            <p:spPr>
              <a:xfrm>
                <a:off x="2297442" y="1514539"/>
                <a:ext cx="7911548" cy="582660"/>
              </a:xfrm>
              <a:prstGeom prst="rect">
                <a:avLst/>
              </a:prstGeom>
              <a:noFill/>
            </p:spPr>
            <p:txBody>
              <a:bodyPr wrap="square" rtlCol="0">
                <a:spAutoFit/>
              </a:bodyPr>
              <a:lstStyle/>
              <a:p>
                <a:pPr algn="ctr"/>
                <a:r>
                  <a:rPr lang="en-VN" sz="2000" dirty="0">
                    <a:latin typeface="Arial" panose="020B0604020202020204" pitchFamily="34" charset="0"/>
                    <a:cs typeface="Arial" panose="020B0604020202020204" pitchFamily="34" charset="0"/>
                  </a:rPr>
                  <a:t>Xác định hàm truyền của hệ thống </a:t>
                </a:r>
                <a14:m>
                  <m:oMath xmlns:m="http://schemas.openxmlformats.org/officeDocument/2006/math">
                    <m:f>
                      <m:fPr>
                        <m:ctrlPr>
                          <a:rPr lang="en-US" sz="2000" b="0" i="1" smtClean="0">
                            <a:latin typeface="Cambria Math" panose="02040503050406030204" pitchFamily="18" charset="0"/>
                            <a:cs typeface="Arial" panose="020B0604020202020204" pitchFamily="34" charset="0"/>
                          </a:rPr>
                        </m:ctrlPr>
                      </m:fPr>
                      <m:num>
                        <m:sSub>
                          <m:sSubPr>
                            <m:ctrlPr>
                              <a:rPr lang="en-US" sz="2000" b="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𝐼</m:t>
                            </m:r>
                          </m:e>
                          <m:sub>
                            <m:r>
                              <a:rPr lang="en-US" sz="2000" b="0" i="1" smtClean="0">
                                <a:latin typeface="Cambria Math" panose="02040503050406030204" pitchFamily="18" charset="0"/>
                                <a:cs typeface="Arial" panose="020B0604020202020204" pitchFamily="34" charset="0"/>
                              </a:rPr>
                              <m:t>2</m:t>
                            </m:r>
                          </m:sub>
                        </m:sSub>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𝑠</m:t>
                            </m:r>
                          </m:e>
                        </m:d>
                      </m:num>
                      <m:den>
                        <m:r>
                          <a:rPr lang="en-US" sz="2000" b="0" i="1" smtClean="0">
                            <a:latin typeface="Cambria Math" panose="02040503050406030204" pitchFamily="18" charset="0"/>
                            <a:cs typeface="Arial" panose="020B0604020202020204" pitchFamily="34" charset="0"/>
                          </a:rPr>
                          <m:t>𝑉</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𝑠</m:t>
                            </m:r>
                          </m:e>
                        </m:d>
                      </m:den>
                    </m:f>
                  </m:oMath>
                </a14:m>
                <a:r>
                  <a:rPr lang="en-VN" sz="2000" dirty="0">
                    <a:latin typeface="Arial" panose="020B0604020202020204" pitchFamily="34" charset="0"/>
                    <a:cs typeface="Arial" panose="020B0604020202020204" pitchFamily="34" charset="0"/>
                  </a:rPr>
                  <a:t> sau:</a:t>
                </a:r>
              </a:p>
            </p:txBody>
          </p:sp>
        </mc:Choice>
        <mc:Fallback xmlns="">
          <p:sp>
            <p:nvSpPr>
              <p:cNvPr id="6" name="TextBox 5">
                <a:extLst>
                  <a:ext uri="{FF2B5EF4-FFF2-40B4-BE49-F238E27FC236}">
                    <a16:creationId xmlns:a16="http://schemas.microsoft.com/office/drawing/2014/main" id="{00602B45-06F6-CC56-4DBC-9E7AC3372051}"/>
                  </a:ext>
                </a:extLst>
              </p:cNvPr>
              <p:cNvSpPr txBox="1">
                <a:spLocks noRot="1" noChangeAspect="1" noMove="1" noResize="1" noEditPoints="1" noAdjustHandles="1" noChangeArrowheads="1" noChangeShapeType="1" noTextEdit="1"/>
              </p:cNvSpPr>
              <p:nvPr/>
            </p:nvSpPr>
            <p:spPr>
              <a:xfrm>
                <a:off x="2297442" y="1514539"/>
                <a:ext cx="7911548" cy="582660"/>
              </a:xfrm>
              <a:prstGeom prst="rect">
                <a:avLst/>
              </a:prstGeom>
              <a:blipFill>
                <a:blip r:embed="rId3"/>
                <a:stretch>
                  <a:fillRect b="-2128"/>
                </a:stretch>
              </a:blipFill>
            </p:spPr>
            <p:txBody>
              <a:bodyPr/>
              <a:lstStyle/>
              <a:p>
                <a:r>
                  <a:rPr lang="en-VN">
                    <a:noFill/>
                  </a:rPr>
                  <a:t> </a:t>
                </a:r>
              </a:p>
            </p:txBody>
          </p:sp>
        </mc:Fallback>
      </mc:AlternateContent>
    </p:spTree>
    <p:extLst>
      <p:ext uri="{BB962C8B-B14F-4D97-AF65-F5344CB8AC3E}">
        <p14:creationId xmlns:p14="http://schemas.microsoft.com/office/powerpoint/2010/main" val="3865958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FB674-93CD-CE91-A4C0-3E62165C5790}"/>
              </a:ext>
            </a:extLst>
          </p:cNvPr>
          <p:cNvSpPr>
            <a:spLocks noGrp="1"/>
          </p:cNvSpPr>
          <p:nvPr>
            <p:ph type="title"/>
          </p:nvPr>
        </p:nvSpPr>
        <p:spPr/>
        <p:txBody>
          <a:bodyPr/>
          <a:lstStyle/>
          <a:p>
            <a:r>
              <a:rPr lang="en-VN" dirty="0"/>
              <a:t>HÀM TRUYỀN</a:t>
            </a:r>
          </a:p>
        </p:txBody>
      </p:sp>
      <p:pic>
        <p:nvPicPr>
          <p:cNvPr id="5" name="Content Placeholder 4">
            <a:extLst>
              <a:ext uri="{FF2B5EF4-FFF2-40B4-BE49-F238E27FC236}">
                <a16:creationId xmlns:a16="http://schemas.microsoft.com/office/drawing/2014/main" id="{BF9418B3-82AA-E598-15A3-2625580D17C2}"/>
              </a:ext>
            </a:extLst>
          </p:cNvPr>
          <p:cNvPicPr>
            <a:picLocks noGrp="1" noChangeAspect="1"/>
          </p:cNvPicPr>
          <p:nvPr>
            <p:ph idx="1"/>
          </p:nvPr>
        </p:nvPicPr>
        <p:blipFill>
          <a:blip r:embed="rId2"/>
          <a:stretch>
            <a:fillRect/>
          </a:stretch>
        </p:blipFill>
        <p:spPr>
          <a:xfrm>
            <a:off x="3055092" y="3162072"/>
            <a:ext cx="5492560" cy="1844217"/>
          </a:xfrm>
        </p:spPr>
      </p:pic>
      <p:pic>
        <p:nvPicPr>
          <p:cNvPr id="7" name="Picture 6">
            <a:extLst>
              <a:ext uri="{FF2B5EF4-FFF2-40B4-BE49-F238E27FC236}">
                <a16:creationId xmlns:a16="http://schemas.microsoft.com/office/drawing/2014/main" id="{055FE1F9-3F4F-A771-8249-D2CFCD548888}"/>
              </a:ext>
            </a:extLst>
          </p:cNvPr>
          <p:cNvPicPr>
            <a:picLocks noChangeAspect="1"/>
          </p:cNvPicPr>
          <p:nvPr/>
        </p:nvPicPr>
        <p:blipFill rotWithShape="1">
          <a:blip r:embed="rId3"/>
          <a:srcRect t="11615"/>
          <a:stretch/>
        </p:blipFill>
        <p:spPr>
          <a:xfrm>
            <a:off x="2277122" y="1563756"/>
            <a:ext cx="7048500" cy="785744"/>
          </a:xfrm>
          <a:prstGeom prst="rect">
            <a:avLst/>
          </a:prstGeom>
        </p:spPr>
      </p:pic>
    </p:spTree>
    <p:extLst>
      <p:ext uri="{BB962C8B-B14F-4D97-AF65-F5344CB8AC3E}">
        <p14:creationId xmlns:p14="http://schemas.microsoft.com/office/powerpoint/2010/main" val="24152220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67887-4F13-C633-A4B4-3E55301D9952}"/>
              </a:ext>
            </a:extLst>
          </p:cNvPr>
          <p:cNvSpPr>
            <a:spLocks noGrp="1"/>
          </p:cNvSpPr>
          <p:nvPr>
            <p:ph type="title"/>
          </p:nvPr>
        </p:nvSpPr>
        <p:spPr/>
        <p:txBody>
          <a:bodyPr/>
          <a:lstStyle/>
          <a:p>
            <a:r>
              <a:rPr lang="en-VN" dirty="0"/>
              <a:t>HÀM TRUYỀN</a:t>
            </a:r>
          </a:p>
        </p:txBody>
      </p:sp>
      <p:pic>
        <p:nvPicPr>
          <p:cNvPr id="7" name="Picture 6">
            <a:extLst>
              <a:ext uri="{FF2B5EF4-FFF2-40B4-BE49-F238E27FC236}">
                <a16:creationId xmlns:a16="http://schemas.microsoft.com/office/drawing/2014/main" id="{1F566175-BFCD-9950-FF9D-AA7518BBCFAB}"/>
              </a:ext>
            </a:extLst>
          </p:cNvPr>
          <p:cNvPicPr>
            <a:picLocks noChangeAspect="1"/>
          </p:cNvPicPr>
          <p:nvPr/>
        </p:nvPicPr>
        <p:blipFill>
          <a:blip r:embed="rId2"/>
          <a:stretch>
            <a:fillRect/>
          </a:stretch>
        </p:blipFill>
        <p:spPr>
          <a:xfrm>
            <a:off x="3733548" y="1486862"/>
            <a:ext cx="4724903" cy="3884276"/>
          </a:xfrm>
          <a:prstGeom prst="rect">
            <a:avLst/>
          </a:prstGeom>
        </p:spPr>
      </p:pic>
    </p:spTree>
    <p:extLst>
      <p:ext uri="{BB962C8B-B14F-4D97-AF65-F5344CB8AC3E}">
        <p14:creationId xmlns:p14="http://schemas.microsoft.com/office/powerpoint/2010/main" val="1691101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6477E-9E3D-E552-6CD2-8D11D21E1150}"/>
              </a:ext>
            </a:extLst>
          </p:cNvPr>
          <p:cNvSpPr>
            <a:spLocks noGrp="1"/>
          </p:cNvSpPr>
          <p:nvPr>
            <p:ph type="title"/>
          </p:nvPr>
        </p:nvSpPr>
        <p:spPr/>
        <p:txBody>
          <a:bodyPr/>
          <a:lstStyle/>
          <a:p>
            <a:r>
              <a:rPr lang="en-VN" dirty="0"/>
              <a:t>HÀM TRUYỀN</a:t>
            </a:r>
          </a:p>
        </p:txBody>
      </p:sp>
      <p:sp>
        <p:nvSpPr>
          <p:cNvPr id="3" name="Content Placeholder 2">
            <a:extLst>
              <a:ext uri="{FF2B5EF4-FFF2-40B4-BE49-F238E27FC236}">
                <a16:creationId xmlns:a16="http://schemas.microsoft.com/office/drawing/2014/main" id="{7D457D5B-1594-ED08-AD6E-284628028AD9}"/>
              </a:ext>
            </a:extLst>
          </p:cNvPr>
          <p:cNvSpPr>
            <a:spLocks noGrp="1"/>
          </p:cNvSpPr>
          <p:nvPr>
            <p:ph idx="1"/>
          </p:nvPr>
        </p:nvSpPr>
        <p:spPr/>
        <p:txBody>
          <a:bodyPr/>
          <a:lstStyle/>
          <a:p>
            <a:r>
              <a:rPr lang="en-VN" dirty="0"/>
              <a:t>Hệ thống lò xo, vật cản</a:t>
            </a:r>
          </a:p>
        </p:txBody>
      </p:sp>
      <p:pic>
        <p:nvPicPr>
          <p:cNvPr id="5" name="Picture 4">
            <a:extLst>
              <a:ext uri="{FF2B5EF4-FFF2-40B4-BE49-F238E27FC236}">
                <a16:creationId xmlns:a16="http://schemas.microsoft.com/office/drawing/2014/main" id="{EE3D3CBA-CE52-59E4-640E-CF981981A356}"/>
              </a:ext>
            </a:extLst>
          </p:cNvPr>
          <p:cNvPicPr>
            <a:picLocks noChangeAspect="1"/>
          </p:cNvPicPr>
          <p:nvPr/>
        </p:nvPicPr>
        <p:blipFill>
          <a:blip r:embed="rId2"/>
          <a:stretch>
            <a:fillRect/>
          </a:stretch>
        </p:blipFill>
        <p:spPr>
          <a:xfrm>
            <a:off x="2032000" y="2254250"/>
            <a:ext cx="7772400" cy="2246709"/>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A2422E-0FA9-31A7-FB94-B19C995AB506}"/>
                  </a:ext>
                </a:extLst>
              </p:cNvPr>
              <p:cNvSpPr txBox="1"/>
              <p:nvPr/>
            </p:nvSpPr>
            <p:spPr>
              <a:xfrm>
                <a:off x="2782957" y="4731025"/>
                <a:ext cx="6268278" cy="533544"/>
              </a:xfrm>
              <a:prstGeom prst="rect">
                <a:avLst/>
              </a:prstGeom>
              <a:noFill/>
            </p:spPr>
            <p:txBody>
              <a:bodyPr wrap="square" rtlCol="0">
                <a:spAutoFit/>
              </a:bodyPr>
              <a:lstStyle/>
              <a:p>
                <a:pPr algn="ctr"/>
                <a:r>
                  <a:rPr lang="en-VN" dirty="0">
                    <a:latin typeface="Arial" panose="020B0604020202020204" pitchFamily="34" charset="0"/>
                    <a:cs typeface="Arial" panose="020B0604020202020204" pitchFamily="34" charset="0"/>
                  </a:rPr>
                  <a:t>Xác định hàm truyền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𝑋</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num>
                      <m:den>
                        <m:r>
                          <a:rPr lang="en-US" b="0" i="1" smtClean="0">
                            <a:latin typeface="Cambria Math" panose="02040503050406030204" pitchFamily="18" charset="0"/>
                          </a:rPr>
                          <m:t>𝐹</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den>
                    </m:f>
                  </m:oMath>
                </a14:m>
                <a:r>
                  <a:rPr lang="en-VN" dirty="0">
                    <a:latin typeface="Arial" panose="020B0604020202020204" pitchFamily="34" charset="0"/>
                    <a:cs typeface="Arial" panose="020B0604020202020204" pitchFamily="34" charset="0"/>
                  </a:rPr>
                  <a:t> của hệ thống</a:t>
                </a:r>
              </a:p>
            </p:txBody>
          </p:sp>
        </mc:Choice>
        <mc:Fallback xmlns="">
          <p:sp>
            <p:nvSpPr>
              <p:cNvPr id="6" name="TextBox 5">
                <a:extLst>
                  <a:ext uri="{FF2B5EF4-FFF2-40B4-BE49-F238E27FC236}">
                    <a16:creationId xmlns:a16="http://schemas.microsoft.com/office/drawing/2014/main" id="{0CA2422E-0FA9-31A7-FB94-B19C995AB506}"/>
                  </a:ext>
                </a:extLst>
              </p:cNvPr>
              <p:cNvSpPr txBox="1">
                <a:spLocks noRot="1" noChangeAspect="1" noMove="1" noResize="1" noEditPoints="1" noAdjustHandles="1" noChangeArrowheads="1" noChangeShapeType="1" noTextEdit="1"/>
              </p:cNvSpPr>
              <p:nvPr/>
            </p:nvSpPr>
            <p:spPr>
              <a:xfrm>
                <a:off x="2782957" y="4731025"/>
                <a:ext cx="6268278" cy="533544"/>
              </a:xfrm>
              <a:prstGeom prst="rect">
                <a:avLst/>
              </a:prstGeom>
              <a:blipFill>
                <a:blip r:embed="rId3"/>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800235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6DF5A-838A-9E8D-5B32-A69270C6F3B7}"/>
              </a:ext>
            </a:extLst>
          </p:cNvPr>
          <p:cNvSpPr>
            <a:spLocks noGrp="1"/>
          </p:cNvSpPr>
          <p:nvPr>
            <p:ph type="title"/>
          </p:nvPr>
        </p:nvSpPr>
        <p:spPr/>
        <p:txBody>
          <a:bodyPr/>
          <a:lstStyle/>
          <a:p>
            <a:r>
              <a:rPr lang="en-VN" dirty="0"/>
              <a:t>HÀM TRUYỀN</a:t>
            </a:r>
          </a:p>
        </p:txBody>
      </p:sp>
      <p:pic>
        <p:nvPicPr>
          <p:cNvPr id="5" name="Content Placeholder 4">
            <a:extLst>
              <a:ext uri="{FF2B5EF4-FFF2-40B4-BE49-F238E27FC236}">
                <a16:creationId xmlns:a16="http://schemas.microsoft.com/office/drawing/2014/main" id="{C1DB2CE7-8BBA-A638-9189-27063FAFFB44}"/>
              </a:ext>
            </a:extLst>
          </p:cNvPr>
          <p:cNvPicPr>
            <a:picLocks noGrp="1" noChangeAspect="1"/>
          </p:cNvPicPr>
          <p:nvPr>
            <p:ph idx="1"/>
          </p:nvPr>
        </p:nvPicPr>
        <p:blipFill>
          <a:blip r:embed="rId2"/>
          <a:stretch>
            <a:fillRect/>
          </a:stretch>
        </p:blipFill>
        <p:spPr>
          <a:xfrm>
            <a:off x="48272" y="1207293"/>
            <a:ext cx="6204944" cy="4443413"/>
          </a:xfrm>
        </p:spPr>
      </p:pic>
      <p:pic>
        <p:nvPicPr>
          <p:cNvPr id="7" name="Picture 6">
            <a:extLst>
              <a:ext uri="{FF2B5EF4-FFF2-40B4-BE49-F238E27FC236}">
                <a16:creationId xmlns:a16="http://schemas.microsoft.com/office/drawing/2014/main" id="{04B02359-9072-626B-78CB-097D094DA34F}"/>
              </a:ext>
            </a:extLst>
          </p:cNvPr>
          <p:cNvPicPr>
            <a:picLocks noChangeAspect="1"/>
          </p:cNvPicPr>
          <p:nvPr/>
        </p:nvPicPr>
        <p:blipFill>
          <a:blip r:embed="rId3"/>
          <a:stretch>
            <a:fillRect/>
          </a:stretch>
        </p:blipFill>
        <p:spPr>
          <a:xfrm>
            <a:off x="6326786" y="2219920"/>
            <a:ext cx="5793934" cy="2418158"/>
          </a:xfrm>
          <a:prstGeom prst="rect">
            <a:avLst/>
          </a:prstGeom>
        </p:spPr>
      </p:pic>
    </p:spTree>
    <p:extLst>
      <p:ext uri="{BB962C8B-B14F-4D97-AF65-F5344CB8AC3E}">
        <p14:creationId xmlns:p14="http://schemas.microsoft.com/office/powerpoint/2010/main" val="3281055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CF35E-AB41-C5BE-DCF4-0D17A75B4C42}"/>
              </a:ext>
            </a:extLst>
          </p:cNvPr>
          <p:cNvSpPr>
            <a:spLocks noGrp="1"/>
          </p:cNvSpPr>
          <p:nvPr>
            <p:ph type="title"/>
          </p:nvPr>
        </p:nvSpPr>
        <p:spPr/>
        <p:txBody>
          <a:bodyPr/>
          <a:lstStyle/>
          <a:p>
            <a:r>
              <a:rPr lang="en-VN" dirty="0"/>
              <a:t>TÍNH TUYẾN TÍNH CỦA HỆ THỐNG</a:t>
            </a:r>
          </a:p>
        </p:txBody>
      </p:sp>
      <p:pic>
        <p:nvPicPr>
          <p:cNvPr id="5" name="Content Placeholder 4">
            <a:extLst>
              <a:ext uri="{FF2B5EF4-FFF2-40B4-BE49-F238E27FC236}">
                <a16:creationId xmlns:a16="http://schemas.microsoft.com/office/drawing/2014/main" id="{33FE306D-680D-1E9E-73FB-73A97215A95C}"/>
              </a:ext>
            </a:extLst>
          </p:cNvPr>
          <p:cNvPicPr>
            <a:picLocks noGrp="1" noChangeAspect="1"/>
          </p:cNvPicPr>
          <p:nvPr>
            <p:ph idx="1"/>
          </p:nvPr>
        </p:nvPicPr>
        <p:blipFill>
          <a:blip r:embed="rId2"/>
          <a:stretch>
            <a:fillRect/>
          </a:stretch>
        </p:blipFill>
        <p:spPr>
          <a:xfrm>
            <a:off x="1273160" y="1473008"/>
            <a:ext cx="4239745" cy="2489392"/>
          </a:xfr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905ADFA-0866-2736-D12F-FB73553D7D99}"/>
                  </a:ext>
                </a:extLst>
              </p:cNvPr>
              <p:cNvSpPr txBox="1"/>
              <p:nvPr/>
            </p:nvSpPr>
            <p:spPr>
              <a:xfrm>
                <a:off x="6679096" y="1473008"/>
                <a:ext cx="5512904" cy="2862322"/>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Hệ thống tuyến tính:</a:t>
                </a:r>
              </a:p>
              <a:p>
                <a:endParaRPr lang="en-VN"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 Tính chồng chất </a:t>
                </a:r>
                <a:r>
                  <a:rPr lang="en-VN" i="1" dirty="0">
                    <a:latin typeface="Arial" panose="020B0604020202020204" pitchFamily="34" charset="0"/>
                    <a:cs typeface="Arial" panose="020B0604020202020204" pitchFamily="34" charset="0"/>
                  </a:rPr>
                  <a:t>(</a:t>
                </a:r>
                <a:r>
                  <a:rPr lang="en-US" sz="1800" i="1" dirty="0">
                    <a:effectLst/>
                    <a:latin typeface="Arial" panose="020B0604020202020204" pitchFamily="34" charset="0"/>
                    <a:cs typeface="Arial" panose="020B0604020202020204" pitchFamily="34" charset="0"/>
                  </a:rPr>
                  <a:t>superposition)</a:t>
                </a:r>
              </a:p>
              <a:p>
                <a:r>
                  <a:rPr lang="en-US" i="1" dirty="0">
                    <a:latin typeface="Arial" panose="020B0604020202020204" pitchFamily="34" charset="0"/>
                    <a:cs typeface="Arial" panose="020B0604020202020204" pitchFamily="34" charset="0"/>
                  </a:rPr>
                  <a:t>Input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𝑟</m:t>
                        </m:r>
                      </m:e>
                      <m:sub>
                        <m:r>
                          <a:rPr lang="en-US" b="0" i="1" smtClean="0">
                            <a:latin typeface="Cambria Math" panose="02040503050406030204" pitchFamily="18" charset="0"/>
                            <a:cs typeface="Arial" panose="020B0604020202020204" pitchFamily="34" charset="0"/>
                          </a:rPr>
                          <m:t>1</m:t>
                        </m:r>
                      </m:sub>
                    </m:sSub>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𝑡</m:t>
                        </m:r>
                      </m:e>
                    </m:d>
                  </m:oMath>
                </a14:m>
                <a:r>
                  <a:rPr lang="en-US" i="1" dirty="0">
                    <a:latin typeface="Arial" panose="020B0604020202020204" pitchFamily="34" charset="0"/>
                    <a:cs typeface="Arial" panose="020B0604020202020204" pitchFamily="34" charset="0"/>
                  </a:rPr>
                  <a:t> ~ Output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𝑡</m:t>
                    </m:r>
                    <m:r>
                      <a:rPr lang="en-US" b="0" i="1" smtClean="0">
                        <a:latin typeface="Cambria Math" panose="02040503050406030204" pitchFamily="18" charset="0"/>
                        <a:cs typeface="Arial" panose="020B0604020202020204" pitchFamily="34" charset="0"/>
                      </a:rPr>
                      <m:t>)</m:t>
                    </m:r>
                  </m:oMath>
                </a14:m>
                <a:endParaRPr lang="en-US" i="1"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Input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𝑟</m:t>
                        </m:r>
                      </m:e>
                      <m:sub>
                        <m:r>
                          <a:rPr lang="en-US" b="0" i="1" smtClean="0">
                            <a:latin typeface="Cambria Math" panose="02040503050406030204" pitchFamily="18" charset="0"/>
                            <a:cs typeface="Arial" panose="020B0604020202020204" pitchFamily="34" charset="0"/>
                          </a:rPr>
                          <m:t>2</m:t>
                        </m:r>
                      </m:sub>
                    </m:sSub>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𝑡</m:t>
                        </m:r>
                      </m:e>
                    </m:d>
                  </m:oMath>
                </a14:m>
                <a:r>
                  <a:rPr lang="en-US" i="1" dirty="0">
                    <a:latin typeface="Arial" panose="020B0604020202020204" pitchFamily="34" charset="0"/>
                    <a:cs typeface="Arial" panose="020B0604020202020204" pitchFamily="34" charset="0"/>
                  </a:rPr>
                  <a:t> ~ Output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2</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𝑡</m:t>
                    </m:r>
                    <m:r>
                      <a:rPr lang="en-US" b="0" i="1" smtClean="0">
                        <a:latin typeface="Cambria Math" panose="02040503050406030204" pitchFamily="18" charset="0"/>
                        <a:cs typeface="Arial" panose="020B0604020202020204" pitchFamily="34" charset="0"/>
                      </a:rPr>
                      <m:t>)</m:t>
                    </m:r>
                  </m:oMath>
                </a14:m>
                <a:endParaRPr lang="en-US" i="1"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 Input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𝑟</m:t>
                        </m:r>
                      </m:e>
                      <m:sub>
                        <m:r>
                          <a:rPr lang="en-US" b="0" i="1" smtClean="0">
                            <a:latin typeface="Cambria Math" panose="02040503050406030204" pitchFamily="18" charset="0"/>
                            <a:cs typeface="Arial" panose="020B0604020202020204" pitchFamily="34" charset="0"/>
                          </a:rPr>
                          <m:t>1</m:t>
                        </m:r>
                      </m:sub>
                    </m:sSub>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𝑡</m:t>
                        </m:r>
                      </m:e>
                    </m:d>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𝑟</m:t>
                        </m:r>
                      </m:e>
                      <m:sub>
                        <m:r>
                          <a:rPr lang="en-US" b="0" i="1" smtClean="0">
                            <a:latin typeface="Cambria Math" panose="02040503050406030204" pitchFamily="18" charset="0"/>
                            <a:cs typeface="Arial" panose="020B0604020202020204" pitchFamily="34" charset="0"/>
                          </a:rPr>
                          <m:t>2</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𝑡</m:t>
                    </m:r>
                    <m:r>
                      <a:rPr lang="en-US" b="0" i="1" smtClean="0">
                        <a:latin typeface="Cambria Math" panose="02040503050406030204" pitchFamily="18" charset="0"/>
                        <a:cs typeface="Arial" panose="020B0604020202020204" pitchFamily="34" charset="0"/>
                      </a:rPr>
                      <m:t>)</m:t>
                    </m:r>
                  </m:oMath>
                </a14:m>
                <a:r>
                  <a:rPr lang="en-US" i="1" dirty="0">
                    <a:latin typeface="Arial" panose="020B0604020202020204" pitchFamily="34" charset="0"/>
                    <a:cs typeface="Arial" panose="020B0604020202020204" pitchFamily="34" charset="0"/>
                  </a:rPr>
                  <a:t> ~  Output </a:t>
                </a:r>
                <a14:m>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1</m:t>
                        </m:r>
                      </m:sub>
                    </m:sSub>
                    <m:d>
                      <m:dPr>
                        <m:ctrlPr>
                          <a:rPr lang="en-US" i="1">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𝑡</m:t>
                        </m:r>
                      </m:e>
                    </m:d>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2</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𝑡</m:t>
                    </m:r>
                    <m:r>
                      <a:rPr lang="en-US" b="0" i="1" smtClean="0">
                        <a:latin typeface="Cambria Math" panose="02040503050406030204" pitchFamily="18" charset="0"/>
                        <a:cs typeface="Arial" panose="020B0604020202020204" pitchFamily="34" charset="0"/>
                      </a:rPr>
                      <m:t>)</m:t>
                    </m:r>
                  </m:oMath>
                </a14:m>
                <a:endParaRPr lang="en-US" i="1"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  </a:t>
                </a:r>
                <a:endParaRPr lang="en-VN" i="1" dirty="0">
                  <a:latin typeface="Arial" panose="020B0604020202020204" pitchFamily="34" charset="0"/>
                  <a:cs typeface="Arial" panose="020B0604020202020204" pitchFamily="34" charset="0"/>
                </a:endParaRPr>
              </a:p>
              <a:p>
                <a:r>
                  <a:rPr lang="en-VN" dirty="0">
                    <a:latin typeface="Arial" panose="020B0604020202020204" pitchFamily="34" charset="0"/>
                    <a:cs typeface="Arial" panose="020B0604020202020204" pitchFamily="34" charset="0"/>
                  </a:rPr>
                  <a:t>- Tính đồng nhất </a:t>
                </a:r>
                <a:r>
                  <a:rPr lang="en-VN" i="1" dirty="0">
                    <a:latin typeface="Arial" panose="020B0604020202020204" pitchFamily="34" charset="0"/>
                    <a:cs typeface="Arial" panose="020B0604020202020204" pitchFamily="34" charset="0"/>
                  </a:rPr>
                  <a:t>(</a:t>
                </a:r>
                <a:r>
                  <a:rPr lang="en-US" i="1" dirty="0">
                    <a:latin typeface="Arial" panose="020B0604020202020204" pitchFamily="34" charset="0"/>
                    <a:cs typeface="Arial" panose="020B0604020202020204" pitchFamily="34" charset="0"/>
                  </a:rPr>
                  <a:t>homogeneity) </a:t>
                </a:r>
              </a:p>
              <a:p>
                <a:r>
                  <a:rPr lang="en-US" i="1" dirty="0">
                    <a:latin typeface="Arial" panose="020B0604020202020204" pitchFamily="34" charset="0"/>
                    <a:cs typeface="Arial" panose="020B0604020202020204" pitchFamily="34" charset="0"/>
                  </a:rPr>
                  <a:t>Input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𝑟</m:t>
                        </m:r>
                      </m:e>
                      <m:sub>
                        <m:r>
                          <a:rPr lang="en-US" b="0" i="1" smtClean="0">
                            <a:latin typeface="Cambria Math" panose="02040503050406030204" pitchFamily="18" charset="0"/>
                            <a:cs typeface="Arial" panose="020B0604020202020204" pitchFamily="34" charset="0"/>
                          </a:rPr>
                          <m:t>1</m:t>
                        </m:r>
                      </m:sub>
                    </m:sSub>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𝑡</m:t>
                        </m:r>
                      </m:e>
                    </m:d>
                  </m:oMath>
                </a14:m>
                <a:r>
                  <a:rPr lang="en-US" i="1" dirty="0">
                    <a:latin typeface="Arial" panose="020B0604020202020204" pitchFamily="34" charset="0"/>
                    <a:cs typeface="Arial" panose="020B0604020202020204" pitchFamily="34" charset="0"/>
                  </a:rPr>
                  <a:t> ~ Output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1</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𝑡</m:t>
                    </m:r>
                    <m:r>
                      <a:rPr lang="en-US" b="0" i="1" smtClean="0">
                        <a:latin typeface="Cambria Math" panose="02040503050406030204" pitchFamily="18" charset="0"/>
                        <a:cs typeface="Arial" panose="020B0604020202020204" pitchFamily="34" charset="0"/>
                      </a:rPr>
                      <m:t>)</m:t>
                    </m:r>
                  </m:oMath>
                </a14:m>
                <a:endParaRPr lang="en-US" i="1" dirty="0">
                  <a:latin typeface="Arial" panose="020B0604020202020204" pitchFamily="34" charset="0"/>
                  <a:cs typeface="Arial" panose="020B0604020202020204" pitchFamily="34" charset="0"/>
                </a:endParaRPr>
              </a:p>
              <a:p>
                <a:r>
                  <a:rPr lang="en-US" i="1" dirty="0">
                    <a:latin typeface="Arial" panose="020B0604020202020204" pitchFamily="34" charset="0"/>
                    <a:cs typeface="Arial" panose="020B0604020202020204" pitchFamily="34" charset="0"/>
                  </a:rPr>
                  <a:t>➔ Input </a:t>
                </a:r>
                <a14:m>
                  <m:oMath xmlns:m="http://schemas.openxmlformats.org/officeDocument/2006/math">
                    <m:r>
                      <a:rPr lang="en-US" b="0" i="1" smtClean="0">
                        <a:latin typeface="Cambria Math" panose="02040503050406030204" pitchFamily="18" charset="0"/>
                        <a:cs typeface="Arial" panose="020B0604020202020204" pitchFamily="34" charset="0"/>
                      </a:rPr>
                      <m:t>𝐴</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𝑟</m:t>
                        </m:r>
                      </m:e>
                      <m:sub>
                        <m:r>
                          <a:rPr lang="en-US" b="0" i="1" smtClean="0">
                            <a:latin typeface="Cambria Math" panose="02040503050406030204" pitchFamily="18" charset="0"/>
                            <a:cs typeface="Arial" panose="020B0604020202020204" pitchFamily="34" charset="0"/>
                          </a:rPr>
                          <m:t>1</m:t>
                        </m:r>
                      </m:sub>
                    </m:sSub>
                    <m:d>
                      <m:dPr>
                        <m:ctrlPr>
                          <a:rPr lang="en-US" b="0"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𝑡</m:t>
                        </m:r>
                      </m:e>
                    </m:d>
                  </m:oMath>
                </a14:m>
                <a:r>
                  <a:rPr lang="en-US" i="1" dirty="0">
                    <a:latin typeface="Arial" panose="020B0604020202020204" pitchFamily="34" charset="0"/>
                    <a:cs typeface="Arial" panose="020B0604020202020204" pitchFamily="34" charset="0"/>
                  </a:rPr>
                  <a:t> ~ Output </a:t>
                </a:r>
                <a14:m>
                  <m:oMath xmlns:m="http://schemas.openxmlformats.org/officeDocument/2006/math">
                    <m:r>
                      <a:rPr lang="en-US" b="0" i="1" smtClean="0">
                        <a:latin typeface="Cambria Math" panose="02040503050406030204" pitchFamily="18" charset="0"/>
                        <a:cs typeface="Arial" panose="020B0604020202020204" pitchFamily="34" charset="0"/>
                      </a:rPr>
                      <m:t>𝐴</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𝑐</m:t>
                        </m:r>
                      </m:e>
                      <m:sub>
                        <m:r>
                          <a:rPr lang="en-US" i="1">
                            <a:latin typeface="Cambria Math" panose="02040503050406030204" pitchFamily="18" charset="0"/>
                            <a:cs typeface="Arial" panose="020B0604020202020204" pitchFamily="34" charset="0"/>
                          </a:rPr>
                          <m:t>1</m:t>
                        </m:r>
                      </m:sub>
                    </m:sSub>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𝑡</m:t>
                    </m:r>
                    <m:r>
                      <a:rPr lang="en-US" i="1">
                        <a:latin typeface="Cambria Math" panose="02040503050406030204" pitchFamily="18" charset="0"/>
                        <a:cs typeface="Arial" panose="020B0604020202020204" pitchFamily="34" charset="0"/>
                      </a:rPr>
                      <m:t>)</m:t>
                    </m:r>
                  </m:oMath>
                </a14:m>
                <a:endParaRPr lang="en-US" i="1"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6905ADFA-0866-2736-D12F-FB73553D7D99}"/>
                  </a:ext>
                </a:extLst>
              </p:cNvPr>
              <p:cNvSpPr txBox="1">
                <a:spLocks noRot="1" noChangeAspect="1" noMove="1" noResize="1" noEditPoints="1" noAdjustHandles="1" noChangeArrowheads="1" noChangeShapeType="1" noTextEdit="1"/>
              </p:cNvSpPr>
              <p:nvPr/>
            </p:nvSpPr>
            <p:spPr>
              <a:xfrm>
                <a:off x="6679096" y="1473008"/>
                <a:ext cx="5512904" cy="2862322"/>
              </a:xfrm>
              <a:prstGeom prst="rect">
                <a:avLst/>
              </a:prstGeom>
              <a:blipFill>
                <a:blip r:embed="rId3"/>
                <a:stretch>
                  <a:fillRect l="-1149" t="-1327" b="-2655"/>
                </a:stretch>
              </a:blipFill>
            </p:spPr>
            <p:txBody>
              <a:bodyPr/>
              <a:lstStyle/>
              <a:p>
                <a:r>
                  <a:rPr lang="en-VN">
                    <a:noFill/>
                  </a:rPr>
                  <a:t> </a:t>
                </a:r>
              </a:p>
            </p:txBody>
          </p:sp>
        </mc:Fallback>
      </mc:AlternateContent>
      <p:pic>
        <p:nvPicPr>
          <p:cNvPr id="7" name="Content Placeholder 4">
            <a:extLst>
              <a:ext uri="{FF2B5EF4-FFF2-40B4-BE49-F238E27FC236}">
                <a16:creationId xmlns:a16="http://schemas.microsoft.com/office/drawing/2014/main" id="{CFE96E60-C757-0962-49C3-C8283910741E}"/>
              </a:ext>
            </a:extLst>
          </p:cNvPr>
          <p:cNvPicPr>
            <a:picLocks noChangeAspect="1"/>
          </p:cNvPicPr>
          <p:nvPr/>
        </p:nvPicPr>
        <p:blipFill>
          <a:blip r:embed="rId4"/>
          <a:stretch>
            <a:fillRect/>
          </a:stretch>
        </p:blipFill>
        <p:spPr>
          <a:xfrm>
            <a:off x="828736" y="4335330"/>
            <a:ext cx="5128592" cy="2005670"/>
          </a:xfrm>
          <a:prstGeom prst="rect">
            <a:avLst/>
          </a:prstGeom>
        </p:spPr>
      </p:pic>
    </p:spTree>
    <p:extLst>
      <p:ext uri="{BB962C8B-B14F-4D97-AF65-F5344CB8AC3E}">
        <p14:creationId xmlns:p14="http://schemas.microsoft.com/office/powerpoint/2010/main" val="903804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BD874-CE98-3DC0-852F-4EB599C39526}"/>
              </a:ext>
            </a:extLst>
          </p:cNvPr>
          <p:cNvSpPr>
            <a:spLocks noGrp="1"/>
          </p:cNvSpPr>
          <p:nvPr>
            <p:ph type="title"/>
          </p:nvPr>
        </p:nvSpPr>
        <p:spPr/>
        <p:txBody>
          <a:bodyPr/>
          <a:lstStyle/>
          <a:p>
            <a:r>
              <a:rPr lang="en-VN" dirty="0"/>
              <a:t>TUYẾN TÍNH HOÁ HỆ THỐNG</a:t>
            </a:r>
          </a:p>
        </p:txBody>
      </p:sp>
      <p:pic>
        <p:nvPicPr>
          <p:cNvPr id="9" name="Content Placeholder 8">
            <a:extLst>
              <a:ext uri="{FF2B5EF4-FFF2-40B4-BE49-F238E27FC236}">
                <a16:creationId xmlns:a16="http://schemas.microsoft.com/office/drawing/2014/main" id="{A28F64E4-0A12-3E95-CA89-749BE89FBA17}"/>
              </a:ext>
            </a:extLst>
          </p:cNvPr>
          <p:cNvPicPr>
            <a:picLocks noGrp="1" noChangeAspect="1"/>
          </p:cNvPicPr>
          <p:nvPr>
            <p:ph idx="1"/>
          </p:nvPr>
        </p:nvPicPr>
        <p:blipFill>
          <a:blip r:embed="rId2"/>
          <a:stretch>
            <a:fillRect/>
          </a:stretch>
        </p:blipFill>
        <p:spPr>
          <a:xfrm>
            <a:off x="7199148" y="1348551"/>
            <a:ext cx="3855706" cy="3845586"/>
          </a:xfrm>
        </p:spPr>
      </p:pic>
      <p:pic>
        <p:nvPicPr>
          <p:cNvPr id="4" name="Picture 3">
            <a:extLst>
              <a:ext uri="{FF2B5EF4-FFF2-40B4-BE49-F238E27FC236}">
                <a16:creationId xmlns:a16="http://schemas.microsoft.com/office/drawing/2014/main" id="{9CCE83B5-75A5-B7DB-40B0-4FE6856EAA88}"/>
              </a:ext>
            </a:extLst>
          </p:cNvPr>
          <p:cNvPicPr>
            <a:picLocks noChangeAspect="1"/>
          </p:cNvPicPr>
          <p:nvPr/>
        </p:nvPicPr>
        <p:blipFill>
          <a:blip r:embed="rId3"/>
          <a:stretch>
            <a:fillRect/>
          </a:stretch>
        </p:blipFill>
        <p:spPr>
          <a:xfrm>
            <a:off x="1451579" y="2797064"/>
            <a:ext cx="4356100" cy="2209800"/>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05AC09F-90CF-F378-4D57-8821998365A5}"/>
                  </a:ext>
                </a:extLst>
              </p:cNvPr>
              <p:cNvSpPr txBox="1"/>
              <p:nvPr/>
            </p:nvSpPr>
            <p:spPr>
              <a:xfrm>
                <a:off x="430924" y="1348551"/>
                <a:ext cx="6180083" cy="923330"/>
              </a:xfrm>
              <a:prstGeom prst="rect">
                <a:avLst/>
              </a:prstGeom>
              <a:noFill/>
            </p:spPr>
            <p:txBody>
              <a:bodyPr wrap="square" rtlCol="0">
                <a:spAutoFit/>
              </a:bodyPr>
              <a:lstStyle/>
              <a:p>
                <a:r>
                  <a:rPr lang="en-VN" dirty="0">
                    <a:latin typeface="Arial" panose="020B0604020202020204" pitchFamily="34" charset="0"/>
                    <a:cs typeface="Arial" panose="020B0604020202020204" pitchFamily="34" charset="0"/>
                  </a:rPr>
                  <a:t>Giả sử hệ thống phi tuyến tính tại điểm A(</a:t>
                </a:r>
                <a14:m>
                  <m:oMath xmlns:m="http://schemas.openxmlformats.org/officeDocument/2006/math">
                    <m:sSub>
                      <m:sSubPr>
                        <m:ctrlPr>
                          <a:rPr lang="en-US" b="0" i="0" smtClean="0">
                            <a:latin typeface="Cambria Math" panose="02040503050406030204" pitchFamily="18" charset="0"/>
                          </a:rPr>
                        </m:ctrlPr>
                      </m:sSubPr>
                      <m:e>
                        <m:r>
                          <m:rPr>
                            <m:sty m:val="p"/>
                          </m:rPr>
                          <a:rPr lang="en-US" b="0" i="0" smtClean="0">
                            <a:latin typeface="Cambria Math" panose="02040503050406030204" pitchFamily="18" charset="0"/>
                          </a:rPr>
                          <m:t>x</m:t>
                        </m:r>
                      </m:e>
                      <m:sub>
                        <m:r>
                          <a:rPr lang="en-US" b="0" i="0" smtClean="0">
                            <a:latin typeface="Cambria Math" panose="02040503050406030204" pitchFamily="18" charset="0"/>
                          </a:rPr>
                          <m:t>0</m:t>
                        </m:r>
                      </m:sub>
                    </m:sSub>
                    <m:r>
                      <a:rPr lang="en-US" b="0" i="0"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a14:m>
                <a:r>
                  <a:rPr lang="en-VN" dirty="0">
                    <a:latin typeface="Arial" panose="020B0604020202020204" pitchFamily="34" charset="0"/>
                    <a:cs typeface="Arial" panose="020B0604020202020204" pitchFamily="34" charset="0"/>
                  </a:rPr>
                  <a:t>)</a:t>
                </a:r>
              </a:p>
              <a:p>
                <a:r>
                  <a:rPr lang="en-VN" dirty="0">
                    <a:latin typeface="Arial" panose="020B0604020202020204" pitchFamily="34" charset="0"/>
                    <a:cs typeface="Arial" panose="020B0604020202020204" pitchFamily="34" charset="0"/>
                  </a:rPr>
                  <a:t>Thay đổi rất nhỏ trong lối vào dẫn đến thay đổi ở lối ra theo hàm tuyến tính với hệ số giả sử là </a:t>
                </a:r>
                <a14:m>
                  <m:oMath xmlns:m="http://schemas.openxmlformats.org/officeDocument/2006/math">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𝑚</m:t>
                        </m:r>
                      </m:e>
                      <m:sub>
                        <m:r>
                          <a:rPr lang="en-US" b="0" i="1" smtClean="0">
                            <a:latin typeface="Cambria Math" panose="02040503050406030204" pitchFamily="18" charset="0"/>
                            <a:cs typeface="Arial" panose="020B0604020202020204" pitchFamily="34" charset="0"/>
                          </a:rPr>
                          <m:t>𝑎</m:t>
                        </m:r>
                      </m:sub>
                    </m:sSub>
                  </m:oMath>
                </a14:m>
                <a:endParaRPr lang="en-VN" dirty="0">
                  <a:latin typeface="Arial" panose="020B0604020202020204" pitchFamily="34" charset="0"/>
                  <a:cs typeface="Arial" panose="020B0604020202020204" pitchFamily="34" charset="0"/>
                </a:endParaRPr>
              </a:p>
            </p:txBody>
          </p:sp>
        </mc:Choice>
        <mc:Fallback>
          <p:sp>
            <p:nvSpPr>
              <p:cNvPr id="5" name="TextBox 4">
                <a:extLst>
                  <a:ext uri="{FF2B5EF4-FFF2-40B4-BE49-F238E27FC236}">
                    <a16:creationId xmlns:a16="http://schemas.microsoft.com/office/drawing/2014/main" id="{205AC09F-90CF-F378-4D57-8821998365A5}"/>
                  </a:ext>
                </a:extLst>
              </p:cNvPr>
              <p:cNvSpPr txBox="1">
                <a:spLocks noRot="1" noChangeAspect="1" noMove="1" noResize="1" noEditPoints="1" noAdjustHandles="1" noChangeArrowheads="1" noChangeShapeType="1" noTextEdit="1"/>
              </p:cNvSpPr>
              <p:nvPr/>
            </p:nvSpPr>
            <p:spPr>
              <a:xfrm>
                <a:off x="430924" y="1348551"/>
                <a:ext cx="6180083" cy="923330"/>
              </a:xfrm>
              <a:prstGeom prst="rect">
                <a:avLst/>
              </a:prstGeom>
              <a:blipFill>
                <a:blip r:embed="rId4"/>
                <a:stretch>
                  <a:fillRect l="-1027" t="-2703" r="-1643" b="-9459"/>
                </a:stretch>
              </a:blipFill>
            </p:spPr>
            <p:txBody>
              <a:bodyPr/>
              <a:lstStyle/>
              <a:p>
                <a:r>
                  <a:rPr lang="en-VN">
                    <a:noFill/>
                  </a:rPr>
                  <a:t> </a:t>
                </a:r>
              </a:p>
            </p:txBody>
          </p:sp>
        </mc:Fallback>
      </mc:AlternateContent>
    </p:spTree>
    <p:extLst>
      <p:ext uri="{BB962C8B-B14F-4D97-AF65-F5344CB8AC3E}">
        <p14:creationId xmlns:p14="http://schemas.microsoft.com/office/powerpoint/2010/main" val="2410968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235B-9C92-E50A-8EC2-9799313FFCE7}"/>
              </a:ext>
            </a:extLst>
          </p:cNvPr>
          <p:cNvSpPr>
            <a:spLocks noGrp="1"/>
          </p:cNvSpPr>
          <p:nvPr>
            <p:ph type="title"/>
          </p:nvPr>
        </p:nvSpPr>
        <p:spPr/>
        <p:txBody>
          <a:bodyPr/>
          <a:lstStyle/>
          <a:p>
            <a:r>
              <a:rPr lang="en-VN" dirty="0"/>
              <a:t>TUYẾN TÍNH HOÁ HỆ THỐNG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1C083AC-4EAB-27D7-D70D-3EB88A8B72A8}"/>
                  </a:ext>
                </a:extLst>
              </p:cNvPr>
              <p:cNvSpPr>
                <a:spLocks noGrp="1"/>
              </p:cNvSpPr>
              <p:nvPr>
                <p:ph idx="1"/>
              </p:nvPr>
            </p:nvSpPr>
            <p:spPr/>
            <p:txBody>
              <a:bodyPr/>
              <a:lstStyle/>
              <a:p>
                <a:r>
                  <a:rPr lang="en-VN" dirty="0"/>
                  <a:t>VD: Tuyến tính hoá </a:t>
                </a: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=5 </m:t>
                    </m:r>
                    <m:r>
                      <m:rPr>
                        <m:sty m:val="p"/>
                      </m:rPr>
                      <a:rPr lang="en-US" b="0" i="0" smtClean="0">
                        <a:latin typeface="Cambria Math" panose="02040503050406030204" pitchFamily="18" charset="0"/>
                      </a:rPr>
                      <m:t>cos</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VN" dirty="0"/>
                  <a:t> tại điểm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𝜋</m:t>
                    </m:r>
                    <m:r>
                      <a:rPr lang="en-US" b="0" i="1" smtClean="0">
                        <a:latin typeface="Cambria Math" panose="02040503050406030204" pitchFamily="18" charset="0"/>
                      </a:rPr>
                      <m:t>/2</m:t>
                    </m:r>
                  </m:oMath>
                </a14:m>
                <a:endParaRPr lang="en-VN" dirty="0"/>
              </a:p>
            </p:txBody>
          </p:sp>
        </mc:Choice>
        <mc:Fallback>
          <p:sp>
            <p:nvSpPr>
              <p:cNvPr id="3" name="Content Placeholder 2">
                <a:extLst>
                  <a:ext uri="{FF2B5EF4-FFF2-40B4-BE49-F238E27FC236}">
                    <a16:creationId xmlns:a16="http://schemas.microsoft.com/office/drawing/2014/main" id="{A1C083AC-4EAB-27D7-D70D-3EB88A8B72A8}"/>
                  </a:ext>
                </a:extLst>
              </p:cNvPr>
              <p:cNvSpPr>
                <a:spLocks noGrp="1" noRot="1" noChangeAspect="1" noMove="1" noResize="1" noEditPoints="1" noAdjustHandles="1" noChangeArrowheads="1" noChangeShapeType="1" noTextEdit="1"/>
              </p:cNvSpPr>
              <p:nvPr>
                <p:ph idx="1"/>
              </p:nvPr>
            </p:nvSpPr>
            <p:spPr>
              <a:blipFill>
                <a:blip r:embed="rId2"/>
                <a:stretch>
                  <a:fillRect l="-528"/>
                </a:stretch>
              </a:blipFill>
            </p:spPr>
            <p:txBody>
              <a:bodyPr/>
              <a:lstStyle/>
              <a:p>
                <a:r>
                  <a:rPr lang="en-VN">
                    <a:noFill/>
                  </a:rPr>
                  <a:t> </a:t>
                </a:r>
              </a:p>
            </p:txBody>
          </p:sp>
        </mc:Fallback>
      </mc:AlternateContent>
    </p:spTree>
    <p:extLst>
      <p:ext uri="{BB962C8B-B14F-4D97-AF65-F5344CB8AC3E}">
        <p14:creationId xmlns:p14="http://schemas.microsoft.com/office/powerpoint/2010/main" val="1328132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BECDD-2A2E-FA31-41D9-ED2A3A1DB6CC}"/>
              </a:ext>
            </a:extLst>
          </p:cNvPr>
          <p:cNvSpPr>
            <a:spLocks noGrp="1"/>
          </p:cNvSpPr>
          <p:nvPr>
            <p:ph type="title"/>
          </p:nvPr>
        </p:nvSpPr>
        <p:spPr/>
        <p:txBody>
          <a:bodyPr/>
          <a:lstStyle/>
          <a:p>
            <a:r>
              <a:rPr lang="en-VN" dirty="0"/>
              <a:t>Bài tập</a:t>
            </a:r>
          </a:p>
        </p:txBody>
      </p:sp>
      <p:sp>
        <p:nvSpPr>
          <p:cNvPr id="3" name="Content Placeholder 2">
            <a:extLst>
              <a:ext uri="{FF2B5EF4-FFF2-40B4-BE49-F238E27FC236}">
                <a16:creationId xmlns:a16="http://schemas.microsoft.com/office/drawing/2014/main" id="{B31DDEA9-A6D7-2CD1-E5C2-03549B82E98E}"/>
              </a:ext>
            </a:extLst>
          </p:cNvPr>
          <p:cNvSpPr>
            <a:spLocks noGrp="1"/>
          </p:cNvSpPr>
          <p:nvPr>
            <p:ph idx="1"/>
          </p:nvPr>
        </p:nvSpPr>
        <p:spPr/>
        <p:txBody>
          <a:bodyPr/>
          <a:lstStyle/>
          <a:p>
            <a:endParaRPr lang="en-VN"/>
          </a:p>
        </p:txBody>
      </p:sp>
    </p:spTree>
    <p:extLst>
      <p:ext uri="{BB962C8B-B14F-4D97-AF65-F5344CB8AC3E}">
        <p14:creationId xmlns:p14="http://schemas.microsoft.com/office/powerpoint/2010/main" val="175357171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{DA89C2F4-FBD1-684E-A465-9AFB9D00BEE5}tf10001119</Template>
  <TotalTime>773</TotalTime>
  <Words>501</Words>
  <Application>Microsoft Macintosh PowerPoint</Application>
  <PresentationFormat>Widescreen</PresentationFormat>
  <Paragraphs>59</Paragraphs>
  <Slides>17</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2" baseType="lpstr">
      <vt:lpstr>Arial</vt:lpstr>
      <vt:lpstr>Cambria Math</vt:lpstr>
      <vt:lpstr>Gill Sans MT</vt:lpstr>
      <vt:lpstr>Gallery</vt:lpstr>
      <vt:lpstr>Equation</vt:lpstr>
      <vt:lpstr>CHƯƠNG 2: MÔ HÌNH TRONG MIỀN TẦN SỐ</vt:lpstr>
      <vt:lpstr>Giới thiệu</vt:lpstr>
      <vt:lpstr>BIẾN ĐỔI LAPLACE</vt:lpstr>
      <vt:lpstr>BIẾN ĐỔI LAPLACE</vt:lpstr>
      <vt:lpstr>HÀM TRUYỀN</vt:lpstr>
      <vt:lpstr>HÀM TRUYỀN</vt:lpstr>
      <vt:lpstr>HÀM TRUYỀN </vt:lpstr>
      <vt:lpstr>HÀM TRUYỀN</vt:lpstr>
      <vt:lpstr>HÀM TRUYỀN</vt:lpstr>
      <vt:lpstr>HÀM TRUYỀN</vt:lpstr>
      <vt:lpstr>HÀM TRUYỀN</vt:lpstr>
      <vt:lpstr>HÀM TRUYỀN</vt:lpstr>
      <vt:lpstr>HÀM TRUYỀN</vt:lpstr>
      <vt:lpstr>TÍNH TUYẾN TÍNH CỦA HỆ THỐNG</vt:lpstr>
      <vt:lpstr>TUYẾN TÍNH HOÁ HỆ THỐNG</vt:lpstr>
      <vt:lpstr>TUYẾN TÍNH HOÁ HỆ THỐNG</vt:lpstr>
      <vt:lpstr>Bài tập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2: MÔ HÌNH TRONG MIỀN TẦN SỐ</dc:title>
  <dc:creator>Nguyễn Thu Hằng</dc:creator>
  <cp:lastModifiedBy>Nguyễn Thu Hằng</cp:lastModifiedBy>
  <cp:revision>6</cp:revision>
  <dcterms:created xsi:type="dcterms:W3CDTF">2023-08-28T11:08:29Z</dcterms:created>
  <dcterms:modified xsi:type="dcterms:W3CDTF">2023-09-04T20:09:39Z</dcterms:modified>
</cp:coreProperties>
</file>