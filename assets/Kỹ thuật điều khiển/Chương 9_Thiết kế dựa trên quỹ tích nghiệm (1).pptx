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notesMasterIdLst>
    <p:notesMasterId r:id="rId29"/>
  </p:notesMasterIdLst>
  <p:sldIdLst>
    <p:sldId id="256" r:id="rId2"/>
    <p:sldId id="258" r:id="rId3"/>
    <p:sldId id="287" r:id="rId4"/>
    <p:sldId id="288" r:id="rId5"/>
    <p:sldId id="289" r:id="rId6"/>
    <p:sldId id="290" r:id="rId7"/>
    <p:sldId id="291" r:id="rId8"/>
    <p:sldId id="292" r:id="rId9"/>
    <p:sldId id="293" r:id="rId10"/>
    <p:sldId id="294" r:id="rId11"/>
    <p:sldId id="295" r:id="rId12"/>
    <p:sldId id="296" r:id="rId13"/>
    <p:sldId id="297" r:id="rId14"/>
    <p:sldId id="300" r:id="rId15"/>
    <p:sldId id="301" r:id="rId16"/>
    <p:sldId id="298" r:id="rId17"/>
    <p:sldId id="299" r:id="rId18"/>
    <p:sldId id="302" r:id="rId19"/>
    <p:sldId id="303" r:id="rId20"/>
    <p:sldId id="304" r:id="rId21"/>
    <p:sldId id="305" r:id="rId22"/>
    <p:sldId id="306" r:id="rId23"/>
    <p:sldId id="307" r:id="rId24"/>
    <p:sldId id="308" r:id="rId25"/>
    <p:sldId id="309" r:id="rId26"/>
    <p:sldId id="310" r:id="rId27"/>
    <p:sldId id="27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29"/>
    <p:restoredTop sz="89228"/>
  </p:normalViewPr>
  <p:slideViewPr>
    <p:cSldViewPr snapToGrid="0">
      <p:cViewPr>
        <p:scale>
          <a:sx n="106" d="100"/>
          <a:sy n="106" d="100"/>
        </p:scale>
        <p:origin x="624"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117A9-C5FE-9547-BE33-9079660B3BBF}" type="datetimeFigureOut">
              <a:rPr lang="en-VN" smtClean="0"/>
              <a:t>21/11/2023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575F00-99DD-8C4D-8BF7-67178BB10A31}" type="slidenum">
              <a:rPr lang="en-VN" smtClean="0"/>
              <a:t>‹#›</a:t>
            </a:fld>
            <a:endParaRPr lang="en-VN"/>
          </a:p>
        </p:txBody>
      </p:sp>
    </p:spTree>
    <p:extLst>
      <p:ext uri="{BB962C8B-B14F-4D97-AF65-F5344CB8AC3E}">
        <p14:creationId xmlns:p14="http://schemas.microsoft.com/office/powerpoint/2010/main" val="3623748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Ví dụ có thể chọn: -0.01 và -0.001</a:t>
            </a:r>
          </a:p>
        </p:txBody>
      </p:sp>
      <p:sp>
        <p:nvSpPr>
          <p:cNvPr id="4" name="Slide Number Placeholder 3"/>
          <p:cNvSpPr>
            <a:spLocks noGrp="1"/>
          </p:cNvSpPr>
          <p:nvPr>
            <p:ph type="sldNum" sz="quarter" idx="5"/>
          </p:nvPr>
        </p:nvSpPr>
        <p:spPr/>
        <p:txBody>
          <a:bodyPr/>
          <a:lstStyle/>
          <a:p>
            <a:fld id="{11575F00-99DD-8C4D-8BF7-67178BB10A31}" type="slidenum">
              <a:rPr lang="en-VN" smtClean="0"/>
              <a:t>8</a:t>
            </a:fld>
            <a:endParaRPr lang="en-VN"/>
          </a:p>
        </p:txBody>
      </p:sp>
    </p:spTree>
    <p:extLst>
      <p:ext uri="{BB962C8B-B14F-4D97-AF65-F5344CB8AC3E}">
        <p14:creationId xmlns:p14="http://schemas.microsoft.com/office/powerpoint/2010/main" val="303486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11575F00-99DD-8C4D-8BF7-67178BB10A31}" type="slidenum">
              <a:rPr lang="en-VN" smtClean="0"/>
              <a:t>12</a:t>
            </a:fld>
            <a:endParaRPr lang="en-VN"/>
          </a:p>
        </p:txBody>
      </p:sp>
    </p:spTree>
    <p:extLst>
      <p:ext uri="{BB962C8B-B14F-4D97-AF65-F5344CB8AC3E}">
        <p14:creationId xmlns:p14="http://schemas.microsoft.com/office/powerpoint/2010/main" val="807263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21/11/2023</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AB7131A4-70E5-2C47-979D-CC0A508A1115}"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4653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198069"/>
            <a:ext cx="9603275" cy="674212"/>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1451579" y="1244014"/>
            <a:ext cx="9603275" cy="4444399"/>
          </a:xfrm>
        </p:spPr>
        <p:txBody>
          <a:bodyPr ancho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80060" y="479993"/>
            <a:ext cx="811019" cy="503578"/>
          </a:xfrm>
        </p:spPr>
        <p:txBody>
          <a:bodyPr/>
          <a:lstStyle>
            <a:lvl1pPr>
              <a:defRPr>
                <a:latin typeface="Arial" panose="020B0604020202020204" pitchFamily="34" charset="0"/>
                <a:cs typeface="Arial" panose="020B0604020202020204" pitchFamily="34" charset="0"/>
              </a:defRPr>
            </a:lvl1pPr>
          </a:lstStyle>
          <a:p>
            <a:fld id="{AB7131A4-70E5-2C47-979D-CC0A508A1115}" type="slidenum">
              <a:rPr lang="en-VN" smtClean="0"/>
              <a:pPr/>
              <a:t>‹#›</a:t>
            </a:fld>
            <a:endParaRPr lang="en-VN"/>
          </a:p>
        </p:txBody>
      </p:sp>
      <p:cxnSp>
        <p:nvCxnSpPr>
          <p:cNvPr id="33" name="Straight Connector 32"/>
          <p:cNvCxnSpPr/>
          <p:nvPr/>
        </p:nvCxnSpPr>
        <p:spPr>
          <a:xfrm>
            <a:off x="1447332" y="983571"/>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871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F61E88-A186-394E-83B0-C95AB89BE3CE}" type="datetimeFigureOut">
              <a:rPr lang="en-VN" smtClean="0"/>
              <a:t>21/11/2023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645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F61E88-A186-394E-83B0-C95AB89BE3CE}" type="datetimeFigureOut">
              <a:rPr lang="en-VN" smtClean="0"/>
              <a:t>21/11/2023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319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F61E88-A186-394E-83B0-C95AB89BE3CE}" type="datetimeFigureOut">
              <a:rPr lang="en-VN" smtClean="0"/>
              <a:t>21/11/2023</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AB7131A4-70E5-2C47-979D-CC0A508A1115}"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07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F61E88-A186-394E-83B0-C95AB89BE3CE}" type="datetimeFigureOut">
              <a:rPr lang="en-VN" smtClean="0"/>
              <a:t>21/11/2023</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AB7131A4-70E5-2C47-979D-CC0A508A1115}"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69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1E88-A186-394E-83B0-C95AB89BE3CE}" type="datetimeFigureOut">
              <a:rPr lang="en-VN" smtClean="0"/>
              <a:t>21/11/2023</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AB7131A4-70E5-2C47-979D-CC0A508A1115}" type="slidenum">
              <a:rPr lang="en-VN" smtClean="0"/>
              <a:t>‹#›</a:t>
            </a:fld>
            <a:endParaRPr lang="en-VN"/>
          </a:p>
        </p:txBody>
      </p:sp>
    </p:spTree>
    <p:extLst>
      <p:ext uri="{BB962C8B-B14F-4D97-AF65-F5344CB8AC3E}">
        <p14:creationId xmlns:p14="http://schemas.microsoft.com/office/powerpoint/2010/main" val="352877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F61E88-A186-394E-83B0-C95AB89BE3CE}" type="datetimeFigureOut">
              <a:rPr lang="en-VN" smtClean="0"/>
              <a:t>21/11/2023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3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EF61E88-A186-394E-83B0-C95AB89BE3CE}" type="datetimeFigureOut">
              <a:rPr lang="en-VN" smtClean="0"/>
              <a:t>21/11/2023</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22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21/11/2023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003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21/11/2023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692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EF61E88-A186-394E-83B0-C95AB89BE3CE}" type="datetimeFigureOut">
              <a:rPr lang="en-VN" smtClean="0"/>
              <a:t>21/11/2023</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B7131A4-70E5-2C47-979D-CC0A508A1115}"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15930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3693-A035-3C4E-7F71-6028A05A4966}"/>
              </a:ext>
            </a:extLst>
          </p:cNvPr>
          <p:cNvSpPr>
            <a:spLocks noGrp="1"/>
          </p:cNvSpPr>
          <p:nvPr>
            <p:ph type="ctrTitle"/>
          </p:nvPr>
        </p:nvSpPr>
        <p:spPr>
          <a:xfrm>
            <a:off x="2129742" y="802298"/>
            <a:ext cx="9172538" cy="2541431"/>
          </a:xfrm>
        </p:spPr>
        <p:txBody>
          <a:bodyPr>
            <a:normAutofit/>
          </a:bodyPr>
          <a:lstStyle/>
          <a:p>
            <a:r>
              <a:rPr lang="en-VN" sz="5400" dirty="0">
                <a:latin typeface="Arial" panose="020B0604020202020204" pitchFamily="34" charset="0"/>
                <a:cs typeface="Arial" panose="020B0604020202020204" pitchFamily="34" charset="0"/>
              </a:rPr>
              <a:t>CHƯƠNG 9: THIẾT KẾ DỰA TRÊN QUỸ TÍCH NGHIỆM</a:t>
            </a:r>
          </a:p>
        </p:txBody>
      </p:sp>
      <p:sp>
        <p:nvSpPr>
          <p:cNvPr id="3" name="Subtitle 2">
            <a:extLst>
              <a:ext uri="{FF2B5EF4-FFF2-40B4-BE49-F238E27FC236}">
                <a16:creationId xmlns:a16="http://schemas.microsoft.com/office/drawing/2014/main" id="{AFEE02D5-7413-F104-1030-A7A1F479E957}"/>
              </a:ext>
            </a:extLst>
          </p:cNvPr>
          <p:cNvSpPr>
            <a:spLocks noGrp="1"/>
          </p:cNvSpPr>
          <p:nvPr>
            <p:ph type="subTitle" idx="1"/>
          </p:nvPr>
        </p:nvSpPr>
        <p:spPr/>
        <p:txBody>
          <a:bodyPr>
            <a:normAutofit/>
          </a:bodyPr>
          <a:lstStyle/>
          <a:p>
            <a:r>
              <a:rPr kumimoji="0" lang="en-VN" altLang="en-VN" sz="3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Design via Root Locus</a:t>
            </a:r>
          </a:p>
        </p:txBody>
      </p:sp>
      <p:pic>
        <p:nvPicPr>
          <p:cNvPr id="1025" name="Picture 1" descr="page53image1145757968">
            <a:extLst>
              <a:ext uri="{FF2B5EF4-FFF2-40B4-BE49-F238E27FC236}">
                <a16:creationId xmlns:a16="http://schemas.microsoft.com/office/drawing/2014/main" id="{93647881-E3F9-0241-C1ED-5F534C819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19800" cy="44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96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6F87F-9540-6807-463C-A18DC1A6FD3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G</a:t>
            </a:r>
            <a:r>
              <a:rPr lang="en-VN" dirty="0">
                <a:latin typeface="Arial" panose="020B0604020202020204" pitchFamily="34" charset="0"/>
                <a:cs typeface="Arial" panose="020B0604020202020204" pitchFamily="34" charset="0"/>
              </a:rPr>
              <a:t>iới thiệu</a:t>
            </a:r>
            <a:endParaRPr lang="en-VN" dirty="0"/>
          </a:p>
        </p:txBody>
      </p:sp>
      <p:sp>
        <p:nvSpPr>
          <p:cNvPr id="3" name="Content Placeholder 2">
            <a:extLst>
              <a:ext uri="{FF2B5EF4-FFF2-40B4-BE49-F238E27FC236}">
                <a16:creationId xmlns:a16="http://schemas.microsoft.com/office/drawing/2014/main" id="{51FFE0DA-2280-E682-2A9C-68F2365493EE}"/>
              </a:ext>
            </a:extLst>
          </p:cNvPr>
          <p:cNvSpPr>
            <a:spLocks noGrp="1"/>
          </p:cNvSpPr>
          <p:nvPr>
            <p:ph idx="1"/>
          </p:nvPr>
        </p:nvSpPr>
        <p:spPr>
          <a:xfrm>
            <a:off x="1451579" y="1244014"/>
            <a:ext cx="9603275" cy="4444399"/>
          </a:xfrm>
        </p:spPr>
        <p:txBody>
          <a:bodyPr/>
          <a:lstStyle/>
          <a:p>
            <a:r>
              <a:rPr lang="vi-VN" altLang="en-US" sz="2000" dirty="0"/>
              <a:t>Dựa trên quỹ tích nghiệm, có thể lựa chọn tham số phù hợp để đạt được đáp ứng lối ra như mong muốn.</a:t>
            </a:r>
          </a:p>
          <a:p>
            <a:r>
              <a:rPr lang="vi-VN" altLang="en-US" dirty="0">
                <a:cs typeface="Tahoma" panose="020B0604030504040204" pitchFamily="34" charset="0"/>
              </a:rPr>
              <a:t>Khi thay đổi tham số, đáp ứng của hệ thống thay đổi dựa trên vị trí điểm cực nằm trên QUỸ TÍCH NGHIỆM ➔ Thiết kế bị giới hạn với các điểm cực chỉ nằm trên quỹ tích nghiệm.</a:t>
            </a:r>
            <a:endParaRPr lang="en-US" altLang="en-US" sz="2000" dirty="0">
              <a:cs typeface="Tahoma" panose="020B0604030504040204" pitchFamily="34" charset="0"/>
            </a:endParaRPr>
          </a:p>
          <a:p>
            <a:endParaRPr lang="en-V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F1F2A2A-44D9-EA43-1BDE-2A6BEE2E3C7D}"/>
              </a:ext>
            </a:extLst>
          </p:cNvPr>
          <p:cNvPicPr>
            <a:picLocks noChangeAspect="1"/>
          </p:cNvPicPr>
          <p:nvPr/>
        </p:nvPicPr>
        <p:blipFill>
          <a:blip r:embed="rId2"/>
          <a:stretch>
            <a:fillRect/>
          </a:stretch>
        </p:blipFill>
        <p:spPr>
          <a:xfrm>
            <a:off x="266216" y="3466213"/>
            <a:ext cx="4189875" cy="3057205"/>
          </a:xfrm>
          <a:prstGeom prst="rect">
            <a:avLst/>
          </a:prstGeom>
        </p:spPr>
      </p:pic>
      <p:pic>
        <p:nvPicPr>
          <p:cNvPr id="7" name="Picture 6">
            <a:extLst>
              <a:ext uri="{FF2B5EF4-FFF2-40B4-BE49-F238E27FC236}">
                <a16:creationId xmlns:a16="http://schemas.microsoft.com/office/drawing/2014/main" id="{8D90840F-B0D4-4AF0-399E-715F0BCA98C1}"/>
              </a:ext>
            </a:extLst>
          </p:cNvPr>
          <p:cNvPicPr>
            <a:picLocks noChangeAspect="1"/>
          </p:cNvPicPr>
          <p:nvPr/>
        </p:nvPicPr>
        <p:blipFill>
          <a:blip r:embed="rId3"/>
          <a:stretch>
            <a:fillRect/>
          </a:stretch>
        </p:blipFill>
        <p:spPr>
          <a:xfrm>
            <a:off x="4639945" y="3466213"/>
            <a:ext cx="7277151" cy="3057205"/>
          </a:xfrm>
          <a:prstGeom prst="rect">
            <a:avLst/>
          </a:prstGeom>
        </p:spPr>
      </p:pic>
    </p:spTree>
    <p:extLst>
      <p:ext uri="{BB962C8B-B14F-4D97-AF65-F5344CB8AC3E}">
        <p14:creationId xmlns:p14="http://schemas.microsoft.com/office/powerpoint/2010/main" val="2521175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4218B-E9BB-D8C2-6456-167C5D8C4EAC}"/>
              </a:ext>
            </a:extLst>
          </p:cNvPr>
          <p:cNvSpPr>
            <a:spLocks noGrp="1"/>
          </p:cNvSpPr>
          <p:nvPr>
            <p:ph type="title"/>
          </p:nvPr>
        </p:nvSpPr>
        <p:spPr/>
        <p:txBody>
          <a:bodyPr/>
          <a:lstStyle/>
          <a:p>
            <a:r>
              <a:rPr lang="en-VN" dirty="0"/>
              <a:t>GIỚI THIỆU</a:t>
            </a:r>
          </a:p>
        </p:txBody>
      </p:sp>
      <p:sp>
        <p:nvSpPr>
          <p:cNvPr id="3" name="Content Placeholder 2">
            <a:extLst>
              <a:ext uri="{FF2B5EF4-FFF2-40B4-BE49-F238E27FC236}">
                <a16:creationId xmlns:a16="http://schemas.microsoft.com/office/drawing/2014/main" id="{B1739416-F7FE-E3F9-4540-08469CB1FC8D}"/>
              </a:ext>
            </a:extLst>
          </p:cNvPr>
          <p:cNvSpPr>
            <a:spLocks noGrp="1"/>
          </p:cNvSpPr>
          <p:nvPr>
            <p:ph idx="1"/>
          </p:nvPr>
        </p:nvSpPr>
        <p:spPr/>
        <p:txBody>
          <a:bodyPr/>
          <a:lstStyle/>
          <a:p>
            <a:r>
              <a:rPr lang="en-VN" dirty="0"/>
              <a:t>Để đạt được đáp ứng thời gian mong muốn: </a:t>
            </a:r>
          </a:p>
          <a:p>
            <a:pPr lvl="1"/>
            <a:r>
              <a:rPr lang="en-VN" dirty="0"/>
              <a:t>Thay đổi hệ thống ➔ tốn kém. Với một số hệ thống, đáp ứng tức thời không phải ưu tiên hàng đầu.</a:t>
            </a:r>
          </a:p>
          <a:p>
            <a:pPr lvl="1"/>
            <a:r>
              <a:rPr lang="en-VN" b="1" dirty="0">
                <a:solidFill>
                  <a:srgbClr val="C00000"/>
                </a:solidFill>
              </a:rPr>
              <a:t>Bù </a:t>
            </a:r>
            <a:r>
              <a:rPr lang="en-VN" b="1" i="1" dirty="0">
                <a:solidFill>
                  <a:srgbClr val="C00000"/>
                </a:solidFill>
              </a:rPr>
              <a:t>(Compensate)</a:t>
            </a:r>
            <a:r>
              <a:rPr lang="en-VN" i="1" dirty="0">
                <a:solidFill>
                  <a:srgbClr val="C00000"/>
                </a:solidFill>
              </a:rPr>
              <a:t> </a:t>
            </a:r>
            <a:r>
              <a:rPr lang="en-VN" dirty="0"/>
              <a:t>hệ thống bằng cách thêm vào đó điểm không/điểm cực ➔ Quỹ tích nghiệm của hệ thống đi qua điểm cực mong muốn.</a:t>
            </a:r>
          </a:p>
          <a:p>
            <a:pPr marL="457200" lvl="1" indent="0">
              <a:buNone/>
            </a:pPr>
            <a:r>
              <a:rPr lang="en-VN" sz="1800" dirty="0">
                <a:latin typeface="Arial" panose="020B0604020202020204" pitchFamily="34" charset="0"/>
                <a:cs typeface="Arial" panose="020B0604020202020204" pitchFamily="34" charset="0"/>
              </a:rPr>
              <a:t>👉 T</a:t>
            </a:r>
            <a:r>
              <a:rPr lang="en-VN" dirty="0"/>
              <a:t>ăng bậc của hệ thống. Cần kiểm tra lại điều kiện xấp xỉ hệ thống bậc hai.</a:t>
            </a:r>
          </a:p>
          <a:p>
            <a:pPr marL="457200" lvl="1" indent="0">
              <a:buNone/>
            </a:pPr>
            <a:endParaRPr lang="en-VN" dirty="0"/>
          </a:p>
        </p:txBody>
      </p:sp>
      <p:pic>
        <p:nvPicPr>
          <p:cNvPr id="5" name="Picture 4">
            <a:extLst>
              <a:ext uri="{FF2B5EF4-FFF2-40B4-BE49-F238E27FC236}">
                <a16:creationId xmlns:a16="http://schemas.microsoft.com/office/drawing/2014/main" id="{C0BA0706-235C-72C0-03F2-36AFC66B4CEF}"/>
              </a:ext>
            </a:extLst>
          </p:cNvPr>
          <p:cNvPicPr>
            <a:picLocks noChangeAspect="1"/>
          </p:cNvPicPr>
          <p:nvPr/>
        </p:nvPicPr>
        <p:blipFill rotWithShape="1">
          <a:blip r:embed="rId2"/>
          <a:srcRect t="4138" b="2658"/>
          <a:stretch/>
        </p:blipFill>
        <p:spPr>
          <a:xfrm>
            <a:off x="3113590" y="3662129"/>
            <a:ext cx="5500064" cy="2997802"/>
          </a:xfrm>
          <a:prstGeom prst="rect">
            <a:avLst/>
          </a:prstGeom>
        </p:spPr>
      </p:pic>
    </p:spTree>
    <p:extLst>
      <p:ext uri="{BB962C8B-B14F-4D97-AF65-F5344CB8AC3E}">
        <p14:creationId xmlns:p14="http://schemas.microsoft.com/office/powerpoint/2010/main" val="475219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89627-4C56-47E2-73AE-A57DC68FADFD}"/>
              </a:ext>
            </a:extLst>
          </p:cNvPr>
          <p:cNvSpPr>
            <a:spLocks noGrp="1"/>
          </p:cNvSpPr>
          <p:nvPr>
            <p:ph type="title"/>
          </p:nvPr>
        </p:nvSpPr>
        <p:spPr>
          <a:xfrm>
            <a:off x="1451579" y="198069"/>
            <a:ext cx="9289727" cy="674212"/>
          </a:xfrm>
        </p:spPr>
        <p:txBody>
          <a:bodyPr>
            <a:normAutofit fontScale="90000"/>
          </a:bodyPr>
          <a:lstStyle/>
          <a:p>
            <a:r>
              <a:rPr lang="en-VN" dirty="0"/>
              <a:t>GIẢM SAI SỐ Ở TRẠNG THÁI THƯỜNG TRỰC BẰNG PHƯƠNG PHÁP BÙ NỐI TIẾP</a:t>
            </a:r>
          </a:p>
        </p:txBody>
      </p:sp>
      <p:sp>
        <p:nvSpPr>
          <p:cNvPr id="3" name="Content Placeholder 2">
            <a:extLst>
              <a:ext uri="{FF2B5EF4-FFF2-40B4-BE49-F238E27FC236}">
                <a16:creationId xmlns:a16="http://schemas.microsoft.com/office/drawing/2014/main" id="{5FEB7256-3B34-52AA-EA33-6026E5DF3018}"/>
              </a:ext>
            </a:extLst>
          </p:cNvPr>
          <p:cNvSpPr>
            <a:spLocks noGrp="1"/>
          </p:cNvSpPr>
          <p:nvPr>
            <p:ph idx="1"/>
          </p:nvPr>
        </p:nvSpPr>
        <p:spPr/>
        <p:txBody>
          <a:bodyPr/>
          <a:lstStyle/>
          <a:p>
            <a:r>
              <a:rPr lang="en-US" b="1" dirty="0">
                <a:solidFill>
                  <a:srgbClr val="C00000"/>
                </a:solidFill>
              </a:rPr>
              <a:t>Ideal Integral Compensation (PI) </a:t>
            </a:r>
          </a:p>
          <a:p>
            <a:pPr marL="0" indent="0">
              <a:buNone/>
            </a:pPr>
            <a:endParaRPr lang="en-VN" dirty="0"/>
          </a:p>
        </p:txBody>
      </p:sp>
      <p:pic>
        <p:nvPicPr>
          <p:cNvPr id="5" name="Picture 4">
            <a:extLst>
              <a:ext uri="{FF2B5EF4-FFF2-40B4-BE49-F238E27FC236}">
                <a16:creationId xmlns:a16="http://schemas.microsoft.com/office/drawing/2014/main" id="{C315D886-7814-8A14-E407-CF3B524BF943}"/>
              </a:ext>
            </a:extLst>
          </p:cNvPr>
          <p:cNvPicPr>
            <a:picLocks noChangeAspect="1"/>
          </p:cNvPicPr>
          <p:nvPr/>
        </p:nvPicPr>
        <p:blipFill>
          <a:blip r:embed="rId2"/>
          <a:stretch>
            <a:fillRect/>
          </a:stretch>
        </p:blipFill>
        <p:spPr>
          <a:xfrm>
            <a:off x="520990" y="1953242"/>
            <a:ext cx="6589596" cy="3876233"/>
          </a:xfrm>
          <a:prstGeom prst="rect">
            <a:avLst/>
          </a:prstGeom>
        </p:spPr>
      </p:pic>
      <p:pic>
        <p:nvPicPr>
          <p:cNvPr id="4" name="Content Placeholder 4">
            <a:extLst>
              <a:ext uri="{FF2B5EF4-FFF2-40B4-BE49-F238E27FC236}">
                <a16:creationId xmlns:a16="http://schemas.microsoft.com/office/drawing/2014/main" id="{7B6083E6-949E-ADD3-3CA1-B016C9BE623F}"/>
              </a:ext>
            </a:extLst>
          </p:cNvPr>
          <p:cNvPicPr>
            <a:picLocks noChangeAspect="1"/>
          </p:cNvPicPr>
          <p:nvPr/>
        </p:nvPicPr>
        <p:blipFill>
          <a:blip r:embed="rId3"/>
          <a:stretch>
            <a:fillRect/>
          </a:stretch>
        </p:blipFill>
        <p:spPr>
          <a:xfrm>
            <a:off x="7840397" y="1920494"/>
            <a:ext cx="3415235" cy="1183106"/>
          </a:xfrm>
          <a:prstGeom prst="rect">
            <a:avLst/>
          </a:prstGeom>
        </p:spPr>
      </p:pic>
      <p:pic>
        <p:nvPicPr>
          <p:cNvPr id="6" name="Picture 5">
            <a:extLst>
              <a:ext uri="{FF2B5EF4-FFF2-40B4-BE49-F238E27FC236}">
                <a16:creationId xmlns:a16="http://schemas.microsoft.com/office/drawing/2014/main" id="{36D350E7-CA9C-65F6-0BDC-C1AC88128A20}"/>
              </a:ext>
            </a:extLst>
          </p:cNvPr>
          <p:cNvPicPr>
            <a:picLocks noChangeAspect="1"/>
          </p:cNvPicPr>
          <p:nvPr/>
        </p:nvPicPr>
        <p:blipFill>
          <a:blip r:embed="rId4"/>
          <a:stretch>
            <a:fillRect/>
          </a:stretch>
        </p:blipFill>
        <p:spPr>
          <a:xfrm>
            <a:off x="7708722" y="3304168"/>
            <a:ext cx="3678584" cy="3176366"/>
          </a:xfrm>
          <a:prstGeom prst="rect">
            <a:avLst/>
          </a:prstGeom>
        </p:spPr>
      </p:pic>
    </p:spTree>
    <p:extLst>
      <p:ext uri="{BB962C8B-B14F-4D97-AF65-F5344CB8AC3E}">
        <p14:creationId xmlns:p14="http://schemas.microsoft.com/office/powerpoint/2010/main" val="2978996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813C8-280E-D360-DFF9-B45FAE5E8847}"/>
              </a:ext>
            </a:extLst>
          </p:cNvPr>
          <p:cNvSpPr>
            <a:spLocks noGrp="1"/>
          </p:cNvSpPr>
          <p:nvPr>
            <p:ph type="title"/>
          </p:nvPr>
        </p:nvSpPr>
        <p:spPr/>
        <p:txBody>
          <a:bodyPr>
            <a:normAutofit fontScale="90000"/>
          </a:bodyPr>
          <a:lstStyle/>
          <a:p>
            <a:r>
              <a:rPr lang="en-VN" dirty="0"/>
              <a:t>GIẢM SAI SỐ Ở TRẠNG THÁI THƯỜNG TRỰC BẰNG PHƯƠNG PHÁP BÙ NỐI TIẾP</a:t>
            </a:r>
          </a:p>
        </p:txBody>
      </p:sp>
      <p:pic>
        <p:nvPicPr>
          <p:cNvPr id="8" name="Content Placeholder 7">
            <a:extLst>
              <a:ext uri="{FF2B5EF4-FFF2-40B4-BE49-F238E27FC236}">
                <a16:creationId xmlns:a16="http://schemas.microsoft.com/office/drawing/2014/main" id="{04564721-8BDB-0A30-649A-0E8868944D8D}"/>
              </a:ext>
            </a:extLst>
          </p:cNvPr>
          <p:cNvPicPr>
            <a:picLocks noGrp="1" noChangeAspect="1"/>
          </p:cNvPicPr>
          <p:nvPr>
            <p:ph idx="1"/>
          </p:nvPr>
        </p:nvPicPr>
        <p:blipFill>
          <a:blip r:embed="rId2"/>
          <a:stretch>
            <a:fillRect/>
          </a:stretch>
        </p:blipFill>
        <p:spPr>
          <a:xfrm>
            <a:off x="185195" y="2189249"/>
            <a:ext cx="5603674" cy="2479502"/>
          </a:xfrm>
        </p:spPr>
      </p:pic>
      <p:sp>
        <p:nvSpPr>
          <p:cNvPr id="9" name="TextBox 8">
            <a:extLst>
              <a:ext uri="{FF2B5EF4-FFF2-40B4-BE49-F238E27FC236}">
                <a16:creationId xmlns:a16="http://schemas.microsoft.com/office/drawing/2014/main" id="{B203839D-9D36-3995-C575-9A6FE4D4A504}"/>
              </a:ext>
            </a:extLst>
          </p:cNvPr>
          <p:cNvSpPr txBox="1"/>
          <p:nvPr/>
        </p:nvSpPr>
        <p:spPr>
          <a:xfrm>
            <a:off x="185195" y="1736203"/>
            <a:ext cx="2720051"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Ví dụ:</a:t>
            </a:r>
          </a:p>
        </p:txBody>
      </p:sp>
      <p:pic>
        <p:nvPicPr>
          <p:cNvPr id="11" name="Picture 10">
            <a:extLst>
              <a:ext uri="{FF2B5EF4-FFF2-40B4-BE49-F238E27FC236}">
                <a16:creationId xmlns:a16="http://schemas.microsoft.com/office/drawing/2014/main" id="{E32D5DC8-3094-9F71-372A-62E20063A3C5}"/>
              </a:ext>
            </a:extLst>
          </p:cNvPr>
          <p:cNvPicPr>
            <a:picLocks noChangeAspect="1"/>
          </p:cNvPicPr>
          <p:nvPr/>
        </p:nvPicPr>
        <p:blipFill>
          <a:blip r:embed="rId3"/>
          <a:stretch>
            <a:fillRect/>
          </a:stretch>
        </p:blipFill>
        <p:spPr>
          <a:xfrm>
            <a:off x="6096000" y="1494191"/>
            <a:ext cx="5805816" cy="4501495"/>
          </a:xfrm>
          <a:prstGeom prst="rect">
            <a:avLst/>
          </a:prstGeom>
        </p:spPr>
      </p:pic>
      <p:pic>
        <p:nvPicPr>
          <p:cNvPr id="4" name="Picture 3">
            <a:extLst>
              <a:ext uri="{FF2B5EF4-FFF2-40B4-BE49-F238E27FC236}">
                <a16:creationId xmlns:a16="http://schemas.microsoft.com/office/drawing/2014/main" id="{F465FF13-0576-FFF3-78E4-4D6D21C16F0C}"/>
              </a:ext>
            </a:extLst>
          </p:cNvPr>
          <p:cNvPicPr>
            <a:picLocks noChangeAspect="1"/>
          </p:cNvPicPr>
          <p:nvPr/>
        </p:nvPicPr>
        <p:blipFill>
          <a:blip r:embed="rId4"/>
          <a:stretch>
            <a:fillRect/>
          </a:stretch>
        </p:blipFill>
        <p:spPr>
          <a:xfrm>
            <a:off x="185195" y="4837802"/>
            <a:ext cx="5359400" cy="1725670"/>
          </a:xfrm>
          <a:prstGeom prst="rect">
            <a:avLst/>
          </a:prstGeom>
        </p:spPr>
      </p:pic>
    </p:spTree>
    <p:extLst>
      <p:ext uri="{BB962C8B-B14F-4D97-AF65-F5344CB8AC3E}">
        <p14:creationId xmlns:p14="http://schemas.microsoft.com/office/powerpoint/2010/main" val="1158097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C18A9-80DE-E9E6-5742-46E463E8CA2E}"/>
              </a:ext>
            </a:extLst>
          </p:cNvPr>
          <p:cNvSpPr>
            <a:spLocks noGrp="1"/>
          </p:cNvSpPr>
          <p:nvPr>
            <p:ph type="title"/>
          </p:nvPr>
        </p:nvSpPr>
        <p:spPr/>
        <p:txBody>
          <a:bodyPr>
            <a:normAutofit fontScale="90000"/>
          </a:bodyPr>
          <a:lstStyle/>
          <a:p>
            <a:r>
              <a:rPr lang="en-VN" dirty="0"/>
              <a:t>GIẢM SAI SỐ Ở TRẠNG THÁI THƯỜNG TRỰC BẰNG PHƯƠNG PHÁP BÙ NỐI TIẾP</a:t>
            </a:r>
          </a:p>
        </p:txBody>
      </p:sp>
      <p:pic>
        <p:nvPicPr>
          <p:cNvPr id="4" name="Content Placeholder 4">
            <a:extLst>
              <a:ext uri="{FF2B5EF4-FFF2-40B4-BE49-F238E27FC236}">
                <a16:creationId xmlns:a16="http://schemas.microsoft.com/office/drawing/2014/main" id="{2B3E301D-92DF-CFF9-0653-D843C5EED5CF}"/>
              </a:ext>
            </a:extLst>
          </p:cNvPr>
          <p:cNvPicPr>
            <a:picLocks noChangeAspect="1"/>
          </p:cNvPicPr>
          <p:nvPr/>
        </p:nvPicPr>
        <p:blipFill>
          <a:blip r:embed="rId2"/>
          <a:stretch>
            <a:fillRect/>
          </a:stretch>
        </p:blipFill>
        <p:spPr>
          <a:xfrm>
            <a:off x="110924" y="1087132"/>
            <a:ext cx="8012479" cy="2341868"/>
          </a:xfrm>
          <a:prstGeom prst="rect">
            <a:avLst/>
          </a:prstGeom>
        </p:spPr>
      </p:pic>
      <p:pic>
        <p:nvPicPr>
          <p:cNvPr id="5" name="Picture 4">
            <a:extLst>
              <a:ext uri="{FF2B5EF4-FFF2-40B4-BE49-F238E27FC236}">
                <a16:creationId xmlns:a16="http://schemas.microsoft.com/office/drawing/2014/main" id="{B9C75B8F-1C6C-53B2-CAA2-E7A5BF119AFB}"/>
              </a:ext>
            </a:extLst>
          </p:cNvPr>
          <p:cNvPicPr>
            <a:picLocks noChangeAspect="1"/>
          </p:cNvPicPr>
          <p:nvPr/>
        </p:nvPicPr>
        <p:blipFill>
          <a:blip r:embed="rId3"/>
          <a:stretch>
            <a:fillRect/>
          </a:stretch>
        </p:blipFill>
        <p:spPr>
          <a:xfrm>
            <a:off x="8489549" y="1087132"/>
            <a:ext cx="3585258" cy="2511193"/>
          </a:xfrm>
          <a:prstGeom prst="rect">
            <a:avLst/>
          </a:prstGeom>
        </p:spPr>
      </p:pic>
      <p:pic>
        <p:nvPicPr>
          <p:cNvPr id="7" name="Picture 6">
            <a:extLst>
              <a:ext uri="{FF2B5EF4-FFF2-40B4-BE49-F238E27FC236}">
                <a16:creationId xmlns:a16="http://schemas.microsoft.com/office/drawing/2014/main" id="{27BD8B76-7170-4BA5-2242-465B01E34C4A}"/>
              </a:ext>
            </a:extLst>
          </p:cNvPr>
          <p:cNvPicPr>
            <a:picLocks noChangeAspect="1"/>
          </p:cNvPicPr>
          <p:nvPr/>
        </p:nvPicPr>
        <p:blipFill>
          <a:blip r:embed="rId4"/>
          <a:stretch>
            <a:fillRect/>
          </a:stretch>
        </p:blipFill>
        <p:spPr>
          <a:xfrm>
            <a:off x="328834" y="3512775"/>
            <a:ext cx="4273945" cy="3298878"/>
          </a:xfrm>
          <a:prstGeom prst="rect">
            <a:avLst/>
          </a:prstGeom>
        </p:spPr>
      </p:pic>
      <p:pic>
        <p:nvPicPr>
          <p:cNvPr id="9" name="Picture 8">
            <a:extLst>
              <a:ext uri="{FF2B5EF4-FFF2-40B4-BE49-F238E27FC236}">
                <a16:creationId xmlns:a16="http://schemas.microsoft.com/office/drawing/2014/main" id="{11EFA51A-B0A0-0597-C7CA-F3076AD2A42C}"/>
              </a:ext>
            </a:extLst>
          </p:cNvPr>
          <p:cNvPicPr>
            <a:picLocks noChangeAspect="1"/>
          </p:cNvPicPr>
          <p:nvPr/>
        </p:nvPicPr>
        <p:blipFill>
          <a:blip r:embed="rId5"/>
          <a:stretch>
            <a:fillRect/>
          </a:stretch>
        </p:blipFill>
        <p:spPr>
          <a:xfrm>
            <a:off x="4953549" y="3813176"/>
            <a:ext cx="6101305" cy="2762402"/>
          </a:xfrm>
          <a:prstGeom prst="rect">
            <a:avLst/>
          </a:prstGeom>
        </p:spPr>
      </p:pic>
      <p:sp>
        <p:nvSpPr>
          <p:cNvPr id="3" name="Rectangle 2">
            <a:extLst>
              <a:ext uri="{FF2B5EF4-FFF2-40B4-BE49-F238E27FC236}">
                <a16:creationId xmlns:a16="http://schemas.microsoft.com/office/drawing/2014/main" id="{07961942-9D8E-9A48-C5A0-4DB29250A701}"/>
              </a:ext>
            </a:extLst>
          </p:cNvPr>
          <p:cNvSpPr/>
          <p:nvPr/>
        </p:nvSpPr>
        <p:spPr>
          <a:xfrm>
            <a:off x="509287" y="3598325"/>
            <a:ext cx="1053296" cy="2842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Z</a:t>
            </a:r>
            <a:r>
              <a:rPr lang="en-VN" sz="1400" dirty="0">
                <a:latin typeface="Arial" panose="020B0604020202020204" pitchFamily="34" charset="0"/>
                <a:cs typeface="Arial" panose="020B0604020202020204" pitchFamily="34" charset="0"/>
              </a:rPr>
              <a:t>ero error</a:t>
            </a:r>
          </a:p>
        </p:txBody>
      </p:sp>
    </p:spTree>
    <p:extLst>
      <p:ext uri="{BB962C8B-B14F-4D97-AF65-F5344CB8AC3E}">
        <p14:creationId xmlns:p14="http://schemas.microsoft.com/office/powerpoint/2010/main" val="4122867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5AEE8-22F5-0843-7F3A-CF2394FE57AD}"/>
              </a:ext>
            </a:extLst>
          </p:cNvPr>
          <p:cNvSpPr>
            <a:spLocks noGrp="1"/>
          </p:cNvSpPr>
          <p:nvPr>
            <p:ph type="title"/>
          </p:nvPr>
        </p:nvSpPr>
        <p:spPr/>
        <p:txBody>
          <a:bodyPr>
            <a:normAutofit fontScale="90000"/>
          </a:bodyPr>
          <a:lstStyle/>
          <a:p>
            <a:r>
              <a:rPr lang="en-VN" dirty="0"/>
              <a:t>GIẢM SAI SỐ Ở TRẠNG THÁI THƯỜNG TRỰC BẰNG PHƯƠNG PHÁP BÙ NỐI TIẾP</a:t>
            </a:r>
          </a:p>
        </p:txBody>
      </p:sp>
      <p:pic>
        <p:nvPicPr>
          <p:cNvPr id="5" name="Content Placeholder 4">
            <a:extLst>
              <a:ext uri="{FF2B5EF4-FFF2-40B4-BE49-F238E27FC236}">
                <a16:creationId xmlns:a16="http://schemas.microsoft.com/office/drawing/2014/main" id="{E3CE0AE0-F2AA-3002-F52B-135C4B88EC30}"/>
              </a:ext>
            </a:extLst>
          </p:cNvPr>
          <p:cNvPicPr>
            <a:picLocks noGrp="1" noChangeAspect="1"/>
          </p:cNvPicPr>
          <p:nvPr>
            <p:ph idx="1"/>
          </p:nvPr>
        </p:nvPicPr>
        <p:blipFill>
          <a:blip r:embed="rId2"/>
          <a:stretch>
            <a:fillRect/>
          </a:stretch>
        </p:blipFill>
        <p:spPr>
          <a:xfrm>
            <a:off x="1937715" y="2469944"/>
            <a:ext cx="5997351" cy="1918111"/>
          </a:xfrm>
        </p:spPr>
      </p:pic>
      <p:pic>
        <p:nvPicPr>
          <p:cNvPr id="7" name="Picture 6">
            <a:extLst>
              <a:ext uri="{FF2B5EF4-FFF2-40B4-BE49-F238E27FC236}">
                <a16:creationId xmlns:a16="http://schemas.microsoft.com/office/drawing/2014/main" id="{08B70FE6-9ACA-08D0-AA41-5A0CF4FA1081}"/>
              </a:ext>
            </a:extLst>
          </p:cNvPr>
          <p:cNvPicPr>
            <a:picLocks noChangeAspect="1"/>
          </p:cNvPicPr>
          <p:nvPr/>
        </p:nvPicPr>
        <p:blipFill>
          <a:blip r:embed="rId3"/>
          <a:stretch>
            <a:fillRect/>
          </a:stretch>
        </p:blipFill>
        <p:spPr>
          <a:xfrm>
            <a:off x="8435760" y="3050166"/>
            <a:ext cx="2619094" cy="757666"/>
          </a:xfrm>
          <a:prstGeom prst="rect">
            <a:avLst/>
          </a:prstGeom>
        </p:spPr>
      </p:pic>
    </p:spTree>
    <p:extLst>
      <p:ext uri="{BB962C8B-B14F-4D97-AF65-F5344CB8AC3E}">
        <p14:creationId xmlns:p14="http://schemas.microsoft.com/office/powerpoint/2010/main" val="11864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7EF3-388F-9F34-D095-F729B28895B7}"/>
              </a:ext>
            </a:extLst>
          </p:cNvPr>
          <p:cNvSpPr>
            <a:spLocks noGrp="1"/>
          </p:cNvSpPr>
          <p:nvPr>
            <p:ph type="title"/>
          </p:nvPr>
        </p:nvSpPr>
        <p:spPr/>
        <p:txBody>
          <a:bodyPr>
            <a:normAutofit fontScale="90000"/>
          </a:bodyPr>
          <a:lstStyle/>
          <a:p>
            <a:r>
              <a:rPr lang="en-VN" dirty="0"/>
              <a:t>GIẢM SAI SỐ Ở TRẠNG THÁI THƯỜNG TRỰC BẰNG PHƯƠNG PHÁP BÙ NỐI TIẾP</a:t>
            </a:r>
          </a:p>
        </p:txBody>
      </p:sp>
      <p:sp>
        <p:nvSpPr>
          <p:cNvPr id="3" name="Content Placeholder 2">
            <a:extLst>
              <a:ext uri="{FF2B5EF4-FFF2-40B4-BE49-F238E27FC236}">
                <a16:creationId xmlns:a16="http://schemas.microsoft.com/office/drawing/2014/main" id="{8E06E26E-7774-F2F6-AF77-F18551A494D2}"/>
              </a:ext>
            </a:extLst>
          </p:cNvPr>
          <p:cNvSpPr>
            <a:spLocks noGrp="1"/>
          </p:cNvSpPr>
          <p:nvPr>
            <p:ph idx="1"/>
          </p:nvPr>
        </p:nvSpPr>
        <p:spPr>
          <a:xfrm>
            <a:off x="1451579" y="1244015"/>
            <a:ext cx="9603275" cy="551656"/>
          </a:xfrm>
        </p:spPr>
        <p:txBody>
          <a:bodyPr/>
          <a:lstStyle/>
          <a:p>
            <a:r>
              <a:rPr lang="en-US" b="1" dirty="0">
                <a:solidFill>
                  <a:srgbClr val="C00000"/>
                </a:solidFill>
              </a:rPr>
              <a:t>Lag Compensation </a:t>
            </a:r>
          </a:p>
        </p:txBody>
      </p:sp>
      <p:pic>
        <p:nvPicPr>
          <p:cNvPr id="5" name="Picture 4">
            <a:extLst>
              <a:ext uri="{FF2B5EF4-FFF2-40B4-BE49-F238E27FC236}">
                <a16:creationId xmlns:a16="http://schemas.microsoft.com/office/drawing/2014/main" id="{89D088CD-46FF-A652-16D8-6A0B19A7DE8C}"/>
              </a:ext>
            </a:extLst>
          </p:cNvPr>
          <p:cNvPicPr>
            <a:picLocks noChangeAspect="1"/>
          </p:cNvPicPr>
          <p:nvPr/>
        </p:nvPicPr>
        <p:blipFill>
          <a:blip r:embed="rId3"/>
          <a:stretch>
            <a:fillRect/>
          </a:stretch>
        </p:blipFill>
        <p:spPr>
          <a:xfrm>
            <a:off x="234320" y="1795670"/>
            <a:ext cx="6739185" cy="4730644"/>
          </a:xfrm>
          <a:prstGeom prst="rect">
            <a:avLst/>
          </a:prstGeom>
        </p:spPr>
      </p:pic>
      <p:sp>
        <p:nvSpPr>
          <p:cNvPr id="6" name="TextBox 5">
            <a:extLst>
              <a:ext uri="{FF2B5EF4-FFF2-40B4-BE49-F238E27FC236}">
                <a16:creationId xmlns:a16="http://schemas.microsoft.com/office/drawing/2014/main" id="{5688A425-2A50-DEB9-C79D-980BC10BF320}"/>
              </a:ext>
            </a:extLst>
          </p:cNvPr>
          <p:cNvSpPr txBox="1"/>
          <p:nvPr/>
        </p:nvSpPr>
        <p:spPr>
          <a:xfrm>
            <a:off x="7326775" y="1316168"/>
            <a:ext cx="4305782" cy="2062103"/>
          </a:xfrm>
          <a:prstGeom prst="rect">
            <a:avLst/>
          </a:prstGeom>
          <a:noFill/>
        </p:spPr>
        <p:txBody>
          <a:bodyPr wrap="square" rtlCol="0">
            <a:spAutoFit/>
          </a:bodyPr>
          <a:lstStyle/>
          <a:p>
            <a:r>
              <a:rPr lang="en-VN" sz="1600" i="1" dirty="0">
                <a:latin typeface="Arial" panose="020B0604020202020204" pitchFamily="34" charset="0"/>
                <a:cs typeface="Arial" panose="020B0604020202020204" pitchFamily="34" charset="0"/>
              </a:rPr>
              <a:t>Xét hệ thống bậc 1:</a:t>
            </a:r>
          </a:p>
          <a:p>
            <a:pPr marL="285750" indent="-285750">
              <a:buFont typeface="Arial" panose="020B0604020202020204" pitchFamily="34" charset="0"/>
              <a:buChar char="•"/>
            </a:pPr>
            <a:r>
              <a:rPr lang="en-VN" sz="1600" dirty="0">
                <a:latin typeface="Arial" panose="020B0604020202020204" pitchFamily="34" charset="0"/>
                <a:cs typeface="Arial" panose="020B0604020202020204" pitchFamily="34" charset="0"/>
              </a:rPr>
              <a:t>Hằng số sai số của hệ thống chưa bù:</a:t>
            </a:r>
          </a:p>
          <a:p>
            <a:pPr marL="285750" indent="-285750">
              <a:buFont typeface="Arial" panose="020B0604020202020204" pitchFamily="34" charset="0"/>
              <a:buChar char="•"/>
            </a:pPr>
            <a:endParaRPr lang="en-V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V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V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V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VN" sz="1600" dirty="0">
                <a:latin typeface="Arial" panose="020B0604020202020204" pitchFamily="34" charset="0"/>
                <a:cs typeface="Arial" panose="020B0604020202020204" pitchFamily="34" charset="0"/>
              </a:rPr>
              <a:t>Giả sử hệ thống sau khi bù như hình b. Hằng số sai số của hệ thống sau khi bù:</a:t>
            </a:r>
          </a:p>
        </p:txBody>
      </p:sp>
      <p:pic>
        <p:nvPicPr>
          <p:cNvPr id="8" name="Picture 7">
            <a:extLst>
              <a:ext uri="{FF2B5EF4-FFF2-40B4-BE49-F238E27FC236}">
                <a16:creationId xmlns:a16="http://schemas.microsoft.com/office/drawing/2014/main" id="{4451F2EB-0D10-38A5-69A0-C54161E06D3B}"/>
              </a:ext>
            </a:extLst>
          </p:cNvPr>
          <p:cNvPicPr>
            <a:picLocks noChangeAspect="1"/>
          </p:cNvPicPr>
          <p:nvPr/>
        </p:nvPicPr>
        <p:blipFill>
          <a:blip r:embed="rId4"/>
          <a:stretch>
            <a:fillRect/>
          </a:stretch>
        </p:blipFill>
        <p:spPr>
          <a:xfrm>
            <a:off x="8799839" y="1962499"/>
            <a:ext cx="1709652" cy="646332"/>
          </a:xfrm>
          <a:prstGeom prst="rect">
            <a:avLst/>
          </a:prstGeom>
        </p:spPr>
      </p:pic>
      <p:pic>
        <p:nvPicPr>
          <p:cNvPr id="10" name="Picture 9">
            <a:extLst>
              <a:ext uri="{FF2B5EF4-FFF2-40B4-BE49-F238E27FC236}">
                <a16:creationId xmlns:a16="http://schemas.microsoft.com/office/drawing/2014/main" id="{7AFA7951-FCDF-E474-1ED1-A8D2878B21C4}"/>
              </a:ext>
            </a:extLst>
          </p:cNvPr>
          <p:cNvPicPr>
            <a:picLocks noChangeAspect="1"/>
          </p:cNvPicPr>
          <p:nvPr/>
        </p:nvPicPr>
        <p:blipFill rotWithShape="1">
          <a:blip r:embed="rId5"/>
          <a:srcRect t="10967"/>
          <a:stretch/>
        </p:blipFill>
        <p:spPr>
          <a:xfrm>
            <a:off x="8654924" y="3429000"/>
            <a:ext cx="2137518" cy="646332"/>
          </a:xfrm>
          <a:prstGeom prst="rect">
            <a:avLst/>
          </a:prstGeom>
        </p:spPr>
      </p:pic>
      <p:pic>
        <p:nvPicPr>
          <p:cNvPr id="12" name="Picture 11">
            <a:extLst>
              <a:ext uri="{FF2B5EF4-FFF2-40B4-BE49-F238E27FC236}">
                <a16:creationId xmlns:a16="http://schemas.microsoft.com/office/drawing/2014/main" id="{FF7A1829-4AB9-AB11-AEE8-98A6A35ECF11}"/>
              </a:ext>
            </a:extLst>
          </p:cNvPr>
          <p:cNvPicPr>
            <a:picLocks noChangeAspect="1"/>
          </p:cNvPicPr>
          <p:nvPr/>
        </p:nvPicPr>
        <p:blipFill>
          <a:blip r:embed="rId6"/>
          <a:stretch>
            <a:fillRect/>
          </a:stretch>
        </p:blipFill>
        <p:spPr>
          <a:xfrm>
            <a:off x="8654924" y="4226821"/>
            <a:ext cx="2137518" cy="826664"/>
          </a:xfrm>
          <a:prstGeom prst="rect">
            <a:avLst/>
          </a:prstGeom>
        </p:spPr>
      </p:pic>
      <p:sp>
        <p:nvSpPr>
          <p:cNvPr id="13" name="TextBox 12">
            <a:extLst>
              <a:ext uri="{FF2B5EF4-FFF2-40B4-BE49-F238E27FC236}">
                <a16:creationId xmlns:a16="http://schemas.microsoft.com/office/drawing/2014/main" id="{CF7B148D-1103-CE97-F36F-896837113EF7}"/>
              </a:ext>
            </a:extLst>
          </p:cNvPr>
          <p:cNvSpPr txBox="1"/>
          <p:nvPr/>
        </p:nvSpPr>
        <p:spPr>
          <a:xfrm>
            <a:off x="7271656" y="5204974"/>
            <a:ext cx="4766017" cy="1569660"/>
          </a:xfrm>
          <a:prstGeom prst="rect">
            <a:avLst/>
          </a:prstGeom>
          <a:solidFill>
            <a:schemeClr val="accent2">
              <a:lumMod val="20000"/>
              <a:lumOff val="80000"/>
            </a:schemeClr>
          </a:solidFill>
        </p:spPr>
        <p:txBody>
          <a:bodyPr wrap="square" rtlCol="0">
            <a:spAutoFit/>
          </a:bodyPr>
          <a:lstStyle/>
          <a:p>
            <a:pPr marL="285750" indent="-285750">
              <a:buFont typeface="Wingdings" pitchFamily="2" charset="2"/>
              <a:buChar char="Ø"/>
            </a:pPr>
            <a:r>
              <a:rPr lang="en-VN" sz="1600" dirty="0">
                <a:latin typeface="Arial" panose="020B0604020202020204" pitchFamily="34" charset="0"/>
                <a:cs typeface="Arial" panose="020B0604020202020204" pitchFamily="34" charset="0"/>
              </a:rPr>
              <a:t>Sai số ở trạng thái thường trực giảm phụ thuộc vào tỷ lệ độ lớn điểm cực và điểm không của bộ bù.</a:t>
            </a:r>
          </a:p>
          <a:p>
            <a:pPr marL="285750" indent="-285750">
              <a:buFont typeface="Wingdings" pitchFamily="2" charset="2"/>
              <a:buChar char="Ø"/>
            </a:pPr>
            <a:r>
              <a:rPr lang="en-VN" sz="1600" dirty="0">
                <a:latin typeface="Arial" panose="020B0604020202020204" pitchFamily="34" charset="0"/>
                <a:cs typeface="Arial" panose="020B0604020202020204" pitchFamily="34" charset="0"/>
              </a:rPr>
              <a:t>Điểm cực và điểm không của hệ thống phải đủ gần để không ảnh hưởng đến đáp ứng tức thời của hệ thống.</a:t>
            </a:r>
          </a:p>
        </p:txBody>
      </p:sp>
    </p:spTree>
    <p:extLst>
      <p:ext uri="{BB962C8B-B14F-4D97-AF65-F5344CB8AC3E}">
        <p14:creationId xmlns:p14="http://schemas.microsoft.com/office/powerpoint/2010/main" val="1871823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D1E56-3A7C-84B8-4E80-4369A74446D8}"/>
              </a:ext>
            </a:extLst>
          </p:cNvPr>
          <p:cNvSpPr>
            <a:spLocks noGrp="1"/>
          </p:cNvSpPr>
          <p:nvPr>
            <p:ph type="title"/>
          </p:nvPr>
        </p:nvSpPr>
        <p:spPr/>
        <p:txBody>
          <a:bodyPr>
            <a:normAutofit fontScale="90000"/>
          </a:bodyPr>
          <a:lstStyle/>
          <a:p>
            <a:r>
              <a:rPr lang="en-VN" dirty="0"/>
              <a:t>GIẢM SAI SỐ Ở TRẠNG THÁI THƯỜNG TRỰC BẰNG PHƯƠNG PHÁP BÙ NỐI TIẾP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B8C348-A140-DEB5-C5EC-ACE5DE0F90A5}"/>
                  </a:ext>
                </a:extLst>
              </p:cNvPr>
              <p:cNvSpPr>
                <a:spLocks noGrp="1"/>
              </p:cNvSpPr>
              <p:nvPr>
                <p:ph idx="1"/>
              </p:nvPr>
            </p:nvSpPr>
            <p:spPr/>
            <p:txBody>
              <a:bodyPr/>
              <a:lstStyle/>
              <a:p>
                <a:r>
                  <a:rPr lang="en-VN" b="1" dirty="0"/>
                  <a:t>Ví dụ: </a:t>
                </a:r>
                <a:r>
                  <a:rPr lang="en-VN" dirty="0"/>
                  <a:t>Thiết kế bộ bù cho hệ thống sau để sai số ở trạng thái thường trực giảm 10 lần, hệ thống hoạt động với hệ số đầm </a:t>
                </a:r>
                <a14:m>
                  <m:oMath xmlns:m="http://schemas.openxmlformats.org/officeDocument/2006/math">
                    <m:r>
                      <a:rPr lang="en-VN" i="1" smtClean="0">
                        <a:latin typeface="Cambria Math" panose="02040503050406030204" pitchFamily="18" charset="0"/>
                        <a:ea typeface="Cambria Math" panose="02040503050406030204" pitchFamily="18" charset="0"/>
                      </a:rPr>
                      <m:t>𝜁</m:t>
                    </m:r>
                    <m:r>
                      <a:rPr lang="en-US" b="0" i="1" smtClean="0">
                        <a:latin typeface="Cambria Math" panose="02040503050406030204" pitchFamily="18" charset="0"/>
                        <a:ea typeface="Cambria Math" panose="02040503050406030204" pitchFamily="18" charset="0"/>
                      </a:rPr>
                      <m:t>=0.174</m:t>
                    </m:r>
                  </m:oMath>
                </a14:m>
                <a:r>
                  <a:rPr lang="en-VN" dirty="0"/>
                  <a:t>.</a:t>
                </a:r>
              </a:p>
            </p:txBody>
          </p:sp>
        </mc:Choice>
        <mc:Fallback xmlns="">
          <p:sp>
            <p:nvSpPr>
              <p:cNvPr id="3" name="Content Placeholder 2">
                <a:extLst>
                  <a:ext uri="{FF2B5EF4-FFF2-40B4-BE49-F238E27FC236}">
                    <a16:creationId xmlns:a16="http://schemas.microsoft.com/office/drawing/2014/main" id="{22B8C348-A140-DEB5-C5EC-ACE5DE0F90A5}"/>
                  </a:ext>
                </a:extLst>
              </p:cNvPr>
              <p:cNvSpPr>
                <a:spLocks noGrp="1" noRot="1" noChangeAspect="1" noMove="1" noResize="1" noEditPoints="1" noAdjustHandles="1" noChangeArrowheads="1" noChangeShapeType="1" noTextEdit="1"/>
              </p:cNvSpPr>
              <p:nvPr>
                <p:ph idx="1"/>
              </p:nvPr>
            </p:nvSpPr>
            <p:spPr>
              <a:blipFill>
                <a:blip r:embed="rId2"/>
                <a:stretch>
                  <a:fillRect l="-528"/>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1F182735-50E2-3343-6B98-05ED26E0CB12}"/>
              </a:ext>
            </a:extLst>
          </p:cNvPr>
          <p:cNvPicPr>
            <a:picLocks noChangeAspect="1"/>
          </p:cNvPicPr>
          <p:nvPr/>
        </p:nvPicPr>
        <p:blipFill>
          <a:blip r:embed="rId3"/>
          <a:stretch>
            <a:fillRect/>
          </a:stretch>
        </p:blipFill>
        <p:spPr>
          <a:xfrm>
            <a:off x="168869" y="3152012"/>
            <a:ext cx="5448023" cy="1145323"/>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F87B607-4FBF-FA7D-7D7D-5BF6AFDE464E}"/>
                  </a:ext>
                </a:extLst>
              </p:cNvPr>
              <p:cNvSpPr txBox="1"/>
              <p:nvPr/>
            </p:nvSpPr>
            <p:spPr>
              <a:xfrm>
                <a:off x="6096000" y="2105257"/>
                <a:ext cx="5189034" cy="3238835"/>
              </a:xfrm>
              <a:prstGeom prst="rect">
                <a:avLst/>
              </a:prstGeom>
              <a:noFill/>
            </p:spPr>
            <p:txBody>
              <a:bodyPr wrap="square" rtlCol="0">
                <a:spAutoFit/>
              </a:bodyPr>
              <a:lstStyle/>
              <a:p>
                <a:r>
                  <a:rPr lang="en-VN" sz="1600" dirty="0">
                    <a:latin typeface="Arial" panose="020B0604020202020204" pitchFamily="34" charset="0"/>
                    <a:cs typeface="Arial" panose="020B0604020202020204" pitchFamily="34" charset="0"/>
                  </a:rPr>
                  <a:t>Sai số của hệ thống chưa bù: 0.108 với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𝐾</m:t>
                        </m:r>
                      </m:e>
                      <m:sub>
                        <m:r>
                          <a:rPr lang="en-US" sz="1600" b="0" i="1" smtClean="0">
                            <a:latin typeface="Cambria Math" panose="02040503050406030204" pitchFamily="18" charset="0"/>
                          </a:rPr>
                          <m:t>𝑝</m:t>
                        </m:r>
                      </m:sub>
                    </m:sSub>
                    <m:r>
                      <a:rPr lang="en-US" sz="1600" b="0" i="1" smtClean="0">
                        <a:latin typeface="Cambria Math" panose="02040503050406030204" pitchFamily="18" charset="0"/>
                      </a:rPr>
                      <m:t>=8.23</m:t>
                    </m:r>
                  </m:oMath>
                </a14:m>
                <a:r>
                  <a:rPr lang="en-VN" sz="1600" dirty="0">
                    <a:latin typeface="Arial" panose="020B0604020202020204" pitchFamily="34" charset="0"/>
                    <a:cs typeface="Arial" panose="020B0604020202020204" pitchFamily="34" charset="0"/>
                  </a:rPr>
                  <a:t>.</a:t>
                </a:r>
              </a:p>
              <a:p>
                <a:r>
                  <a:rPr lang="en-VN" sz="1600" dirty="0">
                    <a:latin typeface="Arial" panose="020B0604020202020204" pitchFamily="34" charset="0"/>
                    <a:cs typeface="Arial" panose="020B0604020202020204" pitchFamily="34" charset="0"/>
                  </a:rPr>
                  <a:t>Sai số của hệ thống sau khi bù: </a:t>
                </a:r>
              </a:p>
              <a:p>
                <a:endParaRPr lang="en-VN" sz="1600" dirty="0">
                  <a:latin typeface="Arial" panose="020B0604020202020204" pitchFamily="34" charset="0"/>
                  <a:cs typeface="Arial" panose="020B0604020202020204" pitchFamily="34" charset="0"/>
                </a:endParaRPr>
              </a:p>
              <a:p>
                <a:endParaRPr lang="en-VN" sz="1600" dirty="0">
                  <a:latin typeface="Arial" panose="020B0604020202020204" pitchFamily="34" charset="0"/>
                  <a:cs typeface="Arial" panose="020B0604020202020204" pitchFamily="34" charset="0"/>
                </a:endParaRPr>
              </a:p>
              <a:p>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Với hệ thống bậc 0, ta có: </a:t>
                </a:r>
              </a:p>
              <a:p>
                <a:endParaRPr lang="en-VN" sz="1600" dirty="0">
                  <a:latin typeface="Arial" panose="020B0604020202020204" pitchFamily="34" charset="0"/>
                  <a:cs typeface="Arial" panose="020B0604020202020204" pitchFamily="34" charset="0"/>
                </a:endParaRPr>
              </a:p>
              <a:p>
                <a:endParaRPr lang="en-VN" sz="1600" dirty="0">
                  <a:latin typeface="Arial" panose="020B0604020202020204" pitchFamily="34" charset="0"/>
                  <a:cs typeface="Arial" panose="020B0604020202020204" pitchFamily="34" charset="0"/>
                </a:endParaRPr>
              </a:p>
              <a:p>
                <a:endParaRPr lang="en-VN" sz="1600" dirty="0">
                  <a:latin typeface="Arial" panose="020B0604020202020204" pitchFamily="34" charset="0"/>
                  <a:cs typeface="Arial" panose="020B0604020202020204" pitchFamily="34" charset="0"/>
                </a:endParaRPr>
              </a:p>
              <a:p>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Suy ra: </a:t>
                </a:r>
                <a14:m>
                  <m:oMath xmlns:m="http://schemas.openxmlformats.org/officeDocument/2006/math">
                    <m:f>
                      <m:fPr>
                        <m:ctrlPr>
                          <a:rPr lang="en-US" sz="1600" b="0" i="1" smtClean="0">
                            <a:latin typeface="Cambria Math" panose="02040503050406030204" pitchFamily="18" charset="0"/>
                            <a:cs typeface="Arial" panose="020B0604020202020204" pitchFamily="34" charset="0"/>
                          </a:rPr>
                        </m:ctrlPr>
                      </m:fPr>
                      <m:num>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𝑧</m:t>
                            </m:r>
                          </m:e>
                          <m:sub>
                            <m:r>
                              <a:rPr lang="en-US" sz="1600" b="0" i="1" smtClean="0">
                                <a:latin typeface="Cambria Math" panose="02040503050406030204" pitchFamily="18" charset="0"/>
                                <a:cs typeface="Arial" panose="020B0604020202020204" pitchFamily="34" charset="0"/>
                              </a:rPr>
                              <m:t>𝑐</m:t>
                            </m:r>
                          </m:sub>
                        </m:sSub>
                      </m:num>
                      <m:den>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𝑝</m:t>
                            </m:r>
                          </m:e>
                          <m:sub>
                            <m:r>
                              <a:rPr lang="en-US" sz="1600" b="0" i="1" smtClean="0">
                                <a:latin typeface="Cambria Math" panose="02040503050406030204" pitchFamily="18" charset="0"/>
                                <a:cs typeface="Arial" panose="020B0604020202020204" pitchFamily="34" charset="0"/>
                              </a:rPr>
                              <m:t>𝑐</m:t>
                            </m:r>
                          </m:sub>
                        </m:sSub>
                      </m:den>
                    </m:f>
                    <m:r>
                      <a:rPr lang="en-US" sz="1600" b="0" i="1" smtClean="0">
                        <a:latin typeface="Cambria Math" panose="02040503050406030204" pitchFamily="18" charset="0"/>
                        <a:cs typeface="Arial" panose="020B0604020202020204" pitchFamily="34" charset="0"/>
                      </a:rPr>
                      <m:t>=</m:t>
                    </m:r>
                    <m:f>
                      <m:fPr>
                        <m:ctrlPr>
                          <a:rPr lang="en-US" sz="1600" b="0" i="1" smtClean="0">
                            <a:latin typeface="Cambria Math" panose="02040503050406030204" pitchFamily="18" charset="0"/>
                            <a:cs typeface="Arial" panose="020B0604020202020204" pitchFamily="34" charset="0"/>
                          </a:rPr>
                        </m:ctrlPr>
                      </m:fPr>
                      <m:num>
                        <m:sSub>
                          <m:sSubPr>
                            <m:ctrlPr>
                              <a:rPr lang="en-US" sz="1600" b="0" i="1" smtClean="0">
                                <a:latin typeface="Cambria Math" panose="02040503050406030204" pitchFamily="18" charset="0"/>
                                <a:cs typeface="Arial" panose="020B0604020202020204" pitchFamily="34" charset="0"/>
                              </a:rPr>
                            </m:ctrlPr>
                          </m:sSubPr>
                          <m:e>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𝐾</m:t>
                                </m:r>
                              </m:e>
                              <m:sub>
                                <m:r>
                                  <a:rPr lang="en-US" sz="1600" b="0" i="1" smtClean="0">
                                    <a:latin typeface="Cambria Math" panose="02040503050406030204" pitchFamily="18" charset="0"/>
                                    <a:cs typeface="Arial" panose="020B0604020202020204" pitchFamily="34" charset="0"/>
                                  </a:rPr>
                                  <m:t>𝑣</m:t>
                                </m:r>
                              </m:sub>
                            </m:sSub>
                          </m:e>
                          <m:sub>
                            <m:r>
                              <a:rPr lang="en-US" sz="1600" b="0" i="1" smtClean="0">
                                <a:latin typeface="Cambria Math" panose="02040503050406030204" pitchFamily="18" charset="0"/>
                                <a:cs typeface="Arial" panose="020B0604020202020204" pitchFamily="34" charset="0"/>
                              </a:rPr>
                              <m:t>𝑛</m:t>
                            </m:r>
                          </m:sub>
                        </m:sSub>
                      </m:num>
                      <m:den>
                        <m:sSub>
                          <m:sSubPr>
                            <m:ctrlPr>
                              <a:rPr lang="en-US" sz="1600" b="0" i="1" smtClean="0">
                                <a:latin typeface="Cambria Math" panose="02040503050406030204" pitchFamily="18" charset="0"/>
                                <a:cs typeface="Arial" panose="020B0604020202020204" pitchFamily="34" charset="0"/>
                              </a:rPr>
                            </m:ctrlPr>
                          </m:sSubPr>
                          <m:e>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𝐾</m:t>
                                </m:r>
                              </m:e>
                              <m:sub>
                                <m:r>
                                  <a:rPr lang="en-US" sz="1600" b="0" i="1" smtClean="0">
                                    <a:latin typeface="Cambria Math" panose="02040503050406030204" pitchFamily="18" charset="0"/>
                                    <a:cs typeface="Arial" panose="020B0604020202020204" pitchFamily="34" charset="0"/>
                                  </a:rPr>
                                  <m:t>𝑣</m:t>
                                </m:r>
                              </m:sub>
                            </m:sSub>
                          </m:e>
                          <m:sub>
                            <m:r>
                              <a:rPr lang="en-US" sz="1600" b="0" i="1" smtClean="0">
                                <a:latin typeface="Cambria Math" panose="02040503050406030204" pitchFamily="18" charset="0"/>
                                <a:cs typeface="Arial" panose="020B0604020202020204" pitchFamily="34" charset="0"/>
                              </a:rPr>
                              <m:t>0</m:t>
                            </m:r>
                          </m:sub>
                        </m:sSub>
                      </m:den>
                    </m:f>
                    <m:r>
                      <a:rPr lang="en-US" sz="1600" b="0" i="1" smtClean="0">
                        <a:latin typeface="Cambria Math" panose="02040503050406030204" pitchFamily="18" charset="0"/>
                        <a:cs typeface="Arial" panose="020B0604020202020204" pitchFamily="34" charset="0"/>
                      </a:rPr>
                      <m:t>=</m:t>
                    </m:r>
                    <m:f>
                      <m:fPr>
                        <m:ctrlPr>
                          <a:rPr lang="en-US" sz="1600" b="0" i="1" smtClean="0">
                            <a:latin typeface="Cambria Math" panose="02040503050406030204" pitchFamily="18" charset="0"/>
                            <a:cs typeface="Arial" panose="020B0604020202020204" pitchFamily="34" charset="0"/>
                          </a:rPr>
                        </m:ctrlPr>
                      </m:fPr>
                      <m:num>
                        <m:r>
                          <a:rPr lang="en-US" sz="1600" b="0" i="1" smtClean="0">
                            <a:latin typeface="Cambria Math" panose="02040503050406030204" pitchFamily="18" charset="0"/>
                            <a:cs typeface="Arial" panose="020B0604020202020204" pitchFamily="34" charset="0"/>
                          </a:rPr>
                          <m:t>91.59</m:t>
                        </m:r>
                      </m:num>
                      <m:den>
                        <m:r>
                          <a:rPr lang="en-US" sz="1600" b="0" i="1" smtClean="0">
                            <a:latin typeface="Cambria Math" panose="02040503050406030204" pitchFamily="18" charset="0"/>
                            <a:cs typeface="Arial" panose="020B0604020202020204" pitchFamily="34" charset="0"/>
                          </a:rPr>
                          <m:t>8.23</m:t>
                        </m:r>
                      </m:den>
                    </m:f>
                    <m:r>
                      <a:rPr lang="en-US" sz="1600" b="0" i="1" smtClean="0">
                        <a:latin typeface="Cambria Math" panose="02040503050406030204" pitchFamily="18" charset="0"/>
                        <a:cs typeface="Arial" panose="020B0604020202020204" pitchFamily="34" charset="0"/>
                      </a:rPr>
                      <m:t>=11.13</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Chọn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𝑝</m:t>
                        </m:r>
                      </m:e>
                      <m:sub>
                        <m:r>
                          <a:rPr lang="en-US" sz="1600" b="0" i="1" smtClean="0">
                            <a:latin typeface="Cambria Math" panose="02040503050406030204" pitchFamily="18" charset="0"/>
                            <a:cs typeface="Arial" panose="020B0604020202020204" pitchFamily="34" charset="0"/>
                          </a:rPr>
                          <m:t>𝑐</m:t>
                        </m:r>
                      </m:sub>
                    </m:sSub>
                    <m:r>
                      <a:rPr lang="en-US" sz="1600" b="0" i="1" smtClean="0">
                        <a:latin typeface="Cambria Math" panose="02040503050406030204" pitchFamily="18" charset="0"/>
                        <a:cs typeface="Arial" panose="020B0604020202020204" pitchFamily="34" charset="0"/>
                      </a:rPr>
                      <m:t>=0.01</m:t>
                    </m:r>
                  </m:oMath>
                </a14:m>
                <a:r>
                  <a:rPr lang="en-VN" sz="1600" dirty="0">
                    <a:latin typeface="Arial" panose="020B0604020202020204" pitchFamily="34" charset="0"/>
                    <a:cs typeface="Arial" panose="020B0604020202020204" pitchFamily="34" charset="0"/>
                  </a:rPr>
                  <a:t>, khi đó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𝑧</m:t>
                        </m:r>
                      </m:e>
                      <m:sub>
                        <m:r>
                          <a:rPr lang="en-US" sz="1600" b="0" i="1" smtClean="0">
                            <a:latin typeface="Cambria Math" panose="02040503050406030204" pitchFamily="18" charset="0"/>
                            <a:cs typeface="Arial" panose="020B0604020202020204" pitchFamily="34" charset="0"/>
                          </a:rPr>
                          <m:t>𝑐</m:t>
                        </m:r>
                      </m:sub>
                    </m:sSub>
                    <m:r>
                      <a:rPr lang="en-US" sz="1600" i="1">
                        <a:latin typeface="Cambria Math" panose="02040503050406030204" pitchFamily="18" charset="0"/>
                        <a:ea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0.111</m:t>
                    </m:r>
                  </m:oMath>
                </a14:m>
                <a:endParaRPr lang="en-VN" sz="1600"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EF87B607-4FBF-FA7D-7D7D-5BF6AFDE464E}"/>
                  </a:ext>
                </a:extLst>
              </p:cNvPr>
              <p:cNvSpPr txBox="1">
                <a:spLocks noRot="1" noChangeAspect="1" noMove="1" noResize="1" noEditPoints="1" noAdjustHandles="1" noChangeArrowheads="1" noChangeShapeType="1" noTextEdit="1"/>
              </p:cNvSpPr>
              <p:nvPr/>
            </p:nvSpPr>
            <p:spPr>
              <a:xfrm>
                <a:off x="6096000" y="2105257"/>
                <a:ext cx="5189034" cy="3238835"/>
              </a:xfrm>
              <a:prstGeom prst="rect">
                <a:avLst/>
              </a:prstGeom>
              <a:blipFill>
                <a:blip r:embed="rId4"/>
                <a:stretch>
                  <a:fillRect l="-733" t="-781" b="-1953"/>
                </a:stretch>
              </a:blipFill>
            </p:spPr>
            <p:txBody>
              <a:bodyPr/>
              <a:lstStyle/>
              <a:p>
                <a:r>
                  <a:rPr lang="en-VN">
                    <a:noFill/>
                  </a:rPr>
                  <a:t> </a:t>
                </a:r>
              </a:p>
            </p:txBody>
          </p:sp>
        </mc:Fallback>
      </mc:AlternateContent>
      <p:pic>
        <p:nvPicPr>
          <p:cNvPr id="8" name="Picture 7">
            <a:extLst>
              <a:ext uri="{FF2B5EF4-FFF2-40B4-BE49-F238E27FC236}">
                <a16:creationId xmlns:a16="http://schemas.microsoft.com/office/drawing/2014/main" id="{5FD4DFC2-E2D7-A3EA-DABE-425D3799E27E}"/>
              </a:ext>
            </a:extLst>
          </p:cNvPr>
          <p:cNvPicPr>
            <a:picLocks noChangeAspect="1"/>
          </p:cNvPicPr>
          <p:nvPr/>
        </p:nvPicPr>
        <p:blipFill>
          <a:blip r:embed="rId5"/>
          <a:stretch>
            <a:fillRect/>
          </a:stretch>
        </p:blipFill>
        <p:spPr>
          <a:xfrm>
            <a:off x="7834476" y="2718433"/>
            <a:ext cx="2247280" cy="598575"/>
          </a:xfrm>
          <a:prstGeom prst="rect">
            <a:avLst/>
          </a:prstGeom>
        </p:spPr>
      </p:pic>
      <p:pic>
        <p:nvPicPr>
          <p:cNvPr id="10" name="Picture 9">
            <a:extLst>
              <a:ext uri="{FF2B5EF4-FFF2-40B4-BE49-F238E27FC236}">
                <a16:creationId xmlns:a16="http://schemas.microsoft.com/office/drawing/2014/main" id="{AA31EB8D-F4D9-CF13-85F6-1614EA62F7E9}"/>
              </a:ext>
            </a:extLst>
          </p:cNvPr>
          <p:cNvPicPr>
            <a:picLocks noChangeAspect="1"/>
          </p:cNvPicPr>
          <p:nvPr/>
        </p:nvPicPr>
        <p:blipFill>
          <a:blip r:embed="rId6"/>
          <a:stretch>
            <a:fillRect/>
          </a:stretch>
        </p:blipFill>
        <p:spPr>
          <a:xfrm>
            <a:off x="6228964" y="3841821"/>
            <a:ext cx="2022552" cy="628007"/>
          </a:xfrm>
          <a:prstGeom prst="rect">
            <a:avLst/>
          </a:prstGeom>
        </p:spPr>
      </p:pic>
      <p:pic>
        <p:nvPicPr>
          <p:cNvPr id="12" name="Picture 11">
            <a:extLst>
              <a:ext uri="{FF2B5EF4-FFF2-40B4-BE49-F238E27FC236}">
                <a16:creationId xmlns:a16="http://schemas.microsoft.com/office/drawing/2014/main" id="{F1C21934-1244-7060-B659-4AEB1FDE3E18}"/>
              </a:ext>
            </a:extLst>
          </p:cNvPr>
          <p:cNvPicPr>
            <a:picLocks noChangeAspect="1"/>
          </p:cNvPicPr>
          <p:nvPr/>
        </p:nvPicPr>
        <p:blipFill>
          <a:blip r:embed="rId7"/>
          <a:stretch>
            <a:fillRect/>
          </a:stretch>
        </p:blipFill>
        <p:spPr>
          <a:xfrm>
            <a:off x="8430291" y="3841821"/>
            <a:ext cx="3201638" cy="630322"/>
          </a:xfrm>
          <a:prstGeom prst="rect">
            <a:avLst/>
          </a:prstGeom>
        </p:spPr>
      </p:pic>
      <p:pic>
        <p:nvPicPr>
          <p:cNvPr id="14" name="Picture 13">
            <a:extLst>
              <a:ext uri="{FF2B5EF4-FFF2-40B4-BE49-F238E27FC236}">
                <a16:creationId xmlns:a16="http://schemas.microsoft.com/office/drawing/2014/main" id="{E535C472-1A3C-61EC-2485-CA9AC6CF4ECA}"/>
              </a:ext>
            </a:extLst>
          </p:cNvPr>
          <p:cNvPicPr>
            <a:picLocks noChangeAspect="1"/>
          </p:cNvPicPr>
          <p:nvPr/>
        </p:nvPicPr>
        <p:blipFill>
          <a:blip r:embed="rId8"/>
          <a:stretch>
            <a:fillRect/>
          </a:stretch>
        </p:blipFill>
        <p:spPr>
          <a:xfrm>
            <a:off x="1929161" y="5558202"/>
            <a:ext cx="7551234" cy="1218585"/>
          </a:xfrm>
          <a:prstGeom prst="rect">
            <a:avLst/>
          </a:prstGeom>
        </p:spPr>
      </p:pic>
    </p:spTree>
    <p:extLst>
      <p:ext uri="{BB962C8B-B14F-4D97-AF65-F5344CB8AC3E}">
        <p14:creationId xmlns:p14="http://schemas.microsoft.com/office/powerpoint/2010/main" val="3374255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72358-1E90-5688-1D0B-DD87ABE43D88}"/>
              </a:ext>
            </a:extLst>
          </p:cNvPr>
          <p:cNvSpPr>
            <a:spLocks noGrp="1"/>
          </p:cNvSpPr>
          <p:nvPr>
            <p:ph type="title"/>
          </p:nvPr>
        </p:nvSpPr>
        <p:spPr/>
        <p:txBody>
          <a:bodyPr>
            <a:normAutofit fontScale="90000"/>
          </a:bodyPr>
          <a:lstStyle/>
          <a:p>
            <a:r>
              <a:rPr lang="en-VN" dirty="0"/>
              <a:t>GIẢM SAI SỐ Ở TRẠNG THÁI THƯỜNG TRỰC BẰNG PHƯƠNG PHÁP BÙ NỐI TIẾP</a:t>
            </a:r>
          </a:p>
        </p:txBody>
      </p:sp>
      <p:pic>
        <p:nvPicPr>
          <p:cNvPr id="5" name="Content Placeholder 4">
            <a:extLst>
              <a:ext uri="{FF2B5EF4-FFF2-40B4-BE49-F238E27FC236}">
                <a16:creationId xmlns:a16="http://schemas.microsoft.com/office/drawing/2014/main" id="{3642913B-D400-65AB-BB79-C2300ED91D21}"/>
              </a:ext>
            </a:extLst>
          </p:cNvPr>
          <p:cNvPicPr>
            <a:picLocks noGrp="1" noChangeAspect="1"/>
          </p:cNvPicPr>
          <p:nvPr>
            <p:ph idx="1"/>
          </p:nvPr>
        </p:nvPicPr>
        <p:blipFill>
          <a:blip r:embed="rId2"/>
          <a:stretch>
            <a:fillRect/>
          </a:stretch>
        </p:blipFill>
        <p:spPr>
          <a:xfrm>
            <a:off x="0" y="1533729"/>
            <a:ext cx="6280772" cy="3569282"/>
          </a:xfrm>
        </p:spPr>
      </p:pic>
      <p:pic>
        <p:nvPicPr>
          <p:cNvPr id="7" name="Picture 6">
            <a:extLst>
              <a:ext uri="{FF2B5EF4-FFF2-40B4-BE49-F238E27FC236}">
                <a16:creationId xmlns:a16="http://schemas.microsoft.com/office/drawing/2014/main" id="{E6F54A51-AE53-B504-EF42-E12B7B53A203}"/>
              </a:ext>
            </a:extLst>
          </p:cNvPr>
          <p:cNvPicPr>
            <a:picLocks noChangeAspect="1"/>
          </p:cNvPicPr>
          <p:nvPr/>
        </p:nvPicPr>
        <p:blipFill>
          <a:blip r:embed="rId3"/>
          <a:stretch>
            <a:fillRect/>
          </a:stretch>
        </p:blipFill>
        <p:spPr>
          <a:xfrm>
            <a:off x="6490008" y="1130202"/>
            <a:ext cx="5552533" cy="2662710"/>
          </a:xfrm>
          <a:prstGeom prst="rect">
            <a:avLst/>
          </a:prstGeom>
        </p:spPr>
      </p:pic>
      <p:sp>
        <p:nvSpPr>
          <p:cNvPr id="8" name="Rectangle 7">
            <a:extLst>
              <a:ext uri="{FF2B5EF4-FFF2-40B4-BE49-F238E27FC236}">
                <a16:creationId xmlns:a16="http://schemas.microsoft.com/office/drawing/2014/main" id="{7E0643ED-EADB-0FFD-2E14-90595EDC42DB}"/>
              </a:ext>
            </a:extLst>
          </p:cNvPr>
          <p:cNvSpPr/>
          <p:nvPr/>
        </p:nvSpPr>
        <p:spPr>
          <a:xfrm>
            <a:off x="6490008" y="3318370"/>
            <a:ext cx="5552533" cy="47454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23364CB7-DF8A-D8E6-9065-7275C698BCBB}"/>
              </a:ext>
            </a:extLst>
          </p:cNvPr>
          <p:cNvSpPr/>
          <p:nvPr/>
        </p:nvSpPr>
        <p:spPr>
          <a:xfrm>
            <a:off x="6490007" y="2505456"/>
            <a:ext cx="5552533" cy="402336"/>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1" name="Picture 10">
            <a:extLst>
              <a:ext uri="{FF2B5EF4-FFF2-40B4-BE49-F238E27FC236}">
                <a16:creationId xmlns:a16="http://schemas.microsoft.com/office/drawing/2014/main" id="{B6EE7F5A-DD55-1D60-9A2B-56E15262F593}"/>
              </a:ext>
            </a:extLst>
          </p:cNvPr>
          <p:cNvPicPr>
            <a:picLocks noChangeAspect="1"/>
          </p:cNvPicPr>
          <p:nvPr/>
        </p:nvPicPr>
        <p:blipFill>
          <a:blip r:embed="rId4"/>
          <a:stretch>
            <a:fillRect/>
          </a:stretch>
        </p:blipFill>
        <p:spPr>
          <a:xfrm>
            <a:off x="7060299" y="3900556"/>
            <a:ext cx="4411947" cy="2931686"/>
          </a:xfrm>
          <a:prstGeom prst="rect">
            <a:avLst/>
          </a:prstGeom>
        </p:spPr>
      </p:pic>
    </p:spTree>
    <p:extLst>
      <p:ext uri="{BB962C8B-B14F-4D97-AF65-F5344CB8AC3E}">
        <p14:creationId xmlns:p14="http://schemas.microsoft.com/office/powerpoint/2010/main" val="4035889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AF602-918D-7E33-49B1-4DE30C5B8E7C}"/>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p:sp>
        <p:nvSpPr>
          <p:cNvPr id="3" name="Content Placeholder 2">
            <a:extLst>
              <a:ext uri="{FF2B5EF4-FFF2-40B4-BE49-F238E27FC236}">
                <a16:creationId xmlns:a16="http://schemas.microsoft.com/office/drawing/2014/main" id="{1A3BBF50-F6F0-571C-9A5C-3B8660FC1108}"/>
              </a:ext>
            </a:extLst>
          </p:cNvPr>
          <p:cNvSpPr>
            <a:spLocks noGrp="1"/>
          </p:cNvSpPr>
          <p:nvPr>
            <p:ph idx="1"/>
          </p:nvPr>
        </p:nvSpPr>
        <p:spPr/>
        <p:txBody>
          <a:bodyPr/>
          <a:lstStyle/>
          <a:p>
            <a:r>
              <a:rPr lang="en-VN" dirty="0"/>
              <a:t>Mục đích: Đáp ứng tức thời với %OS như mong muốn, thời gian xác lập ngắn hơn.</a:t>
            </a:r>
          </a:p>
          <a:p>
            <a:r>
              <a:rPr lang="en-US" b="1" dirty="0">
                <a:solidFill>
                  <a:srgbClr val="C00000"/>
                </a:solidFill>
              </a:rPr>
              <a:t>Ideal Derivative Compensation (PD) </a:t>
            </a:r>
          </a:p>
          <a:p>
            <a:pPr marL="0" indent="0">
              <a:buNone/>
            </a:pPr>
            <a:r>
              <a:rPr lang="en-VN" dirty="0"/>
              <a:t>Thêm vào hệ thống các điểm không, điểm cực để thay đổi quỹ tích nghiệm.</a:t>
            </a:r>
          </a:p>
          <a:p>
            <a:pPr marL="0" indent="0">
              <a:buNone/>
            </a:pPr>
            <a:r>
              <a:rPr lang="en-VN" dirty="0"/>
              <a:t>➔ Thêm vào điểm không để làm cho đáp ứng của hệ thống nhanh hơn.</a:t>
            </a:r>
          </a:p>
          <a:p>
            <a:endParaRPr lang="en-VN" dirty="0"/>
          </a:p>
        </p:txBody>
      </p:sp>
      <p:pic>
        <p:nvPicPr>
          <p:cNvPr id="5" name="Picture 4">
            <a:extLst>
              <a:ext uri="{FF2B5EF4-FFF2-40B4-BE49-F238E27FC236}">
                <a16:creationId xmlns:a16="http://schemas.microsoft.com/office/drawing/2014/main" id="{93790D21-8021-975B-8B4F-3CBD51C74467}"/>
              </a:ext>
            </a:extLst>
          </p:cNvPr>
          <p:cNvPicPr>
            <a:picLocks noChangeAspect="1"/>
          </p:cNvPicPr>
          <p:nvPr/>
        </p:nvPicPr>
        <p:blipFill>
          <a:blip r:embed="rId2"/>
          <a:stretch>
            <a:fillRect/>
          </a:stretch>
        </p:blipFill>
        <p:spPr>
          <a:xfrm>
            <a:off x="5111750" y="3624694"/>
            <a:ext cx="1968500" cy="558800"/>
          </a:xfrm>
          <a:prstGeom prst="rect">
            <a:avLst/>
          </a:prstGeom>
        </p:spPr>
      </p:pic>
    </p:spTree>
    <p:extLst>
      <p:ext uri="{BB962C8B-B14F-4D97-AF65-F5344CB8AC3E}">
        <p14:creationId xmlns:p14="http://schemas.microsoft.com/office/powerpoint/2010/main" val="3578612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81B19-7EF3-F74D-EED8-5AC364F47A9A}"/>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p:pic>
        <p:nvPicPr>
          <p:cNvPr id="5" name="Content Placeholder 4">
            <a:extLst>
              <a:ext uri="{FF2B5EF4-FFF2-40B4-BE49-F238E27FC236}">
                <a16:creationId xmlns:a16="http://schemas.microsoft.com/office/drawing/2014/main" id="{F5A59CA9-32E9-8E92-FCC4-6AA9313200A1}"/>
              </a:ext>
            </a:extLst>
          </p:cNvPr>
          <p:cNvPicPr>
            <a:picLocks noGrp="1" noChangeAspect="1"/>
          </p:cNvPicPr>
          <p:nvPr>
            <p:ph idx="1"/>
          </p:nvPr>
        </p:nvPicPr>
        <p:blipFill rotWithShape="1">
          <a:blip r:embed="rId3"/>
          <a:srcRect l="3376"/>
          <a:stretch/>
        </p:blipFill>
        <p:spPr>
          <a:xfrm>
            <a:off x="115912" y="1063978"/>
            <a:ext cx="5945362" cy="3208037"/>
          </a:xfrm>
        </p:spPr>
      </p:pic>
      <p:pic>
        <p:nvPicPr>
          <p:cNvPr id="7" name="Picture 6">
            <a:extLst>
              <a:ext uri="{FF2B5EF4-FFF2-40B4-BE49-F238E27FC236}">
                <a16:creationId xmlns:a16="http://schemas.microsoft.com/office/drawing/2014/main" id="{E44D1B1F-E455-065D-0C04-B447BFB904DF}"/>
              </a:ext>
            </a:extLst>
          </p:cNvPr>
          <p:cNvPicPr>
            <a:picLocks noChangeAspect="1"/>
          </p:cNvPicPr>
          <p:nvPr/>
        </p:nvPicPr>
        <p:blipFill rotWithShape="1">
          <a:blip r:embed="rId4"/>
          <a:srcRect l="2485" r="3065" b="2076"/>
          <a:stretch/>
        </p:blipFill>
        <p:spPr>
          <a:xfrm>
            <a:off x="6211911" y="1063978"/>
            <a:ext cx="5894668" cy="3208037"/>
          </a:xfrm>
          <a:prstGeom prst="rect">
            <a:avLst/>
          </a:prstGeom>
        </p:spPr>
      </p:pic>
      <p:pic>
        <p:nvPicPr>
          <p:cNvPr id="8" name="Picture 7">
            <a:extLst>
              <a:ext uri="{FF2B5EF4-FFF2-40B4-BE49-F238E27FC236}">
                <a16:creationId xmlns:a16="http://schemas.microsoft.com/office/drawing/2014/main" id="{949277F9-927B-06AD-EA2E-B5C0CD1CB08A}"/>
              </a:ext>
            </a:extLst>
          </p:cNvPr>
          <p:cNvPicPr>
            <a:picLocks noChangeAspect="1"/>
          </p:cNvPicPr>
          <p:nvPr/>
        </p:nvPicPr>
        <p:blipFill>
          <a:blip r:embed="rId5"/>
          <a:stretch>
            <a:fillRect/>
          </a:stretch>
        </p:blipFill>
        <p:spPr>
          <a:xfrm>
            <a:off x="897472" y="5586022"/>
            <a:ext cx="1638300" cy="1066800"/>
          </a:xfrm>
          <a:prstGeom prst="rect">
            <a:avLst/>
          </a:prstGeom>
        </p:spPr>
      </p:pic>
      <p:pic>
        <p:nvPicPr>
          <p:cNvPr id="9" name="Picture 8">
            <a:extLst>
              <a:ext uri="{FF2B5EF4-FFF2-40B4-BE49-F238E27FC236}">
                <a16:creationId xmlns:a16="http://schemas.microsoft.com/office/drawing/2014/main" id="{AB30EAAF-837A-95DC-F018-55E2170C98B3}"/>
              </a:ext>
            </a:extLst>
          </p:cNvPr>
          <p:cNvPicPr>
            <a:picLocks noChangeAspect="1"/>
          </p:cNvPicPr>
          <p:nvPr/>
        </p:nvPicPr>
        <p:blipFill>
          <a:blip r:embed="rId6"/>
          <a:stretch>
            <a:fillRect/>
          </a:stretch>
        </p:blipFill>
        <p:spPr>
          <a:xfrm>
            <a:off x="2689484" y="5586022"/>
            <a:ext cx="2641600" cy="1066800"/>
          </a:xfrm>
          <a:prstGeom prst="rect">
            <a:avLst/>
          </a:prstGeom>
        </p:spPr>
      </p:pic>
      <p:pic>
        <p:nvPicPr>
          <p:cNvPr id="10" name="Content Placeholder 4">
            <a:extLst>
              <a:ext uri="{FF2B5EF4-FFF2-40B4-BE49-F238E27FC236}">
                <a16:creationId xmlns:a16="http://schemas.microsoft.com/office/drawing/2014/main" id="{13DF6DCF-5C96-2951-7F46-16EFA786D2B8}"/>
              </a:ext>
            </a:extLst>
          </p:cNvPr>
          <p:cNvPicPr>
            <a:picLocks noChangeAspect="1"/>
          </p:cNvPicPr>
          <p:nvPr/>
        </p:nvPicPr>
        <p:blipFill>
          <a:blip r:embed="rId7"/>
          <a:stretch>
            <a:fillRect/>
          </a:stretch>
        </p:blipFill>
        <p:spPr>
          <a:xfrm>
            <a:off x="6252963" y="4361225"/>
            <a:ext cx="5041565" cy="2496775"/>
          </a:xfrm>
          <a:prstGeom prst="rect">
            <a:avLst/>
          </a:prstGeom>
        </p:spPr>
      </p:pic>
      <p:sp>
        <p:nvSpPr>
          <p:cNvPr id="11" name="Rectangle 10">
            <a:extLst>
              <a:ext uri="{FF2B5EF4-FFF2-40B4-BE49-F238E27FC236}">
                <a16:creationId xmlns:a16="http://schemas.microsoft.com/office/drawing/2014/main" id="{4A6C516B-4C79-1275-6AC1-039BF9DAF36C}"/>
              </a:ext>
            </a:extLst>
          </p:cNvPr>
          <p:cNvSpPr/>
          <p:nvPr/>
        </p:nvSpPr>
        <p:spPr>
          <a:xfrm>
            <a:off x="3326296" y="1063978"/>
            <a:ext cx="2734978" cy="2977935"/>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518943A3-5F2F-DF16-2173-C79C99DE80E3}"/>
              </a:ext>
            </a:extLst>
          </p:cNvPr>
          <p:cNvSpPr txBox="1"/>
          <p:nvPr/>
        </p:nvSpPr>
        <p:spPr>
          <a:xfrm>
            <a:off x="115912" y="4522341"/>
            <a:ext cx="5715881" cy="954107"/>
          </a:xfrm>
          <a:prstGeom prst="rect">
            <a:avLst/>
          </a:prstGeom>
          <a:noFill/>
        </p:spPr>
        <p:txBody>
          <a:bodyPr wrap="square" rtlCol="0">
            <a:spAutoFit/>
          </a:bodyPr>
          <a:lstStyle/>
          <a:p>
            <a:pPr marL="285750" indent="-285750" algn="just">
              <a:buFont typeface="Arial" panose="020B0604020202020204" pitchFamily="34" charset="0"/>
              <a:buChar char="•"/>
            </a:pPr>
            <a:r>
              <a:rPr lang="en-VN" sz="1400" dirty="0">
                <a:latin typeface="Arial" panose="020B0604020202020204" pitchFamily="34" charset="0"/>
                <a:cs typeface="Arial" panose="020B0604020202020204" pitchFamily="34" charset="0"/>
              </a:rPr>
              <a:t>Tất cả các hệ thống sau khi bù đều có thời gian xác lập ngắn hơn hệ thống khi chưa bù.</a:t>
            </a:r>
          </a:p>
          <a:p>
            <a:pPr marL="285750" indent="-285750" algn="just">
              <a:buFont typeface="Arial" panose="020B0604020202020204" pitchFamily="34" charset="0"/>
              <a:buChar char="•"/>
            </a:pPr>
            <a:r>
              <a:rPr lang="en-VN" sz="1400" dirty="0">
                <a:latin typeface="Arial" panose="020B0604020202020204" pitchFamily="34" charset="0"/>
                <a:cs typeface="Arial" panose="020B0604020202020204" pitchFamily="34" charset="0"/>
              </a:rPr>
              <a:t>Khi điểm bù không càng xa so với điểm cực trội, điểm không của hệ thống sau khi bù càng gần hơn với hệ thống khi chưa bù.</a:t>
            </a:r>
          </a:p>
        </p:txBody>
      </p:sp>
    </p:spTree>
    <p:extLst>
      <p:ext uri="{BB962C8B-B14F-4D97-AF65-F5344CB8AC3E}">
        <p14:creationId xmlns:p14="http://schemas.microsoft.com/office/powerpoint/2010/main" val="222128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8650-BDF6-59B9-2ED0-B9F0646FBA7F}"/>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p:pic>
        <p:nvPicPr>
          <p:cNvPr id="5" name="Content Placeholder 4">
            <a:extLst>
              <a:ext uri="{FF2B5EF4-FFF2-40B4-BE49-F238E27FC236}">
                <a16:creationId xmlns:a16="http://schemas.microsoft.com/office/drawing/2014/main" id="{6E0696A1-1836-36AB-D319-E6C344D9D2FC}"/>
              </a:ext>
            </a:extLst>
          </p:cNvPr>
          <p:cNvPicPr>
            <a:picLocks noGrp="1" noChangeAspect="1"/>
          </p:cNvPicPr>
          <p:nvPr>
            <p:ph idx="1"/>
          </p:nvPr>
        </p:nvPicPr>
        <p:blipFill>
          <a:blip r:embed="rId2"/>
          <a:stretch>
            <a:fillRect/>
          </a:stretch>
        </p:blipFill>
        <p:spPr>
          <a:xfrm>
            <a:off x="92766" y="1948070"/>
            <a:ext cx="8149855" cy="4044743"/>
          </a:xfrm>
        </p:spPr>
      </p:pic>
      <p:pic>
        <p:nvPicPr>
          <p:cNvPr id="7" name="Picture 6">
            <a:extLst>
              <a:ext uri="{FF2B5EF4-FFF2-40B4-BE49-F238E27FC236}">
                <a16:creationId xmlns:a16="http://schemas.microsoft.com/office/drawing/2014/main" id="{390AD9F7-ADBC-5FDC-F480-4ADEB2ADC05C}"/>
              </a:ext>
            </a:extLst>
          </p:cNvPr>
          <p:cNvPicPr>
            <a:picLocks noChangeAspect="1"/>
          </p:cNvPicPr>
          <p:nvPr/>
        </p:nvPicPr>
        <p:blipFill>
          <a:blip r:embed="rId3"/>
          <a:stretch>
            <a:fillRect/>
          </a:stretch>
        </p:blipFill>
        <p:spPr>
          <a:xfrm>
            <a:off x="8347398" y="2782956"/>
            <a:ext cx="3758038" cy="2544418"/>
          </a:xfrm>
          <a:prstGeom prst="rect">
            <a:avLst/>
          </a:prstGeom>
        </p:spPr>
      </p:pic>
    </p:spTree>
    <p:extLst>
      <p:ext uri="{BB962C8B-B14F-4D97-AF65-F5344CB8AC3E}">
        <p14:creationId xmlns:p14="http://schemas.microsoft.com/office/powerpoint/2010/main" val="1236971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83DB7-E717-5BC0-D5A6-519EDBF6483C}"/>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p:pic>
        <p:nvPicPr>
          <p:cNvPr id="5" name="Content Placeholder 4">
            <a:extLst>
              <a:ext uri="{FF2B5EF4-FFF2-40B4-BE49-F238E27FC236}">
                <a16:creationId xmlns:a16="http://schemas.microsoft.com/office/drawing/2014/main" id="{A3E48B83-443E-191B-728D-A30A7353A94F}"/>
              </a:ext>
            </a:extLst>
          </p:cNvPr>
          <p:cNvPicPr>
            <a:picLocks noGrp="1" noChangeAspect="1"/>
          </p:cNvPicPr>
          <p:nvPr>
            <p:ph idx="1"/>
          </p:nvPr>
        </p:nvPicPr>
        <p:blipFill>
          <a:blip r:embed="rId2"/>
          <a:stretch>
            <a:fillRect/>
          </a:stretch>
        </p:blipFill>
        <p:spPr>
          <a:xfrm>
            <a:off x="444414" y="2519562"/>
            <a:ext cx="3428236" cy="1510748"/>
          </a:xfrm>
        </p:spPr>
      </p:pic>
      <p:sp>
        <p:nvSpPr>
          <p:cNvPr id="6" name="TextBox 5">
            <a:extLst>
              <a:ext uri="{FF2B5EF4-FFF2-40B4-BE49-F238E27FC236}">
                <a16:creationId xmlns:a16="http://schemas.microsoft.com/office/drawing/2014/main" id="{A171071E-144F-8FAA-E640-EB7697B92B7D}"/>
              </a:ext>
            </a:extLst>
          </p:cNvPr>
          <p:cNvSpPr txBox="1"/>
          <p:nvPr/>
        </p:nvSpPr>
        <p:spPr>
          <a:xfrm>
            <a:off x="1451579" y="1364974"/>
            <a:ext cx="9603275" cy="646331"/>
          </a:xfrm>
          <a:prstGeom prst="rect">
            <a:avLst/>
          </a:prstGeom>
          <a:noFill/>
        </p:spPr>
        <p:txBody>
          <a:bodyPr wrap="square" rtlCol="0">
            <a:spAutoFit/>
          </a:bodyPr>
          <a:lstStyle/>
          <a:p>
            <a:r>
              <a:rPr lang="en-VN" b="1" dirty="0">
                <a:latin typeface="Arial" panose="020B0604020202020204" pitchFamily="34" charset="0"/>
                <a:cs typeface="Arial" panose="020B0604020202020204" pitchFamily="34" charset="0"/>
              </a:rPr>
              <a:t>Ví dụ: </a:t>
            </a:r>
            <a:r>
              <a:rPr lang="en-VN" dirty="0">
                <a:latin typeface="Arial" panose="020B0604020202020204" pitchFamily="34" charset="0"/>
                <a:cs typeface="Arial" panose="020B0604020202020204" pitchFamily="34" charset="0"/>
              </a:rPr>
              <a:t>Cho hệ thống như hình bên dưới. Thiết kế bộ bù PD để hệ thống đạt 16% OS và giảm ba lần thời gian xác lập.</a:t>
            </a:r>
          </a:p>
        </p:txBody>
      </p:sp>
      <p:pic>
        <p:nvPicPr>
          <p:cNvPr id="8" name="Picture 7">
            <a:extLst>
              <a:ext uri="{FF2B5EF4-FFF2-40B4-BE49-F238E27FC236}">
                <a16:creationId xmlns:a16="http://schemas.microsoft.com/office/drawing/2014/main" id="{EEBC07AE-289D-B6FE-8258-8C4529D8996A}"/>
              </a:ext>
            </a:extLst>
          </p:cNvPr>
          <p:cNvPicPr>
            <a:picLocks noChangeAspect="1"/>
          </p:cNvPicPr>
          <p:nvPr/>
        </p:nvPicPr>
        <p:blipFill>
          <a:blip r:embed="rId3"/>
          <a:stretch>
            <a:fillRect/>
          </a:stretch>
        </p:blipFill>
        <p:spPr>
          <a:xfrm>
            <a:off x="4969564" y="1843247"/>
            <a:ext cx="6434483" cy="3998425"/>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4CB01EB-5AE7-5481-BDE9-08E357EE5DE6}"/>
                  </a:ext>
                </a:extLst>
              </p:cNvPr>
              <p:cNvSpPr txBox="1"/>
              <p:nvPr/>
            </p:nvSpPr>
            <p:spPr>
              <a:xfrm>
                <a:off x="227260" y="4253947"/>
                <a:ext cx="4411001" cy="1580497"/>
              </a:xfrm>
              <a:prstGeom prst="rect">
                <a:avLst/>
              </a:prstGeom>
              <a:noFill/>
            </p:spPr>
            <p:txBody>
              <a:bodyPr wrap="square" rtlCol="0">
                <a:spAutoFit/>
              </a:bodyPr>
              <a:lstStyle/>
              <a:p>
                <a:r>
                  <a:rPr lang="en-VN" sz="1600" dirty="0">
                    <a:latin typeface="Arial" panose="020B0604020202020204" pitchFamily="34" charset="0"/>
                    <a:cs typeface="Arial" panose="020B0604020202020204" pitchFamily="34" charset="0"/>
                  </a:rPr>
                  <a:t>Hệ thống chưa bù để đạt được 16% OS, </a:t>
                </a:r>
                <a14:m>
                  <m:oMath xmlns:m="http://schemas.openxmlformats.org/officeDocument/2006/math">
                    <m:r>
                      <a:rPr lang="en-VN" sz="1600" i="1" smtClean="0">
                        <a:latin typeface="Cambria Math" panose="02040503050406030204" pitchFamily="18" charset="0"/>
                        <a:ea typeface="Cambria Math" panose="02040503050406030204" pitchFamily="18" charset="0"/>
                      </a:rPr>
                      <m:t>𝜁</m:t>
                    </m:r>
                    <m:r>
                      <a:rPr lang="en-US" sz="1600" b="0" i="1" smtClean="0">
                        <a:latin typeface="Cambria Math" panose="02040503050406030204" pitchFamily="18" charset="0"/>
                        <a:ea typeface="Cambria Math" panose="02040503050406030204" pitchFamily="18" charset="0"/>
                      </a:rPr>
                      <m:t>=0.504</m:t>
                    </m:r>
                  </m:oMath>
                </a14:m>
                <a:r>
                  <a:rPr lang="en-VN" sz="1600" dirty="0">
                    <a:latin typeface="Arial" panose="020B0604020202020204" pitchFamily="34" charset="0"/>
                    <a:cs typeface="Arial" panose="020B0604020202020204" pitchFamily="34" charset="0"/>
                  </a:rPr>
                  <a:t> ➔ Điểm cực trội: </a:t>
                </a:r>
              </a:p>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−1.205</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2.064</m:t>
                      </m:r>
                    </m:oMath>
                  </m:oMathPara>
                </a14:m>
                <a:endParaRPr lang="en-US" sz="1600" b="0" dirty="0">
                  <a:latin typeface="Arial" panose="020B0604020202020204" pitchFamily="34" charset="0"/>
                  <a:ea typeface="Cambria Math" panose="02040503050406030204" pitchFamily="18" charset="0"/>
                  <a:cs typeface="Arial" panose="020B0604020202020204" pitchFamily="34" charset="0"/>
                </a:endParaRPr>
              </a:p>
              <a:p>
                <a:r>
                  <a:rPr lang="en-VN" sz="1600" dirty="0">
                    <a:latin typeface="Arial" panose="020B0604020202020204" pitchFamily="34" charset="0"/>
                    <a:cs typeface="Arial" panose="020B0604020202020204" pitchFamily="34" charset="0"/>
                  </a:rPr>
                  <a:t>Khi đó, thời gian xác lập của hệ thống là:</a:t>
                </a:r>
              </a:p>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4</m:t>
                          </m:r>
                        </m:num>
                        <m:den>
                          <m:r>
                            <a:rPr lang="en-US" sz="1600" b="0" i="1" smtClean="0">
                              <a:latin typeface="Cambria Math" panose="02040503050406030204" pitchFamily="18" charset="0"/>
                              <a:ea typeface="Cambria Math" panose="02040503050406030204" pitchFamily="18" charset="0"/>
                            </a:rPr>
                            <m:t>𝜁</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𝜔</m:t>
                              </m:r>
                            </m:e>
                            <m:sub>
                              <m:r>
                                <a:rPr lang="en-US" sz="1600" b="0" i="1" smtClean="0">
                                  <a:latin typeface="Cambria Math" panose="02040503050406030204" pitchFamily="18" charset="0"/>
                                  <a:ea typeface="Cambria Math" panose="02040503050406030204" pitchFamily="18" charset="0"/>
                                </a:rPr>
                                <m:t>𝑛</m:t>
                              </m:r>
                            </m:sub>
                          </m:sSub>
                        </m:den>
                      </m:f>
                      <m:r>
                        <a:rPr lang="en-US" sz="1600" b="0" i="1" smtClean="0">
                          <a:latin typeface="Cambria Math" panose="02040503050406030204" pitchFamily="18" charset="0"/>
                        </a:rPr>
                        <m:t>=3.320</m:t>
                      </m:r>
                    </m:oMath>
                  </m:oMathPara>
                </a14:m>
                <a:endParaRPr lang="en-VN" sz="1600" dirty="0">
                  <a:latin typeface="Arial" panose="020B0604020202020204" pitchFamily="34" charset="0"/>
                  <a:cs typeface="Arial" panose="020B0604020202020204" pitchFamily="34" charset="0"/>
                </a:endParaRPr>
              </a:p>
            </p:txBody>
          </p:sp>
        </mc:Choice>
        <mc:Fallback>
          <p:sp>
            <p:nvSpPr>
              <p:cNvPr id="9" name="TextBox 8">
                <a:extLst>
                  <a:ext uri="{FF2B5EF4-FFF2-40B4-BE49-F238E27FC236}">
                    <a16:creationId xmlns:a16="http://schemas.microsoft.com/office/drawing/2014/main" id="{B4CB01EB-5AE7-5481-BDE9-08E357EE5DE6}"/>
                  </a:ext>
                </a:extLst>
              </p:cNvPr>
              <p:cNvSpPr txBox="1">
                <a:spLocks noRot="1" noChangeAspect="1" noMove="1" noResize="1" noEditPoints="1" noAdjustHandles="1" noChangeArrowheads="1" noChangeShapeType="1" noTextEdit="1"/>
              </p:cNvSpPr>
              <p:nvPr/>
            </p:nvSpPr>
            <p:spPr>
              <a:xfrm>
                <a:off x="227260" y="4253947"/>
                <a:ext cx="4411001" cy="1580497"/>
              </a:xfrm>
              <a:prstGeom prst="rect">
                <a:avLst/>
              </a:prstGeom>
              <a:blipFill>
                <a:blip r:embed="rId4"/>
                <a:stretch>
                  <a:fillRect l="-573" t="-1600" b="-3200"/>
                </a:stretch>
              </a:blipFill>
            </p:spPr>
            <p:txBody>
              <a:bodyPr/>
              <a:lstStyle/>
              <a:p>
                <a:r>
                  <a:rPr lang="en-VN">
                    <a:noFill/>
                  </a:rPr>
                  <a:t> </a:t>
                </a:r>
              </a:p>
            </p:txBody>
          </p:sp>
        </mc:Fallback>
      </mc:AlternateContent>
    </p:spTree>
    <p:extLst>
      <p:ext uri="{BB962C8B-B14F-4D97-AF65-F5344CB8AC3E}">
        <p14:creationId xmlns:p14="http://schemas.microsoft.com/office/powerpoint/2010/main" val="1465880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4F9CE-0757-079D-2E3B-79969C7E51EF}"/>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8299A7-A07A-D950-ABA2-BF920927BB14}"/>
                  </a:ext>
                </a:extLst>
              </p:cNvPr>
              <p:cNvSpPr>
                <a:spLocks noGrp="1"/>
              </p:cNvSpPr>
              <p:nvPr>
                <p:ph idx="1"/>
              </p:nvPr>
            </p:nvSpPr>
            <p:spPr>
              <a:xfrm>
                <a:off x="416126" y="1191490"/>
                <a:ext cx="11277109" cy="2334492"/>
              </a:xfrm>
            </p:spPr>
            <p:txBody>
              <a:bodyPr>
                <a:normAutofit/>
              </a:bodyPr>
              <a:lstStyle/>
              <a:p>
                <a:r>
                  <a:rPr lang="en-VN" sz="1600" dirty="0"/>
                  <a:t>Thời gian xác lập mong muốn: 1.107 </a:t>
                </a:r>
              </a:p>
              <a:p>
                <a:r>
                  <a:rPr lang="en-VN" sz="1600" dirty="0"/>
                  <a:t>Phần thực của điểm cực trội của hệ thống sau khi bù: </a:t>
                </a:r>
                <a14:m>
                  <m:oMath xmlns:m="http://schemas.openxmlformats.org/officeDocument/2006/math">
                    <m:r>
                      <a:rPr lang="en-VN" sz="1600" i="1" smtClean="0">
                        <a:latin typeface="Cambria Math" panose="02040503050406030204" pitchFamily="18" charset="0"/>
                        <a:ea typeface="Cambria Math" panose="02040503050406030204" pitchFamily="18" charset="0"/>
                      </a:rPr>
                      <m:t>𝜎</m:t>
                    </m:r>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4</m:t>
                        </m:r>
                      </m:num>
                      <m:den>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en-US" sz="1600" b="0" i="1" smtClean="0">
                                <a:latin typeface="Cambria Math" panose="02040503050406030204" pitchFamily="18" charset="0"/>
                                <a:ea typeface="Cambria Math" panose="02040503050406030204" pitchFamily="18" charset="0"/>
                              </a:rPr>
                              <m:t>𝑠</m:t>
                            </m:r>
                          </m:sub>
                        </m:sSub>
                      </m:den>
                    </m:f>
                    <m:r>
                      <a:rPr lang="en-US" sz="1600" b="0" i="1" smtClean="0">
                        <a:latin typeface="Cambria Math" panose="02040503050406030204" pitchFamily="18" charset="0"/>
                        <a:ea typeface="Cambria Math" panose="02040503050406030204" pitchFamily="18" charset="0"/>
                      </a:rPr>
                      <m:t>=3.613</m:t>
                    </m:r>
                  </m:oMath>
                </a14:m>
                <a:endParaRPr lang="en-VN" sz="1600" dirty="0"/>
              </a:p>
              <a:p>
                <a:pPr marL="0" indent="0">
                  <a:buNone/>
                </a:pPr>
                <a:r>
                  <a:rPr lang="en-VN" sz="1600" dirty="0"/>
                  <a:t>Phần ảo của điểm cực trội của hệ thống sau khi bù: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𝜔</m:t>
                        </m:r>
                      </m:e>
                      <m:sub>
                        <m:r>
                          <a:rPr lang="en-US" sz="1600" b="0" i="1" smtClean="0">
                            <a:latin typeface="Cambria Math" panose="02040503050406030204" pitchFamily="18" charset="0"/>
                          </a:rPr>
                          <m:t>𝑑</m:t>
                        </m:r>
                      </m:sub>
                    </m:sSub>
                    <m:r>
                      <a:rPr lang="en-US" sz="1600" b="0" i="1" smtClean="0">
                        <a:latin typeface="Cambria Math" panose="02040503050406030204" pitchFamily="18" charset="0"/>
                      </a:rPr>
                      <m:t>=3.613</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tan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180</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−120.26</m:t>
                            </m:r>
                            <m:r>
                              <a:rPr lang="en-US" sz="1600" b="0" i="1" smtClean="0">
                                <a:latin typeface="Cambria Math" panose="02040503050406030204" pitchFamily="18" charset="0"/>
                                <a:ea typeface="Cambria Math" panose="02040503050406030204" pitchFamily="18" charset="0"/>
                              </a:rPr>
                              <m:t>°</m:t>
                            </m:r>
                          </m:e>
                        </m:d>
                      </m:e>
                    </m:func>
                    <m:r>
                      <a:rPr lang="en-US" sz="1600" b="0" i="1" smtClean="0">
                        <a:latin typeface="Cambria Math" panose="02040503050406030204" pitchFamily="18" charset="0"/>
                      </a:rPr>
                      <m:t>=6.193</m:t>
                    </m:r>
                  </m:oMath>
                </a14:m>
                <a:endParaRPr lang="en-US" sz="1600" b="0" dirty="0"/>
              </a:p>
              <a:p>
                <a:pPr marL="0" indent="0">
                  <a:buNone/>
                </a:pPr>
                <a:r>
                  <a:rPr lang="en-US" sz="1600" b="0" dirty="0" err="1"/>
                  <a:t>Áp</a:t>
                </a:r>
                <a:r>
                  <a:rPr lang="en-US" sz="1600" b="0" dirty="0"/>
                  <a:t> d</a:t>
                </a:r>
                <a:r>
                  <a:rPr lang="en-US" sz="1600" dirty="0"/>
                  <a:t>ung </a:t>
                </a:r>
                <a:r>
                  <a:rPr lang="en-US" sz="1600" dirty="0" err="1"/>
                  <a:t>tiêu</a:t>
                </a:r>
                <a:r>
                  <a:rPr lang="en-US" sz="1600" dirty="0"/>
                  <a:t> </a:t>
                </a:r>
                <a:r>
                  <a:rPr lang="en-US" sz="1600" dirty="0" err="1"/>
                  <a:t>chuẩn</a:t>
                </a:r>
                <a:r>
                  <a:rPr lang="en-US" sz="1600" dirty="0"/>
                  <a:t> </a:t>
                </a:r>
                <a:r>
                  <a:rPr lang="en-US" sz="1600" dirty="0" err="1"/>
                  <a:t>về</a:t>
                </a:r>
                <a:r>
                  <a:rPr lang="en-US" sz="1600" dirty="0"/>
                  <a:t> </a:t>
                </a:r>
                <a:r>
                  <a:rPr lang="en-US" sz="1600" dirty="0" err="1"/>
                  <a:t>góc</a:t>
                </a:r>
                <a:r>
                  <a:rPr lang="en-US" sz="1600" dirty="0"/>
                  <a:t> </a:t>
                </a:r>
                <a:r>
                  <a:rPr lang="en-US" sz="1600" dirty="0" err="1"/>
                  <a:t>tại</a:t>
                </a:r>
                <a:r>
                  <a:rPr lang="en-US" sz="1600" dirty="0"/>
                  <a:t> </a:t>
                </a:r>
                <a:r>
                  <a:rPr lang="en-US" sz="1600" dirty="0" err="1"/>
                  <a:t>điểm</a:t>
                </a:r>
                <a:r>
                  <a:rPr lang="en-US" sz="1600" dirty="0"/>
                  <a:t> </a:t>
                </a:r>
                <a:r>
                  <a:rPr lang="en-US" sz="1600" dirty="0" err="1"/>
                  <a:t>cực</a:t>
                </a:r>
                <a:r>
                  <a:rPr lang="en-US" sz="1600" dirty="0"/>
                  <a:t> </a:t>
                </a:r>
                <a:r>
                  <a:rPr lang="en-US" sz="1600" dirty="0" err="1"/>
                  <a:t>trội</a:t>
                </a:r>
                <a:r>
                  <a:rPr lang="en-US" sz="1600" dirty="0"/>
                  <a:t> </a:t>
                </a:r>
                <a:r>
                  <a:rPr lang="en-US" sz="1600" dirty="0" err="1"/>
                  <a:t>mong</a:t>
                </a:r>
                <a:r>
                  <a:rPr lang="en-US" sz="1600" dirty="0"/>
                  <a:t> </a:t>
                </a:r>
                <a:r>
                  <a:rPr lang="en-US" sz="1600" dirty="0" err="1"/>
                  <a:t>muốn</a:t>
                </a:r>
                <a:r>
                  <a:rPr lang="en-US" sz="1600" dirty="0"/>
                  <a:t>, </a:t>
                </a:r>
                <a:r>
                  <a:rPr lang="en-US" sz="1600" dirty="0" err="1"/>
                  <a:t>góc</a:t>
                </a:r>
                <a:r>
                  <a:rPr lang="en-US" sz="1600" dirty="0"/>
                  <a:t> </a:t>
                </a:r>
                <a:r>
                  <a:rPr lang="en-US" sz="1600" dirty="0" err="1"/>
                  <a:t>tạo</a:t>
                </a:r>
                <a:r>
                  <a:rPr lang="en-US" sz="1600" dirty="0"/>
                  <a:t> </a:t>
                </a:r>
                <a:r>
                  <a:rPr lang="en-US" sz="1600" dirty="0" err="1"/>
                  <a:t>bởi</a:t>
                </a:r>
                <a:r>
                  <a:rPr lang="en-US" sz="1600" dirty="0"/>
                  <a:t> </a:t>
                </a:r>
                <a:r>
                  <a:rPr lang="en-US" sz="1600" dirty="0" err="1"/>
                  <a:t>điểm</a:t>
                </a:r>
                <a:r>
                  <a:rPr lang="en-US" sz="1600" dirty="0"/>
                  <a:t> </a:t>
                </a:r>
                <a:r>
                  <a:rPr lang="en-US" sz="1600" dirty="0" err="1"/>
                  <a:t>không</a:t>
                </a:r>
                <a:r>
                  <a:rPr lang="en-US" sz="1600" dirty="0"/>
                  <a:t> </a:t>
                </a:r>
                <a:r>
                  <a:rPr lang="en-US" sz="1600" dirty="0" err="1"/>
                  <a:t>bù</a:t>
                </a:r>
                <a:r>
                  <a:rPr lang="en-US" sz="1600" dirty="0"/>
                  <a:t> </a:t>
                </a:r>
                <a:r>
                  <a:rPr lang="en-US" sz="1600" dirty="0" err="1"/>
                  <a:t>là</a:t>
                </a:r>
                <a:r>
                  <a:rPr lang="en-US" sz="1600" dirty="0"/>
                  <a:t>: </a:t>
                </a:r>
                <a14:m>
                  <m:oMath xmlns:m="http://schemas.openxmlformats.org/officeDocument/2006/math">
                    <m:r>
                      <a:rPr lang="en-US" sz="1600" b="0" i="1" smtClean="0">
                        <a:latin typeface="Cambria Math" panose="02040503050406030204" pitchFamily="18" charset="0"/>
                      </a:rPr>
                      <m:t>275.6</m:t>
                    </m:r>
                    <m:r>
                      <a:rPr lang="en-US" sz="1600" b="0" i="1" smtClean="0">
                        <a:latin typeface="Cambria Math" panose="02040503050406030204" pitchFamily="18" charset="0"/>
                        <a:ea typeface="Cambria Math" panose="02040503050406030204" pitchFamily="18" charset="0"/>
                      </a:rPr>
                      <m:t>°−180°=95.6°</m:t>
                    </m:r>
                  </m:oMath>
                </a14:m>
                <a:endParaRPr lang="en-US" sz="1600" b="0" dirty="0"/>
              </a:p>
              <a:p>
                <a:pPr marL="0" indent="0">
                  <a:buNone/>
                </a:pPr>
                <a:r>
                  <a:rPr lang="en-VN" sz="1600" dirty="0"/>
                  <a:t> </a:t>
                </a:r>
              </a:p>
            </p:txBody>
          </p:sp>
        </mc:Choice>
        <mc:Fallback xmlns="">
          <p:sp>
            <p:nvSpPr>
              <p:cNvPr id="3" name="Content Placeholder 2">
                <a:extLst>
                  <a:ext uri="{FF2B5EF4-FFF2-40B4-BE49-F238E27FC236}">
                    <a16:creationId xmlns:a16="http://schemas.microsoft.com/office/drawing/2014/main" id="{EB8299A7-A07A-D950-ABA2-BF920927BB14}"/>
                  </a:ext>
                </a:extLst>
              </p:cNvPr>
              <p:cNvSpPr>
                <a:spLocks noGrp="1" noRot="1" noChangeAspect="1" noMove="1" noResize="1" noEditPoints="1" noAdjustHandles="1" noChangeArrowheads="1" noChangeShapeType="1" noTextEdit="1"/>
              </p:cNvSpPr>
              <p:nvPr>
                <p:ph idx="1"/>
              </p:nvPr>
            </p:nvSpPr>
            <p:spPr>
              <a:xfrm>
                <a:off x="416126" y="1191490"/>
                <a:ext cx="11277109" cy="2334492"/>
              </a:xfrm>
              <a:blipFill>
                <a:blip r:embed="rId2"/>
                <a:stretch>
                  <a:fillRect l="-225"/>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A54147A8-001B-B99B-9027-7C69BEFA5308}"/>
              </a:ext>
            </a:extLst>
          </p:cNvPr>
          <p:cNvPicPr>
            <a:picLocks noChangeAspect="1"/>
          </p:cNvPicPr>
          <p:nvPr/>
        </p:nvPicPr>
        <p:blipFill>
          <a:blip r:embed="rId3"/>
          <a:stretch>
            <a:fillRect/>
          </a:stretch>
        </p:blipFill>
        <p:spPr>
          <a:xfrm>
            <a:off x="0" y="3096042"/>
            <a:ext cx="5744846" cy="3634170"/>
          </a:xfrm>
          <a:prstGeom prst="rect">
            <a:avLst/>
          </a:prstGeom>
        </p:spPr>
      </p:pic>
      <p:pic>
        <p:nvPicPr>
          <p:cNvPr id="7" name="Picture 6">
            <a:extLst>
              <a:ext uri="{FF2B5EF4-FFF2-40B4-BE49-F238E27FC236}">
                <a16:creationId xmlns:a16="http://schemas.microsoft.com/office/drawing/2014/main" id="{BC73CC97-F2AE-CA54-52CF-969E1D5F555F}"/>
              </a:ext>
            </a:extLst>
          </p:cNvPr>
          <p:cNvPicPr>
            <a:picLocks noChangeAspect="1"/>
          </p:cNvPicPr>
          <p:nvPr/>
        </p:nvPicPr>
        <p:blipFill>
          <a:blip r:embed="rId4"/>
          <a:stretch>
            <a:fillRect/>
          </a:stretch>
        </p:blipFill>
        <p:spPr>
          <a:xfrm>
            <a:off x="5826809" y="3096042"/>
            <a:ext cx="3435927" cy="3651120"/>
          </a:xfrm>
          <a:prstGeom prst="rect">
            <a:avLst/>
          </a:prstGeom>
        </p:spPr>
      </p:pic>
      <p:pic>
        <p:nvPicPr>
          <p:cNvPr id="11" name="Picture 10">
            <a:extLst>
              <a:ext uri="{FF2B5EF4-FFF2-40B4-BE49-F238E27FC236}">
                <a16:creationId xmlns:a16="http://schemas.microsoft.com/office/drawing/2014/main" id="{5AFA1B74-175F-5377-F11F-B9C26A0F6FEE}"/>
              </a:ext>
            </a:extLst>
          </p:cNvPr>
          <p:cNvPicPr>
            <a:picLocks noChangeAspect="1"/>
          </p:cNvPicPr>
          <p:nvPr/>
        </p:nvPicPr>
        <p:blipFill rotWithShape="1">
          <a:blip r:embed="rId5"/>
          <a:srcRect l="3898"/>
          <a:stretch/>
        </p:blipFill>
        <p:spPr>
          <a:xfrm>
            <a:off x="9342164" y="3987265"/>
            <a:ext cx="2849836" cy="2019300"/>
          </a:xfrm>
          <a:prstGeom prst="rect">
            <a:avLst/>
          </a:prstGeom>
        </p:spPr>
      </p:pic>
    </p:spTree>
    <p:extLst>
      <p:ext uri="{BB962C8B-B14F-4D97-AF65-F5344CB8AC3E}">
        <p14:creationId xmlns:p14="http://schemas.microsoft.com/office/powerpoint/2010/main" val="520122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A3336-5071-4CF5-C18E-54BB0A6B465F}"/>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p:pic>
        <p:nvPicPr>
          <p:cNvPr id="5" name="Content Placeholder 4">
            <a:extLst>
              <a:ext uri="{FF2B5EF4-FFF2-40B4-BE49-F238E27FC236}">
                <a16:creationId xmlns:a16="http://schemas.microsoft.com/office/drawing/2014/main" id="{E3A6B4EA-A0CB-93C0-E11A-E81FD0B5EC5C}"/>
              </a:ext>
            </a:extLst>
          </p:cNvPr>
          <p:cNvPicPr>
            <a:picLocks noGrp="1" noChangeAspect="1"/>
          </p:cNvPicPr>
          <p:nvPr>
            <p:ph idx="1"/>
          </p:nvPr>
        </p:nvPicPr>
        <p:blipFill>
          <a:blip r:embed="rId2"/>
          <a:stretch>
            <a:fillRect/>
          </a:stretch>
        </p:blipFill>
        <p:spPr>
          <a:xfrm>
            <a:off x="1719316" y="2140778"/>
            <a:ext cx="4533900" cy="2108200"/>
          </a:xfrm>
        </p:spPr>
      </p:pic>
      <p:pic>
        <p:nvPicPr>
          <p:cNvPr id="7" name="Picture 6">
            <a:extLst>
              <a:ext uri="{FF2B5EF4-FFF2-40B4-BE49-F238E27FC236}">
                <a16:creationId xmlns:a16="http://schemas.microsoft.com/office/drawing/2014/main" id="{9FF5D29D-8864-9F67-21DA-A593E144E8BF}"/>
              </a:ext>
            </a:extLst>
          </p:cNvPr>
          <p:cNvPicPr>
            <a:picLocks noChangeAspect="1"/>
          </p:cNvPicPr>
          <p:nvPr/>
        </p:nvPicPr>
        <p:blipFill>
          <a:blip r:embed="rId3"/>
          <a:stretch>
            <a:fillRect/>
          </a:stretch>
        </p:blipFill>
        <p:spPr>
          <a:xfrm>
            <a:off x="6869043" y="2788478"/>
            <a:ext cx="3251200" cy="812800"/>
          </a:xfrm>
          <a:prstGeom prst="rect">
            <a:avLst/>
          </a:prstGeom>
        </p:spPr>
      </p:pic>
    </p:spTree>
    <p:extLst>
      <p:ext uri="{BB962C8B-B14F-4D97-AF65-F5344CB8AC3E}">
        <p14:creationId xmlns:p14="http://schemas.microsoft.com/office/powerpoint/2010/main" val="2699283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4F24F-0F42-2751-657F-77B6D19D72C9}"/>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p:sp>
        <p:nvSpPr>
          <p:cNvPr id="3" name="Content Placeholder 2">
            <a:extLst>
              <a:ext uri="{FF2B5EF4-FFF2-40B4-BE49-F238E27FC236}">
                <a16:creationId xmlns:a16="http://schemas.microsoft.com/office/drawing/2014/main" id="{885EA963-9CC8-911D-8E8B-E009F2AF241C}"/>
              </a:ext>
            </a:extLst>
          </p:cNvPr>
          <p:cNvSpPr>
            <a:spLocks noGrp="1"/>
          </p:cNvSpPr>
          <p:nvPr>
            <p:ph idx="1"/>
          </p:nvPr>
        </p:nvSpPr>
        <p:spPr/>
        <p:txBody>
          <a:bodyPr/>
          <a:lstStyle/>
          <a:p>
            <a:r>
              <a:rPr lang="en-US" b="1" dirty="0">
                <a:solidFill>
                  <a:srgbClr val="C00000"/>
                </a:solidFill>
              </a:rPr>
              <a:t>Lead Compensation</a:t>
            </a:r>
          </a:p>
          <a:p>
            <a:pPr marL="0" indent="0">
              <a:buNone/>
            </a:pPr>
            <a:endParaRPr lang="en-VN" dirty="0"/>
          </a:p>
        </p:txBody>
      </p:sp>
      <p:pic>
        <p:nvPicPr>
          <p:cNvPr id="5" name="Picture 4">
            <a:extLst>
              <a:ext uri="{FF2B5EF4-FFF2-40B4-BE49-F238E27FC236}">
                <a16:creationId xmlns:a16="http://schemas.microsoft.com/office/drawing/2014/main" id="{8F515A41-7ADF-6E52-9933-76DE3195CC07}"/>
              </a:ext>
            </a:extLst>
          </p:cNvPr>
          <p:cNvPicPr>
            <a:picLocks noChangeAspect="1"/>
          </p:cNvPicPr>
          <p:nvPr/>
        </p:nvPicPr>
        <p:blipFill rotWithShape="1">
          <a:blip r:embed="rId2"/>
          <a:srcRect l="2788" r="3706"/>
          <a:stretch/>
        </p:blipFill>
        <p:spPr>
          <a:xfrm>
            <a:off x="101749" y="1844905"/>
            <a:ext cx="5816120" cy="2948503"/>
          </a:xfrm>
          <a:prstGeom prst="rect">
            <a:avLst/>
          </a:prstGeom>
        </p:spPr>
      </p:pic>
      <p:pic>
        <p:nvPicPr>
          <p:cNvPr id="7" name="Picture 6">
            <a:extLst>
              <a:ext uri="{FF2B5EF4-FFF2-40B4-BE49-F238E27FC236}">
                <a16:creationId xmlns:a16="http://schemas.microsoft.com/office/drawing/2014/main" id="{74351CCC-072A-D593-6A69-6488FA0278D1}"/>
              </a:ext>
            </a:extLst>
          </p:cNvPr>
          <p:cNvPicPr>
            <a:picLocks noChangeAspect="1"/>
          </p:cNvPicPr>
          <p:nvPr/>
        </p:nvPicPr>
        <p:blipFill rotWithShape="1">
          <a:blip r:embed="rId3"/>
          <a:srcRect t="4820" b="5119"/>
          <a:stretch/>
        </p:blipFill>
        <p:spPr>
          <a:xfrm>
            <a:off x="6072167" y="1867165"/>
            <a:ext cx="6119833" cy="2206196"/>
          </a:xfrm>
          <a:prstGeom prst="rect">
            <a:avLst/>
          </a:prstGeom>
        </p:spPr>
      </p:pic>
      <p:sp>
        <p:nvSpPr>
          <p:cNvPr id="8" name="TextBox 7">
            <a:extLst>
              <a:ext uri="{FF2B5EF4-FFF2-40B4-BE49-F238E27FC236}">
                <a16:creationId xmlns:a16="http://schemas.microsoft.com/office/drawing/2014/main" id="{5D191447-755B-7993-A92C-19E7A82D12F8}"/>
              </a:ext>
            </a:extLst>
          </p:cNvPr>
          <p:cNvSpPr txBox="1"/>
          <p:nvPr/>
        </p:nvSpPr>
        <p:spPr>
          <a:xfrm>
            <a:off x="1451579" y="5089718"/>
            <a:ext cx="9499186" cy="923330"/>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 Có vô số bộ bù lead compensation thoã mãn đáp ứng nhất thời mong muốn.</a:t>
            </a:r>
          </a:p>
          <a:p>
            <a:r>
              <a:rPr lang="en-VN" dirty="0">
                <a:latin typeface="Arial" panose="020B0604020202020204" pitchFamily="34" charset="0"/>
                <a:cs typeface="Arial" panose="020B0604020202020204" pitchFamily="34" charset="0"/>
              </a:rPr>
              <a:t>Lựa chọn dựa trên sai số ở trạng thái thường trực, giá trị tham số để đạt được đáp ứng mong muốn, xấp xỉ hệ thống bậc hai.</a:t>
            </a:r>
          </a:p>
        </p:txBody>
      </p:sp>
      <p:pic>
        <p:nvPicPr>
          <p:cNvPr id="6" name="Picture 5">
            <a:extLst>
              <a:ext uri="{FF2B5EF4-FFF2-40B4-BE49-F238E27FC236}">
                <a16:creationId xmlns:a16="http://schemas.microsoft.com/office/drawing/2014/main" id="{761FC9BA-F5C4-A52D-CE0E-81113FE1114D}"/>
              </a:ext>
            </a:extLst>
          </p:cNvPr>
          <p:cNvPicPr>
            <a:picLocks noChangeAspect="1"/>
          </p:cNvPicPr>
          <p:nvPr/>
        </p:nvPicPr>
        <p:blipFill>
          <a:blip r:embed="rId4"/>
          <a:stretch>
            <a:fillRect/>
          </a:stretch>
        </p:blipFill>
        <p:spPr>
          <a:xfrm>
            <a:off x="6661259" y="4195773"/>
            <a:ext cx="4660900" cy="635000"/>
          </a:xfrm>
          <a:prstGeom prst="rect">
            <a:avLst/>
          </a:prstGeom>
        </p:spPr>
      </p:pic>
    </p:spTree>
    <p:extLst>
      <p:ext uri="{BB962C8B-B14F-4D97-AF65-F5344CB8AC3E}">
        <p14:creationId xmlns:p14="http://schemas.microsoft.com/office/powerpoint/2010/main" val="207241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94EDF-504B-57AA-5992-6C7A54332220}"/>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p:sp>
        <p:nvSpPr>
          <p:cNvPr id="3" name="Content Placeholder 2">
            <a:extLst>
              <a:ext uri="{FF2B5EF4-FFF2-40B4-BE49-F238E27FC236}">
                <a16:creationId xmlns:a16="http://schemas.microsoft.com/office/drawing/2014/main" id="{A77FFEA4-E7A5-D899-48D6-5F7C8F904DAA}"/>
              </a:ext>
            </a:extLst>
          </p:cNvPr>
          <p:cNvSpPr>
            <a:spLocks noGrp="1"/>
          </p:cNvSpPr>
          <p:nvPr>
            <p:ph idx="1"/>
          </p:nvPr>
        </p:nvSpPr>
        <p:spPr>
          <a:xfrm>
            <a:off x="848659" y="1266855"/>
            <a:ext cx="9603275" cy="4444399"/>
          </a:xfrm>
        </p:spPr>
        <p:txBody>
          <a:bodyPr>
            <a:normAutofit/>
          </a:bodyPr>
          <a:lstStyle/>
          <a:p>
            <a:pPr marL="0" indent="0">
              <a:buNone/>
            </a:pPr>
            <a:r>
              <a:rPr lang="en-VN" sz="1800" b="1" dirty="0"/>
              <a:t>Ví dụ: </a:t>
            </a:r>
            <a:r>
              <a:rPr lang="en-VN" sz="1800" dirty="0"/>
              <a:t>Thiết kế 3 bộ bù lead compensation giúp làm giảm thời gian xác lập 2 lần trong khi giữ nguyên %OS = 30%. So sánh hiệu quả giữa 3 bộ bù này.</a:t>
            </a:r>
            <a:endParaRPr lang="en-VN" sz="1800" b="1" dirty="0"/>
          </a:p>
        </p:txBody>
      </p:sp>
      <p:pic>
        <p:nvPicPr>
          <p:cNvPr id="5" name="Picture 4">
            <a:extLst>
              <a:ext uri="{FF2B5EF4-FFF2-40B4-BE49-F238E27FC236}">
                <a16:creationId xmlns:a16="http://schemas.microsoft.com/office/drawing/2014/main" id="{57D5B765-CAA2-5BA1-1DA7-52941140181C}"/>
              </a:ext>
            </a:extLst>
          </p:cNvPr>
          <p:cNvPicPr>
            <a:picLocks noChangeAspect="1"/>
          </p:cNvPicPr>
          <p:nvPr/>
        </p:nvPicPr>
        <p:blipFill>
          <a:blip r:embed="rId2"/>
          <a:stretch>
            <a:fillRect/>
          </a:stretch>
        </p:blipFill>
        <p:spPr>
          <a:xfrm>
            <a:off x="7731889" y="2215532"/>
            <a:ext cx="4266978" cy="4444399"/>
          </a:xfrm>
          <a:prstGeom prst="rect">
            <a:avLst/>
          </a:prstGeom>
        </p:spPr>
      </p:pic>
      <p:pic>
        <p:nvPicPr>
          <p:cNvPr id="7" name="Picture 6">
            <a:extLst>
              <a:ext uri="{FF2B5EF4-FFF2-40B4-BE49-F238E27FC236}">
                <a16:creationId xmlns:a16="http://schemas.microsoft.com/office/drawing/2014/main" id="{685583FF-3B29-4BDE-D2FC-DCE1D357FAF4}"/>
              </a:ext>
            </a:extLst>
          </p:cNvPr>
          <p:cNvPicPr>
            <a:picLocks noChangeAspect="1"/>
          </p:cNvPicPr>
          <p:nvPr/>
        </p:nvPicPr>
        <p:blipFill>
          <a:blip r:embed="rId3"/>
          <a:stretch>
            <a:fillRect/>
          </a:stretch>
        </p:blipFill>
        <p:spPr>
          <a:xfrm>
            <a:off x="1451579" y="2407015"/>
            <a:ext cx="2900301" cy="1324227"/>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70762D4-2B8C-9897-1715-B3760502CFCF}"/>
                  </a:ext>
                </a:extLst>
              </p:cNvPr>
              <p:cNvSpPr txBox="1"/>
              <p:nvPr/>
            </p:nvSpPr>
            <p:spPr>
              <a:xfrm>
                <a:off x="848659" y="4166552"/>
                <a:ext cx="7006442" cy="1815882"/>
              </a:xfrm>
              <a:prstGeom prst="rect">
                <a:avLst/>
              </a:prstGeom>
              <a:noFill/>
            </p:spPr>
            <p:txBody>
              <a:bodyPr wrap="square" rtlCol="0">
                <a:spAutoFit/>
              </a:bodyPr>
              <a:lstStyle/>
              <a:p>
                <a:r>
                  <a:rPr lang="en-VN" sz="1400" dirty="0">
                    <a:latin typeface="Arial" panose="020B0604020202020204" pitchFamily="34" charset="0"/>
                    <a:cs typeface="Arial" panose="020B0604020202020204" pitchFamily="34" charset="0"/>
                  </a:rPr>
                  <a:t>Tương tự như trên, tìm điểm cực trội của hệ thống chưa bù và thời gian xác lập của hệ thống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𝑇</m:t>
                        </m:r>
                      </m:e>
                      <m:sub>
                        <m:r>
                          <a:rPr lang="en-US" sz="1400" b="0" i="1" smtClean="0">
                            <a:latin typeface="Cambria Math" panose="02040503050406030204" pitchFamily="18" charset="0"/>
                          </a:rPr>
                          <m:t>𝑠</m:t>
                        </m:r>
                      </m:sub>
                    </m:sSub>
                    <m:r>
                      <a:rPr lang="en-US" sz="1400" b="0" i="1" smtClean="0">
                        <a:latin typeface="Cambria Math" panose="02040503050406030204" pitchFamily="18" charset="0"/>
                      </a:rPr>
                      <m:t>=3.972</m:t>
                    </m:r>
                  </m:oMath>
                </a14:m>
                <a:r>
                  <a:rPr lang="en-VN" sz="1400" dirty="0">
                    <a:latin typeface="Arial" panose="020B0604020202020204" pitchFamily="34" charset="0"/>
                    <a:cs typeface="Arial" panose="020B0604020202020204" pitchFamily="34" charset="0"/>
                  </a:rPr>
                  <a:t>s.</a:t>
                </a:r>
              </a:p>
              <a:p>
                <a:r>
                  <a:rPr lang="en-VN" sz="1400" dirty="0">
                    <a:latin typeface="Arial" panose="020B0604020202020204" pitchFamily="34" charset="0"/>
                    <a:cs typeface="Arial" panose="020B0604020202020204" pitchFamily="34" charset="0"/>
                  </a:rPr>
                  <a:t>Thời gian xác lập của hệ thống mong muốn: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𝑇</m:t>
                        </m:r>
                      </m:e>
                      <m:sub>
                        <m:r>
                          <a:rPr lang="en-US" sz="1400" b="0" i="1" smtClean="0">
                            <a:latin typeface="Cambria Math" panose="02040503050406030204" pitchFamily="18" charset="0"/>
                          </a:rPr>
                          <m:t>𝑠</m:t>
                        </m:r>
                      </m:sub>
                    </m:sSub>
                    <m:r>
                      <a:rPr lang="en-US" sz="1400" b="0" i="1" smtClean="0">
                        <a:latin typeface="Cambria Math" panose="02040503050406030204" pitchFamily="18" charset="0"/>
                      </a:rPr>
                      <m:t>=1.986</m:t>
                    </m:r>
                  </m:oMath>
                </a14:m>
                <a:r>
                  <a:rPr lang="en-VN" sz="1400" dirty="0">
                    <a:latin typeface="Arial" panose="020B0604020202020204" pitchFamily="34" charset="0"/>
                    <a:cs typeface="Arial" panose="020B0604020202020204" pitchFamily="34" charset="0"/>
                  </a:rPr>
                  <a:t>s.</a:t>
                </a:r>
              </a:p>
              <a:p>
                <a:r>
                  <a:rPr lang="en-VN" sz="1400" dirty="0">
                    <a:latin typeface="Arial" panose="020B0604020202020204" pitchFamily="34" charset="0"/>
                    <a:cs typeface="Arial" panose="020B0604020202020204" pitchFamily="34" charset="0"/>
                  </a:rPr>
                  <a:t>Suy ra điểm cực trội mong muốn: </a:t>
                </a:r>
                <a14:m>
                  <m:oMath xmlns:m="http://schemas.openxmlformats.org/officeDocument/2006/math">
                    <m:r>
                      <a:rPr lang="en-US" sz="1400" b="0" i="1" smtClean="0">
                        <a:latin typeface="Cambria Math" panose="02040503050406030204" pitchFamily="18" charset="0"/>
                        <a:cs typeface="Arial" panose="020B0604020202020204" pitchFamily="34" charset="0"/>
                      </a:rPr>
                      <m:t>−2.014</m:t>
                    </m:r>
                    <m:r>
                      <a:rPr lang="en-US" sz="1400" b="0" i="1" smtClean="0">
                        <a:latin typeface="Cambria Math" panose="02040503050406030204" pitchFamily="18" charset="0"/>
                        <a:ea typeface="Cambria Math" panose="02040503050406030204" pitchFamily="18" charset="0"/>
                        <a:cs typeface="Arial" panose="020B0604020202020204" pitchFamily="34" charset="0"/>
                      </a:rPr>
                      <m:t>±</m:t>
                    </m:r>
                    <m:r>
                      <a:rPr lang="en-US" sz="1400" b="0" i="1" smtClean="0">
                        <a:latin typeface="Cambria Math" panose="02040503050406030204" pitchFamily="18" charset="0"/>
                        <a:ea typeface="Cambria Math" panose="02040503050406030204" pitchFamily="18" charset="0"/>
                        <a:cs typeface="Arial" panose="020B0604020202020204" pitchFamily="34" charset="0"/>
                      </a:rPr>
                      <m:t>𝑗</m:t>
                    </m:r>
                    <m:r>
                      <a:rPr lang="en-US" sz="1400" b="0" i="1" smtClean="0">
                        <a:latin typeface="Cambria Math" panose="02040503050406030204" pitchFamily="18" charset="0"/>
                        <a:ea typeface="Cambria Math" panose="02040503050406030204" pitchFamily="18" charset="0"/>
                        <a:cs typeface="Arial" panose="020B0604020202020204" pitchFamily="34" charset="0"/>
                      </a:rPr>
                      <m:t>5.252</m:t>
                    </m:r>
                  </m:oMath>
                </a14:m>
                <a:r>
                  <a:rPr lang="en-VN" sz="1400" dirty="0">
                    <a:latin typeface="Arial" panose="020B0604020202020204" pitchFamily="34" charset="0"/>
                    <a:cs typeface="Arial" panose="020B0604020202020204" pitchFamily="34" charset="0"/>
                  </a:rPr>
                  <a:t>.</a:t>
                </a:r>
              </a:p>
              <a:p>
                <a:r>
                  <a:rPr lang="en-VN" sz="1400" dirty="0">
                    <a:latin typeface="Arial" panose="020B0604020202020204" pitchFamily="34" charset="0"/>
                    <a:cs typeface="Arial" panose="020B0604020202020204" pitchFamily="34" charset="0"/>
                  </a:rPr>
                  <a:t>Góc do bộ bù thêm vào: </a:t>
                </a:r>
                <a14:m>
                  <m:oMath xmlns:m="http://schemas.openxmlformats.org/officeDocument/2006/math">
                    <m:r>
                      <a:rPr lang="en-US" sz="1400" b="0" i="1" smtClean="0">
                        <a:latin typeface="Cambria Math" panose="02040503050406030204" pitchFamily="18" charset="0"/>
                        <a:cs typeface="Arial" panose="020B0604020202020204" pitchFamily="34" charset="0"/>
                      </a:rPr>
                      <m:t>−172.69</m:t>
                    </m:r>
                    <m:r>
                      <a:rPr lang="en-US" sz="1400" b="0" i="1" smtClean="0">
                        <a:latin typeface="Cambria Math" panose="02040503050406030204" pitchFamily="18" charset="0"/>
                        <a:ea typeface="Cambria Math" panose="02040503050406030204" pitchFamily="18" charset="0"/>
                        <a:cs typeface="Arial" panose="020B0604020202020204" pitchFamily="34" charset="0"/>
                      </a:rPr>
                      <m:t>°</m:t>
                    </m:r>
                  </m:oMath>
                </a14:m>
                <a:r>
                  <a:rPr lang="en-VN" sz="1400" dirty="0">
                    <a:latin typeface="Arial" panose="020B0604020202020204" pitchFamily="34" charset="0"/>
                    <a:cs typeface="Arial" panose="020B0604020202020204" pitchFamily="34" charset="0"/>
                  </a:rPr>
                  <a:t>.</a:t>
                </a:r>
              </a:p>
              <a:p>
                <a:r>
                  <a:rPr lang="en-VN" sz="1400" dirty="0">
                    <a:latin typeface="Arial" panose="020B0604020202020204" pitchFamily="34" charset="0"/>
                    <a:cs typeface="Arial" panose="020B0604020202020204" pitchFamily="34" charset="0"/>
                  </a:rPr>
                  <a:t>Giả sử điểm không của bộ bù là </a:t>
                </a:r>
                <a14:m>
                  <m:oMath xmlns:m="http://schemas.openxmlformats.org/officeDocument/2006/math">
                    <m:sSub>
                      <m:sSubPr>
                        <m:ctrlPr>
                          <a:rPr lang="en-US" sz="1400" b="0" i="1" smtClean="0">
                            <a:latin typeface="Cambria Math" panose="02040503050406030204" pitchFamily="18" charset="0"/>
                            <a:cs typeface="Arial" panose="020B0604020202020204" pitchFamily="34" charset="0"/>
                          </a:rPr>
                        </m:ctrlPr>
                      </m:sSubPr>
                      <m:e>
                        <m:r>
                          <a:rPr lang="en-US" sz="1400" b="0" i="1" smtClean="0">
                            <a:latin typeface="Cambria Math" panose="02040503050406030204" pitchFamily="18" charset="0"/>
                            <a:cs typeface="Arial" panose="020B0604020202020204" pitchFamily="34" charset="0"/>
                          </a:rPr>
                          <m:t>𝑧</m:t>
                        </m:r>
                      </m:e>
                      <m:sub>
                        <m:r>
                          <a:rPr lang="en-US" sz="1400" b="0" i="1" smtClean="0">
                            <a:latin typeface="Cambria Math" panose="02040503050406030204" pitchFamily="18" charset="0"/>
                            <a:cs typeface="Arial" panose="020B0604020202020204" pitchFamily="34" charset="0"/>
                          </a:rPr>
                          <m:t>𝑐</m:t>
                        </m:r>
                      </m:sub>
                    </m:sSub>
                    <m:r>
                      <a:rPr lang="en-US" sz="1400" b="0" i="1" smtClean="0">
                        <a:latin typeface="Cambria Math" panose="02040503050406030204" pitchFamily="18" charset="0"/>
                        <a:cs typeface="Arial" panose="020B0604020202020204" pitchFamily="34" charset="0"/>
                      </a:rPr>
                      <m:t>=−5</m:t>
                    </m:r>
                  </m:oMath>
                </a14:m>
                <a:r>
                  <a:rPr lang="en-VN" sz="1400" dirty="0">
                    <a:latin typeface="Arial" panose="020B0604020202020204" pitchFamily="34" charset="0"/>
                    <a:cs typeface="Arial" panose="020B0604020202020204" pitchFamily="34" charset="0"/>
                  </a:rPr>
                  <a:t>.</a:t>
                </a:r>
              </a:p>
              <a:p>
                <a:r>
                  <a:rPr lang="en-VN" sz="1400" dirty="0">
                    <a:latin typeface="Arial" panose="020B0604020202020204" pitchFamily="34" charset="0"/>
                    <a:cs typeface="Arial" panose="020B0604020202020204" pitchFamily="34" charset="0"/>
                  </a:rPr>
                  <a:t>Suy ra điểm cực của bộ bù: </a:t>
                </a:r>
                <a14:m>
                  <m:oMath xmlns:m="http://schemas.openxmlformats.org/officeDocument/2006/math">
                    <m:sSub>
                      <m:sSubPr>
                        <m:ctrlPr>
                          <a:rPr lang="en-US" sz="1400" b="0" i="1" smtClean="0">
                            <a:latin typeface="Cambria Math" panose="02040503050406030204" pitchFamily="18" charset="0"/>
                            <a:cs typeface="Arial" panose="020B0604020202020204" pitchFamily="34" charset="0"/>
                          </a:rPr>
                        </m:ctrlPr>
                      </m:sSubPr>
                      <m:e>
                        <m:r>
                          <a:rPr lang="en-US" sz="1400" b="0" i="1" smtClean="0">
                            <a:latin typeface="Cambria Math" panose="02040503050406030204" pitchFamily="18" charset="0"/>
                            <a:cs typeface="Arial" panose="020B0604020202020204" pitchFamily="34" charset="0"/>
                          </a:rPr>
                          <m:t>𝑝</m:t>
                        </m:r>
                      </m:e>
                      <m:sub>
                        <m:r>
                          <a:rPr lang="en-US" sz="1400" b="0" i="1" smtClean="0">
                            <a:latin typeface="Cambria Math" panose="02040503050406030204" pitchFamily="18" charset="0"/>
                            <a:cs typeface="Arial" panose="020B0604020202020204" pitchFamily="34" charset="0"/>
                          </a:rPr>
                          <m:t>𝑐</m:t>
                        </m:r>
                      </m:sub>
                    </m:sSub>
                    <m:r>
                      <a:rPr lang="en-US" sz="1400" b="0" i="1" smtClean="0">
                        <a:latin typeface="Cambria Math" panose="02040503050406030204" pitchFamily="18" charset="0"/>
                        <a:cs typeface="Arial" panose="020B0604020202020204" pitchFamily="34" charset="0"/>
                      </a:rPr>
                      <m:t>=42.96</m:t>
                    </m:r>
                  </m:oMath>
                </a14:m>
                <a:r>
                  <a:rPr lang="en-VN" sz="1400" dirty="0">
                    <a:latin typeface="Arial" panose="020B0604020202020204" pitchFamily="34" charset="0"/>
                    <a:cs typeface="Arial" panose="020B0604020202020204" pitchFamily="34" charset="0"/>
                  </a:rPr>
                  <a:t>.</a:t>
                </a:r>
              </a:p>
              <a:p>
                <a:r>
                  <a:rPr lang="en-VN" sz="1400" dirty="0">
                    <a:latin typeface="Arial" panose="020B0604020202020204" pitchFamily="34" charset="0"/>
                    <a:cs typeface="Arial" panose="020B0604020202020204" pitchFamily="34" charset="0"/>
                  </a:rPr>
                  <a:t>Tương tự vậy, tìm thêm 2 bộ bù theo yêu cầu của đề bài.</a:t>
                </a:r>
              </a:p>
            </p:txBody>
          </p:sp>
        </mc:Choice>
        <mc:Fallback xmlns="">
          <p:sp>
            <p:nvSpPr>
              <p:cNvPr id="8" name="TextBox 7">
                <a:extLst>
                  <a:ext uri="{FF2B5EF4-FFF2-40B4-BE49-F238E27FC236}">
                    <a16:creationId xmlns:a16="http://schemas.microsoft.com/office/drawing/2014/main" id="{370762D4-2B8C-9897-1715-B3760502CFCF}"/>
                  </a:ext>
                </a:extLst>
              </p:cNvPr>
              <p:cNvSpPr txBox="1">
                <a:spLocks noRot="1" noChangeAspect="1" noMove="1" noResize="1" noEditPoints="1" noAdjustHandles="1" noChangeArrowheads="1" noChangeShapeType="1" noTextEdit="1"/>
              </p:cNvSpPr>
              <p:nvPr/>
            </p:nvSpPr>
            <p:spPr>
              <a:xfrm>
                <a:off x="848659" y="4166552"/>
                <a:ext cx="7006442" cy="1815882"/>
              </a:xfrm>
              <a:prstGeom prst="rect">
                <a:avLst/>
              </a:prstGeom>
              <a:blipFill>
                <a:blip r:embed="rId4"/>
                <a:stretch>
                  <a:fillRect l="-181" b="-2778"/>
                </a:stretch>
              </a:blipFill>
            </p:spPr>
            <p:txBody>
              <a:bodyPr/>
              <a:lstStyle/>
              <a:p>
                <a:r>
                  <a:rPr lang="en-VN">
                    <a:noFill/>
                  </a:rPr>
                  <a:t> </a:t>
                </a:r>
              </a:p>
            </p:txBody>
          </p:sp>
        </mc:Fallback>
      </mc:AlternateContent>
      <p:pic>
        <p:nvPicPr>
          <p:cNvPr id="10" name="Picture 9">
            <a:extLst>
              <a:ext uri="{FF2B5EF4-FFF2-40B4-BE49-F238E27FC236}">
                <a16:creationId xmlns:a16="http://schemas.microsoft.com/office/drawing/2014/main" id="{39A850DA-7F54-BCCC-1BED-F5C6FCA2714A}"/>
              </a:ext>
            </a:extLst>
          </p:cNvPr>
          <p:cNvPicPr>
            <a:picLocks noChangeAspect="1"/>
          </p:cNvPicPr>
          <p:nvPr/>
        </p:nvPicPr>
        <p:blipFill>
          <a:blip r:embed="rId5"/>
          <a:stretch>
            <a:fillRect/>
          </a:stretch>
        </p:blipFill>
        <p:spPr>
          <a:xfrm>
            <a:off x="5136409" y="2111197"/>
            <a:ext cx="2233614" cy="1915861"/>
          </a:xfrm>
          <a:prstGeom prst="rect">
            <a:avLst/>
          </a:prstGeom>
        </p:spPr>
      </p:pic>
    </p:spTree>
    <p:extLst>
      <p:ext uri="{BB962C8B-B14F-4D97-AF65-F5344CB8AC3E}">
        <p14:creationId xmlns:p14="http://schemas.microsoft.com/office/powerpoint/2010/main" val="530678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07DB-F931-2F9D-BA00-F10CB46D4981}"/>
              </a:ext>
            </a:extLst>
          </p:cNvPr>
          <p:cNvSpPr>
            <a:spLocks noGrp="1"/>
          </p:cNvSpPr>
          <p:nvPr>
            <p:ph type="title"/>
          </p:nvPr>
        </p:nvSpPr>
        <p:spPr/>
        <p:txBody>
          <a:bodyPr>
            <a:normAutofit fontScale="90000"/>
          </a:bodyPr>
          <a:lstStyle/>
          <a:p>
            <a:r>
              <a:rPr lang="en-VN" dirty="0"/>
              <a:t>CẢI THIỆN ĐÁP ỨNG TỨC THỜI BẰNG PHƯƠNG PHÁP BÙ NỐI TIẾP</a:t>
            </a:r>
          </a:p>
        </p:txBody>
      </p:sp>
      <p:pic>
        <p:nvPicPr>
          <p:cNvPr id="7" name="Picture 6">
            <a:extLst>
              <a:ext uri="{FF2B5EF4-FFF2-40B4-BE49-F238E27FC236}">
                <a16:creationId xmlns:a16="http://schemas.microsoft.com/office/drawing/2014/main" id="{C0A38102-51E2-BFDB-BD05-048603CF6F0F}"/>
              </a:ext>
            </a:extLst>
          </p:cNvPr>
          <p:cNvPicPr>
            <a:picLocks noChangeAspect="1"/>
          </p:cNvPicPr>
          <p:nvPr/>
        </p:nvPicPr>
        <p:blipFill rotWithShape="1">
          <a:blip r:embed="rId2"/>
          <a:srcRect l="-153" t="-6372" r="153" b="6372"/>
          <a:stretch/>
        </p:blipFill>
        <p:spPr>
          <a:xfrm>
            <a:off x="7635834" y="1134151"/>
            <a:ext cx="4548778" cy="2412829"/>
          </a:xfrm>
          <a:prstGeom prst="rect">
            <a:avLst/>
          </a:prstGeom>
        </p:spPr>
      </p:pic>
      <p:pic>
        <p:nvPicPr>
          <p:cNvPr id="8" name="Content Placeholder 7">
            <a:extLst>
              <a:ext uri="{FF2B5EF4-FFF2-40B4-BE49-F238E27FC236}">
                <a16:creationId xmlns:a16="http://schemas.microsoft.com/office/drawing/2014/main" id="{1CC1A02B-EC21-F4EC-7AAA-EC3BBF261E16}"/>
              </a:ext>
            </a:extLst>
          </p:cNvPr>
          <p:cNvPicPr>
            <a:picLocks noGrp="1" noChangeAspect="1"/>
          </p:cNvPicPr>
          <p:nvPr>
            <p:ph idx="1"/>
          </p:nvPr>
        </p:nvPicPr>
        <p:blipFill>
          <a:blip r:embed="rId3"/>
          <a:stretch>
            <a:fillRect/>
          </a:stretch>
        </p:blipFill>
        <p:spPr>
          <a:xfrm>
            <a:off x="73766" y="1443255"/>
            <a:ext cx="7488302" cy="4207451"/>
          </a:xfrm>
        </p:spPr>
      </p:pic>
      <p:pic>
        <p:nvPicPr>
          <p:cNvPr id="3" name="Content Placeholder 4">
            <a:extLst>
              <a:ext uri="{FF2B5EF4-FFF2-40B4-BE49-F238E27FC236}">
                <a16:creationId xmlns:a16="http://schemas.microsoft.com/office/drawing/2014/main" id="{0D9B20DC-F668-9694-6BAA-65F8340024D0}"/>
              </a:ext>
            </a:extLst>
          </p:cNvPr>
          <p:cNvPicPr>
            <a:picLocks noChangeAspect="1"/>
          </p:cNvPicPr>
          <p:nvPr/>
        </p:nvPicPr>
        <p:blipFill>
          <a:blip r:embed="rId4"/>
          <a:stretch>
            <a:fillRect/>
          </a:stretch>
        </p:blipFill>
        <p:spPr>
          <a:xfrm>
            <a:off x="7635834" y="3830513"/>
            <a:ext cx="4548778" cy="2125710"/>
          </a:xfrm>
          <a:prstGeom prst="rect">
            <a:avLst/>
          </a:prstGeom>
        </p:spPr>
      </p:pic>
    </p:spTree>
    <p:extLst>
      <p:ext uri="{BB962C8B-B14F-4D97-AF65-F5344CB8AC3E}">
        <p14:creationId xmlns:p14="http://schemas.microsoft.com/office/powerpoint/2010/main" val="3927046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6229-F8C9-EE3B-31A8-03F7E2A39DCF}"/>
              </a:ext>
            </a:extLst>
          </p:cNvPr>
          <p:cNvSpPr>
            <a:spLocks noGrp="1"/>
          </p:cNvSpPr>
          <p:nvPr>
            <p:ph type="title"/>
          </p:nvPr>
        </p:nvSpPr>
        <p:spPr/>
        <p:txBody>
          <a:bodyPr>
            <a:normAutofit fontScale="90000"/>
          </a:bodyPr>
          <a:lstStyle/>
          <a:p>
            <a:r>
              <a:rPr lang="en-VN" dirty="0"/>
              <a:t>CẢI THIỆN SAI SỐ Ở TRẠNG THÁI THƯỜNG TRỰC VÀ ĐÁP ỨNG TỨC THỜI CỦA HỆ THỐNG</a:t>
            </a:r>
          </a:p>
        </p:txBody>
      </p:sp>
      <p:sp>
        <p:nvSpPr>
          <p:cNvPr id="3" name="Content Placeholder 2">
            <a:extLst>
              <a:ext uri="{FF2B5EF4-FFF2-40B4-BE49-F238E27FC236}">
                <a16:creationId xmlns:a16="http://schemas.microsoft.com/office/drawing/2014/main" id="{826EB034-42DC-C144-AC8B-FC084E09B857}"/>
              </a:ext>
            </a:extLst>
          </p:cNvPr>
          <p:cNvSpPr>
            <a:spLocks noGrp="1"/>
          </p:cNvSpPr>
          <p:nvPr>
            <p:ph idx="1"/>
          </p:nvPr>
        </p:nvSpPr>
        <p:spPr/>
        <p:txBody>
          <a:bodyPr/>
          <a:lstStyle/>
          <a:p>
            <a:r>
              <a:rPr lang="en-VN" dirty="0"/>
              <a:t>Kết hợp hai phương pháp thiết kế trên nhằm cải thiện sai số ở trạng thái thường trực và đáp ứng tức thời của hệ thống một cách độc lập.</a:t>
            </a:r>
          </a:p>
          <a:p>
            <a:r>
              <a:rPr lang="en-VN" dirty="0"/>
              <a:t>Đầu tiên, thiết kế cho đáp ứng nhất thời mong muốn, sau đó thiết kế để làm giảm sai số ở trạng thái thường trực.</a:t>
            </a:r>
          </a:p>
          <a:p>
            <a:r>
              <a:rPr lang="en-VN" dirty="0"/>
              <a:t>Nhược điểm: Có thể tăng nhẹ thời gian đáp ứng của hệ thống khi cải thiện sai số ở trạng thái thường trực ở bước sau.</a:t>
            </a:r>
          </a:p>
        </p:txBody>
      </p:sp>
      <p:pic>
        <p:nvPicPr>
          <p:cNvPr id="5" name="Picture 4">
            <a:extLst>
              <a:ext uri="{FF2B5EF4-FFF2-40B4-BE49-F238E27FC236}">
                <a16:creationId xmlns:a16="http://schemas.microsoft.com/office/drawing/2014/main" id="{91AD2844-348F-D24C-950C-7B84483B3BDA}"/>
              </a:ext>
            </a:extLst>
          </p:cNvPr>
          <p:cNvPicPr>
            <a:picLocks noChangeAspect="1"/>
          </p:cNvPicPr>
          <p:nvPr/>
        </p:nvPicPr>
        <p:blipFill rotWithShape="1">
          <a:blip r:embed="rId2"/>
          <a:srcRect t="3494" b="1"/>
          <a:stretch/>
        </p:blipFill>
        <p:spPr>
          <a:xfrm>
            <a:off x="1580610" y="4198775"/>
            <a:ext cx="9159811" cy="1036691"/>
          </a:xfrm>
          <a:prstGeom prst="rect">
            <a:avLst/>
          </a:prstGeom>
        </p:spPr>
      </p:pic>
    </p:spTree>
    <p:extLst>
      <p:ext uri="{BB962C8B-B14F-4D97-AF65-F5344CB8AC3E}">
        <p14:creationId xmlns:p14="http://schemas.microsoft.com/office/powerpoint/2010/main" val="1797046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22A92-A728-BD36-1F38-87B04DFC6046}"/>
              </a:ext>
            </a:extLst>
          </p:cNvPr>
          <p:cNvSpPr>
            <a:spLocks noGrp="1"/>
          </p:cNvSpPr>
          <p:nvPr>
            <p:ph type="title"/>
          </p:nvPr>
        </p:nvSpPr>
        <p:spPr/>
        <p:txBody>
          <a:bodyPr>
            <a:normAutofit fontScale="90000"/>
          </a:bodyPr>
          <a:lstStyle/>
          <a:p>
            <a:r>
              <a:rPr lang="en-VN" dirty="0"/>
              <a:t>CẢI THIỆN SAI SỐ Ở TRẠNG THÁI THƯỜNG TRỰC VÀ ĐÁP ỨNG NHẤT THỜI CỦA HỆ THỐNG</a:t>
            </a:r>
          </a:p>
        </p:txBody>
      </p:sp>
      <p:pic>
        <p:nvPicPr>
          <p:cNvPr id="5" name="Content Placeholder 4">
            <a:extLst>
              <a:ext uri="{FF2B5EF4-FFF2-40B4-BE49-F238E27FC236}">
                <a16:creationId xmlns:a16="http://schemas.microsoft.com/office/drawing/2014/main" id="{F506FF78-E30A-04B7-97B7-98CAAA91F98A}"/>
              </a:ext>
            </a:extLst>
          </p:cNvPr>
          <p:cNvPicPr>
            <a:picLocks noGrp="1" noChangeAspect="1"/>
          </p:cNvPicPr>
          <p:nvPr>
            <p:ph idx="1"/>
          </p:nvPr>
        </p:nvPicPr>
        <p:blipFill>
          <a:blip r:embed="rId2"/>
          <a:stretch>
            <a:fillRect/>
          </a:stretch>
        </p:blipFill>
        <p:spPr>
          <a:xfrm>
            <a:off x="134673" y="2579900"/>
            <a:ext cx="5432755" cy="2096604"/>
          </a:xfrm>
        </p:spPr>
      </p:pic>
      <p:sp>
        <p:nvSpPr>
          <p:cNvPr id="6" name="TextBox 5">
            <a:extLst>
              <a:ext uri="{FF2B5EF4-FFF2-40B4-BE49-F238E27FC236}">
                <a16:creationId xmlns:a16="http://schemas.microsoft.com/office/drawing/2014/main" id="{1E8C7187-30F7-FD72-C4D7-12BA50E01F3F}"/>
              </a:ext>
            </a:extLst>
          </p:cNvPr>
          <p:cNvSpPr txBox="1"/>
          <p:nvPr/>
        </p:nvSpPr>
        <p:spPr>
          <a:xfrm>
            <a:off x="5709499" y="1089045"/>
            <a:ext cx="6008915" cy="5078313"/>
          </a:xfrm>
          <a:prstGeom prst="rect">
            <a:avLst/>
          </a:prstGeom>
          <a:noFill/>
        </p:spPr>
        <p:txBody>
          <a:bodyPr wrap="square" rtlCol="0">
            <a:spAutoFit/>
          </a:bodyPr>
          <a:lstStyle/>
          <a:p>
            <a:pPr algn="just"/>
            <a:r>
              <a:rPr lang="en-VN" b="1" dirty="0">
                <a:solidFill>
                  <a:srgbClr val="C00000"/>
                </a:solidFill>
                <a:latin typeface="Arial" panose="020B0604020202020204" pitchFamily="34" charset="0"/>
                <a:cs typeface="Arial" panose="020B0604020202020204" pitchFamily="34" charset="0"/>
              </a:rPr>
              <a:t>Các bước thiết kế bộ điều khiển PID như sau:</a:t>
            </a:r>
          </a:p>
          <a:p>
            <a:pPr marL="342900" indent="-342900" algn="just">
              <a:buAutoNum type="arabicPeriod"/>
            </a:pPr>
            <a:r>
              <a:rPr lang="en-VN" dirty="0">
                <a:latin typeface="Arial" panose="020B0604020202020204" pitchFamily="34" charset="0"/>
                <a:cs typeface="Arial" panose="020B0604020202020204" pitchFamily="34" charset="0"/>
              </a:rPr>
              <a:t>Đánh giá đáp ứng tức thời của hệ thống chưa bù, để xem những yếu tố đáp ứng tức thời cần cải thiện của hệ thống.</a:t>
            </a:r>
          </a:p>
          <a:p>
            <a:pPr marL="342900" indent="-342900" algn="just">
              <a:buAutoNum type="arabicPeriod"/>
            </a:pPr>
            <a:r>
              <a:rPr lang="en-VN" dirty="0">
                <a:latin typeface="Arial" panose="020B0604020202020204" pitchFamily="34" charset="0"/>
                <a:cs typeface="Arial" panose="020B0604020202020204" pitchFamily="34" charset="0"/>
              </a:rPr>
              <a:t>Thiết kế bộ điều khiển PD để đáp ứng những yêu cầu về đáp ứng tức thời của hệ thống. Thiết kế bao gồm vị trí điểm không và hệ số tỷ lệ.</a:t>
            </a:r>
          </a:p>
          <a:p>
            <a:pPr marL="342900" indent="-342900" algn="just">
              <a:buAutoNum type="arabicPeriod"/>
            </a:pPr>
            <a:r>
              <a:rPr lang="en-VN" dirty="0">
                <a:latin typeface="Arial" panose="020B0604020202020204" pitchFamily="34" charset="0"/>
                <a:cs typeface="Arial" panose="020B0604020202020204" pitchFamily="34" charset="0"/>
              </a:rPr>
              <a:t>Tính toán mô phỏng để kiểm tra xem đã thoả mãn các yêu cầu đáp ứng tức thời của hệ thống hay chưa.</a:t>
            </a:r>
          </a:p>
          <a:p>
            <a:pPr marL="342900" indent="-342900" algn="just">
              <a:buAutoNum type="arabicPeriod"/>
            </a:pPr>
            <a:r>
              <a:rPr lang="en-VN" dirty="0">
                <a:latin typeface="Arial" panose="020B0604020202020204" pitchFamily="34" charset="0"/>
                <a:cs typeface="Arial" panose="020B0604020202020204" pitchFamily="34" charset="0"/>
              </a:rPr>
              <a:t>Thiết kế lại bộ PD nếu chưa thoả mãn.</a:t>
            </a:r>
          </a:p>
          <a:p>
            <a:pPr marL="342900" indent="-342900" algn="just">
              <a:buAutoNum type="arabicPeriod"/>
            </a:pPr>
            <a:r>
              <a:rPr lang="en-VN" dirty="0">
                <a:latin typeface="Arial" panose="020B0604020202020204" pitchFamily="34" charset="0"/>
                <a:cs typeface="Arial" panose="020B0604020202020204" pitchFamily="34" charset="0"/>
              </a:rPr>
              <a:t>Thiết kế bộ điều khiển PI để đáp ứng những yêu cầu về sai số ở trạng thái thường trực của hệ thống.</a:t>
            </a:r>
          </a:p>
          <a:p>
            <a:pPr marL="342900" indent="-342900" algn="just">
              <a:buAutoNum type="arabicPeriod"/>
            </a:pPr>
            <a:r>
              <a:rPr lang="en-VN" dirty="0">
                <a:latin typeface="Arial" panose="020B0604020202020204" pitchFamily="34" charset="0"/>
                <a:cs typeface="Arial" panose="020B0604020202020204" pitchFamily="34" charset="0"/>
              </a:rPr>
              <a:t>Tính toán các hệ số tích phân K</a:t>
            </a:r>
            <a:r>
              <a:rPr lang="en-VN" baseline="-25000" dirty="0">
                <a:latin typeface="Arial" panose="020B0604020202020204" pitchFamily="34" charset="0"/>
                <a:cs typeface="Arial" panose="020B0604020202020204" pitchFamily="34" charset="0"/>
              </a:rPr>
              <a:t>2</a:t>
            </a:r>
            <a:r>
              <a:rPr lang="en-VN" dirty="0">
                <a:latin typeface="Arial" panose="020B0604020202020204" pitchFamily="34" charset="0"/>
                <a:cs typeface="Arial" panose="020B0604020202020204" pitchFamily="34" charset="0"/>
              </a:rPr>
              <a:t>, hệ số vi phân K</a:t>
            </a:r>
            <a:r>
              <a:rPr lang="en-VN" baseline="-25000" dirty="0">
                <a:latin typeface="Arial" panose="020B0604020202020204" pitchFamily="34" charset="0"/>
                <a:cs typeface="Arial" panose="020B0604020202020204" pitchFamily="34" charset="0"/>
              </a:rPr>
              <a:t>3</a:t>
            </a:r>
            <a:r>
              <a:rPr lang="en-VN" dirty="0">
                <a:latin typeface="Arial" panose="020B0604020202020204" pitchFamily="34" charset="0"/>
                <a:cs typeface="Arial" panose="020B0604020202020204" pitchFamily="34" charset="0"/>
              </a:rPr>
              <a:t>, hệ số tỷ lệ K</a:t>
            </a:r>
            <a:r>
              <a:rPr lang="en-VN" baseline="-25000" dirty="0">
                <a:latin typeface="Arial" panose="020B0604020202020204" pitchFamily="34" charset="0"/>
                <a:cs typeface="Arial" panose="020B0604020202020204" pitchFamily="34" charset="0"/>
              </a:rPr>
              <a:t>1.</a:t>
            </a:r>
          </a:p>
          <a:p>
            <a:pPr marL="342900" indent="-342900" algn="just">
              <a:buAutoNum type="arabicPeriod"/>
            </a:pPr>
            <a:r>
              <a:rPr lang="en-VN" dirty="0">
                <a:latin typeface="Arial" panose="020B0604020202020204" pitchFamily="34" charset="0"/>
                <a:cs typeface="Arial" panose="020B0604020202020204" pitchFamily="34" charset="0"/>
              </a:rPr>
              <a:t>Tính toán mô phỏng để kiểm tra xem đã thoả mãn các yêu cầu của hệ thống chưa (đáp ứng tức thời và sai số ở trạng thái thường trực).</a:t>
            </a:r>
          </a:p>
          <a:p>
            <a:pPr marL="342900" indent="-342900" algn="just">
              <a:buAutoNum type="arabicPeriod"/>
            </a:pPr>
            <a:r>
              <a:rPr lang="en-VN" dirty="0">
                <a:latin typeface="Arial" panose="020B0604020202020204" pitchFamily="34" charset="0"/>
                <a:cs typeface="Arial" panose="020B0604020202020204" pitchFamily="34" charset="0"/>
              </a:rPr>
              <a:t>Thiết kế lại bộ điều khiển nếu chưa thoả mãn.</a:t>
            </a:r>
          </a:p>
        </p:txBody>
      </p:sp>
    </p:spTree>
    <p:extLst>
      <p:ext uri="{BB962C8B-B14F-4D97-AF65-F5344CB8AC3E}">
        <p14:creationId xmlns:p14="http://schemas.microsoft.com/office/powerpoint/2010/main" val="535360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891CD-813D-872C-32D5-108F50DEE323}"/>
              </a:ext>
            </a:extLst>
          </p:cNvPr>
          <p:cNvSpPr>
            <a:spLocks noGrp="1"/>
          </p:cNvSpPr>
          <p:nvPr>
            <p:ph type="title"/>
          </p:nvPr>
        </p:nvSpPr>
        <p:spPr/>
        <p:txBody>
          <a:bodyPr>
            <a:normAutofit fontScale="90000"/>
          </a:bodyPr>
          <a:lstStyle/>
          <a:p>
            <a:r>
              <a:rPr lang="en-VN" dirty="0"/>
              <a:t>CẢI THIỆN SAI SỐ Ở TRẠNG THÁI THƯỜNG TRỰC VÀ ĐÁP ỨNG NHẤT THỜI CỦA HỆ THỐNG</a:t>
            </a:r>
          </a:p>
        </p:txBody>
      </p:sp>
      <p:pic>
        <p:nvPicPr>
          <p:cNvPr id="5" name="Content Placeholder 4">
            <a:extLst>
              <a:ext uri="{FF2B5EF4-FFF2-40B4-BE49-F238E27FC236}">
                <a16:creationId xmlns:a16="http://schemas.microsoft.com/office/drawing/2014/main" id="{90AF7A4D-BD22-29A2-5A8F-E92495EF8274}"/>
              </a:ext>
            </a:extLst>
          </p:cNvPr>
          <p:cNvPicPr>
            <a:picLocks noGrp="1" noChangeAspect="1"/>
          </p:cNvPicPr>
          <p:nvPr>
            <p:ph idx="1"/>
          </p:nvPr>
        </p:nvPicPr>
        <p:blipFill>
          <a:blip r:embed="rId2"/>
          <a:stretch>
            <a:fillRect/>
          </a:stretch>
        </p:blipFill>
        <p:spPr>
          <a:xfrm>
            <a:off x="7008722" y="1137431"/>
            <a:ext cx="4556261" cy="1680183"/>
          </a:xfrm>
        </p:spPr>
      </p:pic>
      <p:sp>
        <p:nvSpPr>
          <p:cNvPr id="6" name="TextBox 5">
            <a:extLst>
              <a:ext uri="{FF2B5EF4-FFF2-40B4-BE49-F238E27FC236}">
                <a16:creationId xmlns:a16="http://schemas.microsoft.com/office/drawing/2014/main" id="{DD321546-746F-17F3-3C51-05B5B4DA698F}"/>
              </a:ext>
            </a:extLst>
          </p:cNvPr>
          <p:cNvSpPr txBox="1"/>
          <p:nvPr/>
        </p:nvSpPr>
        <p:spPr>
          <a:xfrm>
            <a:off x="627017" y="1402582"/>
            <a:ext cx="6139543" cy="830997"/>
          </a:xfrm>
          <a:prstGeom prst="rect">
            <a:avLst/>
          </a:prstGeom>
          <a:noFill/>
        </p:spPr>
        <p:txBody>
          <a:bodyPr wrap="square" rtlCol="0">
            <a:spAutoFit/>
          </a:bodyPr>
          <a:lstStyle/>
          <a:p>
            <a:r>
              <a:rPr lang="en-VN" sz="1600" dirty="0">
                <a:latin typeface="Arial" panose="020B0604020202020204" pitchFamily="34" charset="0"/>
                <a:cs typeface="Arial" panose="020B0604020202020204" pitchFamily="34" charset="0"/>
              </a:rPr>
              <a:t>Thiết kế bộ điều khiển PID để hệ thống hoạt động với thời gian đạt đỉnh nhanh bằng 2/3 của hệ thống chưa bù với %OS là 20%, sai số ở trạng thái thường trực bằng 0 với lối vào nhảy bậc.</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0D97C23-0419-2EBC-A2A7-9627AD2721DA}"/>
                  </a:ext>
                </a:extLst>
              </p:cNvPr>
              <p:cNvSpPr txBox="1"/>
              <p:nvPr/>
            </p:nvSpPr>
            <p:spPr>
              <a:xfrm>
                <a:off x="607923" y="2453833"/>
                <a:ext cx="6158637" cy="3094693"/>
              </a:xfrm>
              <a:prstGeom prst="rect">
                <a:avLst/>
              </a:prstGeom>
              <a:noFill/>
            </p:spPr>
            <p:txBody>
              <a:bodyPr wrap="square" rtlCol="0">
                <a:spAutoFit/>
              </a:bodyPr>
              <a:lstStyle/>
              <a:p>
                <a:r>
                  <a:rPr lang="en-VN" sz="1600" b="1" dirty="0">
                    <a:solidFill>
                      <a:srgbClr val="C00000"/>
                    </a:solidFill>
                    <a:latin typeface="Arial" panose="020B0604020202020204" pitchFamily="34" charset="0"/>
                    <a:cs typeface="Arial" panose="020B0604020202020204" pitchFamily="34" charset="0"/>
                  </a:rPr>
                  <a:t>Bước 1: </a:t>
                </a:r>
                <a:r>
                  <a:rPr lang="en-VN" sz="1600" dirty="0">
                    <a:latin typeface="Arial" panose="020B0604020202020204" pitchFamily="34" charset="0"/>
                    <a:cs typeface="Arial" panose="020B0604020202020204" pitchFamily="34" charset="0"/>
                  </a:rPr>
                  <a:t>Hệ thống chưa bù thoả mãn điều kiện %OS là 20%. Khi đó, hệ thống có 2 điểm cực trội tại </a:t>
                </a:r>
                <a14:m>
                  <m:oMath xmlns:m="http://schemas.openxmlformats.org/officeDocument/2006/math">
                    <m:r>
                      <a:rPr lang="en-US" sz="1600" b="0" i="1" smtClean="0">
                        <a:latin typeface="Cambria Math" panose="02040503050406030204" pitchFamily="18" charset="0"/>
                        <a:cs typeface="Arial" panose="020B0604020202020204" pitchFamily="34" charset="0"/>
                      </a:rPr>
                      <m:t>−5.415</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r>
                      <a:rPr lang="en-US" sz="1600" b="0" i="1" smtClean="0">
                        <a:latin typeface="Cambria Math" panose="02040503050406030204" pitchFamily="18" charset="0"/>
                        <a:ea typeface="Cambria Math" panose="02040503050406030204" pitchFamily="18" charset="0"/>
                        <a:cs typeface="Arial" panose="020B0604020202020204" pitchFamily="34" charset="0"/>
                      </a:rPr>
                      <m:t>𝑗</m:t>
                    </m:r>
                    <m:r>
                      <a:rPr lang="en-US" sz="1600" b="0" i="1" smtClean="0">
                        <a:latin typeface="Cambria Math" panose="02040503050406030204" pitchFamily="18" charset="0"/>
                        <a:ea typeface="Cambria Math" panose="02040503050406030204" pitchFamily="18" charset="0"/>
                        <a:cs typeface="Arial" panose="020B0604020202020204" pitchFamily="34" charset="0"/>
                      </a:rPr>
                      <m:t>10.57</m:t>
                    </m:r>
                  </m:oMath>
                </a14:m>
                <a:r>
                  <a:rPr lang="en-VN" sz="1600" dirty="0">
                    <a:latin typeface="Arial" panose="020B0604020202020204" pitchFamily="34" charset="0"/>
                    <a:cs typeface="Arial" panose="020B0604020202020204" pitchFamily="34" charset="0"/>
                  </a:rPr>
                  <a:t>, với </a:t>
                </a:r>
                <a14:m>
                  <m:oMath xmlns:m="http://schemas.openxmlformats.org/officeDocument/2006/math">
                    <m:r>
                      <a:rPr lang="en-US" sz="1600" b="0" i="1" smtClean="0">
                        <a:latin typeface="Cambria Math" panose="02040503050406030204" pitchFamily="18" charset="0"/>
                        <a:cs typeface="Arial" panose="020B0604020202020204" pitchFamily="34" charset="0"/>
                      </a:rPr>
                      <m:t>𝐾</m:t>
                    </m:r>
                    <m:r>
                      <a:rPr lang="en-US" sz="1600" b="0" i="1" smtClean="0">
                        <a:latin typeface="Cambria Math" panose="02040503050406030204" pitchFamily="18" charset="0"/>
                        <a:cs typeface="Arial" panose="020B0604020202020204" pitchFamily="34" charset="0"/>
                      </a:rPr>
                      <m:t>=121.5</m:t>
                    </m:r>
                  </m:oMath>
                </a14:m>
                <a:r>
                  <a:rPr lang="en-VN" sz="1600" dirty="0">
                    <a:latin typeface="Arial" panose="020B0604020202020204" pitchFamily="34" charset="0"/>
                    <a:cs typeface="Arial" panose="020B0604020202020204" pitchFamily="34" charset="0"/>
                  </a:rPr>
                  <a:t>, điểm cực thứ 3 nằm tại </a:t>
                </a:r>
                <a14:m>
                  <m:oMath xmlns:m="http://schemas.openxmlformats.org/officeDocument/2006/math">
                    <m:r>
                      <a:rPr lang="en-US" sz="1600" b="0" i="1" smtClean="0">
                        <a:latin typeface="Cambria Math" panose="02040503050406030204" pitchFamily="18" charset="0"/>
                        <a:cs typeface="Arial" panose="020B0604020202020204" pitchFamily="34" charset="0"/>
                      </a:rPr>
                      <m:t>−8.169</m:t>
                    </m:r>
                  </m:oMath>
                </a14:m>
                <a:r>
                  <a:rPr lang="en-VN" sz="1600" dirty="0">
                    <a:latin typeface="Arial" panose="020B0604020202020204" pitchFamily="34" charset="0"/>
                    <a:cs typeface="Arial" panose="020B0604020202020204" pitchFamily="34" charset="0"/>
                  </a:rPr>
                  <a:t>. </a:t>
                </a:r>
              </a:p>
              <a:p>
                <a:r>
                  <a:rPr lang="en-VN" sz="1600" dirty="0">
                    <a:latin typeface="Arial" panose="020B0604020202020204" pitchFamily="34" charset="0"/>
                    <a:cs typeface="Arial" panose="020B0604020202020204" pitchFamily="34" charset="0"/>
                  </a:rPr>
                  <a:t>Thời gian đạt đỉnh của hệ thống chưa bù: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𝑇</m:t>
                        </m:r>
                      </m:e>
                      <m:sub>
                        <m:r>
                          <a:rPr lang="en-US" sz="1600" b="0" i="1" smtClean="0">
                            <a:latin typeface="Cambria Math" panose="02040503050406030204" pitchFamily="18" charset="0"/>
                            <a:cs typeface="Arial" panose="020B0604020202020204" pitchFamily="34" charset="0"/>
                          </a:rPr>
                          <m:t>𝑝</m:t>
                        </m:r>
                      </m:sub>
                    </m:sSub>
                    <m:r>
                      <a:rPr lang="en-US" sz="1600" b="0" i="1" smtClean="0">
                        <a:latin typeface="Cambria Math" panose="02040503050406030204" pitchFamily="18" charset="0"/>
                        <a:cs typeface="Arial" panose="020B0604020202020204" pitchFamily="34" charset="0"/>
                      </a:rPr>
                      <m:t>=0.297</m:t>
                    </m:r>
                  </m:oMath>
                </a14:m>
                <a:r>
                  <a:rPr lang="en-VN" sz="1600" dirty="0">
                    <a:latin typeface="Arial" panose="020B0604020202020204" pitchFamily="34" charset="0"/>
                    <a:cs typeface="Arial" panose="020B0604020202020204" pitchFamily="34" charset="0"/>
                  </a:rPr>
                  <a:t>.</a:t>
                </a:r>
              </a:p>
              <a:p>
                <a:r>
                  <a:rPr lang="en-VN" sz="1600" b="1" dirty="0">
                    <a:solidFill>
                      <a:srgbClr val="C00000"/>
                    </a:solidFill>
                    <a:latin typeface="Arial" panose="020B0604020202020204" pitchFamily="34" charset="0"/>
                    <a:cs typeface="Arial" panose="020B0604020202020204" pitchFamily="34" charset="0"/>
                  </a:rPr>
                  <a:t>Bước 2: </a:t>
                </a:r>
                <a:r>
                  <a:rPr lang="en-VN" sz="1600" dirty="0">
                    <a:latin typeface="Arial" panose="020B0604020202020204" pitchFamily="34" charset="0"/>
                    <a:cs typeface="Arial" panose="020B0604020202020204" pitchFamily="34" charset="0"/>
                  </a:rPr>
                  <a:t>Hệ thống sau khi bù có thời gian đạt đỉnh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𝑇</m:t>
                        </m:r>
                      </m:e>
                      <m:sub>
                        <m:r>
                          <a:rPr lang="en-US" sz="1600" b="0" i="1" smtClean="0">
                            <a:latin typeface="Cambria Math" panose="02040503050406030204" pitchFamily="18" charset="0"/>
                            <a:cs typeface="Arial" panose="020B0604020202020204" pitchFamily="34" charset="0"/>
                          </a:rPr>
                          <m:t>𝑝</m:t>
                        </m:r>
                      </m:sub>
                    </m:sSub>
                    <m:r>
                      <a:rPr lang="en-US" sz="1600" b="0" i="1" smtClean="0">
                        <a:latin typeface="Cambria Math" panose="02040503050406030204" pitchFamily="18" charset="0"/>
                        <a:cs typeface="Arial" panose="020B0604020202020204" pitchFamily="34" charset="0"/>
                      </a:rPr>
                      <m:t>=</m:t>
                    </m:r>
                    <m:f>
                      <m:fPr>
                        <m:ctrlPr>
                          <a:rPr lang="en-US" sz="1600" b="0" i="1" smtClean="0">
                            <a:latin typeface="Cambria Math" panose="02040503050406030204" pitchFamily="18" charset="0"/>
                            <a:cs typeface="Arial" panose="020B0604020202020204" pitchFamily="34" charset="0"/>
                          </a:rPr>
                        </m:ctrlPr>
                      </m:fPr>
                      <m:num>
                        <m:r>
                          <a:rPr lang="en-US" sz="1600" b="0" i="1" smtClean="0">
                            <a:latin typeface="Cambria Math" panose="02040503050406030204" pitchFamily="18" charset="0"/>
                            <a:cs typeface="Arial" panose="020B0604020202020204" pitchFamily="34" charset="0"/>
                          </a:rPr>
                          <m:t>2</m:t>
                        </m:r>
                      </m:num>
                      <m:den>
                        <m:r>
                          <a:rPr lang="en-US" sz="1600" b="0" i="1" smtClean="0">
                            <a:latin typeface="Cambria Math" panose="02040503050406030204" pitchFamily="18" charset="0"/>
                            <a:cs typeface="Arial" panose="020B0604020202020204" pitchFamily="34" charset="0"/>
                          </a:rPr>
                          <m:t>3</m:t>
                        </m:r>
                      </m:den>
                    </m:f>
                    <m:r>
                      <a:rPr lang="en-US" sz="1600" i="1">
                        <a:latin typeface="Cambria Math" panose="02040503050406030204" pitchFamily="18" charset="0"/>
                        <a:ea typeface="Cambria Math" panose="02040503050406030204" pitchFamily="18" charset="0"/>
                        <a:cs typeface="Arial" panose="020B0604020202020204" pitchFamily="34" charset="0"/>
                      </a:rPr>
                      <m:t>×</m:t>
                    </m:r>
                    <m:r>
                      <a:rPr lang="en-US" sz="1600" b="0" i="1" smtClean="0">
                        <a:latin typeface="Cambria Math" panose="02040503050406030204" pitchFamily="18" charset="0"/>
                        <a:ea typeface="Cambria Math" panose="02040503050406030204" pitchFamily="18" charset="0"/>
                        <a:cs typeface="Arial" panose="020B0604020202020204" pitchFamily="34" charset="0"/>
                      </a:rPr>
                      <m:t>0.297</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Phần ảo điểm cực trội của hệ thống sau khi bù là:</a:t>
                </a:r>
              </a:p>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𝜔</m:t>
                          </m:r>
                        </m:e>
                        <m:sub>
                          <m:r>
                            <a:rPr lang="en-US" sz="1600" b="0" i="1" smtClean="0">
                              <a:latin typeface="Cambria Math" panose="02040503050406030204" pitchFamily="18" charset="0"/>
                              <a:cs typeface="Arial" panose="020B0604020202020204" pitchFamily="34" charset="0"/>
                            </a:rPr>
                            <m:t>𝑑</m:t>
                          </m:r>
                        </m:sub>
                      </m:sSub>
                      <m:r>
                        <a:rPr lang="en-US" sz="1600" b="0" i="1" smtClean="0">
                          <a:latin typeface="Cambria Math" panose="02040503050406030204" pitchFamily="18" charset="0"/>
                          <a:cs typeface="Arial" panose="020B0604020202020204" pitchFamily="34" charset="0"/>
                        </a:rPr>
                        <m:t>=</m:t>
                      </m:r>
                      <m:f>
                        <m:fPr>
                          <m:ctrlPr>
                            <a:rPr lang="en-US" sz="1600" b="0" i="1" smtClean="0">
                              <a:latin typeface="Cambria Math" panose="02040503050406030204" pitchFamily="18" charset="0"/>
                              <a:cs typeface="Arial" panose="020B0604020202020204" pitchFamily="34" charset="0"/>
                            </a:rPr>
                          </m:ctrlPr>
                        </m:fPr>
                        <m:num>
                          <m:r>
                            <a:rPr lang="en-US" sz="1600" b="0" i="1" smtClean="0">
                              <a:latin typeface="Cambria Math" panose="02040503050406030204" pitchFamily="18" charset="0"/>
                              <a:cs typeface="Arial" panose="020B0604020202020204" pitchFamily="34" charset="0"/>
                            </a:rPr>
                            <m:t>𝜋</m:t>
                          </m:r>
                        </m:num>
                        <m:den>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𝑇</m:t>
                              </m:r>
                            </m:e>
                            <m:sub>
                              <m:r>
                                <a:rPr lang="en-US" sz="1600" b="0" i="1" smtClean="0">
                                  <a:latin typeface="Cambria Math" panose="02040503050406030204" pitchFamily="18" charset="0"/>
                                  <a:cs typeface="Arial" panose="020B0604020202020204" pitchFamily="34" charset="0"/>
                                </a:rPr>
                                <m:t>𝑝</m:t>
                              </m:r>
                            </m:sub>
                          </m:sSub>
                        </m:den>
                      </m:f>
                      <m:r>
                        <a:rPr lang="en-US" sz="1600" b="0" i="1" smtClean="0">
                          <a:latin typeface="Cambria Math" panose="02040503050406030204" pitchFamily="18" charset="0"/>
                          <a:cs typeface="Arial" panose="020B0604020202020204" pitchFamily="34" charset="0"/>
                        </a:rPr>
                        <m:t>=15.87</m:t>
                      </m:r>
                    </m:oMath>
                  </m:oMathPara>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Phần thực điểm cực trội của hệ thống sau khi bù là:</a:t>
                </a:r>
              </a:p>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cs typeface="Arial" panose="020B0604020202020204" pitchFamily="34" charset="0"/>
                        </a:rPr>
                        <m:t>𝜎</m:t>
                      </m:r>
                      <m:r>
                        <a:rPr lang="en-US" sz="1600" b="0" i="1" smtClean="0">
                          <a:latin typeface="Cambria Math" panose="02040503050406030204" pitchFamily="18" charset="0"/>
                          <a:cs typeface="Arial" panose="020B0604020202020204" pitchFamily="34" charset="0"/>
                        </a:rPr>
                        <m:t>=</m:t>
                      </m:r>
                      <m:f>
                        <m:fPr>
                          <m:ctrlPr>
                            <a:rPr lang="en-US" sz="1600" b="0" i="1" smtClean="0">
                              <a:latin typeface="Cambria Math" panose="02040503050406030204" pitchFamily="18" charset="0"/>
                              <a:cs typeface="Arial" panose="020B0604020202020204" pitchFamily="34" charset="0"/>
                            </a:rPr>
                          </m:ctrlPr>
                        </m:fPr>
                        <m:num>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𝜔</m:t>
                              </m:r>
                            </m:e>
                            <m:sub>
                              <m:r>
                                <a:rPr lang="en-US" sz="1600" b="0" i="1" smtClean="0">
                                  <a:latin typeface="Cambria Math" panose="02040503050406030204" pitchFamily="18" charset="0"/>
                                  <a:cs typeface="Arial" panose="020B0604020202020204" pitchFamily="34" charset="0"/>
                                </a:rPr>
                                <m:t>𝑑</m:t>
                              </m:r>
                            </m:sub>
                          </m:sSub>
                        </m:num>
                        <m:den>
                          <m:func>
                            <m:funcPr>
                              <m:ctrlPr>
                                <a:rPr lang="en-US" sz="1600" b="0" i="1" smtClean="0">
                                  <a:latin typeface="Cambria Math" panose="02040503050406030204" pitchFamily="18" charset="0"/>
                                  <a:cs typeface="Arial" panose="020B0604020202020204" pitchFamily="34" charset="0"/>
                                </a:rPr>
                              </m:ctrlPr>
                            </m:funcPr>
                            <m:fName>
                              <m:r>
                                <m:rPr>
                                  <m:sty m:val="p"/>
                                </m:rPr>
                                <a:rPr lang="en-US" sz="1600" b="0" i="0" smtClean="0">
                                  <a:latin typeface="Cambria Math" panose="02040503050406030204" pitchFamily="18" charset="0"/>
                                  <a:cs typeface="Arial" panose="020B0604020202020204" pitchFamily="34" charset="0"/>
                                </a:rPr>
                                <m:t>tan</m:t>
                              </m:r>
                            </m:fName>
                            <m:e>
                              <m:r>
                                <a:rPr lang="en-US" sz="1600" b="0" i="1" smtClean="0">
                                  <a:latin typeface="Cambria Math" panose="02040503050406030204" pitchFamily="18" charset="0"/>
                                  <a:cs typeface="Arial" panose="020B0604020202020204" pitchFamily="34" charset="0"/>
                                </a:rPr>
                                <m:t>117.13</m:t>
                              </m:r>
                              <m:r>
                                <a:rPr lang="en-US" sz="1600" b="0" i="1" smtClean="0">
                                  <a:latin typeface="Cambria Math" panose="02040503050406030204" pitchFamily="18" charset="0"/>
                                  <a:ea typeface="Cambria Math" panose="02040503050406030204" pitchFamily="18" charset="0"/>
                                  <a:cs typeface="Arial" panose="020B0604020202020204" pitchFamily="34" charset="0"/>
                                </a:rPr>
                                <m:t>°</m:t>
                              </m:r>
                            </m:e>
                          </m:func>
                        </m:den>
                      </m:f>
                      <m:r>
                        <a:rPr lang="en-US" sz="1600" b="0" i="1" smtClean="0">
                          <a:latin typeface="Cambria Math" panose="02040503050406030204" pitchFamily="18" charset="0"/>
                          <a:cs typeface="Arial" panose="020B0604020202020204" pitchFamily="34" charset="0"/>
                        </a:rPr>
                        <m:t>=−8.13</m:t>
                      </m:r>
                    </m:oMath>
                  </m:oMathPara>
                </a14:m>
                <a:endParaRPr lang="en-VN" sz="1600" dirty="0">
                  <a:latin typeface="Arial" panose="020B0604020202020204" pitchFamily="34" charset="0"/>
                  <a:cs typeface="Arial" panose="020B0604020202020204" pitchFamily="34" charset="0"/>
                </a:endParaRPr>
              </a:p>
              <a:p>
                <a:endParaRPr lang="en-VN" sz="1600"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20D97C23-0419-2EBC-A2A7-9627AD2721DA}"/>
                  </a:ext>
                </a:extLst>
              </p:cNvPr>
              <p:cNvSpPr txBox="1">
                <a:spLocks noRot="1" noChangeAspect="1" noMove="1" noResize="1" noEditPoints="1" noAdjustHandles="1" noChangeArrowheads="1" noChangeShapeType="1" noTextEdit="1"/>
              </p:cNvSpPr>
              <p:nvPr/>
            </p:nvSpPr>
            <p:spPr>
              <a:xfrm>
                <a:off x="607923" y="2453833"/>
                <a:ext cx="6158637" cy="3094693"/>
              </a:xfrm>
              <a:prstGeom prst="rect">
                <a:avLst/>
              </a:prstGeom>
              <a:blipFill>
                <a:blip r:embed="rId3"/>
                <a:stretch>
                  <a:fillRect l="-619" t="-410"/>
                </a:stretch>
              </a:blipFill>
            </p:spPr>
            <p:txBody>
              <a:bodyPr/>
              <a:lstStyle/>
              <a:p>
                <a:r>
                  <a:rPr lang="en-VN">
                    <a:noFill/>
                  </a:rPr>
                  <a:t> </a:t>
                </a:r>
              </a:p>
            </p:txBody>
          </p:sp>
        </mc:Fallback>
      </mc:AlternateContent>
      <p:pic>
        <p:nvPicPr>
          <p:cNvPr id="7" name="Picture 6">
            <a:extLst>
              <a:ext uri="{FF2B5EF4-FFF2-40B4-BE49-F238E27FC236}">
                <a16:creationId xmlns:a16="http://schemas.microsoft.com/office/drawing/2014/main" id="{6F0F94E6-791C-BD1D-DC58-D45808AF8E26}"/>
              </a:ext>
            </a:extLst>
          </p:cNvPr>
          <p:cNvPicPr>
            <a:picLocks noChangeAspect="1"/>
          </p:cNvPicPr>
          <p:nvPr/>
        </p:nvPicPr>
        <p:blipFill>
          <a:blip r:embed="rId4"/>
          <a:stretch>
            <a:fillRect/>
          </a:stretch>
        </p:blipFill>
        <p:spPr>
          <a:xfrm>
            <a:off x="7300773" y="2847504"/>
            <a:ext cx="3950851" cy="3812427"/>
          </a:xfrm>
          <a:prstGeom prst="rect">
            <a:avLst/>
          </a:prstGeom>
        </p:spPr>
      </p:pic>
    </p:spTree>
    <p:extLst>
      <p:ext uri="{BB962C8B-B14F-4D97-AF65-F5344CB8AC3E}">
        <p14:creationId xmlns:p14="http://schemas.microsoft.com/office/powerpoint/2010/main" val="169118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CA6CB-762E-421A-BA9A-163B824A2607}"/>
              </a:ext>
            </a:extLst>
          </p:cNvPr>
          <p:cNvSpPr>
            <a:spLocks noGrp="1"/>
          </p:cNvSpPr>
          <p:nvPr>
            <p:ph type="title"/>
          </p:nvPr>
        </p:nvSpPr>
        <p:spPr/>
        <p:txBody>
          <a:bodyPr>
            <a:normAutofit fontScale="90000"/>
          </a:bodyPr>
          <a:lstStyle/>
          <a:p>
            <a:r>
              <a:rPr lang="en-VN" dirty="0"/>
              <a:t>CẢI THIỆN SAI SỐ Ở TRẠNG THÁI THƯỜNG TRỰC VÀ ĐÁP ỨNG NHẤT THỜI CỦA HỆ THỐNG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C56E06-CFC8-2138-BF84-C2F58D578C89}"/>
                  </a:ext>
                </a:extLst>
              </p:cNvPr>
              <p:cNvSpPr>
                <a:spLocks noGrp="1"/>
              </p:cNvSpPr>
              <p:nvPr>
                <p:ph idx="1"/>
              </p:nvPr>
            </p:nvSpPr>
            <p:spPr>
              <a:xfrm>
                <a:off x="1451579" y="1244014"/>
                <a:ext cx="6997940" cy="4444399"/>
              </a:xfrm>
            </p:spPr>
            <p:txBody>
              <a:bodyPr>
                <a:normAutofit/>
              </a:bodyPr>
              <a:lstStyle/>
              <a:p>
                <a:pPr marL="0" indent="0">
                  <a:buNone/>
                </a:pPr>
                <a:r>
                  <a:rPr lang="en-VN" sz="1600" b="1" dirty="0">
                    <a:solidFill>
                      <a:srgbClr val="C00000"/>
                    </a:solidFill>
                  </a:rPr>
                  <a:t>Bước 2 (tiếp): </a:t>
                </a:r>
                <a:r>
                  <a:rPr lang="en-VN" sz="1600" dirty="0"/>
                  <a:t>Áp dụng tiêu chuẩn về góc tại điểm cực mong muốn, góc tạo bởi các điểm cực và điểm không của hệ thống chưa bù tới điểm cực mong muốn là </a:t>
                </a:r>
                <a14:m>
                  <m:oMath xmlns:m="http://schemas.openxmlformats.org/officeDocument/2006/math">
                    <m:r>
                      <a:rPr lang="en-US" sz="1600" b="0" i="1" smtClean="0">
                        <a:latin typeface="Cambria Math" panose="02040503050406030204" pitchFamily="18" charset="0"/>
                      </a:rPr>
                      <m:t>−198.37</m:t>
                    </m:r>
                    <m:r>
                      <a:rPr lang="en-US" sz="1600" b="0" i="1" smtClean="0">
                        <a:latin typeface="Cambria Math" panose="02040503050406030204" pitchFamily="18" charset="0"/>
                        <a:ea typeface="Cambria Math" panose="02040503050406030204" pitchFamily="18" charset="0"/>
                      </a:rPr>
                      <m:t>°</m:t>
                    </m:r>
                  </m:oMath>
                </a14:m>
                <a:r>
                  <a:rPr lang="en-VN" sz="1600" dirty="0"/>
                  <a:t>. Khi đó, góc tạo bởi điểm không bù là: </a:t>
                </a:r>
                <a14:m>
                  <m:oMath xmlns:m="http://schemas.openxmlformats.org/officeDocument/2006/math">
                    <m:r>
                      <a:rPr lang="en-US" sz="1600" b="0" i="1" smtClean="0">
                        <a:latin typeface="Cambria Math" panose="02040503050406030204" pitchFamily="18" charset="0"/>
                      </a:rPr>
                      <m:t>198.37</m:t>
                    </m:r>
                    <m:r>
                      <a:rPr lang="en-US" sz="1600" b="0" i="1" smtClean="0">
                        <a:latin typeface="Cambria Math" panose="02040503050406030204" pitchFamily="18" charset="0"/>
                        <a:ea typeface="Cambria Math" panose="02040503050406030204" pitchFamily="18" charset="0"/>
                      </a:rPr>
                      <m:t>°−180°=18.37°</m:t>
                    </m:r>
                  </m:oMath>
                </a14:m>
                <a:r>
                  <a:rPr lang="en-VN" sz="1600" dirty="0"/>
                  <a:t>. </a:t>
                </a:r>
              </a:p>
              <a:p>
                <a:pPr marL="0" indent="0">
                  <a:buNone/>
                </a:pPr>
                <a:r>
                  <a:rPr lang="en-VN" sz="1600" dirty="0"/>
                  <a:t>Tính được: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𝑐</m:t>
                        </m:r>
                      </m:sub>
                    </m:sSub>
                    <m:r>
                      <a:rPr lang="en-US" sz="1600" b="0" i="1" smtClean="0">
                        <a:latin typeface="Cambria Math" panose="02040503050406030204" pitchFamily="18" charset="0"/>
                      </a:rPr>
                      <m:t>=55.92</m:t>
                    </m:r>
                  </m:oMath>
                </a14:m>
                <a:endParaRPr lang="en-VN" sz="1600" dirty="0"/>
              </a:p>
              <a:p>
                <a:pPr marL="0" indent="0">
                  <a:buNone/>
                </a:pPr>
                <a:r>
                  <a:rPr lang="en-VN" sz="1600" dirty="0"/>
                  <a:t>Bộ bù PD: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𝐺</m:t>
                        </m:r>
                      </m:e>
                      <m:sub>
                        <m:r>
                          <a:rPr lang="en-US" sz="1600" b="0" i="1" smtClean="0">
                            <a:latin typeface="Cambria Math" panose="02040503050406030204" pitchFamily="18" charset="0"/>
                          </a:rPr>
                          <m:t>𝑃𝐷</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+55.92)</m:t>
                    </m:r>
                  </m:oMath>
                </a14:m>
                <a:endParaRPr lang="en-VN" sz="1600" dirty="0"/>
              </a:p>
              <a:p>
                <a:pPr marL="0" indent="0">
                  <a:buNone/>
                </a:pPr>
                <a:endParaRPr lang="en-VN" sz="1600" dirty="0"/>
              </a:p>
            </p:txBody>
          </p:sp>
        </mc:Choice>
        <mc:Fallback xmlns="">
          <p:sp>
            <p:nvSpPr>
              <p:cNvPr id="3" name="Content Placeholder 2">
                <a:extLst>
                  <a:ext uri="{FF2B5EF4-FFF2-40B4-BE49-F238E27FC236}">
                    <a16:creationId xmlns:a16="http://schemas.microsoft.com/office/drawing/2014/main" id="{7CC56E06-CFC8-2138-BF84-C2F58D578C89}"/>
                  </a:ext>
                </a:extLst>
              </p:cNvPr>
              <p:cNvSpPr>
                <a:spLocks noGrp="1" noRot="1" noChangeAspect="1" noMove="1" noResize="1" noEditPoints="1" noAdjustHandles="1" noChangeArrowheads="1" noChangeShapeType="1" noTextEdit="1"/>
              </p:cNvSpPr>
              <p:nvPr>
                <p:ph idx="1"/>
              </p:nvPr>
            </p:nvSpPr>
            <p:spPr>
              <a:xfrm>
                <a:off x="1451579" y="1244014"/>
                <a:ext cx="6997940" cy="4444399"/>
              </a:xfrm>
              <a:blipFill>
                <a:blip r:embed="rId2"/>
                <a:stretch>
                  <a:fillRect l="-543"/>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6CEA3711-120D-9526-12C3-8B688E486743}"/>
              </a:ext>
            </a:extLst>
          </p:cNvPr>
          <p:cNvPicPr>
            <a:picLocks noChangeAspect="1"/>
          </p:cNvPicPr>
          <p:nvPr/>
        </p:nvPicPr>
        <p:blipFill>
          <a:blip r:embed="rId3"/>
          <a:stretch>
            <a:fillRect/>
          </a:stretch>
        </p:blipFill>
        <p:spPr>
          <a:xfrm>
            <a:off x="9149219" y="1827354"/>
            <a:ext cx="2764746" cy="3203292"/>
          </a:xfrm>
          <a:prstGeom prst="rect">
            <a:avLst/>
          </a:prstGeom>
        </p:spPr>
      </p:pic>
      <p:pic>
        <p:nvPicPr>
          <p:cNvPr id="7" name="Picture 6">
            <a:extLst>
              <a:ext uri="{FF2B5EF4-FFF2-40B4-BE49-F238E27FC236}">
                <a16:creationId xmlns:a16="http://schemas.microsoft.com/office/drawing/2014/main" id="{41BEEDFE-5590-CC01-96C0-B3D948184132}"/>
              </a:ext>
            </a:extLst>
          </p:cNvPr>
          <p:cNvPicPr>
            <a:picLocks noChangeAspect="1"/>
          </p:cNvPicPr>
          <p:nvPr/>
        </p:nvPicPr>
        <p:blipFill>
          <a:blip r:embed="rId4"/>
          <a:stretch>
            <a:fillRect/>
          </a:stretch>
        </p:blipFill>
        <p:spPr>
          <a:xfrm>
            <a:off x="3169232" y="3333814"/>
            <a:ext cx="4184972" cy="3524186"/>
          </a:xfrm>
          <a:prstGeom prst="rect">
            <a:avLst/>
          </a:prstGeom>
        </p:spPr>
      </p:pic>
    </p:spTree>
    <p:extLst>
      <p:ext uri="{BB962C8B-B14F-4D97-AF65-F5344CB8AC3E}">
        <p14:creationId xmlns:p14="http://schemas.microsoft.com/office/powerpoint/2010/main" val="583424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250A-B57D-DA86-1F3D-57B7DD76B26D}"/>
              </a:ext>
            </a:extLst>
          </p:cNvPr>
          <p:cNvSpPr>
            <a:spLocks noGrp="1"/>
          </p:cNvSpPr>
          <p:nvPr>
            <p:ph type="title"/>
          </p:nvPr>
        </p:nvSpPr>
        <p:spPr/>
        <p:txBody>
          <a:bodyPr>
            <a:normAutofit fontScale="90000"/>
          </a:bodyPr>
          <a:lstStyle/>
          <a:p>
            <a:r>
              <a:rPr lang="en-VN" dirty="0"/>
              <a:t>CẢI THIỆN SAI SỐ Ở TRẠNG THÁI THƯỜNG TRỰC VÀ ĐÁP ỨNG NHẤT THỜI CỦA HỆ THỐNG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F2C32C-E09F-1872-DCEA-6EA232A72201}"/>
                  </a:ext>
                </a:extLst>
              </p:cNvPr>
              <p:cNvSpPr>
                <a:spLocks noGrp="1"/>
              </p:cNvSpPr>
              <p:nvPr>
                <p:ph idx="1"/>
              </p:nvPr>
            </p:nvSpPr>
            <p:spPr/>
            <p:txBody>
              <a:bodyPr>
                <a:normAutofit/>
              </a:bodyPr>
              <a:lstStyle/>
              <a:p>
                <a:r>
                  <a:rPr lang="en-VN" sz="1600" b="1" dirty="0">
                    <a:solidFill>
                      <a:srgbClr val="C00000"/>
                    </a:solidFill>
                  </a:rPr>
                  <a:t>Bước 3, 4: </a:t>
                </a:r>
                <a:r>
                  <a:rPr lang="en-VN" sz="1600" dirty="0"/>
                  <a:t>Hệ thống sau khi bù thoả mãn yêu cầu.</a:t>
                </a:r>
              </a:p>
              <a:p>
                <a:r>
                  <a:rPr lang="en-VN" sz="1600" b="1" dirty="0">
                    <a:solidFill>
                      <a:srgbClr val="C00000"/>
                    </a:solidFill>
                  </a:rPr>
                  <a:t>Bước 5: </a:t>
                </a:r>
                <a:r>
                  <a:rPr lang="en-VN" sz="1600" dirty="0"/>
                  <a:t>Thiết kế bộ PI để làm giảm sai số ở trạng thái thường trực của hệ thống.</a:t>
                </a:r>
              </a:p>
              <a:p>
                <a:pPr marL="0" indent="0">
                  <a:buNone/>
                </a:pPr>
                <a:r>
                  <a:rPr lang="en-VN" sz="1600" dirty="0"/>
                  <a:t>Để hệ thống có sai số ở trạng thái thường trực bằng 0 với lối vào nhảy bậc, bộ bù chỉ cần thêm điểm cực ở gốc toạ độ và một điểm không sát gốc toạ độ.</a:t>
                </a:r>
              </a:p>
              <a:p>
                <a:pPr marL="0" indent="0">
                  <a:buNone/>
                </a:pPr>
                <a:r>
                  <a:rPr lang="en-VN" sz="1600" dirty="0"/>
                  <a:t>Chọn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𝐺</m:t>
                        </m:r>
                      </m:e>
                      <m:sub>
                        <m:r>
                          <a:rPr lang="en-US" sz="1600" b="0" i="1" smtClean="0">
                            <a:latin typeface="Cambria Math" panose="02040503050406030204" pitchFamily="18" charset="0"/>
                          </a:rPr>
                          <m:t>𝑃𝐼</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𝑠</m:t>
                            </m:r>
                            <m:r>
                              <a:rPr lang="en-US" sz="1600" b="0" i="1" smtClean="0">
                                <a:latin typeface="Cambria Math" panose="02040503050406030204" pitchFamily="18" charset="0"/>
                              </a:rPr>
                              <m:t>+0.5</m:t>
                            </m:r>
                          </m:e>
                        </m:d>
                      </m:num>
                      <m:den>
                        <m:r>
                          <a:rPr lang="en-US" sz="1600" b="0" i="1" smtClean="0">
                            <a:latin typeface="Cambria Math" panose="02040503050406030204" pitchFamily="18" charset="0"/>
                          </a:rPr>
                          <m:t>𝑠</m:t>
                        </m:r>
                      </m:den>
                    </m:f>
                  </m:oMath>
                </a14:m>
                <a:endParaRPr lang="en-VN" sz="1600" b="1" dirty="0">
                  <a:solidFill>
                    <a:srgbClr val="C00000"/>
                  </a:solidFill>
                </a:endParaRPr>
              </a:p>
            </p:txBody>
          </p:sp>
        </mc:Choice>
        <mc:Fallback xmlns="">
          <p:sp>
            <p:nvSpPr>
              <p:cNvPr id="3" name="Content Placeholder 2">
                <a:extLst>
                  <a:ext uri="{FF2B5EF4-FFF2-40B4-BE49-F238E27FC236}">
                    <a16:creationId xmlns:a16="http://schemas.microsoft.com/office/drawing/2014/main" id="{ACF2C32C-E09F-1872-DCEA-6EA232A72201}"/>
                  </a:ext>
                </a:extLst>
              </p:cNvPr>
              <p:cNvSpPr>
                <a:spLocks noGrp="1" noRot="1" noChangeAspect="1" noMove="1" noResize="1" noEditPoints="1" noAdjustHandles="1" noChangeArrowheads="1" noChangeShapeType="1" noTextEdit="1"/>
              </p:cNvSpPr>
              <p:nvPr>
                <p:ph idx="1"/>
              </p:nvPr>
            </p:nvSpPr>
            <p:spPr>
              <a:blipFill>
                <a:blip r:embed="rId2"/>
                <a:stretch>
                  <a:fillRect l="-396"/>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5EF8DEDF-4C89-2E60-6D43-0F4A6D193C62}"/>
              </a:ext>
            </a:extLst>
          </p:cNvPr>
          <p:cNvPicPr>
            <a:picLocks noChangeAspect="1"/>
          </p:cNvPicPr>
          <p:nvPr/>
        </p:nvPicPr>
        <p:blipFill rotWithShape="1">
          <a:blip r:embed="rId3"/>
          <a:srcRect t="5740"/>
          <a:stretch/>
        </p:blipFill>
        <p:spPr>
          <a:xfrm>
            <a:off x="3993265" y="3466213"/>
            <a:ext cx="6470569" cy="2993697"/>
          </a:xfrm>
          <a:prstGeom prst="rect">
            <a:avLst/>
          </a:prstGeom>
        </p:spPr>
      </p:pic>
    </p:spTree>
    <p:extLst>
      <p:ext uri="{BB962C8B-B14F-4D97-AF65-F5344CB8AC3E}">
        <p14:creationId xmlns:p14="http://schemas.microsoft.com/office/powerpoint/2010/main" val="2826409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9369-9A88-6D48-2E8E-D0481B4359E5}"/>
              </a:ext>
            </a:extLst>
          </p:cNvPr>
          <p:cNvSpPr>
            <a:spLocks noGrp="1"/>
          </p:cNvSpPr>
          <p:nvPr>
            <p:ph type="title"/>
          </p:nvPr>
        </p:nvSpPr>
        <p:spPr/>
        <p:txBody>
          <a:bodyPr>
            <a:normAutofit fontScale="90000"/>
          </a:bodyPr>
          <a:lstStyle/>
          <a:p>
            <a:r>
              <a:rPr lang="en-VN" dirty="0"/>
              <a:t>CẢI THIỆN SAI SỐ Ở TRẠNG THÁI THƯỜNG TRỰC VÀ ĐÁP ỨNG NHẤT THỜI CỦA HỆ THỐNG</a:t>
            </a:r>
          </a:p>
        </p:txBody>
      </p:sp>
      <p:pic>
        <p:nvPicPr>
          <p:cNvPr id="5" name="Content Placeholder 4">
            <a:extLst>
              <a:ext uri="{FF2B5EF4-FFF2-40B4-BE49-F238E27FC236}">
                <a16:creationId xmlns:a16="http://schemas.microsoft.com/office/drawing/2014/main" id="{A677FEA7-4D92-58C3-DE86-8F83B9D00A48}"/>
              </a:ext>
            </a:extLst>
          </p:cNvPr>
          <p:cNvPicPr>
            <a:picLocks noGrp="1" noChangeAspect="1"/>
          </p:cNvPicPr>
          <p:nvPr>
            <p:ph idx="1"/>
          </p:nvPr>
        </p:nvPicPr>
        <p:blipFill>
          <a:blip r:embed="rId2"/>
          <a:stretch>
            <a:fillRect/>
          </a:stretch>
        </p:blipFill>
        <p:spPr>
          <a:xfrm>
            <a:off x="6319777" y="1692251"/>
            <a:ext cx="5535069" cy="4250405"/>
          </a:xfr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94098B8-A3A8-E58A-CE60-0D2CE18FF883}"/>
                  </a:ext>
                </a:extLst>
              </p:cNvPr>
              <p:cNvSpPr txBox="1"/>
              <p:nvPr/>
            </p:nvSpPr>
            <p:spPr>
              <a:xfrm>
                <a:off x="1365813" y="1435261"/>
                <a:ext cx="4730187" cy="3046988"/>
              </a:xfrm>
              <a:prstGeom prst="rect">
                <a:avLst/>
              </a:prstGeom>
              <a:noFill/>
            </p:spPr>
            <p:txBody>
              <a:bodyPr wrap="square" rtlCol="0">
                <a:spAutoFit/>
              </a:bodyPr>
              <a:lstStyle/>
              <a:p>
                <a:r>
                  <a:rPr lang="en-VN" sz="1600" b="1" dirty="0">
                    <a:solidFill>
                      <a:srgbClr val="C00000"/>
                    </a:solidFill>
                    <a:latin typeface="Arial" panose="020B0604020202020204" pitchFamily="34" charset="0"/>
                    <a:cs typeface="Arial" panose="020B0604020202020204" pitchFamily="34" charset="0"/>
                  </a:rPr>
                  <a:t>Bước 6: </a:t>
                </a:r>
                <a:r>
                  <a:rPr lang="en-VN" sz="1600" dirty="0">
                    <a:latin typeface="Arial" panose="020B0604020202020204" pitchFamily="34" charset="0"/>
                    <a:cs typeface="Arial" panose="020B0604020202020204" pitchFamily="34" charset="0"/>
                  </a:rPr>
                  <a:t>Tính toán các hệ số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𝐾</m:t>
                        </m:r>
                      </m:e>
                      <m:sub>
                        <m:r>
                          <a:rPr lang="en-US" sz="1600" b="0" i="1" smtClean="0">
                            <a:latin typeface="Cambria Math" panose="02040503050406030204" pitchFamily="18" charset="0"/>
                            <a:cs typeface="Arial" panose="020B0604020202020204" pitchFamily="34" charset="0"/>
                          </a:rPr>
                          <m:t>1</m:t>
                        </m:r>
                      </m:sub>
                    </m:sSub>
                    <m:r>
                      <a:rPr lang="en-US" sz="1600" b="0" i="1" smtClean="0">
                        <a:latin typeface="Cambria Math" panose="02040503050406030204" pitchFamily="18" charset="0"/>
                        <a:cs typeface="Arial" panose="020B0604020202020204" pitchFamily="34" charset="0"/>
                      </a:rPr>
                      <m:t>, </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𝐾</m:t>
                        </m:r>
                      </m:e>
                      <m:sub>
                        <m:r>
                          <a:rPr lang="en-US" sz="1600" b="0" i="1" smtClean="0">
                            <a:latin typeface="Cambria Math" panose="02040503050406030204" pitchFamily="18" charset="0"/>
                            <a:cs typeface="Arial" panose="020B0604020202020204" pitchFamily="34" charset="0"/>
                          </a:rPr>
                          <m:t>2</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𝐾</m:t>
                        </m:r>
                      </m:e>
                      <m:sub>
                        <m:r>
                          <a:rPr lang="en-US" sz="1600" b="0" i="1" smtClean="0">
                            <a:latin typeface="Cambria Math" panose="02040503050406030204" pitchFamily="18" charset="0"/>
                            <a:cs typeface="Arial" panose="020B0604020202020204" pitchFamily="34" charset="0"/>
                          </a:rPr>
                          <m:t>3</m:t>
                        </m:r>
                      </m:sub>
                    </m:sSub>
                  </m:oMath>
                </a14:m>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endParaRPr lang="en-VN" sz="1600" b="1" dirty="0">
                  <a:solidFill>
                    <a:srgbClr val="C00000"/>
                  </a:solidFill>
                  <a:latin typeface="Arial" panose="020B0604020202020204" pitchFamily="34" charset="0"/>
                  <a:cs typeface="Arial" panose="020B0604020202020204" pitchFamily="34" charset="0"/>
                </a:endParaRPr>
              </a:p>
              <a:p>
                <a:r>
                  <a:rPr lang="en-VN" sz="1600" b="1" dirty="0">
                    <a:solidFill>
                      <a:srgbClr val="C00000"/>
                    </a:solidFill>
                    <a:latin typeface="Arial" panose="020B0604020202020204" pitchFamily="34" charset="0"/>
                    <a:cs typeface="Arial" panose="020B0604020202020204" pitchFamily="34" charset="0"/>
                  </a:rPr>
                  <a:t>Bước 7: </a:t>
                </a:r>
                <a:r>
                  <a:rPr lang="en-VN" sz="1600" dirty="0">
                    <a:latin typeface="Arial" panose="020B0604020202020204" pitchFamily="34" charset="0"/>
                    <a:cs typeface="Arial" panose="020B0604020202020204" pitchFamily="34" charset="0"/>
                  </a:rPr>
                  <a:t>Kiểm tra lại (Hình bên)</a:t>
                </a:r>
              </a:p>
              <a:p>
                <a:r>
                  <a:rPr lang="en-VN" sz="1600" b="1" dirty="0">
                    <a:solidFill>
                      <a:srgbClr val="C00000"/>
                    </a:solidFill>
                    <a:latin typeface="Arial" panose="020B0604020202020204" pitchFamily="34" charset="0"/>
                    <a:cs typeface="Arial" panose="020B0604020202020204" pitchFamily="34" charset="0"/>
                  </a:rPr>
                  <a:t> </a:t>
                </a:r>
                <a:endParaRPr lang="en-VN" sz="1600"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F94098B8-A3A8-E58A-CE60-0D2CE18FF883}"/>
                  </a:ext>
                </a:extLst>
              </p:cNvPr>
              <p:cNvSpPr txBox="1">
                <a:spLocks noRot="1" noChangeAspect="1" noMove="1" noResize="1" noEditPoints="1" noAdjustHandles="1" noChangeArrowheads="1" noChangeShapeType="1" noTextEdit="1"/>
              </p:cNvSpPr>
              <p:nvPr/>
            </p:nvSpPr>
            <p:spPr>
              <a:xfrm>
                <a:off x="1365813" y="1435261"/>
                <a:ext cx="4730187" cy="3046988"/>
              </a:xfrm>
              <a:prstGeom prst="rect">
                <a:avLst/>
              </a:prstGeom>
              <a:blipFill>
                <a:blip r:embed="rId3"/>
                <a:stretch>
                  <a:fillRect l="-535" t="-415"/>
                </a:stretch>
              </a:blipFill>
            </p:spPr>
            <p:txBody>
              <a:bodyPr/>
              <a:lstStyle/>
              <a:p>
                <a:r>
                  <a:rPr lang="en-VN">
                    <a:noFill/>
                  </a:rPr>
                  <a:t> </a:t>
                </a:r>
              </a:p>
            </p:txBody>
          </p:sp>
        </mc:Fallback>
      </mc:AlternateContent>
      <p:pic>
        <p:nvPicPr>
          <p:cNvPr id="10" name="Picture 9">
            <a:extLst>
              <a:ext uri="{FF2B5EF4-FFF2-40B4-BE49-F238E27FC236}">
                <a16:creationId xmlns:a16="http://schemas.microsoft.com/office/drawing/2014/main" id="{DD7F4DD3-7FA4-B45E-0931-DDBD0F9329B6}"/>
              </a:ext>
            </a:extLst>
          </p:cNvPr>
          <p:cNvPicPr>
            <a:picLocks noChangeAspect="1"/>
          </p:cNvPicPr>
          <p:nvPr/>
        </p:nvPicPr>
        <p:blipFill>
          <a:blip r:embed="rId4"/>
          <a:stretch>
            <a:fillRect/>
          </a:stretch>
        </p:blipFill>
        <p:spPr>
          <a:xfrm>
            <a:off x="1142036" y="2020036"/>
            <a:ext cx="4540411" cy="1039982"/>
          </a:xfrm>
          <a:prstGeom prst="rect">
            <a:avLst/>
          </a:prstGeom>
        </p:spPr>
      </p:pic>
      <p:pic>
        <p:nvPicPr>
          <p:cNvPr id="12" name="Picture 11">
            <a:extLst>
              <a:ext uri="{FF2B5EF4-FFF2-40B4-BE49-F238E27FC236}">
                <a16:creationId xmlns:a16="http://schemas.microsoft.com/office/drawing/2014/main" id="{F73C1DAE-FC76-330D-BE05-282759D554A6}"/>
              </a:ext>
            </a:extLst>
          </p:cNvPr>
          <p:cNvPicPr>
            <a:picLocks noChangeAspect="1"/>
          </p:cNvPicPr>
          <p:nvPr/>
        </p:nvPicPr>
        <p:blipFill>
          <a:blip r:embed="rId5"/>
          <a:stretch>
            <a:fillRect/>
          </a:stretch>
        </p:blipFill>
        <p:spPr>
          <a:xfrm>
            <a:off x="2018576" y="3190107"/>
            <a:ext cx="3424659" cy="454686"/>
          </a:xfrm>
          <a:prstGeom prst="rect">
            <a:avLst/>
          </a:prstGeom>
        </p:spPr>
      </p:pic>
    </p:spTree>
    <p:extLst>
      <p:ext uri="{BB962C8B-B14F-4D97-AF65-F5344CB8AC3E}">
        <p14:creationId xmlns:p14="http://schemas.microsoft.com/office/powerpoint/2010/main" val="2302556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9D4B2-44A4-F879-C183-A86222900AC3}"/>
              </a:ext>
            </a:extLst>
          </p:cNvPr>
          <p:cNvSpPr>
            <a:spLocks noGrp="1"/>
          </p:cNvSpPr>
          <p:nvPr>
            <p:ph type="title"/>
          </p:nvPr>
        </p:nvSpPr>
        <p:spPr/>
        <p:txBody>
          <a:bodyPr/>
          <a:lstStyle/>
          <a:p>
            <a:r>
              <a:rPr lang="en-VN" dirty="0"/>
              <a:t>TỔNG HỢP</a:t>
            </a:r>
          </a:p>
        </p:txBody>
      </p:sp>
      <p:sp>
        <p:nvSpPr>
          <p:cNvPr id="3" name="Content Placeholder 2">
            <a:extLst>
              <a:ext uri="{FF2B5EF4-FFF2-40B4-BE49-F238E27FC236}">
                <a16:creationId xmlns:a16="http://schemas.microsoft.com/office/drawing/2014/main" id="{F478DB42-B669-6D95-9B32-24F3B44C6627}"/>
              </a:ext>
            </a:extLst>
          </p:cNvPr>
          <p:cNvSpPr>
            <a:spLocks noGrp="1"/>
          </p:cNvSpPr>
          <p:nvPr>
            <p:ph idx="1"/>
          </p:nvPr>
        </p:nvSpPr>
        <p:spPr/>
        <p:txBody>
          <a:bodyPr/>
          <a:lstStyle/>
          <a:p>
            <a:r>
              <a:rPr lang="en-VN" dirty="0"/>
              <a:t>Giáo trình</a:t>
            </a:r>
          </a:p>
        </p:txBody>
      </p:sp>
    </p:spTree>
    <p:extLst>
      <p:ext uri="{BB962C8B-B14F-4D97-AF65-F5344CB8AC3E}">
        <p14:creationId xmlns:p14="http://schemas.microsoft.com/office/powerpoint/2010/main" val="420265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ECDD-2A2E-FA31-41D9-ED2A3A1DB6CC}"/>
              </a:ext>
            </a:extLst>
          </p:cNvPr>
          <p:cNvSpPr>
            <a:spLocks noGrp="1"/>
          </p:cNvSpPr>
          <p:nvPr>
            <p:ph type="title"/>
          </p:nvPr>
        </p:nvSpPr>
        <p:spPr/>
        <p:txBody>
          <a:bodyPr/>
          <a:lstStyle/>
          <a:p>
            <a:r>
              <a:rPr lang="en-VN" dirty="0"/>
              <a:t>Bài tập</a:t>
            </a:r>
          </a:p>
        </p:txBody>
      </p:sp>
      <p:sp>
        <p:nvSpPr>
          <p:cNvPr id="7" name="Content Placeholder 6">
            <a:extLst>
              <a:ext uri="{FF2B5EF4-FFF2-40B4-BE49-F238E27FC236}">
                <a16:creationId xmlns:a16="http://schemas.microsoft.com/office/drawing/2014/main" id="{A4C3323D-7D5A-540F-AC35-AC19B48EADCA}"/>
              </a:ext>
            </a:extLst>
          </p:cNvPr>
          <p:cNvSpPr>
            <a:spLocks noGrp="1"/>
          </p:cNvSpPr>
          <p:nvPr>
            <p:ph idx="1"/>
          </p:nvPr>
        </p:nvSpPr>
        <p:spPr/>
        <p:txBody>
          <a:bodyPr/>
          <a:lstStyle/>
          <a:p>
            <a:r>
              <a:rPr lang="en-VN"/>
              <a:t>Bài 3, 11</a:t>
            </a:r>
            <a:r>
              <a:rPr lang="en-VN" dirty="0"/>
              <a:t>, 16</a:t>
            </a:r>
            <a:r>
              <a:rPr lang="en-VN"/>
              <a:t>, 25</a:t>
            </a:r>
            <a:endParaRPr lang="en-VN" dirty="0"/>
          </a:p>
        </p:txBody>
      </p:sp>
    </p:spTree>
    <p:extLst>
      <p:ext uri="{BB962C8B-B14F-4D97-AF65-F5344CB8AC3E}">
        <p14:creationId xmlns:p14="http://schemas.microsoft.com/office/powerpoint/2010/main" val="17535717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{DA89C2F4-FBD1-684E-A465-9AFB9D00BEE5}tf10001119</Template>
  <TotalTime>3939</TotalTime>
  <Words>1771</Words>
  <Application>Microsoft Macintosh PowerPoint</Application>
  <PresentationFormat>Widescreen</PresentationFormat>
  <Paragraphs>131</Paragraphs>
  <Slides>27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Cambria Math</vt:lpstr>
      <vt:lpstr>Gill Sans MT</vt:lpstr>
      <vt:lpstr>Wingdings</vt:lpstr>
      <vt:lpstr>Gallery</vt:lpstr>
      <vt:lpstr>CHƯƠNG 9: THIẾT KẾ DỰA TRÊN QUỸ TÍCH NGHIỆM</vt:lpstr>
      <vt:lpstr>Giới thiệu</vt:lpstr>
      <vt:lpstr>GIỚI THIỆU</vt:lpstr>
      <vt:lpstr>GIẢM SAI SỐ Ở TRẠNG THÁI THƯỜNG TRỰC BẰNG PHƯƠNG PHÁP BÙ NỐI TIẾP</vt:lpstr>
      <vt:lpstr>GIẢM SAI SỐ Ở TRẠNG THÁI THƯỜNG TRỰC BẰNG PHƯƠNG PHÁP BÙ NỐI TIẾP</vt:lpstr>
      <vt:lpstr>GIẢM SAI SỐ Ở TRẠNG THÁI THƯỜNG TRỰC BẰNG PHƯƠNG PHÁP BÙ NỐI TIẾP</vt:lpstr>
      <vt:lpstr>GIẢM SAI SỐ Ở TRẠNG THÁI THƯỜNG TRỰC BẰNG PHƯƠNG PHÁP BÙ NỐI TIẾP</vt:lpstr>
      <vt:lpstr>GIẢM SAI SỐ Ở TRẠNG THÁI THƯỜNG TRỰC BẰNG PHƯƠNG PHÁP BÙ NỐI TIẾP</vt:lpstr>
      <vt:lpstr>GIẢM SAI SỐ Ở TRẠNG THÁI THƯỜNG TRỰC BẰNG PHƯƠNG PHÁP BÙ NỐI TIẾP</vt:lpstr>
      <vt:lpstr>GIẢM SAI SỐ Ở TRẠNG THÁI THƯỜNG TRỰC BẰNG PHƯƠNG PHÁP BÙ NỐI TIẾP</vt:lpstr>
      <vt:lpstr>CẢI THIỆN ĐÁP ỨNG TỨC THỜI BẰNG PHƯƠNG PHÁP BÙ NỐI TIẾP</vt:lpstr>
      <vt:lpstr>CẢI THIỆN ĐÁP ỨNG TỨC THỜI BẰNG PHƯƠNG PHÁP BÙ NỐI TIẾP</vt:lpstr>
      <vt:lpstr>CẢI THIỆN ĐÁP ỨNG TỨC THỜI BẰNG PHƯƠNG PHÁP BÙ NỐI TIẾP</vt:lpstr>
      <vt:lpstr>CẢI THIỆN ĐÁP ỨNG TỨC THỜI BẰNG PHƯƠNG PHÁP BÙ NỐI TIẾP</vt:lpstr>
      <vt:lpstr>CẢI THIỆN ĐÁP ỨNG TỨC THỜI BẰNG PHƯƠNG PHÁP BÙ NỐI TIẾP</vt:lpstr>
      <vt:lpstr>CẢI THIỆN ĐÁP ỨNG TỨC THỜI BẰNG PHƯƠNG PHÁP BÙ NỐI TIẾP</vt:lpstr>
      <vt:lpstr>CẢI THIỆN ĐÁP ỨNG TỨC THỜI BẰNG PHƯƠNG PHÁP BÙ NỐI TIẾP</vt:lpstr>
      <vt:lpstr>CẢI THIỆN ĐÁP ỨNG TỨC THỜI BẰNG PHƯƠNG PHÁP BÙ NỐI TIẾP</vt:lpstr>
      <vt:lpstr>CẢI THIỆN ĐÁP ỨNG TỨC THỜI BẰNG PHƯƠNG PHÁP BÙ NỐI TIẾP</vt:lpstr>
      <vt:lpstr>CẢI THIỆN SAI SỐ Ở TRẠNG THÁI THƯỜNG TRỰC VÀ ĐÁP ỨNG TỨC THỜI CỦA HỆ THỐNG</vt:lpstr>
      <vt:lpstr>CẢI THIỆN SAI SỐ Ở TRẠNG THÁI THƯỜNG TRỰC VÀ ĐÁP ỨNG NHẤT THỜI CỦA HỆ THỐNG</vt:lpstr>
      <vt:lpstr>CẢI THIỆN SAI SỐ Ở TRẠNG THÁI THƯỜNG TRỰC VÀ ĐÁP ỨNG NHẤT THỜI CỦA HỆ THỐNG</vt:lpstr>
      <vt:lpstr>CẢI THIỆN SAI SỐ Ở TRẠNG THÁI THƯỜNG TRỰC VÀ ĐÁP ỨNG NHẤT THỜI CỦA HỆ THỐNG</vt:lpstr>
      <vt:lpstr>CẢI THIỆN SAI SỐ Ở TRẠNG THÁI THƯỜNG TRỰC VÀ ĐÁP ỨNG NHẤT THỜI CỦA HỆ THỐNG</vt:lpstr>
      <vt:lpstr>CẢI THIỆN SAI SỐ Ở TRẠNG THÁI THƯỜNG TRỰC VÀ ĐÁP ỨNG NHẤT THỜI CỦA HỆ THỐNG</vt:lpstr>
      <vt:lpstr>TỔNG HỢP</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MÔ HÌNH TRONG MIỀN TẦN SỐ</dc:title>
  <dc:creator>Nguyễn Thu Hằng</dc:creator>
  <cp:lastModifiedBy>Nguyễn Thu Hằng</cp:lastModifiedBy>
  <cp:revision>21</cp:revision>
  <dcterms:created xsi:type="dcterms:W3CDTF">2023-08-28T11:08:29Z</dcterms:created>
  <dcterms:modified xsi:type="dcterms:W3CDTF">2023-11-21T02:33:08Z</dcterms:modified>
</cp:coreProperties>
</file>