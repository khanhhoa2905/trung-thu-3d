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0" r:id="rId1"/>
  </p:sldMasterIdLst>
  <p:notesMasterIdLst>
    <p:notesMasterId r:id="rId30"/>
  </p:notesMasterIdLst>
  <p:sldIdLst>
    <p:sldId id="256" r:id="rId2"/>
    <p:sldId id="274" r:id="rId3"/>
    <p:sldId id="276" r:id="rId4"/>
    <p:sldId id="275" r:id="rId5"/>
    <p:sldId id="277" r:id="rId6"/>
    <p:sldId id="278" r:id="rId7"/>
    <p:sldId id="279" r:id="rId8"/>
    <p:sldId id="280" r:id="rId9"/>
    <p:sldId id="281" r:id="rId10"/>
    <p:sldId id="283" r:id="rId11"/>
    <p:sldId id="282"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27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29"/>
    <p:restoredTop sz="96281"/>
  </p:normalViewPr>
  <p:slideViewPr>
    <p:cSldViewPr snapToGrid="0">
      <p:cViewPr varScale="1">
        <p:scale>
          <a:sx n="117" d="100"/>
          <a:sy n="117" d="100"/>
        </p:scale>
        <p:origin x="19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7117A9-C5FE-9547-BE33-9079660B3BBF}" type="datetimeFigureOut">
              <a:rPr lang="en-VN" smtClean="0"/>
              <a:t>05/12/2023</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575F00-99DD-8C4D-8BF7-67178BB10A31}" type="slidenum">
              <a:rPr lang="en-VN" smtClean="0"/>
              <a:t>‹#›</a:t>
            </a:fld>
            <a:endParaRPr lang="en-VN"/>
          </a:p>
        </p:txBody>
      </p:sp>
    </p:spTree>
    <p:extLst>
      <p:ext uri="{BB962C8B-B14F-4D97-AF65-F5344CB8AC3E}">
        <p14:creationId xmlns:p14="http://schemas.microsoft.com/office/powerpoint/2010/main" val="3623748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11575F00-99DD-8C4D-8BF7-67178BB10A31}" type="slidenum">
              <a:rPr lang="en-VN" smtClean="0"/>
              <a:t>9</a:t>
            </a:fld>
            <a:endParaRPr lang="en-VN"/>
          </a:p>
        </p:txBody>
      </p:sp>
    </p:spTree>
    <p:extLst>
      <p:ext uri="{BB962C8B-B14F-4D97-AF65-F5344CB8AC3E}">
        <p14:creationId xmlns:p14="http://schemas.microsoft.com/office/powerpoint/2010/main" val="2655855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05/12/2023</a:t>
            </a:fld>
            <a:endParaRPr lang="en-VN"/>
          </a:p>
        </p:txBody>
      </p:sp>
      <p:sp>
        <p:nvSpPr>
          <p:cNvPr id="5" name="Footer Placeholder 4"/>
          <p:cNvSpPr>
            <a:spLocks noGrp="1"/>
          </p:cNvSpPr>
          <p:nvPr>
            <p:ph type="ftr" sz="quarter" idx="11"/>
          </p:nvPr>
        </p:nvSpPr>
        <p:spPr>
          <a:xfrm>
            <a:off x="2416500" y="329307"/>
            <a:ext cx="4973915" cy="309201"/>
          </a:xfrm>
        </p:spPr>
        <p:txBody>
          <a:bodyPr/>
          <a:lstStyle/>
          <a:p>
            <a:endParaRPr lang="en-VN"/>
          </a:p>
        </p:txBody>
      </p:sp>
      <p:sp>
        <p:nvSpPr>
          <p:cNvPr id="6" name="Slide Number Placeholder 5"/>
          <p:cNvSpPr>
            <a:spLocks noGrp="1"/>
          </p:cNvSpPr>
          <p:nvPr>
            <p:ph type="sldNum" sz="quarter" idx="12"/>
          </p:nvPr>
        </p:nvSpPr>
        <p:spPr>
          <a:xfrm>
            <a:off x="1437664" y="798973"/>
            <a:ext cx="811019" cy="503578"/>
          </a:xfrm>
        </p:spPr>
        <p:txBody>
          <a:bodyPr/>
          <a:lstStyle/>
          <a:p>
            <a:fld id="{AB7131A4-70E5-2C47-979D-CC0A508A1115}" type="slidenum">
              <a:rPr lang="en-VN" smtClean="0"/>
              <a:t>‹#›</a:t>
            </a:fld>
            <a:endParaRPr lang="en-V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44653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51579" y="198069"/>
            <a:ext cx="9603275" cy="674212"/>
          </a:xfr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1451579" y="1244014"/>
            <a:ext cx="9603275" cy="4444399"/>
          </a:xfrm>
        </p:spPr>
        <p:txBody>
          <a:bodyPr ancho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480060" y="479993"/>
            <a:ext cx="811019" cy="503578"/>
          </a:xfrm>
        </p:spPr>
        <p:txBody>
          <a:bodyPr/>
          <a:lstStyle>
            <a:lvl1pPr>
              <a:defRPr>
                <a:latin typeface="Arial" panose="020B0604020202020204" pitchFamily="34" charset="0"/>
                <a:cs typeface="Arial" panose="020B0604020202020204" pitchFamily="34" charset="0"/>
              </a:defRPr>
            </a:lvl1pPr>
          </a:lstStyle>
          <a:p>
            <a:fld id="{AB7131A4-70E5-2C47-979D-CC0A508A1115}" type="slidenum">
              <a:rPr lang="en-VN" smtClean="0"/>
              <a:pPr/>
              <a:t>‹#›</a:t>
            </a:fld>
            <a:endParaRPr lang="en-VN"/>
          </a:p>
        </p:txBody>
      </p:sp>
      <p:cxnSp>
        <p:nvCxnSpPr>
          <p:cNvPr id="33" name="Straight Connector 32"/>
          <p:cNvCxnSpPr/>
          <p:nvPr/>
        </p:nvCxnSpPr>
        <p:spPr>
          <a:xfrm>
            <a:off x="1447332" y="983571"/>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58719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F61E88-A186-394E-83B0-C95AB89BE3CE}" type="datetimeFigureOut">
              <a:rPr lang="en-VN" smtClean="0"/>
              <a:t>05/12/2023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4645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F61E88-A186-394E-83B0-C95AB89BE3CE}" type="datetimeFigureOut">
              <a:rPr lang="en-VN" smtClean="0"/>
              <a:t>05/12/2023</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3193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F61E88-A186-394E-83B0-C95AB89BE3CE}" type="datetimeFigureOut">
              <a:rPr lang="en-VN" smtClean="0"/>
              <a:t>05/12/2023</a:t>
            </a:fld>
            <a:endParaRPr lang="en-VN"/>
          </a:p>
        </p:txBody>
      </p:sp>
      <p:sp>
        <p:nvSpPr>
          <p:cNvPr id="8" name="Footer Placeholder 7"/>
          <p:cNvSpPr>
            <a:spLocks noGrp="1"/>
          </p:cNvSpPr>
          <p:nvPr>
            <p:ph type="ftr" sz="quarter" idx="11"/>
          </p:nvPr>
        </p:nvSpPr>
        <p:spPr/>
        <p:txBody>
          <a:bodyPr/>
          <a:lstStyle/>
          <a:p>
            <a:endParaRPr lang="en-VN"/>
          </a:p>
        </p:txBody>
      </p:sp>
      <p:sp>
        <p:nvSpPr>
          <p:cNvPr id="9" name="Slide Number Placeholder 8"/>
          <p:cNvSpPr>
            <a:spLocks noGrp="1"/>
          </p:cNvSpPr>
          <p:nvPr>
            <p:ph type="sldNum" sz="quarter" idx="12"/>
          </p:nvPr>
        </p:nvSpPr>
        <p:spPr/>
        <p:txBody>
          <a:bodyPr/>
          <a:lstStyle/>
          <a:p>
            <a:fld id="{AB7131A4-70E5-2C47-979D-CC0A508A1115}" type="slidenum">
              <a:rPr lang="en-VN" smtClean="0"/>
              <a:t>‹#›</a:t>
            </a:fld>
            <a:endParaRPr lang="en-V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2071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F61E88-A186-394E-83B0-C95AB89BE3CE}" type="datetimeFigureOut">
              <a:rPr lang="en-VN" smtClean="0"/>
              <a:t>05/12/2023</a:t>
            </a:fld>
            <a:endParaRPr lang="en-VN"/>
          </a:p>
        </p:txBody>
      </p:sp>
      <p:sp>
        <p:nvSpPr>
          <p:cNvPr id="4" name="Footer Placeholder 3"/>
          <p:cNvSpPr>
            <a:spLocks noGrp="1"/>
          </p:cNvSpPr>
          <p:nvPr>
            <p:ph type="ftr" sz="quarter" idx="11"/>
          </p:nvPr>
        </p:nvSpPr>
        <p:spPr/>
        <p:txBody>
          <a:bodyPr/>
          <a:lstStyle/>
          <a:p>
            <a:endParaRPr lang="en-VN"/>
          </a:p>
        </p:txBody>
      </p:sp>
      <p:sp>
        <p:nvSpPr>
          <p:cNvPr id="5" name="Slide Number Placeholder 4"/>
          <p:cNvSpPr>
            <a:spLocks noGrp="1"/>
          </p:cNvSpPr>
          <p:nvPr>
            <p:ph type="sldNum" sz="quarter" idx="12"/>
          </p:nvPr>
        </p:nvSpPr>
        <p:spPr/>
        <p:txBody>
          <a:bodyPr/>
          <a:lstStyle/>
          <a:p>
            <a:fld id="{AB7131A4-70E5-2C47-979D-CC0A508A1115}" type="slidenum">
              <a:rPr lang="en-VN" smtClean="0"/>
              <a:t>‹#›</a:t>
            </a:fld>
            <a:endParaRPr lang="en-V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690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F61E88-A186-394E-83B0-C95AB89BE3CE}" type="datetimeFigureOut">
              <a:rPr lang="en-VN" smtClean="0"/>
              <a:t>05/12/2023</a:t>
            </a:fld>
            <a:endParaRPr lang="en-VN"/>
          </a:p>
        </p:txBody>
      </p:sp>
      <p:sp>
        <p:nvSpPr>
          <p:cNvPr id="3" name="Footer Placeholder 2"/>
          <p:cNvSpPr>
            <a:spLocks noGrp="1"/>
          </p:cNvSpPr>
          <p:nvPr>
            <p:ph type="ftr" sz="quarter" idx="11"/>
          </p:nvPr>
        </p:nvSpPr>
        <p:spPr/>
        <p:txBody>
          <a:bodyPr/>
          <a:lstStyle/>
          <a:p>
            <a:endParaRPr lang="en-VN"/>
          </a:p>
        </p:txBody>
      </p:sp>
      <p:sp>
        <p:nvSpPr>
          <p:cNvPr id="4" name="Slide Number Placeholder 3"/>
          <p:cNvSpPr>
            <a:spLocks noGrp="1"/>
          </p:cNvSpPr>
          <p:nvPr>
            <p:ph type="sldNum" sz="quarter" idx="12"/>
          </p:nvPr>
        </p:nvSpPr>
        <p:spPr/>
        <p:txBody>
          <a:bodyPr/>
          <a:lstStyle/>
          <a:p>
            <a:fld id="{AB7131A4-70E5-2C47-979D-CC0A508A1115}" type="slidenum">
              <a:rPr lang="en-VN" smtClean="0"/>
              <a:t>‹#›</a:t>
            </a:fld>
            <a:endParaRPr lang="en-VN"/>
          </a:p>
        </p:txBody>
      </p:sp>
    </p:spTree>
    <p:extLst>
      <p:ext uri="{BB962C8B-B14F-4D97-AF65-F5344CB8AC3E}">
        <p14:creationId xmlns:p14="http://schemas.microsoft.com/office/powerpoint/2010/main" val="3528770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F61E88-A186-394E-83B0-C95AB89BE3CE}" type="datetimeFigureOut">
              <a:rPr lang="en-VN" smtClean="0"/>
              <a:t>05/12/2023</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33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EF61E88-A186-394E-83B0-C95AB89BE3CE}" type="datetimeFigureOut">
              <a:rPr lang="en-VN" smtClean="0"/>
              <a:t>05/12/2023</a:t>
            </a:fld>
            <a:endParaRPr lang="en-VN"/>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50226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05/12/2023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003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05/12/2023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06921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EF61E88-A186-394E-83B0-C95AB89BE3CE}" type="datetimeFigureOut">
              <a:rPr lang="en-VN" smtClean="0"/>
              <a:t>05/12/2023</a:t>
            </a:fld>
            <a:endParaRPr lang="en-V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VN"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B7131A4-70E5-2C47-979D-CC0A508A1115}" type="slidenum">
              <a:rPr lang="en-VN" smtClean="0"/>
              <a:t>‹#›</a:t>
            </a:fld>
            <a:endParaRPr lang="en-V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7159300"/>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13693-A035-3C4E-7F71-6028A05A4966}"/>
              </a:ext>
            </a:extLst>
          </p:cNvPr>
          <p:cNvSpPr>
            <a:spLocks noGrp="1"/>
          </p:cNvSpPr>
          <p:nvPr>
            <p:ph type="ctrTitle"/>
          </p:nvPr>
        </p:nvSpPr>
        <p:spPr>
          <a:xfrm>
            <a:off x="2129742" y="802298"/>
            <a:ext cx="9172538" cy="2541431"/>
          </a:xfrm>
        </p:spPr>
        <p:txBody>
          <a:bodyPr>
            <a:normAutofit/>
          </a:bodyPr>
          <a:lstStyle/>
          <a:p>
            <a:r>
              <a:rPr lang="en-VN" sz="5400" dirty="0">
                <a:latin typeface="Arial" panose="020B0604020202020204" pitchFamily="34" charset="0"/>
                <a:cs typeface="Arial" panose="020B0604020202020204" pitchFamily="34" charset="0"/>
              </a:rPr>
              <a:t>CHƯƠNG 10: PHƯƠNG PHÁP ĐÁP ỨNG TẦN SỐ</a:t>
            </a:r>
          </a:p>
        </p:txBody>
      </p:sp>
      <p:sp>
        <p:nvSpPr>
          <p:cNvPr id="3" name="Subtitle 2">
            <a:extLst>
              <a:ext uri="{FF2B5EF4-FFF2-40B4-BE49-F238E27FC236}">
                <a16:creationId xmlns:a16="http://schemas.microsoft.com/office/drawing/2014/main" id="{AFEE02D5-7413-F104-1030-A7A1F479E957}"/>
              </a:ext>
            </a:extLst>
          </p:cNvPr>
          <p:cNvSpPr>
            <a:spLocks noGrp="1"/>
          </p:cNvSpPr>
          <p:nvPr>
            <p:ph type="subTitle" idx="1"/>
          </p:nvPr>
        </p:nvSpPr>
        <p:spPr/>
        <p:txBody>
          <a:bodyPr>
            <a:normAutofit/>
          </a:bodyPr>
          <a:lstStyle/>
          <a:p>
            <a:r>
              <a:rPr kumimoji="0" lang="en-VN" altLang="en-VN" sz="3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Frequency Response Techniques</a:t>
            </a:r>
          </a:p>
        </p:txBody>
      </p:sp>
      <p:pic>
        <p:nvPicPr>
          <p:cNvPr id="1025" name="Picture 1" descr="page53image1145757968">
            <a:extLst>
              <a:ext uri="{FF2B5EF4-FFF2-40B4-BE49-F238E27FC236}">
                <a16:creationId xmlns:a16="http://schemas.microsoft.com/office/drawing/2014/main" id="{93647881-E3F9-0241-C1ED-5F534C8192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019800" cy="44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696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41001-065A-B141-55A0-983C4E77745F}"/>
              </a:ext>
            </a:extLst>
          </p:cNvPr>
          <p:cNvSpPr>
            <a:spLocks noGrp="1"/>
          </p:cNvSpPr>
          <p:nvPr>
            <p:ph type="title"/>
          </p:nvPr>
        </p:nvSpPr>
        <p:spPr/>
        <p:txBody>
          <a:bodyPr/>
          <a:lstStyle/>
          <a:p>
            <a:r>
              <a:rPr lang="en-VN" dirty="0"/>
              <a:t>GIỚI THIỆU</a:t>
            </a:r>
          </a:p>
        </p:txBody>
      </p:sp>
      <p:sp>
        <p:nvSpPr>
          <p:cNvPr id="3" name="Content Placeholder 2">
            <a:extLst>
              <a:ext uri="{FF2B5EF4-FFF2-40B4-BE49-F238E27FC236}">
                <a16:creationId xmlns:a16="http://schemas.microsoft.com/office/drawing/2014/main" id="{77A2710A-3E16-3845-6E92-8AFB2D5A2A7B}"/>
              </a:ext>
            </a:extLst>
          </p:cNvPr>
          <p:cNvSpPr>
            <a:spLocks noGrp="1"/>
          </p:cNvSpPr>
          <p:nvPr>
            <p:ph idx="1"/>
          </p:nvPr>
        </p:nvSpPr>
        <p:spPr/>
        <p:txBody>
          <a:bodyPr/>
          <a:lstStyle/>
          <a:p>
            <a:r>
              <a:rPr lang="vi-VN" dirty="0"/>
              <a:t>Trong các chương trước: xem xét việc sử dụng các tín hiệu vào thử như tín hiệu xung hay tín hiệu nhảy bậc trong việc phân tích hệ thống. Trong chương này: sử dụng tín hiệu vào có dạng sin ở trạng thái thường trực và xem xét đáp ứng của hệ thống khi tần số của tín hiệu dạng sin thay đổi. </a:t>
            </a:r>
          </a:p>
          <a:p>
            <a:r>
              <a:rPr lang="vi-VN" dirty="0"/>
              <a:t>Trong các chương trước: </a:t>
            </a:r>
            <a:r>
              <a:rPr lang="en-US" sz="1800" dirty="0" err="1">
                <a:effectLst/>
                <a:ea typeface="Times New Roman" panose="02020603050405020304" pitchFamily="18" charset="0"/>
              </a:rPr>
              <a:t>đáp</a:t>
            </a:r>
            <a:r>
              <a:rPr lang="en-US" sz="1800" dirty="0">
                <a:effectLst/>
                <a:ea typeface="Times New Roman" panose="02020603050405020304" pitchFamily="18" charset="0"/>
              </a:rPr>
              <a:t> </a:t>
            </a:r>
            <a:r>
              <a:rPr lang="en-US" sz="1800" dirty="0" err="1">
                <a:effectLst/>
                <a:ea typeface="Times New Roman" panose="02020603050405020304" pitchFamily="18" charset="0"/>
              </a:rPr>
              <a:t>ứng</a:t>
            </a:r>
            <a:r>
              <a:rPr lang="en-US" sz="1800" dirty="0">
                <a:effectLst/>
                <a:ea typeface="Times New Roman" panose="02020603050405020304" pitchFamily="18" charset="0"/>
              </a:rPr>
              <a:t> </a:t>
            </a:r>
            <a:r>
              <a:rPr lang="en-US" sz="1800" dirty="0" err="1">
                <a:effectLst/>
                <a:ea typeface="Times New Roman" panose="02020603050405020304" pitchFamily="18" charset="0"/>
              </a:rPr>
              <a:t>và</a:t>
            </a:r>
            <a:r>
              <a:rPr lang="en-US" sz="1800" dirty="0">
                <a:effectLst/>
                <a:ea typeface="Times New Roman" panose="02020603050405020304" pitchFamily="18" charset="0"/>
              </a:rPr>
              <a:t> </a:t>
            </a:r>
            <a:r>
              <a:rPr lang="en-US" sz="1800" dirty="0" err="1">
                <a:effectLst/>
                <a:ea typeface="Times New Roman" panose="02020603050405020304" pitchFamily="18" charset="0"/>
              </a:rPr>
              <a:t>hiệu</a:t>
            </a:r>
            <a:r>
              <a:rPr lang="en-US" sz="1800" dirty="0">
                <a:effectLst/>
                <a:ea typeface="Times New Roman" panose="02020603050405020304" pitchFamily="18" charset="0"/>
              </a:rPr>
              <a:t> </a:t>
            </a:r>
            <a:r>
              <a:rPr lang="en-US" sz="1800" dirty="0" err="1">
                <a:effectLst/>
                <a:ea typeface="Times New Roman" panose="02020603050405020304" pitchFamily="18" charset="0"/>
              </a:rPr>
              <a:t>suất</a:t>
            </a:r>
            <a:r>
              <a:rPr lang="en-US" sz="1800" dirty="0">
                <a:effectLst/>
                <a:ea typeface="Times New Roman" panose="02020603050405020304" pitchFamily="18" charset="0"/>
              </a:rPr>
              <a:t> </a:t>
            </a:r>
            <a:r>
              <a:rPr lang="en-US" sz="1800" dirty="0" err="1">
                <a:effectLst/>
                <a:ea typeface="Times New Roman" panose="02020603050405020304" pitchFamily="18" charset="0"/>
              </a:rPr>
              <a:t>của</a:t>
            </a:r>
            <a:r>
              <a:rPr lang="en-US" sz="1800" dirty="0">
                <a:effectLst/>
                <a:ea typeface="Times New Roman" panose="02020603050405020304" pitchFamily="18" charset="0"/>
              </a:rPr>
              <a:t> </a:t>
            </a:r>
            <a:r>
              <a:rPr lang="en-US" sz="1800" dirty="0" err="1">
                <a:effectLst/>
                <a:ea typeface="Times New Roman" panose="02020603050405020304" pitchFamily="18" charset="0"/>
              </a:rPr>
              <a:t>hệ</a:t>
            </a:r>
            <a:r>
              <a:rPr lang="en-US" sz="1800" dirty="0">
                <a:effectLst/>
                <a:ea typeface="Times New Roman" panose="02020603050405020304" pitchFamily="18" charset="0"/>
              </a:rPr>
              <a:t> </a:t>
            </a:r>
            <a:r>
              <a:rPr lang="en-US" sz="1800" dirty="0" err="1">
                <a:effectLst/>
                <a:ea typeface="Times New Roman" panose="02020603050405020304" pitchFamily="18" charset="0"/>
              </a:rPr>
              <a:t>thống</a:t>
            </a:r>
            <a:r>
              <a:rPr lang="en-US" sz="1800" dirty="0">
                <a:effectLst/>
                <a:ea typeface="Times New Roman" panose="02020603050405020304" pitchFamily="18" charset="0"/>
              </a:rPr>
              <a:t> </a:t>
            </a:r>
            <a:r>
              <a:rPr lang="en-US" sz="1800" dirty="0" err="1">
                <a:effectLst/>
                <a:ea typeface="Times New Roman" panose="02020603050405020304" pitchFamily="18" charset="0"/>
              </a:rPr>
              <a:t>được</a:t>
            </a:r>
            <a:r>
              <a:rPr lang="en-US" sz="1800" dirty="0">
                <a:effectLst/>
                <a:ea typeface="Times New Roman" panose="02020603050405020304" pitchFamily="18" charset="0"/>
              </a:rPr>
              <a:t> </a:t>
            </a:r>
            <a:r>
              <a:rPr lang="en-US" sz="1800" dirty="0" err="1">
                <a:effectLst/>
                <a:ea typeface="Times New Roman" panose="02020603050405020304" pitchFamily="18" charset="0"/>
              </a:rPr>
              <a:t>mô</a:t>
            </a:r>
            <a:r>
              <a:rPr lang="en-US" sz="1800" dirty="0">
                <a:effectLst/>
                <a:ea typeface="Times New Roman" panose="02020603050405020304" pitchFamily="18" charset="0"/>
              </a:rPr>
              <a:t> </a:t>
            </a:r>
            <a:r>
              <a:rPr lang="en-US" sz="1800" dirty="0" err="1">
                <a:effectLst/>
                <a:ea typeface="Times New Roman" panose="02020603050405020304" pitchFamily="18" charset="0"/>
              </a:rPr>
              <a:t>tả</a:t>
            </a:r>
            <a:r>
              <a:rPr lang="en-US" sz="1800" dirty="0">
                <a:effectLst/>
                <a:ea typeface="Times New Roman" panose="02020603050405020304" pitchFamily="18" charset="0"/>
              </a:rPr>
              <a:t> </a:t>
            </a:r>
            <a:r>
              <a:rPr lang="en-US" sz="1800" dirty="0" err="1">
                <a:effectLst/>
                <a:ea typeface="Times New Roman" panose="02020603050405020304" pitchFamily="18" charset="0"/>
              </a:rPr>
              <a:t>dưới</a:t>
            </a:r>
            <a:r>
              <a:rPr lang="en-US" sz="1800" dirty="0">
                <a:effectLst/>
                <a:ea typeface="Times New Roman" panose="02020603050405020304" pitchFamily="18" charset="0"/>
              </a:rPr>
              <a:t> </a:t>
            </a:r>
            <a:r>
              <a:rPr lang="en-US" sz="1800" dirty="0" err="1">
                <a:effectLst/>
                <a:ea typeface="Times New Roman" panose="02020603050405020304" pitchFamily="18" charset="0"/>
              </a:rPr>
              <a:t>dạng</a:t>
            </a:r>
            <a:r>
              <a:rPr lang="en-US" sz="1800" dirty="0">
                <a:effectLst/>
                <a:ea typeface="Times New Roman" panose="02020603050405020304" pitchFamily="18" charset="0"/>
              </a:rPr>
              <a:t> </a:t>
            </a:r>
            <a:r>
              <a:rPr lang="en-US" sz="1800" dirty="0" err="1">
                <a:effectLst/>
                <a:ea typeface="Times New Roman" panose="02020603050405020304" pitchFamily="18" charset="0"/>
              </a:rPr>
              <a:t>của</a:t>
            </a:r>
            <a:r>
              <a:rPr lang="en-US" sz="1800" dirty="0">
                <a:effectLst/>
                <a:ea typeface="Times New Roman" panose="02020603050405020304" pitchFamily="18" charset="0"/>
              </a:rPr>
              <a:t> </a:t>
            </a:r>
            <a:r>
              <a:rPr lang="en-US" sz="1800" dirty="0" err="1">
                <a:effectLst/>
                <a:ea typeface="Times New Roman" panose="02020603050405020304" pitchFamily="18" charset="0"/>
              </a:rPr>
              <a:t>biến</a:t>
            </a:r>
            <a:r>
              <a:rPr lang="en-US" sz="1800" dirty="0">
                <a:effectLst/>
                <a:ea typeface="Times New Roman" panose="02020603050405020304" pitchFamily="18" charset="0"/>
              </a:rPr>
              <a:t> </a:t>
            </a:r>
            <a:r>
              <a:rPr lang="en-US" sz="1800" dirty="0" err="1">
                <a:effectLst/>
                <a:ea typeface="Times New Roman" panose="02020603050405020304" pitchFamily="18" charset="0"/>
              </a:rPr>
              <a:t>tần</a:t>
            </a:r>
            <a:r>
              <a:rPr lang="en-US" sz="1800" dirty="0">
                <a:effectLst/>
                <a:ea typeface="Times New Roman" panose="02020603050405020304" pitchFamily="18" charset="0"/>
              </a:rPr>
              <a:t> </a:t>
            </a:r>
            <a:r>
              <a:rPr lang="en-US" sz="1800" dirty="0" err="1">
                <a:effectLst/>
                <a:ea typeface="Times New Roman" panose="02020603050405020304" pitchFamily="18" charset="0"/>
              </a:rPr>
              <a:t>số</a:t>
            </a:r>
            <a:r>
              <a:rPr lang="en-US" sz="1800" dirty="0">
                <a:effectLst/>
                <a:ea typeface="Times New Roman" panose="02020603050405020304" pitchFamily="18" charset="0"/>
              </a:rPr>
              <a:t> </a:t>
            </a:r>
            <a:r>
              <a:rPr lang="en-US" sz="1800" dirty="0" err="1">
                <a:effectLst/>
                <a:ea typeface="Times New Roman" panose="02020603050405020304" pitchFamily="18" charset="0"/>
              </a:rPr>
              <a:t>phức</a:t>
            </a:r>
            <a:r>
              <a:rPr lang="en-US" sz="1800" dirty="0">
                <a:effectLst/>
                <a:ea typeface="Times New Roman" panose="02020603050405020304" pitchFamily="18" charset="0"/>
              </a:rPr>
              <a:t> </a:t>
            </a:r>
            <a:r>
              <a:rPr lang="en-US" sz="1800" i="1" dirty="0">
                <a:effectLst/>
                <a:ea typeface="Times New Roman" panose="02020603050405020304" pitchFamily="18" charset="0"/>
              </a:rPr>
              <a:t>s</a:t>
            </a:r>
            <a:r>
              <a:rPr lang="en-US" sz="1800" dirty="0">
                <a:effectLst/>
                <a:ea typeface="Times New Roman" panose="02020603050405020304" pitchFamily="18" charset="0"/>
              </a:rPr>
              <a:t> </a:t>
            </a:r>
            <a:r>
              <a:rPr lang="en-US" sz="1800" dirty="0" err="1">
                <a:effectLst/>
                <a:ea typeface="Times New Roman" panose="02020603050405020304" pitchFamily="18" charset="0"/>
              </a:rPr>
              <a:t>và</a:t>
            </a:r>
            <a:r>
              <a:rPr lang="en-US" sz="1800" dirty="0">
                <a:effectLst/>
                <a:ea typeface="Times New Roman" panose="02020603050405020304" pitchFamily="18" charset="0"/>
              </a:rPr>
              <a:t> </a:t>
            </a:r>
            <a:r>
              <a:rPr lang="en-US" sz="1800" dirty="0" err="1">
                <a:effectLst/>
                <a:ea typeface="Times New Roman" panose="02020603050405020304" pitchFamily="18" charset="0"/>
              </a:rPr>
              <a:t>vị</a:t>
            </a:r>
            <a:r>
              <a:rPr lang="en-US" sz="1800" dirty="0">
                <a:effectLst/>
                <a:ea typeface="Times New Roman" panose="02020603050405020304" pitchFamily="18" charset="0"/>
              </a:rPr>
              <a:t> </a:t>
            </a:r>
            <a:r>
              <a:rPr lang="en-US" sz="1800" dirty="0" err="1">
                <a:effectLst/>
                <a:ea typeface="Times New Roman" panose="02020603050405020304" pitchFamily="18" charset="0"/>
              </a:rPr>
              <a:t>trí</a:t>
            </a:r>
            <a:r>
              <a:rPr lang="en-US" sz="1800" dirty="0">
                <a:effectLst/>
                <a:ea typeface="Times New Roman" panose="02020603050405020304" pitchFamily="18" charset="0"/>
              </a:rPr>
              <a:t> </a:t>
            </a:r>
            <a:r>
              <a:rPr lang="en-US" sz="1800" dirty="0" err="1">
                <a:effectLst/>
                <a:ea typeface="Times New Roman" panose="02020603050405020304" pitchFamily="18" charset="0"/>
              </a:rPr>
              <a:t>các</a:t>
            </a:r>
            <a:r>
              <a:rPr lang="en-US" sz="1800" dirty="0">
                <a:effectLst/>
                <a:ea typeface="Times New Roman" panose="02020603050405020304" pitchFamily="18" charset="0"/>
              </a:rPr>
              <a:t> </a:t>
            </a:r>
            <a:r>
              <a:rPr lang="en-US" sz="1800" dirty="0" err="1">
                <a:effectLst/>
                <a:ea typeface="Times New Roman" panose="02020603050405020304" pitchFamily="18" charset="0"/>
              </a:rPr>
              <a:t>điểm</a:t>
            </a:r>
            <a:r>
              <a:rPr lang="en-US" sz="1800" dirty="0">
                <a:effectLst/>
                <a:ea typeface="Times New Roman" panose="02020603050405020304" pitchFamily="18" charset="0"/>
              </a:rPr>
              <a:t> </a:t>
            </a:r>
            <a:r>
              <a:rPr lang="en-US" sz="1800" dirty="0" err="1">
                <a:effectLst/>
                <a:ea typeface="Times New Roman" panose="02020603050405020304" pitchFamily="18" charset="0"/>
              </a:rPr>
              <a:t>cực</a:t>
            </a:r>
            <a:r>
              <a:rPr lang="en-US" sz="1800" dirty="0">
                <a:effectLst/>
                <a:ea typeface="Times New Roman" panose="02020603050405020304" pitchFamily="18" charset="0"/>
              </a:rPr>
              <a:t> </a:t>
            </a:r>
            <a:r>
              <a:rPr lang="en-US" sz="1800" dirty="0" err="1">
                <a:effectLst/>
                <a:ea typeface="Times New Roman" panose="02020603050405020304" pitchFamily="18" charset="0"/>
              </a:rPr>
              <a:t>và</a:t>
            </a:r>
            <a:r>
              <a:rPr lang="en-US" sz="1800" dirty="0">
                <a:effectLst/>
                <a:ea typeface="Times New Roman" panose="02020603050405020304" pitchFamily="18" charset="0"/>
              </a:rPr>
              <a:t> </a:t>
            </a:r>
            <a:r>
              <a:rPr lang="en-US" sz="1800" dirty="0" err="1">
                <a:effectLst/>
                <a:ea typeface="Times New Roman" panose="02020603050405020304" pitchFamily="18" charset="0"/>
              </a:rPr>
              <a:t>điểm</a:t>
            </a:r>
            <a:r>
              <a:rPr lang="en-US" sz="1800" dirty="0">
                <a:effectLst/>
                <a:ea typeface="Times New Roman" panose="02020603050405020304" pitchFamily="18" charset="0"/>
              </a:rPr>
              <a:t> </a:t>
            </a:r>
            <a:r>
              <a:rPr lang="en-US" sz="1800" dirty="0" err="1">
                <a:effectLst/>
                <a:ea typeface="Times New Roman" panose="02020603050405020304" pitchFamily="18" charset="0"/>
              </a:rPr>
              <a:t>không</a:t>
            </a:r>
            <a:r>
              <a:rPr lang="en-US" sz="1800" dirty="0">
                <a:effectLst/>
                <a:ea typeface="Times New Roman" panose="02020603050405020304" pitchFamily="18" charset="0"/>
              </a:rPr>
              <a:t> </a:t>
            </a:r>
            <a:r>
              <a:rPr lang="en-US" sz="1800" dirty="0" err="1">
                <a:effectLst/>
                <a:ea typeface="Times New Roman" panose="02020603050405020304" pitchFamily="18" charset="0"/>
              </a:rPr>
              <a:t>trong</a:t>
            </a:r>
            <a:r>
              <a:rPr lang="en-US" sz="1800" dirty="0">
                <a:effectLst/>
                <a:ea typeface="Times New Roman" panose="02020603050405020304" pitchFamily="18" charset="0"/>
              </a:rPr>
              <a:t> </a:t>
            </a:r>
            <a:r>
              <a:rPr lang="en-US" sz="1800" dirty="0" err="1">
                <a:effectLst/>
                <a:ea typeface="Times New Roman" panose="02020603050405020304" pitchFamily="18" charset="0"/>
              </a:rPr>
              <a:t>mặt</a:t>
            </a:r>
            <a:r>
              <a:rPr lang="en-US" sz="1800" dirty="0">
                <a:effectLst/>
                <a:ea typeface="Times New Roman" panose="02020603050405020304" pitchFamily="18" charset="0"/>
              </a:rPr>
              <a:t> </a:t>
            </a:r>
            <a:r>
              <a:rPr lang="en-US" sz="1800" dirty="0" err="1">
                <a:effectLst/>
                <a:ea typeface="Times New Roman" panose="02020603050405020304" pitchFamily="18" charset="0"/>
              </a:rPr>
              <a:t>phẳng</a:t>
            </a:r>
            <a:r>
              <a:rPr lang="en-US" sz="1800" dirty="0">
                <a:effectLst/>
                <a:ea typeface="Times New Roman" panose="02020603050405020304" pitchFamily="18" charset="0"/>
              </a:rPr>
              <a:t> </a:t>
            </a:r>
            <a:r>
              <a:rPr lang="en-US" sz="1800" i="1" dirty="0">
                <a:effectLst/>
                <a:ea typeface="Times New Roman" panose="02020603050405020304" pitchFamily="18" charset="0"/>
              </a:rPr>
              <a:t>s.</a:t>
            </a:r>
          </a:p>
          <a:p>
            <a:r>
              <a:rPr lang="en-US" sz="1800" dirty="0" err="1">
                <a:effectLst/>
              </a:rPr>
              <a:t>Đáp</a:t>
            </a:r>
            <a:r>
              <a:rPr lang="en-US" sz="1800" dirty="0">
                <a:effectLst/>
              </a:rPr>
              <a:t> </a:t>
            </a:r>
            <a:r>
              <a:rPr lang="en-US" sz="1800" dirty="0" err="1">
                <a:effectLst/>
              </a:rPr>
              <a:t>ứng</a:t>
            </a:r>
            <a:r>
              <a:rPr lang="en-US" sz="1800" dirty="0">
                <a:effectLst/>
              </a:rPr>
              <a:t> </a:t>
            </a:r>
            <a:r>
              <a:rPr lang="en-US" sz="1800" dirty="0" err="1">
                <a:effectLst/>
              </a:rPr>
              <a:t>tần</a:t>
            </a:r>
            <a:r>
              <a:rPr lang="en-US" sz="1800" dirty="0">
                <a:effectLst/>
              </a:rPr>
              <a:t> </a:t>
            </a:r>
            <a:r>
              <a:rPr lang="en-US" sz="1800" dirty="0" err="1">
                <a:effectLst/>
              </a:rPr>
              <a:t>số</a:t>
            </a:r>
            <a:r>
              <a:rPr lang="en-US" sz="1800" dirty="0">
                <a:effectLst/>
              </a:rPr>
              <a:t> </a:t>
            </a:r>
            <a:r>
              <a:rPr lang="en-US" sz="1800" dirty="0" err="1">
                <a:effectLst/>
              </a:rPr>
              <a:t>của</a:t>
            </a:r>
            <a:r>
              <a:rPr lang="en-US" sz="1800" dirty="0">
                <a:effectLst/>
              </a:rPr>
              <a:t> </a:t>
            </a:r>
            <a:r>
              <a:rPr lang="en-US" sz="1800" dirty="0" err="1">
                <a:effectLst/>
              </a:rPr>
              <a:t>hệ</a:t>
            </a:r>
            <a:r>
              <a:rPr lang="en-US" sz="1800" dirty="0">
                <a:effectLst/>
              </a:rPr>
              <a:t> </a:t>
            </a:r>
            <a:r>
              <a:rPr lang="en-US" sz="1800" dirty="0" err="1">
                <a:effectLst/>
              </a:rPr>
              <a:t>thống</a:t>
            </a:r>
            <a:r>
              <a:rPr lang="en-US" sz="1800" dirty="0">
                <a:effectLst/>
              </a:rPr>
              <a:t> </a:t>
            </a:r>
            <a:r>
              <a:rPr lang="en-US" sz="1800" i="1" dirty="0">
                <a:effectLst/>
              </a:rPr>
              <a:t>(</a:t>
            </a:r>
            <a:r>
              <a:rPr lang="vi-VN" sz="1800" i="1" dirty="0">
                <a:effectLst/>
              </a:rPr>
              <a:t>frequency response) </a:t>
            </a:r>
            <a:r>
              <a:rPr lang="vi-VN" sz="1800" dirty="0">
                <a:effectLst/>
              </a:rPr>
              <a:t>là đáp ứng ở trạng thái thường trực của hệ thống với tín hiệu vào là một tín hiệu dạng sin. </a:t>
            </a:r>
          </a:p>
          <a:p>
            <a:r>
              <a:rPr lang="en-VN" dirty="0">
                <a:effectLst/>
              </a:rPr>
              <a:t> </a:t>
            </a:r>
            <a:r>
              <a:rPr lang="vi-VN" sz="1800" dirty="0">
                <a:effectLst/>
              </a:rPr>
              <a:t>Với tín hiệu sin là tín hiệu vào duy nhất, tín hiệu ra cho một hệ thống tuyến tính cũng như các tín hiệu chuyển tiếp trong toàn hệ thống đều có dạng sin ở trạng thái thường trực, chỉ khác tín hiệu vào ở biên độ và góc pha. </a:t>
            </a:r>
            <a:endParaRPr lang="en-VN" sz="1800" dirty="0"/>
          </a:p>
        </p:txBody>
      </p:sp>
    </p:spTree>
    <p:extLst>
      <p:ext uri="{BB962C8B-B14F-4D97-AF65-F5344CB8AC3E}">
        <p14:creationId xmlns:p14="http://schemas.microsoft.com/office/powerpoint/2010/main" val="2938778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874D7-5FAC-3102-30BF-EB1AB4E8072A}"/>
              </a:ext>
            </a:extLst>
          </p:cNvPr>
          <p:cNvSpPr>
            <a:spLocks noGrp="1"/>
          </p:cNvSpPr>
          <p:nvPr>
            <p:ph type="title"/>
          </p:nvPr>
        </p:nvSpPr>
        <p:spPr/>
        <p:txBody>
          <a:bodyPr/>
          <a:lstStyle/>
          <a:p>
            <a:r>
              <a:rPr lang="en-VN" dirty="0"/>
              <a:t>GIỚI THIỆU</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1E1FEF-49DE-54A3-38B2-CF94E1F47024}"/>
                  </a:ext>
                </a:extLst>
              </p:cNvPr>
              <p:cNvSpPr>
                <a:spLocks noGrp="1"/>
              </p:cNvSpPr>
              <p:nvPr>
                <p:ph idx="1"/>
              </p:nvPr>
            </p:nvSpPr>
            <p:spPr/>
            <p:txBody>
              <a:bodyPr/>
              <a:lstStyle/>
              <a:p>
                <a:pPr algn="just"/>
                <a:r>
                  <a:rPr lang="en-VN" dirty="0"/>
                  <a:t>Ưu điểm:</a:t>
                </a:r>
              </a:p>
              <a:p>
                <a:pPr lvl="1" algn="just"/>
                <a:r>
                  <a:rPr lang="en-US" dirty="0" err="1"/>
                  <a:t>Rất</a:t>
                </a:r>
                <a:r>
                  <a:rPr lang="en-US" dirty="0"/>
                  <a:t> </a:t>
                </a:r>
                <a:r>
                  <a:rPr lang="en-US" dirty="0" err="1"/>
                  <a:t>dễ</a:t>
                </a:r>
                <a:r>
                  <a:rPr lang="en-US" dirty="0"/>
                  <a:t> </a:t>
                </a:r>
                <a:r>
                  <a:rPr lang="en-US" dirty="0" err="1"/>
                  <a:t>tìm</a:t>
                </a:r>
                <a:r>
                  <a:rPr lang="en-US" dirty="0"/>
                  <a:t> </a:t>
                </a:r>
                <a:r>
                  <a:rPr lang="en-US" dirty="0" err="1"/>
                  <a:t>các</a:t>
                </a:r>
                <a:r>
                  <a:rPr lang="en-US" dirty="0"/>
                  <a:t> </a:t>
                </a:r>
                <a:r>
                  <a:rPr lang="en-US" dirty="0" err="1"/>
                  <a:t>nguồn</a:t>
                </a:r>
                <a:r>
                  <a:rPr lang="en-US" dirty="0"/>
                  <a:t> </a:t>
                </a:r>
                <a:r>
                  <a:rPr lang="en-US" dirty="0" err="1"/>
                  <a:t>tín</a:t>
                </a:r>
                <a:r>
                  <a:rPr lang="en-US" dirty="0"/>
                  <a:t> </a:t>
                </a:r>
                <a:r>
                  <a:rPr lang="en-US" dirty="0" err="1"/>
                  <a:t>hiệu</a:t>
                </a:r>
                <a:r>
                  <a:rPr lang="en-US" dirty="0"/>
                  <a:t> </a:t>
                </a:r>
                <a:r>
                  <a:rPr lang="en-US" dirty="0" err="1"/>
                  <a:t>thử</a:t>
                </a:r>
                <a:r>
                  <a:rPr lang="en-US" dirty="0"/>
                  <a:t> </a:t>
                </a:r>
                <a:r>
                  <a:rPr lang="en-US" dirty="0" err="1"/>
                  <a:t>dạng</a:t>
                </a:r>
                <a:r>
                  <a:rPr lang="en-US" dirty="0"/>
                  <a:t> sin </a:t>
                </a:r>
                <a:r>
                  <a:rPr lang="en-US" dirty="0" err="1"/>
                  <a:t>với</a:t>
                </a:r>
                <a:r>
                  <a:rPr lang="en-US" dirty="0"/>
                  <a:t> </a:t>
                </a:r>
                <a:r>
                  <a:rPr lang="en-US" dirty="0" err="1"/>
                  <a:t>nhiều</a:t>
                </a:r>
                <a:r>
                  <a:rPr lang="en-US" dirty="0"/>
                  <a:t> </a:t>
                </a:r>
                <a:r>
                  <a:rPr lang="en-US" dirty="0" err="1"/>
                  <a:t>khoảng</a:t>
                </a:r>
                <a:r>
                  <a:rPr lang="en-US" dirty="0"/>
                  <a:t> </a:t>
                </a:r>
                <a:r>
                  <a:rPr lang="en-US" dirty="0" err="1"/>
                  <a:t>biên</a:t>
                </a:r>
                <a:r>
                  <a:rPr lang="en-US" dirty="0"/>
                  <a:t> </a:t>
                </a:r>
                <a:r>
                  <a:rPr lang="en-US" dirty="0" err="1"/>
                  <a:t>độ</a:t>
                </a:r>
                <a:r>
                  <a:rPr lang="en-US" dirty="0"/>
                  <a:t> </a:t>
                </a:r>
                <a:r>
                  <a:rPr lang="en-US" dirty="0" err="1"/>
                  <a:t>và</a:t>
                </a:r>
                <a:r>
                  <a:rPr lang="en-US" dirty="0"/>
                  <a:t> </a:t>
                </a:r>
                <a:r>
                  <a:rPr lang="en-US" dirty="0" err="1"/>
                  <a:t>tần</a:t>
                </a:r>
                <a:r>
                  <a:rPr lang="en-US" dirty="0"/>
                  <a:t> </a:t>
                </a:r>
                <a:r>
                  <a:rPr lang="en-US" dirty="0" err="1"/>
                  <a:t>số</a:t>
                </a:r>
                <a:r>
                  <a:rPr lang="en-US" dirty="0"/>
                  <a:t> </a:t>
                </a:r>
                <a:r>
                  <a:rPr lang="en-US" dirty="0" err="1"/>
                  <a:t>khác</a:t>
                </a:r>
                <a:r>
                  <a:rPr lang="en-US" dirty="0"/>
                  <a:t> </a:t>
                </a:r>
                <a:r>
                  <a:rPr lang="en-US" dirty="0" err="1"/>
                  <a:t>nhau</a:t>
                </a:r>
                <a:r>
                  <a:rPr lang="en-US" dirty="0"/>
                  <a:t>. </a:t>
                </a:r>
                <a:r>
                  <a:rPr lang="en-US" dirty="0" err="1"/>
                  <a:t>Việc</a:t>
                </a:r>
                <a:r>
                  <a:rPr lang="en-US" dirty="0"/>
                  <a:t> </a:t>
                </a:r>
                <a:r>
                  <a:rPr lang="en-US" dirty="0" err="1"/>
                  <a:t>thiết</a:t>
                </a:r>
                <a:r>
                  <a:rPr lang="en-US" dirty="0"/>
                  <a:t> </a:t>
                </a:r>
                <a:r>
                  <a:rPr lang="en-US" dirty="0" err="1"/>
                  <a:t>kế</a:t>
                </a:r>
                <a:r>
                  <a:rPr lang="en-US" dirty="0"/>
                  <a:t> </a:t>
                </a:r>
                <a:r>
                  <a:rPr lang="en-US" dirty="0" err="1"/>
                  <a:t>hệ</a:t>
                </a:r>
                <a:r>
                  <a:rPr lang="en-US" dirty="0"/>
                  <a:t> </a:t>
                </a:r>
                <a:r>
                  <a:rPr lang="en-US" dirty="0" err="1"/>
                  <a:t>thống</a:t>
                </a:r>
                <a:r>
                  <a:rPr lang="en-US" dirty="0"/>
                  <a:t> </a:t>
                </a:r>
                <a:r>
                  <a:rPr lang="en-US" dirty="0" err="1"/>
                  <a:t>trong</a:t>
                </a:r>
                <a:r>
                  <a:rPr lang="en-US" dirty="0"/>
                  <a:t> </a:t>
                </a:r>
                <a:r>
                  <a:rPr lang="en-US" dirty="0" err="1"/>
                  <a:t>miền</a:t>
                </a:r>
                <a:r>
                  <a:rPr lang="en-US" dirty="0"/>
                  <a:t> </a:t>
                </a:r>
                <a:r>
                  <a:rPr lang="en-US" dirty="0" err="1"/>
                  <a:t>tần</a:t>
                </a:r>
                <a:r>
                  <a:rPr lang="en-US" dirty="0"/>
                  <a:t> </a:t>
                </a:r>
                <a:r>
                  <a:rPr lang="en-US" dirty="0" err="1"/>
                  <a:t>số</a:t>
                </a:r>
                <a:r>
                  <a:rPr lang="en-US" dirty="0"/>
                  <a:t> </a:t>
                </a:r>
                <a:r>
                  <a:rPr lang="en-US" dirty="0" err="1"/>
                  <a:t>cho</a:t>
                </a:r>
                <a:r>
                  <a:rPr lang="en-US" dirty="0"/>
                  <a:t> </a:t>
                </a:r>
                <a:r>
                  <a:rPr lang="en-US" dirty="0" err="1"/>
                  <a:t>phép</a:t>
                </a:r>
                <a:r>
                  <a:rPr lang="en-US" dirty="0"/>
                  <a:t> </a:t>
                </a:r>
                <a:r>
                  <a:rPr lang="en-US" dirty="0" err="1"/>
                  <a:t>chúng</a:t>
                </a:r>
                <a:r>
                  <a:rPr lang="en-US" dirty="0"/>
                  <a:t> ta </a:t>
                </a:r>
                <a:r>
                  <a:rPr lang="en-US" dirty="0" err="1"/>
                  <a:t>điều</a:t>
                </a:r>
                <a:r>
                  <a:rPr lang="en-US" dirty="0"/>
                  <a:t> </a:t>
                </a:r>
                <a:r>
                  <a:rPr lang="en-US" dirty="0" err="1"/>
                  <a:t>khiển</a:t>
                </a:r>
                <a:r>
                  <a:rPr lang="en-US" dirty="0"/>
                  <a:t> </a:t>
                </a:r>
                <a:r>
                  <a:rPr lang="en-US" dirty="0" err="1"/>
                  <a:t>dải</a:t>
                </a:r>
                <a:r>
                  <a:rPr lang="en-US" dirty="0"/>
                  <a:t> </a:t>
                </a:r>
                <a:r>
                  <a:rPr lang="en-US" dirty="0" err="1"/>
                  <a:t>thông</a:t>
                </a:r>
                <a:r>
                  <a:rPr lang="en-US" dirty="0"/>
                  <a:t> </a:t>
                </a:r>
                <a:r>
                  <a:rPr lang="en-US" dirty="0" err="1"/>
                  <a:t>của</a:t>
                </a:r>
                <a:r>
                  <a:rPr lang="en-US" dirty="0"/>
                  <a:t> </a:t>
                </a:r>
                <a:r>
                  <a:rPr lang="en-US" dirty="0" err="1"/>
                  <a:t>hệ</a:t>
                </a:r>
                <a:r>
                  <a:rPr lang="en-US" dirty="0"/>
                  <a:t> </a:t>
                </a:r>
                <a:r>
                  <a:rPr lang="en-US" dirty="0" err="1"/>
                  <a:t>thống</a:t>
                </a:r>
                <a:r>
                  <a:rPr lang="en-US" dirty="0"/>
                  <a:t> </a:t>
                </a:r>
                <a:r>
                  <a:rPr lang="en-US" dirty="0" err="1"/>
                  <a:t>và</a:t>
                </a:r>
                <a:r>
                  <a:rPr lang="en-US" dirty="0"/>
                  <a:t> </a:t>
                </a:r>
                <a:r>
                  <a:rPr lang="en-US" dirty="0" err="1"/>
                  <a:t>một</a:t>
                </a:r>
                <a:r>
                  <a:rPr lang="en-US" dirty="0"/>
                  <a:t> </a:t>
                </a:r>
                <a:r>
                  <a:rPr lang="en-US" dirty="0" err="1"/>
                  <a:t>số</a:t>
                </a:r>
                <a:r>
                  <a:rPr lang="en-US" dirty="0"/>
                  <a:t> </a:t>
                </a:r>
                <a:r>
                  <a:rPr lang="en-US" dirty="0" err="1"/>
                  <a:t>số</a:t>
                </a:r>
                <a:r>
                  <a:rPr lang="en-US" dirty="0"/>
                  <a:t> </a:t>
                </a:r>
                <a:r>
                  <a:rPr lang="en-US" dirty="0" err="1"/>
                  <a:t>đo</a:t>
                </a:r>
                <a:r>
                  <a:rPr lang="en-US" dirty="0"/>
                  <a:t> </a:t>
                </a:r>
                <a:r>
                  <a:rPr lang="en-US" dirty="0" err="1"/>
                  <a:t>khác</a:t>
                </a:r>
                <a:r>
                  <a:rPr lang="en-US" dirty="0"/>
                  <a:t> </a:t>
                </a:r>
                <a:r>
                  <a:rPr lang="en-US" dirty="0" err="1"/>
                  <a:t>của</a:t>
                </a:r>
                <a:r>
                  <a:rPr lang="en-US" dirty="0"/>
                  <a:t> </a:t>
                </a:r>
                <a:r>
                  <a:rPr lang="en-US" dirty="0" err="1"/>
                  <a:t>đáp</a:t>
                </a:r>
                <a:r>
                  <a:rPr lang="en-US" dirty="0"/>
                  <a:t> </a:t>
                </a:r>
                <a:r>
                  <a:rPr lang="en-US" dirty="0" err="1"/>
                  <a:t>ứng</a:t>
                </a:r>
                <a:r>
                  <a:rPr lang="en-US" dirty="0"/>
                  <a:t> </a:t>
                </a:r>
                <a:r>
                  <a:rPr lang="en-US" dirty="0" err="1"/>
                  <a:t>đối</a:t>
                </a:r>
                <a:r>
                  <a:rPr lang="en-US" dirty="0"/>
                  <a:t> </a:t>
                </a:r>
                <a:r>
                  <a:rPr lang="en-US" dirty="0" err="1"/>
                  <a:t>với</a:t>
                </a:r>
                <a:r>
                  <a:rPr lang="en-US" dirty="0"/>
                  <a:t> </a:t>
                </a:r>
                <a:r>
                  <a:rPr lang="en-US" dirty="0" err="1"/>
                  <a:t>nhiễu</a:t>
                </a:r>
                <a:r>
                  <a:rPr lang="en-US" dirty="0"/>
                  <a:t>.  </a:t>
                </a:r>
              </a:p>
              <a:p>
                <a:pPr lvl="1" algn="just"/>
                <a:r>
                  <a:rPr lang="vi-VN" dirty="0"/>
                  <a:t>Hàm chuyển mô tả hành vi dạng sin ở trạng thái thường trực của hệ thống có thể xác định được bằng cách dùng </a:t>
                </a:r>
                <a14:m>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𝜔</m:t>
                    </m:r>
                  </m:oMath>
                </a14:m>
                <a:r>
                  <a:rPr lang="vi-VN" dirty="0"/>
                  <a:t> thay cho </a:t>
                </a:r>
                <a:r>
                  <a:rPr lang="vi-VN" i="1" dirty="0"/>
                  <a:t>s</a:t>
                </a:r>
                <a:r>
                  <a:rPr lang="vi-VN" dirty="0"/>
                  <a:t> trong hàm chuyển T(s) của hệ thống. </a:t>
                </a:r>
                <a:r>
                  <a:rPr lang="en-US" dirty="0" err="1"/>
                  <a:t>Hàm</a:t>
                </a:r>
                <a:r>
                  <a:rPr lang="en-US" dirty="0"/>
                  <a:t> </a:t>
                </a:r>
                <a:r>
                  <a:rPr lang="en-US" dirty="0" err="1"/>
                  <a:t>chuyển</a:t>
                </a:r>
                <a:r>
                  <a:rPr lang="en-US" dirty="0"/>
                  <a:t> </a:t>
                </a:r>
                <a:r>
                  <a:rPr lang="en-US" dirty="0" err="1"/>
                  <a:t>biểu</a:t>
                </a:r>
                <a:r>
                  <a:rPr lang="en-US" dirty="0"/>
                  <a:t> </a:t>
                </a:r>
                <a:r>
                  <a:rPr lang="en-US" dirty="0" err="1"/>
                  <a:t>diễn</a:t>
                </a:r>
                <a:r>
                  <a:rPr lang="en-US" dirty="0"/>
                  <a:t> </a:t>
                </a:r>
                <a:r>
                  <a:rPr lang="en-US" dirty="0" err="1"/>
                  <a:t>hành</a:t>
                </a:r>
                <a:r>
                  <a:rPr lang="en-US" dirty="0"/>
                  <a:t> vi </a:t>
                </a:r>
                <a:r>
                  <a:rPr lang="en-US" dirty="0" err="1"/>
                  <a:t>dạng</a:t>
                </a:r>
                <a:r>
                  <a:rPr lang="en-US" dirty="0"/>
                  <a:t> sin </a:t>
                </a:r>
                <a:r>
                  <a:rPr lang="en-US" dirty="0" err="1"/>
                  <a:t>ở</a:t>
                </a:r>
                <a:r>
                  <a:rPr lang="en-US" dirty="0"/>
                  <a:t> </a:t>
                </a:r>
                <a:r>
                  <a:rPr lang="en-US" dirty="0" err="1"/>
                  <a:t>trạng</a:t>
                </a:r>
                <a:r>
                  <a:rPr lang="en-US" dirty="0"/>
                  <a:t> </a:t>
                </a:r>
                <a:r>
                  <a:rPr lang="en-US" dirty="0" err="1"/>
                  <a:t>thái</a:t>
                </a:r>
                <a:r>
                  <a:rPr lang="en-US" dirty="0"/>
                  <a:t> </a:t>
                </a:r>
                <a:r>
                  <a:rPr lang="en-US" dirty="0" err="1"/>
                  <a:t>thường</a:t>
                </a:r>
                <a:r>
                  <a:rPr lang="en-US" dirty="0"/>
                  <a:t> </a:t>
                </a:r>
                <a:r>
                  <a:rPr lang="en-US" dirty="0" err="1"/>
                  <a:t>trực</a:t>
                </a:r>
                <a:r>
                  <a:rPr lang="en-US" dirty="0"/>
                  <a:t> </a:t>
                </a:r>
                <a:r>
                  <a:rPr lang="en-US" dirty="0" err="1"/>
                  <a:t>của</a:t>
                </a:r>
                <a:r>
                  <a:rPr lang="en-US" dirty="0"/>
                  <a:t> </a:t>
                </a:r>
                <a:r>
                  <a:rPr lang="en-US" dirty="0" err="1"/>
                  <a:t>hệ</a:t>
                </a:r>
                <a:r>
                  <a:rPr lang="en-US" dirty="0"/>
                  <a:t> </a:t>
                </a:r>
                <a:r>
                  <a:rPr lang="en-US" dirty="0" err="1"/>
                  <a:t>thống</a:t>
                </a:r>
                <a:r>
                  <a:rPr lang="en-US" dirty="0"/>
                  <a:t> </a:t>
                </a:r>
                <a:r>
                  <a:rPr lang="en-US" dirty="0" err="1"/>
                  <a:t>khi</a:t>
                </a:r>
                <a:r>
                  <a:rPr lang="en-US" dirty="0"/>
                  <a:t> </a:t>
                </a:r>
                <a:r>
                  <a:rPr lang="en-US" dirty="0" err="1"/>
                  <a:t>đó</a:t>
                </a:r>
                <a:r>
                  <a:rPr lang="en-US" dirty="0"/>
                  <a:t> </a:t>
                </a:r>
                <a:r>
                  <a:rPr lang="en-US" dirty="0" err="1"/>
                  <a:t>sẽ</a:t>
                </a:r>
                <a:r>
                  <a:rPr lang="en-US" dirty="0"/>
                  <a:t> </a:t>
                </a:r>
                <a:r>
                  <a:rPr lang="en-US" dirty="0" err="1"/>
                  <a:t>là</a:t>
                </a:r>
                <a:r>
                  <a:rPr lang="en-US" dirty="0"/>
                  <a:t> </a:t>
                </a:r>
                <a:r>
                  <a:rPr lang="en-US" dirty="0" err="1"/>
                  <a:t>một</a:t>
                </a:r>
                <a:r>
                  <a:rPr lang="en-US" dirty="0"/>
                  <a:t> </a:t>
                </a:r>
                <a:r>
                  <a:rPr lang="en-US" dirty="0" err="1"/>
                  <a:t>hàm</a:t>
                </a:r>
                <a:r>
                  <a:rPr lang="en-US" dirty="0"/>
                  <a:t> </a:t>
                </a:r>
                <a:r>
                  <a:rPr lang="en-US" dirty="0" err="1"/>
                  <a:t>của</a:t>
                </a:r>
                <a:r>
                  <a:rPr lang="en-US" dirty="0"/>
                  <a:t> </a:t>
                </a:r>
                <a:r>
                  <a:rPr lang="en-US" dirty="0" err="1"/>
                  <a:t>biến</a:t>
                </a:r>
                <a:r>
                  <a:rPr lang="en-US" dirty="0"/>
                  <a:t> </a:t>
                </a:r>
                <a:r>
                  <a:rPr lang="en-US" dirty="0" err="1"/>
                  <a:t>phức</a:t>
                </a:r>
                <a:r>
                  <a:rPr lang="en-US" dirty="0"/>
                  <a:t> </a:t>
                </a:r>
                <a14:m>
                  <m:oMath xmlns:m="http://schemas.openxmlformats.org/officeDocument/2006/math">
                    <m:r>
                      <a:rPr lang="en-US" i="1">
                        <a:latin typeface="Cambria Math" panose="02040503050406030204" pitchFamily="18" charset="0"/>
                      </a:rPr>
                      <m:t>𝑗</m:t>
                    </m:r>
                    <m:r>
                      <a:rPr lang="en-US" i="1">
                        <a:latin typeface="Cambria Math" panose="02040503050406030204" pitchFamily="18" charset="0"/>
                      </a:rPr>
                      <m:t>𝜔</m:t>
                    </m:r>
                  </m:oMath>
                </a14:m>
                <a:r>
                  <a:rPr lang="en-US" dirty="0"/>
                  <a:t>, </a:t>
                </a:r>
                <a:r>
                  <a:rPr lang="en-US" dirty="0" err="1"/>
                  <a:t>và</a:t>
                </a:r>
                <a:r>
                  <a:rPr lang="en-US" dirty="0"/>
                  <a:t> </a:t>
                </a:r>
                <a:r>
                  <a:rPr lang="en-US" dirty="0" err="1"/>
                  <a:t>bản</a:t>
                </a:r>
                <a:r>
                  <a:rPr lang="en-US" dirty="0"/>
                  <a:t> </a:t>
                </a:r>
                <a:r>
                  <a:rPr lang="en-US" dirty="0" err="1"/>
                  <a:t>thân</a:t>
                </a:r>
                <a:r>
                  <a:rPr lang="en-US" dirty="0"/>
                  <a:t> </a:t>
                </a:r>
                <a:r>
                  <a:rPr lang="en-US" dirty="0" err="1"/>
                  <a:t>nó</a:t>
                </a:r>
                <a:r>
                  <a:rPr lang="en-US" dirty="0"/>
                  <a:t> </a:t>
                </a:r>
                <a:r>
                  <a:rPr lang="en-US" dirty="0" err="1"/>
                  <a:t>cũng</a:t>
                </a:r>
                <a:r>
                  <a:rPr lang="en-US" dirty="0"/>
                  <a:t> </a:t>
                </a:r>
                <a:r>
                  <a:rPr lang="en-US" dirty="0" err="1"/>
                  <a:t>là</a:t>
                </a:r>
                <a:r>
                  <a:rPr lang="en-US" dirty="0"/>
                  <a:t> </a:t>
                </a:r>
                <a:r>
                  <a:rPr lang="en-US" dirty="0" err="1"/>
                  <a:t>một</a:t>
                </a:r>
                <a:r>
                  <a:rPr lang="en-US" dirty="0"/>
                  <a:t> </a:t>
                </a:r>
                <a:r>
                  <a:rPr lang="en-US" dirty="0" err="1"/>
                  <a:t>hàm</a:t>
                </a:r>
                <a:r>
                  <a:rPr lang="en-US" dirty="0"/>
                  <a:t> </a:t>
                </a:r>
                <a:r>
                  <a:rPr lang="en-US" dirty="0" err="1"/>
                  <a:t>phức</a:t>
                </a:r>
                <a:r>
                  <a:rPr lang="en-US" dirty="0"/>
                  <a:t> </a:t>
                </a:r>
                <a:r>
                  <a:rPr lang="en-US" i="1" dirty="0"/>
                  <a:t>T</a:t>
                </a:r>
                <a:r>
                  <a:rPr lang="en-US" dirty="0"/>
                  <a:t>(</a:t>
                </a:r>
                <a14:m>
                  <m:oMath xmlns:m="http://schemas.openxmlformats.org/officeDocument/2006/math">
                    <m:r>
                      <a:rPr lang="en-US" i="1">
                        <a:latin typeface="Cambria Math" panose="02040503050406030204" pitchFamily="18" charset="0"/>
                      </a:rPr>
                      <m:t>𝑗</m:t>
                    </m:r>
                    <m:r>
                      <a:rPr lang="en-US" i="1">
                        <a:latin typeface="Cambria Math" panose="02040503050406030204" pitchFamily="18" charset="0"/>
                      </a:rPr>
                      <m:t>𝜔</m:t>
                    </m:r>
                  </m:oMath>
                </a14:m>
                <a:r>
                  <a:rPr lang="en-US" dirty="0"/>
                  <a:t>), </a:t>
                </a:r>
                <a:r>
                  <a:rPr lang="en-US" dirty="0" err="1"/>
                  <a:t>được</a:t>
                </a:r>
                <a:r>
                  <a:rPr lang="en-US" dirty="0"/>
                  <a:t> </a:t>
                </a:r>
                <a:r>
                  <a:rPr lang="en-US" dirty="0" err="1"/>
                  <a:t>đặc</a:t>
                </a:r>
                <a:r>
                  <a:rPr lang="en-US" dirty="0"/>
                  <a:t> </a:t>
                </a:r>
                <a:r>
                  <a:rPr lang="en-US" dirty="0" err="1"/>
                  <a:t>trưng</a:t>
                </a:r>
                <a:r>
                  <a:rPr lang="en-US" dirty="0"/>
                  <a:t> </a:t>
                </a:r>
                <a:r>
                  <a:rPr lang="en-US" dirty="0" err="1"/>
                  <a:t>bởi</a:t>
                </a:r>
                <a:r>
                  <a:rPr lang="en-US" dirty="0"/>
                  <a:t> </a:t>
                </a:r>
                <a:r>
                  <a:rPr lang="en-US" dirty="0" err="1"/>
                  <a:t>độ</a:t>
                </a:r>
                <a:r>
                  <a:rPr lang="en-US" dirty="0"/>
                  <a:t> </a:t>
                </a:r>
                <a:r>
                  <a:rPr lang="en-US" dirty="0" err="1"/>
                  <a:t>lớn</a:t>
                </a:r>
                <a:r>
                  <a:rPr lang="en-US" dirty="0"/>
                  <a:t> </a:t>
                </a:r>
                <a:r>
                  <a:rPr lang="en-US" dirty="0" err="1"/>
                  <a:t>và</a:t>
                </a:r>
                <a:r>
                  <a:rPr lang="en-US" dirty="0"/>
                  <a:t> </a:t>
                </a:r>
                <a:r>
                  <a:rPr lang="en-US" dirty="0" err="1"/>
                  <a:t>góc</a:t>
                </a:r>
                <a:r>
                  <a:rPr lang="en-US" dirty="0"/>
                  <a:t> </a:t>
                </a:r>
                <a:r>
                  <a:rPr lang="en-US" dirty="0" err="1"/>
                  <a:t>pha</a:t>
                </a:r>
                <a:r>
                  <a:rPr lang="en-US" dirty="0"/>
                  <a:t>. </a:t>
                </a:r>
                <a:r>
                  <a:rPr lang="en-US" dirty="0" err="1"/>
                  <a:t>Độ</a:t>
                </a:r>
                <a:r>
                  <a:rPr lang="en-US" dirty="0"/>
                  <a:t> </a:t>
                </a:r>
                <a:r>
                  <a:rPr lang="en-US" dirty="0" err="1"/>
                  <a:t>lớn</a:t>
                </a:r>
                <a:r>
                  <a:rPr lang="en-US" dirty="0"/>
                  <a:t> </a:t>
                </a:r>
                <a:r>
                  <a:rPr lang="en-US" dirty="0" err="1"/>
                  <a:t>và</a:t>
                </a:r>
                <a:r>
                  <a:rPr lang="en-US" dirty="0"/>
                  <a:t> </a:t>
                </a:r>
                <a:r>
                  <a:rPr lang="en-US" dirty="0" err="1"/>
                  <a:t>góc</a:t>
                </a:r>
                <a:r>
                  <a:rPr lang="en-US" dirty="0"/>
                  <a:t> </a:t>
                </a:r>
                <a:r>
                  <a:rPr lang="en-US" dirty="0" err="1"/>
                  <a:t>pha</a:t>
                </a:r>
                <a:r>
                  <a:rPr lang="en-US" dirty="0"/>
                  <a:t> </a:t>
                </a:r>
                <a:r>
                  <a:rPr lang="en-US" dirty="0" err="1"/>
                  <a:t>của</a:t>
                </a:r>
                <a:r>
                  <a:rPr lang="en-US" dirty="0"/>
                  <a:t> </a:t>
                </a:r>
                <a:r>
                  <a:rPr lang="en-US" i="1" dirty="0"/>
                  <a:t>T</a:t>
                </a:r>
                <a:r>
                  <a:rPr lang="en-US" dirty="0"/>
                  <a:t>(</a:t>
                </a:r>
                <a14:m>
                  <m:oMath xmlns:m="http://schemas.openxmlformats.org/officeDocument/2006/math">
                    <m:r>
                      <a:rPr lang="en-US" i="1">
                        <a:latin typeface="Cambria Math" panose="02040503050406030204" pitchFamily="18" charset="0"/>
                      </a:rPr>
                      <m:t>𝑗</m:t>
                    </m:r>
                    <m:r>
                      <a:rPr lang="en-US" i="1">
                        <a:latin typeface="Cambria Math" panose="02040503050406030204" pitchFamily="18" charset="0"/>
                      </a:rPr>
                      <m:t>𝜔</m:t>
                    </m:r>
                  </m:oMath>
                </a14:m>
                <a:r>
                  <a:rPr lang="en-US" dirty="0"/>
                  <a:t>) </a:t>
                </a:r>
                <a:r>
                  <a:rPr lang="en-US" dirty="0" err="1"/>
                  <a:t>được</a:t>
                </a:r>
                <a:r>
                  <a:rPr lang="en-US" dirty="0"/>
                  <a:t> </a:t>
                </a:r>
                <a:r>
                  <a:rPr lang="en-US" dirty="0" err="1"/>
                  <a:t>biểu</a:t>
                </a:r>
                <a:r>
                  <a:rPr lang="en-US" dirty="0"/>
                  <a:t> </a:t>
                </a:r>
                <a:r>
                  <a:rPr lang="en-US" dirty="0" err="1"/>
                  <a:t>diễn</a:t>
                </a:r>
                <a:r>
                  <a:rPr lang="en-US" dirty="0"/>
                  <a:t> </a:t>
                </a:r>
                <a:r>
                  <a:rPr lang="en-US" dirty="0" err="1"/>
                  <a:t>bằng</a:t>
                </a:r>
                <a:r>
                  <a:rPr lang="en-US" dirty="0"/>
                  <a:t> </a:t>
                </a:r>
                <a:r>
                  <a:rPr lang="en-US" dirty="0" err="1"/>
                  <a:t>các</a:t>
                </a:r>
                <a:r>
                  <a:rPr lang="en-US" dirty="0"/>
                  <a:t> </a:t>
                </a:r>
                <a:r>
                  <a:rPr lang="en-US" dirty="0" err="1"/>
                  <a:t>đồ</a:t>
                </a:r>
                <a:r>
                  <a:rPr lang="en-US" dirty="0"/>
                  <a:t> </a:t>
                </a:r>
                <a:r>
                  <a:rPr lang="en-US" dirty="0" err="1"/>
                  <a:t>thị</a:t>
                </a:r>
                <a:r>
                  <a:rPr lang="en-US" dirty="0"/>
                  <a:t>, </a:t>
                </a:r>
                <a:r>
                  <a:rPr lang="en-US" dirty="0" err="1"/>
                  <a:t>cung</a:t>
                </a:r>
                <a:r>
                  <a:rPr lang="en-US" dirty="0"/>
                  <a:t> </a:t>
                </a:r>
                <a:r>
                  <a:rPr lang="en-US" dirty="0" err="1"/>
                  <a:t>cấp</a:t>
                </a:r>
                <a:r>
                  <a:rPr lang="en-US" dirty="0"/>
                  <a:t> </a:t>
                </a:r>
                <a:r>
                  <a:rPr lang="en-US" dirty="0" err="1"/>
                  <a:t>cho</a:t>
                </a:r>
                <a:r>
                  <a:rPr lang="en-US" dirty="0"/>
                  <a:t> </a:t>
                </a:r>
                <a:r>
                  <a:rPr lang="en-US" dirty="0" err="1"/>
                  <a:t>chúng</a:t>
                </a:r>
                <a:r>
                  <a:rPr lang="en-US" dirty="0"/>
                  <a:t> ta </a:t>
                </a:r>
                <a:r>
                  <a:rPr lang="en-US" dirty="0" err="1"/>
                  <a:t>những</a:t>
                </a:r>
                <a:r>
                  <a:rPr lang="en-US" dirty="0"/>
                  <a:t> </a:t>
                </a:r>
                <a:r>
                  <a:rPr lang="en-US" dirty="0" err="1"/>
                  <a:t>thông</a:t>
                </a:r>
                <a:r>
                  <a:rPr lang="en-US" dirty="0"/>
                  <a:t> tin </a:t>
                </a:r>
                <a:r>
                  <a:rPr lang="en-US" dirty="0" err="1"/>
                  <a:t>quan</a:t>
                </a:r>
                <a:r>
                  <a:rPr lang="en-US" dirty="0"/>
                  <a:t> </a:t>
                </a:r>
                <a:r>
                  <a:rPr lang="en-US" dirty="0" err="1"/>
                  <a:t>trọng</a:t>
                </a:r>
                <a:r>
                  <a:rPr lang="en-US" dirty="0"/>
                  <a:t> </a:t>
                </a:r>
                <a:r>
                  <a:rPr lang="en-US" dirty="0" err="1"/>
                  <a:t>cho</a:t>
                </a:r>
                <a:r>
                  <a:rPr lang="en-US" dirty="0"/>
                  <a:t> </a:t>
                </a:r>
                <a:r>
                  <a:rPr lang="en-US" dirty="0" err="1"/>
                  <a:t>việc</a:t>
                </a:r>
                <a:r>
                  <a:rPr lang="en-US" dirty="0"/>
                  <a:t> </a:t>
                </a:r>
                <a:r>
                  <a:rPr lang="en-US" dirty="0" err="1"/>
                  <a:t>phân</a:t>
                </a:r>
                <a:r>
                  <a:rPr lang="en-US" dirty="0"/>
                  <a:t> </a:t>
                </a:r>
                <a:r>
                  <a:rPr lang="en-US" dirty="0" err="1"/>
                  <a:t>tích</a:t>
                </a:r>
                <a:r>
                  <a:rPr lang="en-US" dirty="0"/>
                  <a:t> </a:t>
                </a:r>
                <a:r>
                  <a:rPr lang="en-US" dirty="0" err="1"/>
                  <a:t>và</a:t>
                </a:r>
                <a:r>
                  <a:rPr lang="en-US" dirty="0"/>
                  <a:t> </a:t>
                </a:r>
                <a:r>
                  <a:rPr lang="en-US" dirty="0" err="1"/>
                  <a:t>thiết</a:t>
                </a:r>
                <a:r>
                  <a:rPr lang="en-US" dirty="0"/>
                  <a:t> </a:t>
                </a:r>
                <a:r>
                  <a:rPr lang="en-US" dirty="0" err="1"/>
                  <a:t>kế</a:t>
                </a:r>
                <a:r>
                  <a:rPr lang="en-US" dirty="0"/>
                  <a:t> </a:t>
                </a:r>
                <a:r>
                  <a:rPr lang="en-US" dirty="0" err="1"/>
                  <a:t>hệ</a:t>
                </a:r>
                <a:r>
                  <a:rPr lang="en-US" dirty="0"/>
                  <a:t> </a:t>
                </a:r>
                <a:r>
                  <a:rPr lang="en-US" dirty="0" err="1"/>
                  <a:t>thống</a:t>
                </a:r>
                <a:r>
                  <a:rPr lang="en-US" dirty="0"/>
                  <a:t>.</a:t>
                </a:r>
                <a:endParaRPr lang="en-VN" dirty="0"/>
              </a:p>
              <a:p>
                <a:pPr algn="just">
                  <a:buClr>
                    <a:srgbClr val="B71E42"/>
                  </a:buClr>
                  <a:defRPr/>
                </a:pPr>
                <a:r>
                  <a:rPr lang="en-VN" dirty="0">
                    <a:solidFill>
                      <a:prstClr val="black"/>
                    </a:solidFill>
                  </a:rPr>
                  <a:t>Nhược</a:t>
                </a:r>
                <a:r>
                  <a:rPr kumimoji="0" lang="en-VN"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điểm: </a:t>
                </a:r>
                <a:r>
                  <a:rPr lang="en-US" dirty="0">
                    <a:solidFill>
                      <a:prstClr val="black"/>
                    </a:solidFill>
                  </a:rPr>
                  <a:t>M</a:t>
                </a: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ối</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liên</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hệ</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không</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trực</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tiếp</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giữa</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tần</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số</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và</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miền</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thời</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gian</a:t>
                </a:r>
                <a:r>
                  <a:rPr lang="en-US" dirty="0">
                    <a:solidFill>
                      <a:prstClr val="black"/>
                    </a:solidFill>
                  </a:rPr>
                  <a:t>.</a:t>
                </a:r>
                <a:endParaRPr kumimoji="0" lang="en-VN"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lvl="1" algn="just"/>
                <a:endParaRPr lang="en-VN" dirty="0"/>
              </a:p>
            </p:txBody>
          </p:sp>
        </mc:Choice>
        <mc:Fallback xmlns="">
          <p:sp>
            <p:nvSpPr>
              <p:cNvPr id="3" name="Content Placeholder 2">
                <a:extLst>
                  <a:ext uri="{FF2B5EF4-FFF2-40B4-BE49-F238E27FC236}">
                    <a16:creationId xmlns:a16="http://schemas.microsoft.com/office/drawing/2014/main" id="{8F1E1FEF-49DE-54A3-38B2-CF94E1F47024}"/>
                  </a:ext>
                </a:extLst>
              </p:cNvPr>
              <p:cNvSpPr>
                <a:spLocks noGrp="1" noRot="1" noChangeAspect="1" noMove="1" noResize="1" noEditPoints="1" noAdjustHandles="1" noChangeArrowheads="1" noChangeShapeType="1" noTextEdit="1"/>
              </p:cNvSpPr>
              <p:nvPr>
                <p:ph idx="1"/>
              </p:nvPr>
            </p:nvSpPr>
            <p:spPr>
              <a:blipFill>
                <a:blip r:embed="rId2"/>
                <a:stretch>
                  <a:fillRect l="-528" r="-528" b="-285"/>
                </a:stretch>
              </a:blipFill>
            </p:spPr>
            <p:txBody>
              <a:bodyPr/>
              <a:lstStyle/>
              <a:p>
                <a:r>
                  <a:rPr lang="en-VN">
                    <a:noFill/>
                  </a:rPr>
                  <a:t> </a:t>
                </a:r>
              </a:p>
            </p:txBody>
          </p:sp>
        </mc:Fallback>
      </mc:AlternateContent>
    </p:spTree>
    <p:extLst>
      <p:ext uri="{BB962C8B-B14F-4D97-AF65-F5344CB8AC3E}">
        <p14:creationId xmlns:p14="http://schemas.microsoft.com/office/powerpoint/2010/main" val="2629284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C782A-E513-EF2E-2B9F-9BA8653C649F}"/>
              </a:ext>
            </a:extLst>
          </p:cNvPr>
          <p:cNvSpPr>
            <a:spLocks noGrp="1"/>
          </p:cNvSpPr>
          <p:nvPr>
            <p:ph type="title"/>
          </p:nvPr>
        </p:nvSpPr>
        <p:spPr/>
        <p:txBody>
          <a:bodyPr/>
          <a:lstStyle/>
          <a:p>
            <a:r>
              <a:rPr lang="en-VN" dirty="0"/>
              <a:t>GIỚI THIỆU</a:t>
            </a:r>
          </a:p>
        </p:txBody>
      </p:sp>
      <p:pic>
        <p:nvPicPr>
          <p:cNvPr id="5" name="Content Placeholder 4">
            <a:extLst>
              <a:ext uri="{FF2B5EF4-FFF2-40B4-BE49-F238E27FC236}">
                <a16:creationId xmlns:a16="http://schemas.microsoft.com/office/drawing/2014/main" id="{FC9B0584-BFEF-6976-CE33-6D70570DF12C}"/>
              </a:ext>
            </a:extLst>
          </p:cNvPr>
          <p:cNvPicPr>
            <a:picLocks noGrp="1" noChangeAspect="1"/>
          </p:cNvPicPr>
          <p:nvPr>
            <p:ph idx="1"/>
          </p:nvPr>
        </p:nvPicPr>
        <p:blipFill>
          <a:blip r:embed="rId2"/>
          <a:stretch>
            <a:fillRect/>
          </a:stretch>
        </p:blipFill>
        <p:spPr>
          <a:xfrm>
            <a:off x="2663095" y="1244600"/>
            <a:ext cx="7180134" cy="4443413"/>
          </a:xfrm>
        </p:spPr>
      </p:pic>
      <p:sp>
        <p:nvSpPr>
          <p:cNvPr id="6" name="Rectangle 5">
            <a:extLst>
              <a:ext uri="{FF2B5EF4-FFF2-40B4-BE49-F238E27FC236}">
                <a16:creationId xmlns:a16="http://schemas.microsoft.com/office/drawing/2014/main" id="{FAB1DF1F-562F-188B-FD4C-98D9365AC342}"/>
              </a:ext>
            </a:extLst>
          </p:cNvPr>
          <p:cNvSpPr/>
          <p:nvPr/>
        </p:nvSpPr>
        <p:spPr>
          <a:xfrm>
            <a:off x="4408532" y="1251553"/>
            <a:ext cx="546596"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4046095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35B94-28F9-3BDD-C342-C27D8792644C}"/>
              </a:ext>
            </a:extLst>
          </p:cNvPr>
          <p:cNvSpPr>
            <a:spLocks noGrp="1"/>
          </p:cNvSpPr>
          <p:nvPr>
            <p:ph type="title"/>
          </p:nvPr>
        </p:nvSpPr>
        <p:spPr/>
        <p:txBody>
          <a:bodyPr/>
          <a:lstStyle/>
          <a:p>
            <a:r>
              <a:rPr lang="en-VN" dirty="0"/>
              <a:t>GIỚI THIỆU</a:t>
            </a:r>
          </a:p>
        </p:txBody>
      </p:sp>
      <p:sp>
        <p:nvSpPr>
          <p:cNvPr id="3" name="Content Placeholder 2">
            <a:extLst>
              <a:ext uri="{FF2B5EF4-FFF2-40B4-BE49-F238E27FC236}">
                <a16:creationId xmlns:a16="http://schemas.microsoft.com/office/drawing/2014/main" id="{B42C85D6-102F-E8C7-C6F6-F2C4EDC42E89}"/>
              </a:ext>
            </a:extLst>
          </p:cNvPr>
          <p:cNvSpPr>
            <a:spLocks noGrp="1"/>
          </p:cNvSpPr>
          <p:nvPr>
            <p:ph idx="1"/>
          </p:nvPr>
        </p:nvSpPr>
        <p:spPr/>
        <p:txBody>
          <a:bodyPr/>
          <a:lstStyle/>
          <a:p>
            <a:r>
              <a:rPr lang="en-VN" dirty="0"/>
              <a:t>Biến đổi Laplace:</a:t>
            </a:r>
          </a:p>
          <a:p>
            <a:endParaRPr lang="en-VN" dirty="0"/>
          </a:p>
          <a:p>
            <a:endParaRPr lang="en-VN" dirty="0"/>
          </a:p>
          <a:p>
            <a:endParaRPr lang="en-VN" dirty="0"/>
          </a:p>
          <a:p>
            <a:endParaRPr lang="en-VN" dirty="0"/>
          </a:p>
          <a:p>
            <a:r>
              <a:rPr lang="en-VN" dirty="0"/>
              <a:t>Biến đổi Fourier:</a:t>
            </a:r>
          </a:p>
          <a:p>
            <a:pPr marL="0" indent="0">
              <a:buNone/>
            </a:pPr>
            <a:endParaRPr lang="en-VN"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0D93EEF-E279-8900-ADBA-224BCD6AC0B5}"/>
                  </a:ext>
                </a:extLst>
              </p:cNvPr>
              <p:cNvSpPr txBox="1"/>
              <p:nvPr/>
            </p:nvSpPr>
            <p:spPr>
              <a:xfrm>
                <a:off x="1646056" y="3179072"/>
                <a:ext cx="4783016"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a:t>
                </a:r>
                <a:r>
                  <a:rPr lang="en-VN" dirty="0">
                    <a:latin typeface="Arial" panose="020B0604020202020204" pitchFamily="34" charset="0"/>
                    <a:cs typeface="Arial" panose="020B0604020202020204" pitchFamily="34" charset="0"/>
                  </a:rPr>
                  <a:t>rong đó,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𝜎</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𝜔</m:t>
                    </m:r>
                  </m:oMath>
                </a14:m>
                <a:endParaRPr lang="en-VN"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F0D93EEF-E279-8900-ADBA-224BCD6AC0B5}"/>
                  </a:ext>
                </a:extLst>
              </p:cNvPr>
              <p:cNvSpPr txBox="1">
                <a:spLocks noRot="1" noChangeAspect="1" noMove="1" noResize="1" noEditPoints="1" noAdjustHandles="1" noChangeArrowheads="1" noChangeShapeType="1" noTextEdit="1"/>
              </p:cNvSpPr>
              <p:nvPr/>
            </p:nvSpPr>
            <p:spPr>
              <a:xfrm>
                <a:off x="1646056" y="3179072"/>
                <a:ext cx="4783016" cy="369332"/>
              </a:xfrm>
              <a:prstGeom prst="rect">
                <a:avLst/>
              </a:prstGeom>
              <a:blipFill>
                <a:blip r:embed="rId2"/>
                <a:stretch>
                  <a:fillRect l="-1058" t="-6667" b="-26667"/>
                </a:stretch>
              </a:blipFill>
            </p:spPr>
            <p:txBody>
              <a:bodyPr/>
              <a:lstStyle/>
              <a:p>
                <a:r>
                  <a:rPr lang="en-VN">
                    <a:noFill/>
                  </a:rPr>
                  <a:t> </a:t>
                </a:r>
              </a:p>
            </p:txBody>
          </p:sp>
        </mc:Fallback>
      </mc:AlternateContent>
      <p:pic>
        <p:nvPicPr>
          <p:cNvPr id="9" name="Content Placeholder 4">
            <a:extLst>
              <a:ext uri="{FF2B5EF4-FFF2-40B4-BE49-F238E27FC236}">
                <a16:creationId xmlns:a16="http://schemas.microsoft.com/office/drawing/2014/main" id="{DC0D8395-B25B-C29E-1737-46EE375BB191}"/>
              </a:ext>
            </a:extLst>
          </p:cNvPr>
          <p:cNvPicPr>
            <a:picLocks noChangeAspect="1"/>
          </p:cNvPicPr>
          <p:nvPr/>
        </p:nvPicPr>
        <p:blipFill>
          <a:blip r:embed="rId3"/>
          <a:stretch>
            <a:fillRect/>
          </a:stretch>
        </p:blipFill>
        <p:spPr>
          <a:xfrm>
            <a:off x="4628611" y="1169587"/>
            <a:ext cx="4011297" cy="930989"/>
          </a:xfrm>
          <a:prstGeom prst="rect">
            <a:avLst/>
          </a:prstGeom>
        </p:spPr>
      </p:pic>
      <p:pic>
        <p:nvPicPr>
          <p:cNvPr id="10" name="Picture 9">
            <a:extLst>
              <a:ext uri="{FF2B5EF4-FFF2-40B4-BE49-F238E27FC236}">
                <a16:creationId xmlns:a16="http://schemas.microsoft.com/office/drawing/2014/main" id="{5331301C-0E57-A27D-D27F-A574C42FC3D9}"/>
              </a:ext>
            </a:extLst>
          </p:cNvPr>
          <p:cNvPicPr>
            <a:picLocks noChangeAspect="1"/>
          </p:cNvPicPr>
          <p:nvPr/>
        </p:nvPicPr>
        <p:blipFill>
          <a:blip r:embed="rId4"/>
          <a:stretch>
            <a:fillRect/>
          </a:stretch>
        </p:blipFill>
        <p:spPr>
          <a:xfrm>
            <a:off x="4322337" y="2303191"/>
            <a:ext cx="4783016" cy="930587"/>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6807F67-9B5F-FAAA-EC07-1A85C8523948}"/>
                  </a:ext>
                </a:extLst>
              </p:cNvPr>
              <p:cNvSpPr txBox="1"/>
              <p:nvPr/>
            </p:nvSpPr>
            <p:spPr>
              <a:xfrm>
                <a:off x="4774019" y="3963593"/>
                <a:ext cx="4098430" cy="6803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𝐹</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𝑗</m:t>
                          </m:r>
                          <m:r>
                            <a:rPr lang="en-US" sz="2000" b="0" i="1" smtClean="0">
                              <a:latin typeface="Cambria Math" panose="02040503050406030204" pitchFamily="18" charset="0"/>
                            </a:rPr>
                            <m:t>𝜔</m:t>
                          </m:r>
                        </m:e>
                      </m:d>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ℱ</m:t>
                      </m:r>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𝑓</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𝑡</m:t>
                              </m:r>
                            </m:e>
                          </m:d>
                        </m:e>
                      </m:d>
                      <m:r>
                        <a:rPr lang="en-US" sz="2000" b="0" i="1" smtClean="0">
                          <a:latin typeface="Cambria Math" panose="02040503050406030204" pitchFamily="18" charset="0"/>
                          <a:ea typeface="Cambria Math" panose="02040503050406030204" pitchFamily="18" charset="0"/>
                        </a:rPr>
                        <m:t>=</m:t>
                      </m:r>
                      <m:nary>
                        <m:naryPr>
                          <m:ctrlPr>
                            <a:rPr lang="en-US" sz="2000" b="0" i="1" smtClean="0">
                              <a:latin typeface="Cambria Math" panose="02040503050406030204" pitchFamily="18" charset="0"/>
                              <a:ea typeface="Cambria Math" panose="02040503050406030204" pitchFamily="18" charset="0"/>
                            </a:rPr>
                          </m:ctrlPr>
                        </m:naryPr>
                        <m:sub>
                          <m:r>
                            <m:rPr>
                              <m:brk m:alnAt="23"/>
                            </m:rP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sub>
                        <m:sup>
                          <m:r>
                            <a:rPr lang="en-US" sz="2000" b="0" i="1" smtClean="0">
                              <a:latin typeface="Cambria Math" panose="02040503050406030204" pitchFamily="18" charset="0"/>
                              <a:ea typeface="Cambria Math" panose="02040503050406030204" pitchFamily="18" charset="0"/>
                            </a:rPr>
                            <m:t>+∞</m:t>
                          </m:r>
                        </m:sup>
                        <m:e>
                          <m:r>
                            <a:rPr lang="en-US" sz="2000" b="0" i="1" smtClean="0">
                              <a:latin typeface="Cambria Math" panose="02040503050406030204" pitchFamily="18" charset="0"/>
                              <a:ea typeface="Cambria Math" panose="02040503050406030204" pitchFamily="18" charset="0"/>
                            </a:rPr>
                            <m:t>𝑓</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𝑡</m:t>
                              </m:r>
                            </m:e>
                          </m:d>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𝑒</m:t>
                              </m:r>
                            </m:e>
                            <m:sup>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𝑡</m:t>
                              </m:r>
                            </m:sup>
                          </m:sSup>
                          <m:r>
                            <a:rPr lang="en-US" sz="2000" b="0" i="1" smtClean="0">
                              <a:latin typeface="Cambria Math" panose="02040503050406030204" pitchFamily="18" charset="0"/>
                              <a:ea typeface="Cambria Math" panose="02040503050406030204" pitchFamily="18" charset="0"/>
                            </a:rPr>
                            <m:t>𝑑𝑡</m:t>
                          </m:r>
                        </m:e>
                      </m:nary>
                    </m:oMath>
                  </m:oMathPara>
                </a14:m>
                <a:endParaRPr lang="en-VN" sz="2000" dirty="0"/>
              </a:p>
            </p:txBody>
          </p:sp>
        </mc:Choice>
        <mc:Fallback xmlns="">
          <p:sp>
            <p:nvSpPr>
              <p:cNvPr id="11" name="TextBox 10">
                <a:extLst>
                  <a:ext uri="{FF2B5EF4-FFF2-40B4-BE49-F238E27FC236}">
                    <a16:creationId xmlns:a16="http://schemas.microsoft.com/office/drawing/2014/main" id="{96807F67-9B5F-FAAA-EC07-1A85C8523948}"/>
                  </a:ext>
                </a:extLst>
              </p:cNvPr>
              <p:cNvSpPr txBox="1">
                <a:spLocks noRot="1" noChangeAspect="1" noMove="1" noResize="1" noEditPoints="1" noAdjustHandles="1" noChangeArrowheads="1" noChangeShapeType="1" noTextEdit="1"/>
              </p:cNvSpPr>
              <p:nvPr/>
            </p:nvSpPr>
            <p:spPr>
              <a:xfrm>
                <a:off x="4774019" y="3963593"/>
                <a:ext cx="4098430" cy="680379"/>
              </a:xfrm>
              <a:prstGeom prst="rect">
                <a:avLst/>
              </a:prstGeom>
              <a:blipFill>
                <a:blip r:embed="rId5"/>
                <a:stretch>
                  <a:fillRect l="-617" t="-187037" r="-617" b="-274074"/>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50E175E-D386-00EA-1934-84DA76DD44F3}"/>
                  </a:ext>
                </a:extLst>
              </p:cNvPr>
              <p:cNvSpPr txBox="1"/>
              <p:nvPr/>
            </p:nvSpPr>
            <p:spPr>
              <a:xfrm>
                <a:off x="3771690" y="4877532"/>
                <a:ext cx="6103088" cy="7727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𝑓</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𝑡</m:t>
                          </m:r>
                        </m:e>
                      </m:d>
                      <m:r>
                        <a:rPr lang="en-US" sz="2000" i="1">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ℱ</m:t>
                          </m:r>
                        </m:e>
                        <m:sup>
                          <m:r>
                            <a:rPr lang="en-US" sz="2000" b="0" i="1" smtClean="0">
                              <a:latin typeface="Cambria Math" panose="02040503050406030204" pitchFamily="18" charset="0"/>
                              <a:ea typeface="Cambria Math" panose="02040503050406030204" pitchFamily="18" charset="0"/>
                            </a:rPr>
                            <m:t>−1</m:t>
                          </m:r>
                        </m:sup>
                      </m:sSup>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𝐹</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e>
                          </m:d>
                        </m:e>
                      </m:d>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𝜋</m:t>
                          </m:r>
                        </m:den>
                      </m:f>
                      <m:nary>
                        <m:naryPr>
                          <m:ctrlPr>
                            <a:rPr lang="en-US" sz="2000" b="0" i="1" smtClean="0">
                              <a:latin typeface="Cambria Math" panose="02040503050406030204" pitchFamily="18" charset="0"/>
                              <a:ea typeface="Cambria Math" panose="02040503050406030204" pitchFamily="18" charset="0"/>
                            </a:rPr>
                          </m:ctrlPr>
                        </m:naryPr>
                        <m:sub>
                          <m:r>
                            <m:rPr>
                              <m:brk m:alnAt="23"/>
                            </m:rP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sub>
                        <m:sup>
                          <m:r>
                            <a:rPr lang="en-US" sz="2000" b="0" i="1" smtClean="0">
                              <a:latin typeface="Cambria Math" panose="02040503050406030204" pitchFamily="18" charset="0"/>
                              <a:ea typeface="Cambria Math" panose="02040503050406030204" pitchFamily="18" charset="0"/>
                            </a:rPr>
                            <m:t>+∞</m:t>
                          </m:r>
                        </m:sup>
                        <m:e>
                          <m:r>
                            <a:rPr lang="en-US" sz="2000" b="0" i="1" smtClean="0">
                              <a:latin typeface="Cambria Math" panose="02040503050406030204" pitchFamily="18" charset="0"/>
                              <a:ea typeface="Cambria Math" panose="02040503050406030204" pitchFamily="18" charset="0"/>
                            </a:rPr>
                            <m:t>𝐹</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e>
                          </m:d>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𝑒</m:t>
                              </m:r>
                            </m:e>
                            <m:sup>
                              <m:r>
                                <a:rPr lang="en-US" sz="2000" b="0" i="1" smtClean="0">
                                  <a:latin typeface="Cambria Math" panose="02040503050406030204" pitchFamily="18" charset="0"/>
                                  <a:ea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𝑡</m:t>
                              </m:r>
                            </m:sup>
                          </m:sSup>
                          <m:r>
                            <a:rPr lang="en-US" sz="2000" b="0" i="1" smtClean="0">
                              <a:latin typeface="Cambria Math" panose="02040503050406030204" pitchFamily="18" charset="0"/>
                              <a:ea typeface="Cambria Math" panose="02040503050406030204" pitchFamily="18" charset="0"/>
                            </a:rPr>
                            <m:t>𝑑</m:t>
                          </m:r>
                          <m:r>
                            <a:rPr lang="en-US" sz="2000" b="0" i="1" smtClean="0">
                              <a:latin typeface="Cambria Math" panose="02040503050406030204" pitchFamily="18" charset="0"/>
                              <a:ea typeface="Cambria Math" panose="02040503050406030204" pitchFamily="18" charset="0"/>
                            </a:rPr>
                            <m:t>𝜔</m:t>
                          </m:r>
                        </m:e>
                      </m:nary>
                    </m:oMath>
                  </m:oMathPara>
                </a14:m>
                <a:endParaRPr lang="en-VN" sz="2000" dirty="0"/>
              </a:p>
            </p:txBody>
          </p:sp>
        </mc:Choice>
        <mc:Fallback xmlns="">
          <p:sp>
            <p:nvSpPr>
              <p:cNvPr id="13" name="TextBox 12">
                <a:extLst>
                  <a:ext uri="{FF2B5EF4-FFF2-40B4-BE49-F238E27FC236}">
                    <a16:creationId xmlns:a16="http://schemas.microsoft.com/office/drawing/2014/main" id="{150E175E-D386-00EA-1934-84DA76DD44F3}"/>
                  </a:ext>
                </a:extLst>
              </p:cNvPr>
              <p:cNvSpPr txBox="1">
                <a:spLocks noRot="1" noChangeAspect="1" noMove="1" noResize="1" noEditPoints="1" noAdjustHandles="1" noChangeArrowheads="1" noChangeShapeType="1" noTextEdit="1"/>
              </p:cNvSpPr>
              <p:nvPr/>
            </p:nvSpPr>
            <p:spPr>
              <a:xfrm>
                <a:off x="3771690" y="4877532"/>
                <a:ext cx="6103088" cy="772712"/>
              </a:xfrm>
              <a:prstGeom prst="rect">
                <a:avLst/>
              </a:prstGeom>
              <a:blipFill>
                <a:blip r:embed="rId6"/>
                <a:stretch>
                  <a:fillRect t="-159016" b="-236066"/>
                </a:stretch>
              </a:blipFill>
            </p:spPr>
            <p:txBody>
              <a:bodyPr/>
              <a:lstStyle/>
              <a:p>
                <a:r>
                  <a:rPr lang="en-VN">
                    <a:noFill/>
                  </a:rPr>
                  <a:t> </a:t>
                </a:r>
              </a:p>
            </p:txBody>
          </p:sp>
        </mc:Fallback>
      </mc:AlternateContent>
      <p:sp>
        <p:nvSpPr>
          <p:cNvPr id="15" name="TextBox 14">
            <a:extLst>
              <a:ext uri="{FF2B5EF4-FFF2-40B4-BE49-F238E27FC236}">
                <a16:creationId xmlns:a16="http://schemas.microsoft.com/office/drawing/2014/main" id="{D0735996-CB4F-9822-7673-B90BEC60E3FA}"/>
              </a:ext>
            </a:extLst>
          </p:cNvPr>
          <p:cNvSpPr txBox="1"/>
          <p:nvPr/>
        </p:nvSpPr>
        <p:spPr>
          <a:xfrm>
            <a:off x="1200194" y="5891028"/>
            <a:ext cx="10106044" cy="584775"/>
          </a:xfrm>
          <a:prstGeom prst="rect">
            <a:avLst/>
          </a:prstGeom>
          <a:solidFill>
            <a:schemeClr val="accent1">
              <a:lumMod val="20000"/>
              <a:lumOff val="80000"/>
            </a:schemeClr>
          </a:solidFill>
        </p:spPr>
        <p:txBody>
          <a:bodyPr wrap="square">
            <a:spAutoFit/>
          </a:bodyPr>
          <a:lstStyle/>
          <a:p>
            <a:pPr algn="ctr"/>
            <a:r>
              <a:rPr lang="en-US" sz="1600" dirty="0" err="1">
                <a:effectLst/>
                <a:latin typeface="Arial" panose="020B0604020202020204" pitchFamily="34" charset="0"/>
                <a:ea typeface="Times New Roman" panose="02020603050405020304" pitchFamily="18" charset="0"/>
                <a:cs typeface="Arial" panose="020B0604020202020204" pitchFamily="34" charset="0"/>
              </a:rPr>
              <a:t>Biến</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đổi</a:t>
            </a:r>
            <a:r>
              <a:rPr lang="en-US" sz="1600" dirty="0">
                <a:effectLst/>
                <a:latin typeface="Arial" panose="020B0604020202020204" pitchFamily="34" charset="0"/>
                <a:ea typeface="Times New Roman" panose="02020603050405020304" pitchFamily="18" charset="0"/>
                <a:cs typeface="Arial" panose="020B0604020202020204" pitchFamily="34" charset="0"/>
              </a:rPr>
              <a:t> Fourier </a:t>
            </a:r>
            <a:r>
              <a:rPr lang="en-US" sz="1600" dirty="0" err="1">
                <a:effectLst/>
                <a:latin typeface="Arial" panose="020B0604020202020204" pitchFamily="34" charset="0"/>
                <a:ea typeface="Times New Roman" panose="02020603050405020304" pitchFamily="18" charset="0"/>
                <a:cs typeface="Arial" panose="020B0604020202020204" pitchFamily="34" charset="0"/>
              </a:rPr>
              <a:t>và</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biến</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đổi</a:t>
            </a:r>
            <a:r>
              <a:rPr lang="en-US" sz="1600" dirty="0">
                <a:effectLst/>
                <a:latin typeface="Arial" panose="020B0604020202020204" pitchFamily="34" charset="0"/>
                <a:ea typeface="Times New Roman" panose="02020603050405020304" pitchFamily="18" charset="0"/>
                <a:cs typeface="Arial" panose="020B0604020202020204" pitchFamily="34" charset="0"/>
              </a:rPr>
              <a:t> Laplace </a:t>
            </a:r>
            <a:r>
              <a:rPr lang="en-US" sz="1600" dirty="0" err="1">
                <a:effectLst/>
                <a:latin typeface="Arial" panose="020B0604020202020204" pitchFamily="34" charset="0"/>
                <a:ea typeface="Times New Roman" panose="02020603050405020304" pitchFamily="18" charset="0"/>
                <a:cs typeface="Arial" panose="020B0604020202020204" pitchFamily="34" charset="0"/>
              </a:rPr>
              <a:t>có</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mối</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quan</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hệ</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rất</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gần</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gũi</a:t>
            </a:r>
            <a:r>
              <a:rPr lang="en-US" sz="1600" dirty="0">
                <a:effectLst/>
                <a:latin typeface="Arial" panose="020B0604020202020204" pitchFamily="34" charset="0"/>
                <a:ea typeface="Times New Roman" panose="02020603050405020304" pitchFamily="18" charset="0"/>
                <a:cs typeface="Arial" panose="020B0604020202020204" pitchFamily="34" charset="0"/>
              </a:rPr>
              <a:t>. Khi </a:t>
            </a:r>
            <a:r>
              <a:rPr lang="en-US" sz="1600" dirty="0" err="1">
                <a:effectLst/>
                <a:latin typeface="Arial" panose="020B0604020202020204" pitchFamily="34" charset="0"/>
                <a:ea typeface="Times New Roman" panose="02020603050405020304" pitchFamily="18" charset="0"/>
                <a:cs typeface="Arial" panose="020B0604020202020204" pitchFamily="34" charset="0"/>
              </a:rPr>
              <a:t>hàm</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i="1" dirty="0">
                <a:effectLst/>
                <a:latin typeface="Arial" panose="020B0604020202020204" pitchFamily="34" charset="0"/>
                <a:ea typeface="Times New Roman" panose="02020603050405020304" pitchFamily="18" charset="0"/>
                <a:cs typeface="Arial" panose="020B0604020202020204" pitchFamily="34" charset="0"/>
              </a:rPr>
              <a:t>f</a:t>
            </a:r>
            <a:r>
              <a:rPr lang="en-US" sz="1600" dirty="0">
                <a:effectLst/>
                <a:latin typeface="Arial" panose="020B0604020202020204" pitchFamily="34" charset="0"/>
                <a:ea typeface="Times New Roman" panose="02020603050405020304" pitchFamily="18" charset="0"/>
                <a:cs typeface="Arial" panose="020B0604020202020204" pitchFamily="34" charset="0"/>
              </a:rPr>
              <a:t>(</a:t>
            </a:r>
            <a:r>
              <a:rPr lang="en-US" sz="1600" i="1" dirty="0">
                <a:effectLst/>
                <a:latin typeface="Arial" panose="020B0604020202020204" pitchFamily="34" charset="0"/>
                <a:ea typeface="Times New Roman" panose="02020603050405020304" pitchFamily="18" charset="0"/>
                <a:cs typeface="Arial" panose="020B0604020202020204" pitchFamily="34" charset="0"/>
              </a:rPr>
              <a:t>t</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chỉ</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xác</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định</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với</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i="1" dirty="0">
                <a:effectLst/>
                <a:latin typeface="Arial" panose="020B0604020202020204" pitchFamily="34" charset="0"/>
                <a:ea typeface="Times New Roman" panose="02020603050405020304" pitchFamily="18" charset="0"/>
                <a:cs typeface="Arial" panose="020B0604020202020204" pitchFamily="34" charset="0"/>
              </a:rPr>
              <a:t>t</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a:effectLst/>
                <a:latin typeface="Arial" panose="020B0604020202020204" pitchFamily="34" charset="0"/>
                <a:ea typeface="Times New Roman" panose="02020603050405020304" pitchFamily="18" charset="0"/>
                <a:cs typeface="Arial" panose="020B0604020202020204" pitchFamily="34" charset="0"/>
                <a:sym typeface="Symbol" pitchFamily="2" charset="2"/>
              </a:rPr>
              <a:t></a:t>
            </a:r>
            <a:r>
              <a:rPr lang="en-US" sz="1600" dirty="0">
                <a:effectLst/>
                <a:latin typeface="Arial" panose="020B0604020202020204" pitchFamily="34" charset="0"/>
                <a:ea typeface="Times New Roman" panose="02020603050405020304" pitchFamily="18" charset="0"/>
                <a:cs typeface="Arial" panose="020B0604020202020204" pitchFamily="34" charset="0"/>
              </a:rPr>
              <a:t> 0, </a:t>
            </a:r>
            <a:r>
              <a:rPr lang="en-US" sz="1600" dirty="0" err="1">
                <a:effectLst/>
                <a:latin typeface="Arial" panose="020B0604020202020204" pitchFamily="34" charset="0"/>
                <a:ea typeface="Times New Roman" panose="02020603050405020304" pitchFamily="18" charset="0"/>
                <a:cs typeface="Arial" panose="020B0604020202020204" pitchFamily="34" charset="0"/>
              </a:rPr>
              <a:t>khoảng</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lấy</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tích</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phân</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của</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hai</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biến</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đổi</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là</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như</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nhau</a:t>
            </a:r>
            <a:r>
              <a:rPr lang="en-US" sz="1600" dirty="0">
                <a:effectLst/>
                <a:latin typeface="Arial" panose="020B0604020202020204" pitchFamily="34" charset="0"/>
                <a:ea typeface="Times New Roman" panose="02020603050405020304" pitchFamily="18" charset="0"/>
                <a:cs typeface="Arial" panose="020B0604020202020204" pitchFamily="34" charset="0"/>
              </a:rPr>
              <a:t>. Khi </a:t>
            </a:r>
            <a:r>
              <a:rPr lang="en-US" sz="1600" dirty="0" err="1">
                <a:effectLst/>
                <a:latin typeface="Arial" panose="020B0604020202020204" pitchFamily="34" charset="0"/>
                <a:ea typeface="Times New Roman" panose="02020603050405020304" pitchFamily="18" charset="0"/>
                <a:cs typeface="Arial" panose="020B0604020202020204" pitchFamily="34" charset="0"/>
              </a:rPr>
              <a:t>đó</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hai</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phép</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biến</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đổi</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chỉ</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khác</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nhau</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về</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dạng</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biến</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phức</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endParaRPr lang="en-V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1429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8765C-7F90-39B0-C014-449904BC008D}"/>
              </a:ext>
            </a:extLst>
          </p:cNvPr>
          <p:cNvSpPr>
            <a:spLocks noGrp="1"/>
          </p:cNvSpPr>
          <p:nvPr>
            <p:ph type="title"/>
          </p:nvPr>
        </p:nvSpPr>
        <p:spPr/>
        <p:txBody>
          <a:bodyPr/>
          <a:lstStyle/>
          <a:p>
            <a:r>
              <a:rPr lang="en-VN" dirty="0"/>
              <a:t>GIỚI THIỆU</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9D92742-4956-F028-2641-7CE0F8F6050E}"/>
                  </a:ext>
                </a:extLst>
              </p:cNvPr>
              <p:cNvSpPr>
                <a:spLocks noGrp="1"/>
              </p:cNvSpPr>
              <p:nvPr>
                <p:ph idx="1"/>
              </p:nvPr>
            </p:nvSpPr>
            <p:spPr/>
            <p:txBody>
              <a:bodyPr>
                <a:normAutofit/>
              </a:bodyPr>
              <a:lstStyle/>
              <a:p>
                <a:r>
                  <a:rPr lang="vi-VN" sz="1600" dirty="0"/>
                  <a:t>Biến đổi Laplace cho phép chúng ta tìm hiểu vị trí của các điểm cực và điểm không của hàm chuyển T(s) trong mặt phẳng s, còn phương pháp đáp ứng tần số sử dụng biến đổi Fourier cho phép chúng ta xem xét hàm chuyển </a:t>
                </a:r>
                <a14:m>
                  <m:oMath xmlns:m="http://schemas.openxmlformats.org/officeDocument/2006/math">
                    <m:r>
                      <m:rPr>
                        <m:sty m:val="p"/>
                      </m:rPr>
                      <a:rPr lang="en-US" sz="1600" b="0" i="0" smtClean="0">
                        <a:latin typeface="Cambria Math" panose="02040503050406030204" pitchFamily="18" charset="0"/>
                      </a:rPr>
                      <m:t>T</m:t>
                    </m:r>
                    <m:r>
                      <a:rPr lang="en-US" sz="1600">
                        <a:latin typeface="Cambria Math" panose="02040503050406030204" pitchFamily="18" charset="0"/>
                      </a:rPr>
                      <m:t>(</m:t>
                    </m:r>
                    <m:r>
                      <a:rPr lang="en-US" sz="1600" b="0" i="1" smtClean="0">
                        <a:latin typeface="Cambria Math" panose="02040503050406030204" pitchFamily="18" charset="0"/>
                      </a:rPr>
                      <m:t>𝑗</m:t>
                    </m:r>
                    <m:r>
                      <a:rPr lang="en-US" sz="1600" b="0" i="1" smtClean="0">
                        <a:latin typeface="Cambria Math" panose="02040503050406030204" pitchFamily="18" charset="0"/>
                      </a:rPr>
                      <m:t>𝜔</m:t>
                    </m:r>
                    <m:r>
                      <a:rPr lang="en-US" sz="1600" b="0" i="1" smtClean="0">
                        <a:latin typeface="Cambria Math" panose="02040503050406030204" pitchFamily="18" charset="0"/>
                      </a:rPr>
                      <m:t>)</m:t>
                    </m:r>
                  </m:oMath>
                </a14:m>
                <a:r>
                  <a:rPr lang="vi-VN" sz="1800" dirty="0"/>
                  <a:t> </a:t>
                </a:r>
                <a:r>
                  <a:rPr lang="vi-VN" sz="1600" dirty="0"/>
                  <a:t>cùng các đặc tính về độ lớn và pha của hệ thống, với </a:t>
                </a:r>
                <a14:m>
                  <m:oMath xmlns:m="http://schemas.openxmlformats.org/officeDocument/2006/math">
                    <m:r>
                      <a:rPr lang="en-US" sz="1600" i="1">
                        <a:latin typeface="Cambria Math" panose="02040503050406030204" pitchFamily="18" charset="0"/>
                      </a:rPr>
                      <m:t>𝜔</m:t>
                    </m:r>
                  </m:oMath>
                </a14:m>
                <a:r>
                  <a:rPr lang="vi-VN" sz="1600" dirty="0"/>
                  <a:t> là tần số của tín hiệu vào và ra của hệ thống. </a:t>
                </a:r>
              </a:p>
              <a:p>
                <a:r>
                  <a:rPr lang="vi-VN" sz="1600" dirty="0"/>
                  <a:t>Đáp ứng tần số của một hệ thống có hàm chuyển là G(s) là:</a:t>
                </a:r>
                <a:endParaRPr lang="en-VN" sz="1600" dirty="0"/>
              </a:p>
            </p:txBody>
          </p:sp>
        </mc:Choice>
        <mc:Fallback xmlns="">
          <p:sp>
            <p:nvSpPr>
              <p:cNvPr id="3" name="Content Placeholder 2">
                <a:extLst>
                  <a:ext uri="{FF2B5EF4-FFF2-40B4-BE49-F238E27FC236}">
                    <a16:creationId xmlns:a16="http://schemas.microsoft.com/office/drawing/2014/main" id="{F9D92742-4956-F028-2641-7CE0F8F6050E}"/>
                  </a:ext>
                </a:extLst>
              </p:cNvPr>
              <p:cNvSpPr>
                <a:spLocks noGrp="1" noRot="1" noChangeAspect="1" noMove="1" noResize="1" noEditPoints="1" noAdjustHandles="1" noChangeArrowheads="1" noChangeShapeType="1" noTextEdit="1"/>
              </p:cNvSpPr>
              <p:nvPr>
                <p:ph idx="1"/>
              </p:nvPr>
            </p:nvSpPr>
            <p:spPr>
              <a:blipFill>
                <a:blip r:embed="rId2"/>
                <a:stretch>
                  <a:fillRect l="-264"/>
                </a:stretch>
              </a:blipFill>
            </p:spPr>
            <p:txBody>
              <a:bodyPr/>
              <a:lstStyle/>
              <a:p>
                <a:r>
                  <a:rPr lang="en-VN">
                    <a:noFill/>
                  </a:rPr>
                  <a:t> </a:t>
                </a:r>
              </a:p>
            </p:txBody>
          </p:sp>
        </mc:Fallback>
      </mc:AlternateContent>
      <p:pic>
        <p:nvPicPr>
          <p:cNvPr id="5" name="Picture 4">
            <a:extLst>
              <a:ext uri="{FF2B5EF4-FFF2-40B4-BE49-F238E27FC236}">
                <a16:creationId xmlns:a16="http://schemas.microsoft.com/office/drawing/2014/main" id="{D9A7275C-B6DD-85AE-C0BE-DD4C5BE88408}"/>
              </a:ext>
            </a:extLst>
          </p:cNvPr>
          <p:cNvPicPr>
            <a:picLocks noChangeAspect="1"/>
          </p:cNvPicPr>
          <p:nvPr/>
        </p:nvPicPr>
        <p:blipFill>
          <a:blip r:embed="rId3"/>
          <a:stretch>
            <a:fillRect/>
          </a:stretch>
        </p:blipFill>
        <p:spPr>
          <a:xfrm>
            <a:off x="4583371" y="3154622"/>
            <a:ext cx="2721197" cy="718807"/>
          </a:xfrm>
          <a:prstGeom prst="rect">
            <a:avLst/>
          </a:prstGeom>
        </p:spPr>
      </p:pic>
      <p:pic>
        <p:nvPicPr>
          <p:cNvPr id="7" name="Picture 6">
            <a:extLst>
              <a:ext uri="{FF2B5EF4-FFF2-40B4-BE49-F238E27FC236}">
                <a16:creationId xmlns:a16="http://schemas.microsoft.com/office/drawing/2014/main" id="{6621C3E4-D475-E430-D8B7-8AE4FD24A963}"/>
              </a:ext>
            </a:extLst>
          </p:cNvPr>
          <p:cNvPicPr>
            <a:picLocks noChangeAspect="1"/>
          </p:cNvPicPr>
          <p:nvPr/>
        </p:nvPicPr>
        <p:blipFill>
          <a:blip r:embed="rId4"/>
          <a:stretch>
            <a:fillRect/>
          </a:stretch>
        </p:blipFill>
        <p:spPr>
          <a:xfrm>
            <a:off x="430332" y="3975100"/>
            <a:ext cx="4958601" cy="1031993"/>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F3B02BE-0290-153C-9AAB-EFC398964D2B}"/>
                  </a:ext>
                </a:extLst>
              </p:cNvPr>
              <p:cNvSpPr txBox="1"/>
              <p:nvPr/>
            </p:nvSpPr>
            <p:spPr>
              <a:xfrm>
                <a:off x="6096000" y="3968155"/>
                <a:ext cx="5507296" cy="1815882"/>
              </a:xfrm>
              <a:prstGeom prst="rect">
                <a:avLst/>
              </a:prstGeom>
              <a:noFill/>
            </p:spPr>
            <p:txBody>
              <a:bodyPr wrap="square" rtlCol="0">
                <a:spAutoFit/>
              </a:bodyPr>
              <a:lstStyle/>
              <a:p>
                <a:pPr marL="285750" indent="-285750" algn="just">
                  <a:buFont typeface="Arial" panose="020B0604020202020204" pitchFamily="34" charset="0"/>
                  <a:buChar char="•"/>
                </a:pPr>
                <a:r>
                  <a:rPr lang="en-VN" sz="1600" dirty="0">
                    <a:latin typeface="Arial" panose="020B0604020202020204" pitchFamily="34" charset="0"/>
                    <a:cs typeface="Arial" panose="020B0604020202020204" pitchFamily="34" charset="0"/>
                  </a:rPr>
                  <a:t>Một tín hiệu dạng sin có thể biểu diễn dưới dạng số phức </a:t>
                </a:r>
                <a14:m>
                  <m:oMath xmlns:m="http://schemas.openxmlformats.org/officeDocument/2006/math">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𝑀</m:t>
                        </m:r>
                      </m:e>
                      <m:sub>
                        <m:r>
                          <a:rPr lang="en-US" sz="1600" b="0" i="1" smtClean="0">
                            <a:latin typeface="Cambria Math" panose="02040503050406030204" pitchFamily="18" charset="0"/>
                            <a:cs typeface="Arial" panose="020B0604020202020204" pitchFamily="34" charset="0"/>
                          </a:rPr>
                          <m:t>1</m:t>
                        </m:r>
                      </m:sub>
                    </m:sSub>
                    <m:r>
                      <a:rPr lang="en-US" sz="1600" b="0" i="1" smtClean="0">
                        <a:latin typeface="Cambria Math" panose="02040503050406030204" pitchFamily="18" charset="0"/>
                        <a:cs typeface="Arial" panose="020B0604020202020204" pitchFamily="34" charset="0"/>
                      </a:rPr>
                      <m:t> </m:t>
                    </m:r>
                    <m:r>
                      <m:rPr>
                        <m:sty m:val="p"/>
                      </m:rPr>
                      <a:rPr lang="en-US" sz="1600" b="0" i="0" smtClean="0">
                        <a:latin typeface="Cambria Math" panose="02040503050406030204" pitchFamily="18" charset="0"/>
                        <a:cs typeface="Arial" panose="020B0604020202020204" pitchFamily="34" charset="0"/>
                      </a:rPr>
                      <m:t>cos</m:t>
                    </m:r>
                    <m:r>
                      <a:rPr lang="en-US" sz="1600" b="0" i="0"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𝜔</m:t>
                    </m:r>
                    <m:r>
                      <a:rPr lang="en-US" sz="1600" b="0" i="1" smtClean="0">
                        <a:latin typeface="Cambria Math" panose="02040503050406030204" pitchFamily="18" charset="0"/>
                        <a:cs typeface="Arial" panose="020B0604020202020204" pitchFamily="34" charset="0"/>
                      </a:rPr>
                      <m:t>𝑡</m:t>
                    </m:r>
                    <m:r>
                      <a:rPr lang="en-US" sz="1600" b="0" i="1" smtClean="0">
                        <a:latin typeface="Cambria Math" panose="02040503050406030204" pitchFamily="18" charset="0"/>
                        <a:cs typeface="Arial" panose="020B0604020202020204" pitchFamily="34" charset="0"/>
                      </a:rPr>
                      <m:t>+</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𝜙</m:t>
                        </m:r>
                      </m:e>
                      <m:sub>
                        <m:r>
                          <a:rPr lang="en-US" sz="1600" b="0" i="1" smtClean="0">
                            <a:latin typeface="Cambria Math" panose="02040503050406030204" pitchFamily="18" charset="0"/>
                            <a:cs typeface="Arial" panose="020B0604020202020204" pitchFamily="34" charset="0"/>
                          </a:rPr>
                          <m:t>1</m:t>
                        </m:r>
                      </m:sub>
                    </m:sSub>
                    <m:r>
                      <a:rPr lang="en-US" sz="1600" b="0" i="1" smtClean="0">
                        <a:latin typeface="Cambria Math" panose="02040503050406030204" pitchFamily="18" charset="0"/>
                        <a:cs typeface="Arial" panose="020B0604020202020204" pitchFamily="34" charset="0"/>
                      </a:rPr>
                      <m:t>)</m:t>
                    </m:r>
                  </m:oMath>
                </a14:m>
                <a:r>
                  <a:rPr lang="en-VN" sz="1600" dirty="0">
                    <a:latin typeface="Arial" panose="020B0604020202020204" pitchFamily="34" charset="0"/>
                    <a:cs typeface="Arial" panose="020B0604020202020204" pitchFamily="34" charset="0"/>
                  </a:rPr>
                  <a:t> có thể được biểu diễn dưới dạng </a:t>
                </a:r>
                <a14:m>
                  <m:oMath xmlns:m="http://schemas.openxmlformats.org/officeDocument/2006/math">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𝑀</m:t>
                        </m:r>
                      </m:e>
                      <m:sub>
                        <m:r>
                          <a:rPr lang="en-US" sz="1600" b="0" i="1" smtClean="0">
                            <a:latin typeface="Cambria Math" panose="02040503050406030204" pitchFamily="18" charset="0"/>
                            <a:cs typeface="Arial" panose="020B0604020202020204" pitchFamily="34" charset="0"/>
                          </a:rPr>
                          <m:t>1</m:t>
                        </m:r>
                      </m:sub>
                    </m:sSub>
                    <m:r>
                      <a:rPr lang="en-US" sz="16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ea typeface="Cambria Math" panose="02040503050406030204" pitchFamily="18" charset="0"/>
                            <a:cs typeface="Arial" panose="020B0604020202020204" pitchFamily="34" charset="0"/>
                          </a:rPr>
                          <m:t>𝜙</m:t>
                        </m:r>
                      </m:e>
                      <m:sub>
                        <m:r>
                          <a:rPr lang="en-US" sz="1600" b="0" i="1" smtClean="0">
                            <a:latin typeface="Cambria Math" panose="02040503050406030204" pitchFamily="18" charset="0"/>
                            <a:ea typeface="Cambria Math" panose="02040503050406030204" pitchFamily="18" charset="0"/>
                            <a:cs typeface="Arial" panose="020B0604020202020204" pitchFamily="34" charset="0"/>
                          </a:rPr>
                          <m:t>1</m:t>
                        </m:r>
                      </m:sub>
                    </m:sSub>
                  </m:oMath>
                </a14:m>
                <a:endParaRPr lang="en-VN" sz="1600"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VN" sz="1600" dirty="0">
                    <a:latin typeface="Arial" panose="020B0604020202020204" pitchFamily="34" charset="0"/>
                    <a:cs typeface="Arial" panose="020B0604020202020204" pitchFamily="34" charset="0"/>
                  </a:rPr>
                  <a:t>Tín hiệu lối vào và lối ra dạng sin của hệ thống được biểu diễn bởi số phức </a:t>
                </a:r>
                <a14:m>
                  <m:oMath xmlns:m="http://schemas.openxmlformats.org/officeDocument/2006/math">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𝑀</m:t>
                        </m:r>
                      </m:e>
                      <m:sub>
                        <m:r>
                          <a:rPr lang="en-US" sz="1600" b="0" i="1" smtClean="0">
                            <a:latin typeface="Cambria Math" panose="02040503050406030204" pitchFamily="18" charset="0"/>
                            <a:cs typeface="Arial" panose="020B0604020202020204" pitchFamily="34" charset="0"/>
                          </a:rPr>
                          <m:t>𝑖</m:t>
                        </m:r>
                      </m:sub>
                    </m:sSub>
                    <m:r>
                      <a:rPr lang="en-US" sz="1600" b="0" i="1"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𝜔</m:t>
                    </m:r>
                    <m:r>
                      <a:rPr lang="en-US" sz="1600" b="0" i="1" smtClean="0">
                        <a:latin typeface="Cambria Math" panose="02040503050406030204" pitchFamily="18" charset="0"/>
                        <a:cs typeface="Arial" panose="020B0604020202020204" pitchFamily="34" charset="0"/>
                      </a:rPr>
                      <m:t>)∠</m:t>
                    </m:r>
                    <m:sSub>
                      <m:sSubPr>
                        <m:ctrlPr>
                          <a:rPr lang="en-US" sz="1600" i="1">
                            <a:latin typeface="Cambria Math" panose="02040503050406030204" pitchFamily="18" charset="0"/>
                            <a:ea typeface="Cambria Math" panose="02040503050406030204" pitchFamily="18" charset="0"/>
                            <a:cs typeface="Arial" panose="020B0604020202020204" pitchFamily="34" charset="0"/>
                          </a:rPr>
                        </m:ctrlPr>
                      </m:sSubPr>
                      <m:e>
                        <m:r>
                          <a:rPr lang="en-US" sz="1600" i="1">
                            <a:latin typeface="Cambria Math" panose="02040503050406030204" pitchFamily="18" charset="0"/>
                            <a:ea typeface="Cambria Math" panose="02040503050406030204" pitchFamily="18" charset="0"/>
                            <a:cs typeface="Arial" panose="020B0604020202020204" pitchFamily="34" charset="0"/>
                          </a:rPr>
                          <m:t>𝜙</m:t>
                        </m:r>
                      </m:e>
                      <m:sub>
                        <m:r>
                          <a:rPr lang="en-US" sz="1600" b="0" i="1" smtClean="0">
                            <a:latin typeface="Cambria Math" panose="02040503050406030204" pitchFamily="18" charset="0"/>
                            <a:ea typeface="Cambria Math" panose="02040503050406030204" pitchFamily="18" charset="0"/>
                            <a:cs typeface="Arial" panose="020B0604020202020204" pitchFamily="34" charset="0"/>
                          </a:rPr>
                          <m:t>𝑖</m:t>
                        </m:r>
                      </m:sub>
                    </m:sSub>
                    <m:r>
                      <a:rPr lang="en-US" sz="1600" b="0" i="1" smtClean="0">
                        <a:latin typeface="Cambria Math" panose="02040503050406030204" pitchFamily="18" charset="0"/>
                        <a:ea typeface="Cambria Math" panose="02040503050406030204" pitchFamily="18" charset="0"/>
                        <a:cs typeface="Arial" panose="020B0604020202020204" pitchFamily="34" charset="0"/>
                      </a:rPr>
                      <m:t>(</m:t>
                    </m:r>
                    <m:r>
                      <a:rPr lang="en-US" sz="1600" b="0" i="1" smtClean="0">
                        <a:latin typeface="Cambria Math" panose="02040503050406030204" pitchFamily="18" charset="0"/>
                        <a:ea typeface="Cambria Math" panose="02040503050406030204" pitchFamily="18" charset="0"/>
                        <a:cs typeface="Arial" panose="020B0604020202020204" pitchFamily="34" charset="0"/>
                      </a:rPr>
                      <m:t>𝜔</m:t>
                    </m:r>
                    <m:r>
                      <a:rPr lang="en-US" sz="1600" b="0" i="1" smtClean="0">
                        <a:latin typeface="Cambria Math" panose="02040503050406030204" pitchFamily="18" charset="0"/>
                        <a:ea typeface="Cambria Math" panose="02040503050406030204" pitchFamily="18" charset="0"/>
                        <a:cs typeface="Arial" panose="020B0604020202020204" pitchFamily="34" charset="0"/>
                      </a:rPr>
                      <m:t>)</m:t>
                    </m:r>
                  </m:oMath>
                </a14:m>
                <a:r>
                  <a:rPr lang="en-VN" sz="1600" dirty="0">
                    <a:latin typeface="Arial" panose="020B0604020202020204" pitchFamily="34" charset="0"/>
                    <a:cs typeface="Arial" panose="020B0604020202020204" pitchFamily="34" charset="0"/>
                  </a:rPr>
                  <a:t> và </a:t>
                </a:r>
                <a14:m>
                  <m:oMath xmlns:m="http://schemas.openxmlformats.org/officeDocument/2006/math">
                    <m:sSub>
                      <m:sSubPr>
                        <m:ctrlPr>
                          <a:rPr lang="en-US" sz="1600" i="1">
                            <a:latin typeface="Cambria Math" panose="02040503050406030204" pitchFamily="18" charset="0"/>
                            <a:cs typeface="Arial" panose="020B0604020202020204" pitchFamily="34" charset="0"/>
                          </a:rPr>
                        </m:ctrlPr>
                      </m:sSubPr>
                      <m:e>
                        <m:r>
                          <a:rPr lang="en-US" sz="1600" i="1">
                            <a:latin typeface="Cambria Math" panose="02040503050406030204" pitchFamily="18" charset="0"/>
                            <a:cs typeface="Arial" panose="020B0604020202020204" pitchFamily="34" charset="0"/>
                          </a:rPr>
                          <m:t>𝑀</m:t>
                        </m:r>
                      </m:e>
                      <m:sub>
                        <m:r>
                          <a:rPr lang="en-US" sz="1600" b="0" i="1" smtClean="0">
                            <a:latin typeface="Cambria Math" panose="02040503050406030204" pitchFamily="18" charset="0"/>
                            <a:cs typeface="Arial" panose="020B0604020202020204" pitchFamily="34" charset="0"/>
                          </a:rPr>
                          <m:t>𝑜</m:t>
                        </m:r>
                      </m:sub>
                    </m:sSub>
                    <m:r>
                      <a:rPr lang="en-US" sz="1600" i="1">
                        <a:latin typeface="Cambria Math" panose="02040503050406030204" pitchFamily="18" charset="0"/>
                        <a:cs typeface="Arial" panose="020B0604020202020204" pitchFamily="34" charset="0"/>
                      </a:rPr>
                      <m:t>(</m:t>
                    </m:r>
                    <m:r>
                      <a:rPr lang="en-US" sz="1600" i="1">
                        <a:latin typeface="Cambria Math" panose="02040503050406030204" pitchFamily="18" charset="0"/>
                        <a:cs typeface="Arial" panose="020B0604020202020204" pitchFamily="34" charset="0"/>
                      </a:rPr>
                      <m:t>𝜔</m:t>
                    </m:r>
                    <m:r>
                      <a:rPr lang="en-US" sz="1600" i="1">
                        <a:latin typeface="Cambria Math" panose="02040503050406030204" pitchFamily="18" charset="0"/>
                        <a:cs typeface="Arial" panose="020B0604020202020204" pitchFamily="34" charset="0"/>
                      </a:rPr>
                      <m:t>)∠</m:t>
                    </m:r>
                    <m:sSub>
                      <m:sSubPr>
                        <m:ctrlPr>
                          <a:rPr lang="en-US" sz="1600" i="1">
                            <a:latin typeface="Cambria Math" panose="02040503050406030204" pitchFamily="18" charset="0"/>
                            <a:ea typeface="Cambria Math" panose="02040503050406030204" pitchFamily="18" charset="0"/>
                            <a:cs typeface="Arial" panose="020B0604020202020204" pitchFamily="34" charset="0"/>
                          </a:rPr>
                        </m:ctrlPr>
                      </m:sSubPr>
                      <m:e>
                        <m:r>
                          <a:rPr lang="en-US" sz="1600" i="1">
                            <a:latin typeface="Cambria Math" panose="02040503050406030204" pitchFamily="18" charset="0"/>
                            <a:ea typeface="Cambria Math" panose="02040503050406030204" pitchFamily="18" charset="0"/>
                            <a:cs typeface="Arial" panose="020B0604020202020204" pitchFamily="34" charset="0"/>
                          </a:rPr>
                          <m:t>𝜙</m:t>
                        </m:r>
                      </m:e>
                      <m:sub>
                        <m:r>
                          <a:rPr lang="en-US" sz="1600" b="0" i="1" smtClean="0">
                            <a:latin typeface="Cambria Math" panose="02040503050406030204" pitchFamily="18" charset="0"/>
                            <a:ea typeface="Cambria Math" panose="02040503050406030204" pitchFamily="18" charset="0"/>
                            <a:cs typeface="Arial" panose="020B0604020202020204" pitchFamily="34" charset="0"/>
                          </a:rPr>
                          <m:t>𝑜</m:t>
                        </m:r>
                      </m:sub>
                    </m:sSub>
                    <m:r>
                      <a:rPr lang="en-US" sz="1600" i="1">
                        <a:latin typeface="Cambria Math" panose="02040503050406030204" pitchFamily="18" charset="0"/>
                        <a:ea typeface="Cambria Math" panose="02040503050406030204" pitchFamily="18" charset="0"/>
                        <a:cs typeface="Arial" panose="020B0604020202020204" pitchFamily="34" charset="0"/>
                      </a:rPr>
                      <m:t>(</m:t>
                    </m:r>
                    <m:r>
                      <a:rPr lang="en-US" sz="1600" i="1">
                        <a:latin typeface="Cambria Math" panose="02040503050406030204" pitchFamily="18" charset="0"/>
                        <a:ea typeface="Cambria Math" panose="02040503050406030204" pitchFamily="18" charset="0"/>
                        <a:cs typeface="Arial" panose="020B0604020202020204" pitchFamily="34" charset="0"/>
                      </a:rPr>
                      <m:t>𝜔</m:t>
                    </m:r>
                    <m:r>
                      <a:rPr lang="en-US" sz="1600" i="1">
                        <a:latin typeface="Cambria Math" panose="02040503050406030204" pitchFamily="18" charset="0"/>
                        <a:ea typeface="Cambria Math" panose="02040503050406030204" pitchFamily="18" charset="0"/>
                        <a:cs typeface="Arial" panose="020B0604020202020204" pitchFamily="34" charset="0"/>
                      </a:rPr>
                      <m:t>)</m:t>
                    </m:r>
                  </m:oMath>
                </a14:m>
                <a:r>
                  <a:rPr lang="en-VN" sz="1600" dirty="0">
                    <a:latin typeface="Arial" panose="020B0604020202020204" pitchFamily="34" charset="0"/>
                    <a:cs typeface="Arial" panose="020B0604020202020204" pitchFamily="34" charset="0"/>
                  </a:rPr>
                  <a:t> (</a:t>
                </a:r>
                <a14:m>
                  <m:oMath xmlns:m="http://schemas.openxmlformats.org/officeDocument/2006/math">
                    <m:r>
                      <a:rPr lang="en-US" sz="1600" i="1">
                        <a:latin typeface="Cambria Math" panose="02040503050406030204" pitchFamily="18" charset="0"/>
                        <a:cs typeface="Arial" panose="020B0604020202020204" pitchFamily="34" charset="0"/>
                      </a:rPr>
                      <m:t>𝑀</m:t>
                    </m:r>
                  </m:oMath>
                </a14:m>
                <a:r>
                  <a:rPr lang="en-VN" sz="1600" dirty="0">
                    <a:latin typeface="Arial" panose="020B0604020202020204" pitchFamily="34" charset="0"/>
                    <a:cs typeface="Arial" panose="020B0604020202020204" pitchFamily="34" charset="0"/>
                  </a:rPr>
                  <a:t>: biên độ, </a:t>
                </a:r>
                <a14:m>
                  <m:oMath xmlns:m="http://schemas.openxmlformats.org/officeDocument/2006/math">
                    <m:r>
                      <a:rPr lang="en-US" sz="1600" i="1">
                        <a:latin typeface="Cambria Math" panose="02040503050406030204" pitchFamily="18" charset="0"/>
                        <a:ea typeface="Cambria Math" panose="02040503050406030204" pitchFamily="18" charset="0"/>
                        <a:cs typeface="Arial" panose="020B0604020202020204" pitchFamily="34" charset="0"/>
                      </a:rPr>
                      <m:t>𝜙</m:t>
                    </m:r>
                  </m:oMath>
                </a14:m>
                <a:r>
                  <a:rPr lang="en-VN" sz="1600" dirty="0">
                    <a:latin typeface="Arial" panose="020B0604020202020204" pitchFamily="34" charset="0"/>
                    <a:cs typeface="Arial" panose="020B0604020202020204" pitchFamily="34" charset="0"/>
                  </a:rPr>
                  <a:t>: góc pha)</a:t>
                </a:r>
              </a:p>
              <a:p>
                <a:pPr marL="285750" indent="-285750" algn="just">
                  <a:buFont typeface="Arial" panose="020B0604020202020204" pitchFamily="34" charset="0"/>
                  <a:buChar char="•"/>
                </a:pPr>
                <a:r>
                  <a:rPr lang="en-VN" sz="1600" dirty="0">
                    <a:latin typeface="Arial" panose="020B0604020202020204" pitchFamily="34" charset="0"/>
                    <a:cs typeface="Arial" panose="020B0604020202020204" pitchFamily="34" charset="0"/>
                  </a:rPr>
                  <a:t>Hệ thống được biểu diễn bởi số phức </a:t>
                </a:r>
                <a14:m>
                  <m:oMath xmlns:m="http://schemas.openxmlformats.org/officeDocument/2006/math">
                    <m:r>
                      <a:rPr lang="en-US" sz="1600" b="0" i="1" smtClean="0">
                        <a:latin typeface="Cambria Math" panose="02040503050406030204" pitchFamily="18" charset="0"/>
                        <a:cs typeface="Arial" panose="020B0604020202020204" pitchFamily="34" charset="0"/>
                      </a:rPr>
                      <m:t>𝑀</m:t>
                    </m:r>
                    <m:r>
                      <a:rPr lang="en-US" sz="1600" b="0" i="1"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𝜔</m:t>
                    </m:r>
                    <m:r>
                      <a:rPr lang="en-US" sz="1600" b="0" i="1"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ea typeface="Cambria Math" panose="02040503050406030204" pitchFamily="18" charset="0"/>
                        <a:cs typeface="Arial" panose="020B0604020202020204" pitchFamily="34" charset="0"/>
                      </a:rPr>
                      <m:t>𝜙</m:t>
                    </m:r>
                    <m:r>
                      <a:rPr lang="en-US" sz="1600" b="0" i="1" smtClean="0">
                        <a:latin typeface="Cambria Math" panose="02040503050406030204" pitchFamily="18" charset="0"/>
                        <a:ea typeface="Cambria Math" panose="02040503050406030204" pitchFamily="18" charset="0"/>
                        <a:cs typeface="Arial" panose="020B0604020202020204" pitchFamily="34" charset="0"/>
                      </a:rPr>
                      <m:t>(</m:t>
                    </m:r>
                    <m:r>
                      <a:rPr lang="en-US" sz="1600" b="0" i="1" smtClean="0">
                        <a:latin typeface="Cambria Math" panose="02040503050406030204" pitchFamily="18" charset="0"/>
                        <a:ea typeface="Cambria Math" panose="02040503050406030204" pitchFamily="18" charset="0"/>
                        <a:cs typeface="Arial" panose="020B0604020202020204" pitchFamily="34" charset="0"/>
                      </a:rPr>
                      <m:t>𝜔</m:t>
                    </m:r>
                    <m:r>
                      <a:rPr lang="en-US" sz="1600" b="0" i="1" smtClean="0">
                        <a:latin typeface="Cambria Math" panose="02040503050406030204" pitchFamily="18" charset="0"/>
                        <a:ea typeface="Cambria Math" panose="02040503050406030204" pitchFamily="18" charset="0"/>
                        <a:cs typeface="Arial" panose="020B0604020202020204" pitchFamily="34" charset="0"/>
                      </a:rPr>
                      <m:t>)</m:t>
                    </m:r>
                  </m:oMath>
                </a14:m>
                <a:endParaRPr lang="en-VN" sz="1600"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CF3B02BE-0290-153C-9AAB-EFC398964D2B}"/>
                  </a:ext>
                </a:extLst>
              </p:cNvPr>
              <p:cNvSpPr txBox="1">
                <a:spLocks noRot="1" noChangeAspect="1" noMove="1" noResize="1" noEditPoints="1" noAdjustHandles="1" noChangeArrowheads="1" noChangeShapeType="1" noTextEdit="1"/>
              </p:cNvSpPr>
              <p:nvPr/>
            </p:nvSpPr>
            <p:spPr>
              <a:xfrm>
                <a:off x="6096000" y="3968155"/>
                <a:ext cx="5507296" cy="1815882"/>
              </a:xfrm>
              <a:prstGeom prst="rect">
                <a:avLst/>
              </a:prstGeom>
              <a:blipFill>
                <a:blip r:embed="rId5"/>
                <a:stretch>
                  <a:fillRect l="-461" t="-694" r="-461" b="-3472"/>
                </a:stretch>
              </a:blipFill>
            </p:spPr>
            <p:txBody>
              <a:bodyPr/>
              <a:lstStyle/>
              <a:p>
                <a:r>
                  <a:rPr lang="en-VN">
                    <a:noFill/>
                  </a:rPr>
                  <a:t> </a:t>
                </a:r>
              </a:p>
            </p:txBody>
          </p:sp>
        </mc:Fallback>
      </mc:AlternateContent>
      <p:pic>
        <p:nvPicPr>
          <p:cNvPr id="10" name="Picture 9">
            <a:extLst>
              <a:ext uri="{FF2B5EF4-FFF2-40B4-BE49-F238E27FC236}">
                <a16:creationId xmlns:a16="http://schemas.microsoft.com/office/drawing/2014/main" id="{32EC40AB-1E4D-04B1-DA66-29D4221D4146}"/>
              </a:ext>
            </a:extLst>
          </p:cNvPr>
          <p:cNvPicPr>
            <a:picLocks noChangeAspect="1"/>
          </p:cNvPicPr>
          <p:nvPr/>
        </p:nvPicPr>
        <p:blipFill>
          <a:blip r:embed="rId6"/>
          <a:stretch>
            <a:fillRect/>
          </a:stretch>
        </p:blipFill>
        <p:spPr>
          <a:xfrm>
            <a:off x="202957" y="5248803"/>
            <a:ext cx="1868377" cy="730366"/>
          </a:xfrm>
          <a:prstGeom prst="rect">
            <a:avLst/>
          </a:prstGeom>
        </p:spPr>
      </p:pic>
      <p:pic>
        <p:nvPicPr>
          <p:cNvPr id="12" name="Picture 11">
            <a:extLst>
              <a:ext uri="{FF2B5EF4-FFF2-40B4-BE49-F238E27FC236}">
                <a16:creationId xmlns:a16="http://schemas.microsoft.com/office/drawing/2014/main" id="{68265BF2-9D66-201B-DB17-ECCFA8267345}"/>
              </a:ext>
            </a:extLst>
          </p:cNvPr>
          <p:cNvPicPr>
            <a:picLocks noChangeAspect="1"/>
          </p:cNvPicPr>
          <p:nvPr/>
        </p:nvPicPr>
        <p:blipFill>
          <a:blip r:embed="rId7"/>
          <a:stretch>
            <a:fillRect/>
          </a:stretch>
        </p:blipFill>
        <p:spPr>
          <a:xfrm>
            <a:off x="2826361" y="5317934"/>
            <a:ext cx="2721197" cy="629332"/>
          </a:xfrm>
          <a:prstGeom prst="rect">
            <a:avLst/>
          </a:prstGeom>
        </p:spPr>
      </p:pic>
    </p:spTree>
    <p:extLst>
      <p:ext uri="{BB962C8B-B14F-4D97-AF65-F5344CB8AC3E}">
        <p14:creationId xmlns:p14="http://schemas.microsoft.com/office/powerpoint/2010/main" val="1678749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3B359-CDE5-803E-1B46-54F6956500B2}"/>
              </a:ext>
            </a:extLst>
          </p:cNvPr>
          <p:cNvSpPr>
            <a:spLocks noGrp="1"/>
          </p:cNvSpPr>
          <p:nvPr>
            <p:ph type="title"/>
          </p:nvPr>
        </p:nvSpPr>
        <p:spPr/>
        <p:txBody>
          <a:bodyPr/>
          <a:lstStyle/>
          <a:p>
            <a:r>
              <a:rPr lang="en-VN" dirty="0"/>
              <a:t>ĐỒ THỊ CỦA ĐÁP ỨNG TẦN SỐ</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720382F-AD6F-230D-1A79-694B60A411F3}"/>
                  </a:ext>
                </a:extLst>
              </p:cNvPr>
              <p:cNvSpPr>
                <a:spLocks noGrp="1"/>
              </p:cNvSpPr>
              <p:nvPr>
                <p:ph idx="1"/>
              </p:nvPr>
            </p:nvSpPr>
            <p:spPr/>
            <p:txBody>
              <a:bodyPr>
                <a:normAutofit/>
              </a:bodyPr>
              <a:lstStyle/>
              <a:p>
                <a:r>
                  <a:rPr lang="vi-VN" sz="1800" dirty="0"/>
                  <a:t>Hàm chuyển G(s) của một hệ thống có thể mô tả được trong miền tần số bằng mối quan hệ như sau:</a:t>
                </a:r>
              </a:p>
              <a:p>
                <a:endParaRPr lang="vi-VN" sz="1800" dirty="0"/>
              </a:p>
              <a:p>
                <a:endParaRPr lang="vi-VN" sz="1800" dirty="0"/>
              </a:p>
              <a:p>
                <a:pPr marL="0" indent="0">
                  <a:buNone/>
                </a:pPr>
                <a:r>
                  <a:rPr lang="en-VN" sz="1800" dirty="0"/>
                  <a:t>Độ lớn và góc pha:</a:t>
                </a:r>
              </a:p>
              <a:p>
                <a:pPr marL="0" indent="0">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m:t>
                      </m:r>
                      <m:r>
                        <a:rPr lang="en-US" sz="1800" b="0" i="1" smtClean="0">
                          <a:latin typeface="Cambria Math" panose="02040503050406030204" pitchFamily="18" charset="0"/>
                        </a:rPr>
                        <m:t>𝐺</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𝑗</m:t>
                          </m:r>
                          <m:r>
                            <a:rPr lang="en-US" sz="1800" b="0" i="1" smtClean="0">
                              <a:latin typeface="Cambria Math" panose="02040503050406030204" pitchFamily="18" charset="0"/>
                            </a:rPr>
                            <m:t>𝜔</m:t>
                          </m:r>
                        </m:e>
                      </m:d>
                      <m:r>
                        <a:rPr lang="en-US" sz="1800" b="0" i="1" smtClean="0">
                          <a:latin typeface="Cambria Math" panose="02040503050406030204" pitchFamily="18" charset="0"/>
                        </a:rPr>
                        <m:t>|=</m:t>
                      </m:r>
                      <m:rad>
                        <m:radPr>
                          <m:degHide m:val="on"/>
                          <m:ctrlPr>
                            <a:rPr lang="en-US" sz="1800" b="0" i="1" smtClean="0">
                              <a:latin typeface="Cambria Math" panose="02040503050406030204" pitchFamily="18" charset="0"/>
                            </a:rPr>
                          </m:ctrlPr>
                        </m:radPr>
                        <m:deg/>
                        <m:e>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𝑅</m:t>
                              </m:r>
                            </m:e>
                            <m:sup>
                              <m:r>
                                <a:rPr lang="en-US" sz="1800" b="0" i="1" smtClean="0">
                                  <a:latin typeface="Cambria Math" panose="02040503050406030204" pitchFamily="18" charset="0"/>
                                </a:rPr>
                                <m:t>2</m:t>
                              </m:r>
                            </m:sup>
                          </m:sSup>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𝜔</m:t>
                              </m:r>
                            </m:e>
                          </m:d>
                          <m:r>
                            <a:rPr lang="en-US" sz="1800" b="0" i="1" smtClean="0">
                              <a:latin typeface="Cambria Math" panose="02040503050406030204" pitchFamily="18" charset="0"/>
                            </a:rPr>
                            <m:t>+</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𝐼</m:t>
                              </m:r>
                            </m:e>
                            <m:sup>
                              <m:r>
                                <a:rPr lang="en-US" sz="1800" b="0" i="1" smtClean="0">
                                  <a:latin typeface="Cambria Math" panose="02040503050406030204" pitchFamily="18" charset="0"/>
                                </a:rPr>
                                <m:t>2</m:t>
                              </m:r>
                            </m:sup>
                          </m:sSup>
                          <m:r>
                            <a:rPr lang="en-US" sz="1800" b="0" i="1" smtClean="0">
                              <a:latin typeface="Cambria Math" panose="02040503050406030204" pitchFamily="18" charset="0"/>
                            </a:rPr>
                            <m:t>(</m:t>
                          </m:r>
                          <m:r>
                            <a:rPr lang="en-US" sz="1800" b="0" i="1" smtClean="0">
                              <a:latin typeface="Cambria Math" panose="02040503050406030204" pitchFamily="18" charset="0"/>
                            </a:rPr>
                            <m:t>𝜔</m:t>
                          </m:r>
                          <m:r>
                            <a:rPr lang="en-US" sz="1800" b="0" i="1" smtClean="0">
                              <a:latin typeface="Cambria Math" panose="02040503050406030204" pitchFamily="18" charset="0"/>
                            </a:rPr>
                            <m:t>)</m:t>
                          </m:r>
                        </m:e>
                      </m:rad>
                    </m:oMath>
                  </m:oMathPara>
                </a14:m>
                <a:endParaRPr lang="vi-VN" sz="1800" dirty="0"/>
              </a:p>
              <a:p>
                <a:pPr marL="0" indent="0">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𝜙</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𝜔</m:t>
                          </m:r>
                        </m:e>
                      </m:d>
                      <m:r>
                        <a:rPr lang="en-US" sz="1800" b="0" i="1" smtClean="0">
                          <a:latin typeface="Cambria Math" panose="02040503050406030204" pitchFamily="18" charset="0"/>
                        </a:rPr>
                        <m:t>=</m:t>
                      </m:r>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arctan</m:t>
                          </m:r>
                        </m:fName>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𝐼</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𝜔</m:t>
                                  </m:r>
                                </m:e>
                              </m:d>
                            </m:num>
                            <m:den>
                              <m:r>
                                <a:rPr lang="en-US" sz="1800" b="0" i="1" smtClean="0">
                                  <a:latin typeface="Cambria Math" panose="02040503050406030204" pitchFamily="18" charset="0"/>
                                </a:rPr>
                                <m:t>𝑅</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𝜔</m:t>
                                  </m:r>
                                </m:e>
                              </m:d>
                            </m:den>
                          </m:f>
                        </m:e>
                      </m:func>
                    </m:oMath>
                  </m:oMathPara>
                </a14:m>
                <a:endParaRPr lang="vi-VN" sz="1800" dirty="0"/>
              </a:p>
              <a:p>
                <a:r>
                  <a:rPr lang="vi-VN" sz="1800" dirty="0"/>
                  <a:t>Hai dạng biểu diễn đáp ứng tần số của hệ thống:</a:t>
                </a:r>
              </a:p>
              <a:p>
                <a:pPr lvl="1"/>
                <a:r>
                  <a:rPr lang="vi-VN" sz="1600" b="1" dirty="0"/>
                  <a:t>Biểu diễn biên độ và pha</a:t>
                </a:r>
                <a:r>
                  <a:rPr lang="vi-VN" sz="1600" dirty="0"/>
                  <a:t> của hàm chuyển theo tần số bằng hai đồ thị riêng biệt nhau.</a:t>
                </a:r>
              </a:p>
              <a:p>
                <a:pPr lvl="1"/>
                <a:r>
                  <a:rPr lang="vi-VN" sz="1600" b="1" dirty="0"/>
                  <a:t>Đồ thị cực (polar plot): </a:t>
                </a:r>
                <a:r>
                  <a:rPr lang="vi-VN" sz="1600" dirty="0"/>
                  <a:t>Các tọa độ của đồ thị cực là phần thực và phần ảo của </a:t>
                </a:r>
                <a14:m>
                  <m:oMath xmlns:m="http://schemas.openxmlformats.org/officeDocument/2006/math">
                    <m:r>
                      <a:rPr lang="en-US" sz="1600" b="0" i="1" smtClean="0">
                        <a:latin typeface="Cambria Math" panose="02040503050406030204" pitchFamily="18" charset="0"/>
                      </a:rPr>
                      <m:t>𝐺</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𝑗</m:t>
                        </m:r>
                        <m:r>
                          <a:rPr lang="en-US" sz="1600" b="0" i="1" smtClean="0">
                            <a:latin typeface="Cambria Math" panose="02040503050406030204" pitchFamily="18" charset="0"/>
                          </a:rPr>
                          <m:t>𝜔</m:t>
                        </m:r>
                      </m:e>
                    </m:d>
                  </m:oMath>
                </a14:m>
                <a:r>
                  <a:rPr lang="vi-VN" sz="1600" dirty="0"/>
                  <a:t>.</a:t>
                </a:r>
              </a:p>
            </p:txBody>
          </p:sp>
        </mc:Choice>
        <mc:Fallback>
          <p:sp>
            <p:nvSpPr>
              <p:cNvPr id="3" name="Content Placeholder 2">
                <a:extLst>
                  <a:ext uri="{FF2B5EF4-FFF2-40B4-BE49-F238E27FC236}">
                    <a16:creationId xmlns:a16="http://schemas.microsoft.com/office/drawing/2014/main" id="{C720382F-AD6F-230D-1A79-694B60A411F3}"/>
                  </a:ext>
                </a:extLst>
              </p:cNvPr>
              <p:cNvSpPr>
                <a:spLocks noGrp="1" noRot="1" noChangeAspect="1" noMove="1" noResize="1" noEditPoints="1" noAdjustHandles="1" noChangeArrowheads="1" noChangeShapeType="1" noTextEdit="1"/>
              </p:cNvSpPr>
              <p:nvPr>
                <p:ph idx="1"/>
              </p:nvPr>
            </p:nvSpPr>
            <p:spPr>
              <a:blipFill>
                <a:blip r:embed="rId2"/>
                <a:stretch>
                  <a:fillRect l="-528" t="-285"/>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72DF134-C94E-121E-E280-473A23C29094}"/>
                  </a:ext>
                </a:extLst>
              </p:cNvPr>
              <p:cNvSpPr txBox="1"/>
              <p:nvPr/>
            </p:nvSpPr>
            <p:spPr>
              <a:xfrm>
                <a:off x="3921943" y="2041451"/>
                <a:ext cx="5124544" cy="813108"/>
              </a:xfrm>
              <a:prstGeom prst="rect">
                <a:avLst/>
              </a:prstGeom>
              <a:noFill/>
            </p:spPr>
            <p:txBody>
              <a:bodyPr wrap="none" lIns="0" tIns="0" rIns="0" bIns="0" rtlCol="0">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r>
                            <a:rPr lang="en-US" b="0" i="1" smtClean="0">
                              <a:latin typeface="Cambria Math" panose="02040503050406030204" pitchFamily="18" charset="0"/>
                            </a:rPr>
                            <m:t>𝜔</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𝐺</m:t>
                          </m:r>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𝜔</m:t>
                          </m:r>
                        </m:sub>
                      </m:sSub>
                      <m:r>
                        <a:rPr lang="en-US" b="0" i="1" smtClean="0">
                          <a:latin typeface="Cambria Math" panose="02040503050406030204" pitchFamily="18" charset="0"/>
                        </a:rPr>
                        <m:t>=</m:t>
                      </m:r>
                      <m:r>
                        <a:rPr lang="en-US" b="0" i="1" smtClean="0">
                          <a:latin typeface="Cambria Math" panose="02040503050406030204" pitchFamily="18" charset="0"/>
                        </a:rPr>
                        <m:t>𝑅</m:t>
                      </m:r>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r>
                        <a:rPr lang="en-US" b="0" i="1" smtClean="0">
                          <a:latin typeface="Cambria Math" panose="02040503050406030204" pitchFamily="18" charset="0"/>
                        </a:rPr>
                        <m:t>+</m:t>
                      </m:r>
                      <m:r>
                        <a:rPr lang="en-US" b="0" i="1" smtClean="0">
                          <a:latin typeface="Cambria Math" panose="02040503050406030204" pitchFamily="18" charset="0"/>
                        </a:rPr>
                        <m:t>𝑗𝐼</m:t>
                      </m:r>
                      <m:r>
                        <a:rPr lang="en-US" b="0" i="1" smtClean="0">
                          <a:latin typeface="Cambria Math" panose="02040503050406030204" pitchFamily="18" charset="0"/>
                        </a:rPr>
                        <m:t>(</m:t>
                      </m:r>
                      <m:r>
                        <a:rPr lang="en-US" b="0" i="1" smtClean="0">
                          <a:latin typeface="Cambria Math" panose="02040503050406030204" pitchFamily="18" charset="0"/>
                        </a:rPr>
                        <m:t>𝜔</m:t>
                      </m:r>
                      <m:r>
                        <a:rPr lang="en-US" b="0" i="1" smtClean="0">
                          <a:latin typeface="Cambria Math" panose="02040503050406030204" pitchFamily="18" charset="0"/>
                        </a:rPr>
                        <m:t>)</m:t>
                      </m:r>
                    </m:oMath>
                  </m:oMathPara>
                </a14:m>
                <a:endParaRPr lang="en-VN" dirty="0"/>
              </a:p>
              <a:p>
                <a:pPr algn="just">
                  <a:lnSpc>
                    <a:spcPct val="150000"/>
                  </a:lnSpc>
                </a:pPr>
                <a:r>
                  <a:rPr lang="en-US" dirty="0">
                    <a:latin typeface="Arial" panose="020B0604020202020204" pitchFamily="34" charset="0"/>
                    <a:cs typeface="Arial" panose="020B0604020202020204" pitchFamily="34" charset="0"/>
                  </a:rPr>
                  <a:t>T</a:t>
                </a:r>
                <a:r>
                  <a:rPr lang="en-VN" dirty="0">
                    <a:latin typeface="Arial" panose="020B0604020202020204" pitchFamily="34" charset="0"/>
                    <a:cs typeface="Arial" panose="020B0604020202020204" pitchFamily="34" charset="0"/>
                  </a:rPr>
                  <a:t>rong đó </a:t>
                </a:r>
                <a14:m>
                  <m:oMath xmlns:m="http://schemas.openxmlformats.org/officeDocument/2006/math">
                    <m:r>
                      <a:rPr lang="en-US" b="0" i="1" smtClean="0">
                        <a:latin typeface="Cambria Math" panose="02040503050406030204" pitchFamily="18" charset="0"/>
                      </a:rPr>
                      <m:t>𝑅</m:t>
                    </m:r>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r>
                      <a:rPr lang="en-US" b="0" i="1" smtClean="0">
                        <a:latin typeface="Cambria Math" panose="02040503050406030204" pitchFamily="18" charset="0"/>
                      </a:rPr>
                      <m:t>=</m:t>
                    </m:r>
                    <m:r>
                      <a:rPr lang="en-US" b="0" i="1" smtClean="0">
                        <a:latin typeface="Cambria Math" panose="02040503050406030204" pitchFamily="18" charset="0"/>
                      </a:rPr>
                      <m:t>𝑟𝑒𝑎𝑙</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r>
                              <a:rPr lang="en-US" b="0" i="1" smtClean="0">
                                <a:latin typeface="Cambria Math" panose="02040503050406030204" pitchFamily="18" charset="0"/>
                              </a:rPr>
                              <m:t>𝜔</m:t>
                            </m:r>
                          </m:e>
                        </m:d>
                      </m:e>
                    </m:d>
                    <m:r>
                      <a:rPr lang="en-US" b="0" i="0" smtClean="0">
                        <a:latin typeface="Cambria Math" panose="02040503050406030204" pitchFamily="18" charset="0"/>
                      </a:rPr>
                      <m:t>, </m:t>
                    </m:r>
                    <m:r>
                      <m:rPr>
                        <m:sty m:val="p"/>
                      </m:rPr>
                      <a:rPr lang="en-US" b="0" i="0" smtClean="0">
                        <a:latin typeface="Cambria Math" panose="02040503050406030204" pitchFamily="18" charset="0"/>
                      </a:rPr>
                      <m:t>I</m:t>
                    </m:r>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r>
                      <a:rPr lang="en-US" b="0" i="1" smtClean="0">
                        <a:latin typeface="Cambria Math" panose="02040503050406030204" pitchFamily="18" charset="0"/>
                      </a:rPr>
                      <m:t>=</m:t>
                    </m:r>
                    <m:r>
                      <a:rPr lang="en-US" b="0" i="1" smtClean="0">
                        <a:latin typeface="Cambria Math" panose="02040503050406030204" pitchFamily="18" charset="0"/>
                      </a:rPr>
                      <m:t>𝑖𝑚𝑎𝑔</m:t>
                    </m:r>
                    <m:d>
                      <m:dPr>
                        <m:begChr m:val="["/>
                        <m:endChr m:val="]"/>
                        <m:ctrlPr>
                          <a:rPr lang="en-US" i="1">
                            <a:latin typeface="Cambria Math" panose="02040503050406030204" pitchFamily="18" charset="0"/>
                          </a:rPr>
                        </m:ctrlPr>
                      </m:dPr>
                      <m:e>
                        <m:r>
                          <a:rPr lang="en-US" i="1">
                            <a:latin typeface="Cambria Math" panose="02040503050406030204" pitchFamily="18" charset="0"/>
                          </a:rPr>
                          <m:t>𝐺</m:t>
                        </m:r>
                        <m:d>
                          <m:dPr>
                            <m:ctrlPr>
                              <a:rPr lang="en-US" i="1">
                                <a:latin typeface="Cambria Math" panose="02040503050406030204" pitchFamily="18" charset="0"/>
                              </a:rPr>
                            </m:ctrlPr>
                          </m:dPr>
                          <m:e>
                            <m:r>
                              <a:rPr lang="en-US" i="1">
                                <a:latin typeface="Cambria Math" panose="02040503050406030204" pitchFamily="18" charset="0"/>
                              </a:rPr>
                              <m:t>𝑗</m:t>
                            </m:r>
                            <m:r>
                              <a:rPr lang="en-US" i="1">
                                <a:latin typeface="Cambria Math" panose="02040503050406030204" pitchFamily="18" charset="0"/>
                              </a:rPr>
                              <m:t>𝜔</m:t>
                            </m:r>
                          </m:e>
                        </m:d>
                      </m:e>
                    </m:d>
                  </m:oMath>
                </a14:m>
                <a:endParaRPr lang="en-VN" dirty="0">
                  <a:latin typeface="Arial" panose="020B060402020202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172DF134-C94E-121E-E280-473A23C29094}"/>
                  </a:ext>
                </a:extLst>
              </p:cNvPr>
              <p:cNvSpPr txBox="1">
                <a:spLocks noRot="1" noChangeAspect="1" noMove="1" noResize="1" noEditPoints="1" noAdjustHandles="1" noChangeArrowheads="1" noChangeShapeType="1" noTextEdit="1"/>
              </p:cNvSpPr>
              <p:nvPr/>
            </p:nvSpPr>
            <p:spPr>
              <a:xfrm>
                <a:off x="3921943" y="2041451"/>
                <a:ext cx="5124544" cy="813108"/>
              </a:xfrm>
              <a:prstGeom prst="rect">
                <a:avLst/>
              </a:prstGeom>
              <a:blipFill>
                <a:blip r:embed="rId3"/>
                <a:stretch>
                  <a:fillRect l="-2716" b="-16923"/>
                </a:stretch>
              </a:blipFill>
            </p:spPr>
            <p:txBody>
              <a:bodyPr/>
              <a:lstStyle/>
              <a:p>
                <a:r>
                  <a:rPr lang="en-VN">
                    <a:noFill/>
                  </a:rPr>
                  <a:t> </a:t>
                </a:r>
              </a:p>
            </p:txBody>
          </p:sp>
        </mc:Fallback>
      </mc:AlternateContent>
    </p:spTree>
    <p:extLst>
      <p:ext uri="{BB962C8B-B14F-4D97-AF65-F5344CB8AC3E}">
        <p14:creationId xmlns:p14="http://schemas.microsoft.com/office/powerpoint/2010/main" val="2462978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E2A67-AA56-B1A8-729F-13C5ECF98082}"/>
              </a:ext>
            </a:extLst>
          </p:cNvPr>
          <p:cNvSpPr>
            <a:spLocks noGrp="1"/>
          </p:cNvSpPr>
          <p:nvPr>
            <p:ph type="title"/>
          </p:nvPr>
        </p:nvSpPr>
        <p:spPr/>
        <p:txBody>
          <a:bodyPr/>
          <a:lstStyle/>
          <a:p>
            <a:r>
              <a:rPr lang="en-VN" dirty="0"/>
              <a:t>ĐỒ THỊ CỦA ĐÁP ỨNG TẦN SỐ</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D4298B0-42FB-FC99-3F88-160B113EB3F2}"/>
                  </a:ext>
                </a:extLst>
              </p:cNvPr>
              <p:cNvSpPr>
                <a:spLocks noGrp="1"/>
              </p:cNvSpPr>
              <p:nvPr>
                <p:ph idx="1"/>
              </p:nvPr>
            </p:nvSpPr>
            <p:spPr>
              <a:xfrm>
                <a:off x="1451578" y="1122656"/>
                <a:ext cx="9603275" cy="4444399"/>
              </a:xfrm>
            </p:spPr>
            <p:txBody>
              <a:bodyPr>
                <a:normAutofit/>
              </a:bodyPr>
              <a:lstStyle/>
              <a:p>
                <a:r>
                  <a:rPr lang="en-VN" sz="1800" u="sng" dirty="0"/>
                  <a:t>Ví dụ: </a:t>
                </a:r>
                <a:r>
                  <a:rPr lang="en-VN" sz="1800" dirty="0"/>
                  <a:t>Biểu diễn theo 2 dạng đáp ứng tần số của hệ thống có hàm chuyển sau:</a:t>
                </a:r>
              </a:p>
              <a:p>
                <a:pPr marL="0" indent="0">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𝐺</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𝑠</m:t>
                          </m:r>
                        </m:e>
                      </m:d>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𝑠</m:t>
                          </m:r>
                          <m:r>
                            <a:rPr lang="en-US" sz="1800" b="0" i="1" smtClean="0">
                              <a:latin typeface="Cambria Math" panose="02040503050406030204" pitchFamily="18" charset="0"/>
                            </a:rPr>
                            <m:t>+2</m:t>
                          </m:r>
                        </m:den>
                      </m:f>
                    </m:oMath>
                  </m:oMathPara>
                </a14:m>
                <a:endParaRPr lang="en-VN" sz="1800" dirty="0"/>
              </a:p>
            </p:txBody>
          </p:sp>
        </mc:Choice>
        <mc:Fallback xmlns="">
          <p:sp>
            <p:nvSpPr>
              <p:cNvPr id="3" name="Content Placeholder 2">
                <a:extLst>
                  <a:ext uri="{FF2B5EF4-FFF2-40B4-BE49-F238E27FC236}">
                    <a16:creationId xmlns:a16="http://schemas.microsoft.com/office/drawing/2014/main" id="{FD4298B0-42FB-FC99-3F88-160B113EB3F2}"/>
                  </a:ext>
                </a:extLst>
              </p:cNvPr>
              <p:cNvSpPr>
                <a:spLocks noGrp="1" noRot="1" noChangeAspect="1" noMove="1" noResize="1" noEditPoints="1" noAdjustHandles="1" noChangeArrowheads="1" noChangeShapeType="1" noTextEdit="1"/>
              </p:cNvSpPr>
              <p:nvPr>
                <p:ph idx="1"/>
              </p:nvPr>
            </p:nvSpPr>
            <p:spPr>
              <a:xfrm>
                <a:off x="1451578" y="1122656"/>
                <a:ext cx="9603275" cy="4444399"/>
              </a:xfrm>
              <a:blipFill>
                <a:blip r:embed="rId2"/>
                <a:stretch>
                  <a:fillRect l="-396" t="-285"/>
                </a:stretch>
              </a:blipFill>
            </p:spPr>
            <p:txBody>
              <a:bodyPr/>
              <a:lstStyle/>
              <a:p>
                <a:r>
                  <a:rPr lang="en-VN">
                    <a:noFill/>
                  </a:rPr>
                  <a:t> </a:t>
                </a:r>
              </a:p>
            </p:txBody>
          </p:sp>
        </mc:Fallback>
      </mc:AlternateContent>
      <p:pic>
        <p:nvPicPr>
          <p:cNvPr id="5" name="Picture 4">
            <a:extLst>
              <a:ext uri="{FF2B5EF4-FFF2-40B4-BE49-F238E27FC236}">
                <a16:creationId xmlns:a16="http://schemas.microsoft.com/office/drawing/2014/main" id="{9C92E161-A3D4-2273-6B49-8A11F8C6836F}"/>
              </a:ext>
            </a:extLst>
          </p:cNvPr>
          <p:cNvPicPr>
            <a:picLocks noChangeAspect="1"/>
          </p:cNvPicPr>
          <p:nvPr/>
        </p:nvPicPr>
        <p:blipFill>
          <a:blip r:embed="rId3"/>
          <a:stretch>
            <a:fillRect/>
          </a:stretch>
        </p:blipFill>
        <p:spPr>
          <a:xfrm>
            <a:off x="128785" y="2708565"/>
            <a:ext cx="5524683" cy="3714770"/>
          </a:xfrm>
          <a:prstGeom prst="rect">
            <a:avLst/>
          </a:prstGeom>
        </p:spPr>
      </p:pic>
      <p:pic>
        <p:nvPicPr>
          <p:cNvPr id="7" name="Picture 6">
            <a:extLst>
              <a:ext uri="{FF2B5EF4-FFF2-40B4-BE49-F238E27FC236}">
                <a16:creationId xmlns:a16="http://schemas.microsoft.com/office/drawing/2014/main" id="{6579DFC3-13CD-4704-1E71-3C03F43E3F9E}"/>
              </a:ext>
            </a:extLst>
          </p:cNvPr>
          <p:cNvPicPr>
            <a:picLocks noChangeAspect="1"/>
          </p:cNvPicPr>
          <p:nvPr/>
        </p:nvPicPr>
        <p:blipFill>
          <a:blip r:embed="rId4"/>
          <a:stretch>
            <a:fillRect/>
          </a:stretch>
        </p:blipFill>
        <p:spPr>
          <a:xfrm>
            <a:off x="5711341" y="3841656"/>
            <a:ext cx="5401386" cy="2581679"/>
          </a:xfrm>
          <a:prstGeom prst="rect">
            <a:avLst/>
          </a:prstGeom>
        </p:spPr>
      </p:pic>
      <p:sp>
        <p:nvSpPr>
          <p:cNvPr id="8" name="TextBox 7">
            <a:extLst>
              <a:ext uri="{FF2B5EF4-FFF2-40B4-BE49-F238E27FC236}">
                <a16:creationId xmlns:a16="http://schemas.microsoft.com/office/drawing/2014/main" id="{380019B7-92CE-F06A-ACFE-75D026921582}"/>
              </a:ext>
            </a:extLst>
          </p:cNvPr>
          <p:cNvSpPr txBox="1"/>
          <p:nvPr/>
        </p:nvSpPr>
        <p:spPr>
          <a:xfrm>
            <a:off x="11170600" y="3867909"/>
            <a:ext cx="1021400" cy="307777"/>
          </a:xfrm>
          <a:prstGeom prst="rect">
            <a:avLst/>
          </a:prstGeom>
          <a:noFill/>
        </p:spPr>
        <p:txBody>
          <a:bodyPr wrap="square" rtlCol="0">
            <a:spAutoFit/>
          </a:bodyPr>
          <a:lstStyle/>
          <a:p>
            <a:r>
              <a:rPr lang="en-VN" sz="1400" dirty="0">
                <a:latin typeface="Arial" panose="020B0604020202020204" pitchFamily="34" charset="0"/>
                <a:cs typeface="Arial" panose="020B0604020202020204" pitchFamily="34" charset="0"/>
              </a:rPr>
              <a:t>r/s: rad/s</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E5DE290-E743-EF53-C2CB-4622CB9F6EBE}"/>
                  </a:ext>
                </a:extLst>
              </p:cNvPr>
              <p:cNvSpPr txBox="1"/>
              <p:nvPr/>
            </p:nvSpPr>
            <p:spPr>
              <a:xfrm>
                <a:off x="5833641" y="2432620"/>
                <a:ext cx="6125402" cy="131010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Thay </a:t>
                </a:r>
                <a14:m>
                  <m:oMath xmlns:m="http://schemas.openxmlformats.org/officeDocument/2006/math">
                    <m:r>
                      <a:rPr lang="en-US" b="0" i="1" smtClean="0">
                        <a:latin typeface="Cambria Math" panose="02040503050406030204" pitchFamily="18" charset="0"/>
                        <a:cs typeface="Arial" panose="020B0604020202020204" pitchFamily="34" charset="0"/>
                      </a:rPr>
                      <m:t>𝑠</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𝑗</m:t>
                    </m:r>
                    <m:r>
                      <a:rPr lang="en-US" b="0" i="1" smtClean="0">
                        <a:latin typeface="Cambria Math" panose="02040503050406030204" pitchFamily="18" charset="0"/>
                        <a:cs typeface="Arial" panose="020B0604020202020204" pitchFamily="34" charset="0"/>
                      </a:rPr>
                      <m:t>𝜔</m:t>
                    </m:r>
                  </m:oMath>
                </a14:m>
                <a:r>
                  <a:rPr lang="en-VN" dirty="0">
                    <a:latin typeface="Arial" panose="020B0604020202020204" pitchFamily="34" charset="0"/>
                    <a:cs typeface="Arial" panose="020B0604020202020204" pitchFamily="34" charset="0"/>
                  </a:rPr>
                  <a:t> vào hàm </a:t>
                </a:r>
                <a14:m>
                  <m:oMath xmlns:m="http://schemas.openxmlformats.org/officeDocument/2006/math">
                    <m:r>
                      <a:rPr lang="en-US" b="0" i="1" smtClean="0">
                        <a:latin typeface="Cambria Math" panose="02040503050406030204" pitchFamily="18" charset="0"/>
                        <a:cs typeface="Arial" panose="020B0604020202020204" pitchFamily="34" charset="0"/>
                      </a:rPr>
                      <m:t>𝐺</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𝑠</m:t>
                    </m:r>
                    <m:r>
                      <a:rPr lang="en-US" b="0" i="1" smtClean="0">
                        <a:latin typeface="Cambria Math" panose="02040503050406030204" pitchFamily="18" charset="0"/>
                        <a:cs typeface="Arial" panose="020B0604020202020204" pitchFamily="34" charset="0"/>
                      </a:rPr>
                      <m:t>)</m:t>
                    </m:r>
                  </m:oMath>
                </a14:m>
                <a:r>
                  <a:rPr lang="en-VN" dirty="0">
                    <a:latin typeface="Arial" panose="020B0604020202020204" pitchFamily="34" charset="0"/>
                    <a:cs typeface="Arial" panose="020B0604020202020204" pitchFamily="34" charset="0"/>
                  </a:rPr>
                  <a:t>, ta được: </a:t>
                </a:r>
                <a14:m>
                  <m:oMath xmlns:m="http://schemas.openxmlformats.org/officeDocument/2006/math">
                    <m:r>
                      <a:rPr lang="en-US" b="0" i="1" smtClean="0">
                        <a:latin typeface="Cambria Math" panose="02040503050406030204" pitchFamily="18" charset="0"/>
                        <a:cs typeface="Arial" panose="020B0604020202020204" pitchFamily="34" charset="0"/>
                      </a:rPr>
                      <m:t>𝐺</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𝑗</m:t>
                        </m:r>
                        <m:r>
                          <a:rPr lang="en-US" b="0" i="1" smtClean="0">
                            <a:latin typeface="Cambria Math" panose="02040503050406030204" pitchFamily="18" charset="0"/>
                            <a:cs typeface="Arial" panose="020B0604020202020204" pitchFamily="34" charset="0"/>
                          </a:rPr>
                          <m:t>𝜔</m:t>
                        </m:r>
                      </m:e>
                    </m:d>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cs typeface="Arial" panose="020B0604020202020204" pitchFamily="34" charset="0"/>
                          </a:rPr>
                          <m:t>𝑗</m:t>
                        </m:r>
                        <m:r>
                          <a:rPr lang="en-US" b="0" i="1" smtClean="0">
                            <a:latin typeface="Cambria Math" panose="02040503050406030204" pitchFamily="18" charset="0"/>
                            <a:cs typeface="Arial" panose="020B0604020202020204" pitchFamily="34" charset="0"/>
                          </a:rPr>
                          <m:t>𝜔</m:t>
                        </m:r>
                        <m:r>
                          <a:rPr lang="en-US" b="0" i="1" smtClean="0">
                            <a:latin typeface="Cambria Math" panose="02040503050406030204" pitchFamily="18" charset="0"/>
                            <a:cs typeface="Arial" panose="020B0604020202020204" pitchFamily="34" charset="0"/>
                          </a:rPr>
                          <m:t>+2</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2−</m:t>
                        </m:r>
                        <m:r>
                          <a:rPr lang="en-US" b="0" i="1" smtClean="0">
                            <a:latin typeface="Cambria Math" panose="02040503050406030204" pitchFamily="18" charset="0"/>
                            <a:cs typeface="Arial" panose="020B0604020202020204" pitchFamily="34" charset="0"/>
                          </a:rPr>
                          <m:t>𝑗</m:t>
                        </m:r>
                        <m:r>
                          <a:rPr lang="en-US" b="0" i="1" smtClean="0">
                            <a:latin typeface="Cambria Math" panose="02040503050406030204" pitchFamily="18" charset="0"/>
                            <a:cs typeface="Arial" panose="020B0604020202020204" pitchFamily="34" charset="0"/>
                          </a:rPr>
                          <m:t>𝜔</m:t>
                        </m:r>
                      </m:num>
                      <m:den>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𝜔</m:t>
                            </m:r>
                          </m:e>
                          <m:sup>
                            <m:r>
                              <a:rPr lang="en-US" b="0" i="1" smtClean="0">
                                <a:latin typeface="Cambria Math" panose="02040503050406030204" pitchFamily="18" charset="0"/>
                                <a:cs typeface="Arial" panose="020B0604020202020204" pitchFamily="34" charset="0"/>
                              </a:rPr>
                              <m:t>2</m:t>
                            </m:r>
                          </m:sup>
                        </m:sSup>
                        <m:r>
                          <a:rPr lang="en-US" b="0" i="1" smtClean="0">
                            <a:latin typeface="Cambria Math" panose="02040503050406030204" pitchFamily="18" charset="0"/>
                            <a:cs typeface="Arial" panose="020B0604020202020204" pitchFamily="34" charset="0"/>
                          </a:rPr>
                          <m:t>+4</m:t>
                        </m:r>
                      </m:den>
                    </m:f>
                  </m:oMath>
                </a14:m>
                <a:endParaRPr lang="en-VN" dirty="0">
                  <a:latin typeface="Arial" panose="020B0604020202020204" pitchFamily="34" charset="0"/>
                  <a:cs typeface="Arial" panose="020B0604020202020204" pitchFamily="34" charset="0"/>
                </a:endParaRPr>
              </a:p>
              <a:p>
                <a:r>
                  <a:rPr lang="en-VN" dirty="0">
                    <a:latin typeface="Arial" panose="020B0604020202020204" pitchFamily="34" charset="0"/>
                    <a:cs typeface="Arial" panose="020B0604020202020204" pitchFamily="34" charset="0"/>
                  </a:rPr>
                  <a:t>Độ lớn và góc pha: </a:t>
                </a:r>
                <a14:m>
                  <m:oMath xmlns:m="http://schemas.openxmlformats.org/officeDocument/2006/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𝐺</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𝑗</m:t>
                            </m:r>
                            <m:r>
                              <a:rPr lang="en-US" sz="1800" b="0" i="1" smtClean="0">
                                <a:latin typeface="Cambria Math" panose="02040503050406030204" pitchFamily="18" charset="0"/>
                              </a:rPr>
                              <m:t>𝜔</m:t>
                            </m:r>
                          </m:e>
                        </m:d>
                      </m:e>
                    </m:d>
                    <m:r>
                      <a:rPr lang="en-US" sz="1800" b="0" i="1" smtClean="0">
                        <a:latin typeface="Cambria Math" panose="02040503050406030204" pitchFamily="18" charset="0"/>
                      </a:rPr>
                      <m:t>=</m:t>
                    </m:r>
                    <m:r>
                      <a:rPr lang="en-US" sz="1800" b="0" i="1" smtClean="0">
                        <a:latin typeface="Cambria Math" panose="02040503050406030204" pitchFamily="18" charset="0"/>
                      </a:rPr>
                      <m:t>𝑀</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𝜔</m:t>
                        </m:r>
                      </m:e>
                    </m:d>
                    <m:r>
                      <a:rPr lang="en-US" sz="1800" b="0" i="1" smtClean="0">
                        <a:latin typeface="Cambria Math" panose="02040503050406030204" pitchFamily="18" charset="0"/>
                      </a:rPr>
                      <m:t>=1/</m:t>
                    </m:r>
                    <m:rad>
                      <m:radPr>
                        <m:degHide m:val="on"/>
                        <m:ctrlPr>
                          <a:rPr lang="en-US" sz="1800" b="0" i="1" smtClean="0">
                            <a:latin typeface="Cambria Math" panose="02040503050406030204" pitchFamily="18" charset="0"/>
                          </a:rPr>
                        </m:ctrlPr>
                      </m:radPr>
                      <m:deg/>
                      <m:e>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𝜔</m:t>
                            </m:r>
                          </m:e>
                          <m:sup>
                            <m:r>
                              <a:rPr lang="en-US" sz="1800" b="0" i="1" smtClean="0">
                                <a:latin typeface="Cambria Math" panose="02040503050406030204" pitchFamily="18" charset="0"/>
                              </a:rPr>
                              <m:t>2</m:t>
                            </m:r>
                          </m:sup>
                        </m:sSup>
                        <m:r>
                          <a:rPr lang="en-US" sz="1800" b="0" i="1" smtClean="0">
                            <a:latin typeface="Cambria Math" panose="02040503050406030204" pitchFamily="18" charset="0"/>
                          </a:rPr>
                          <m:t>+4</m:t>
                        </m:r>
                      </m:e>
                    </m:rad>
                  </m:oMath>
                </a14:m>
                <a:endParaRPr lang="en-V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𝜙</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𝜔</m:t>
                          </m:r>
                        </m:e>
                      </m:d>
                      <m:r>
                        <a:rPr lang="en-US" b="0" i="1" smtClean="0">
                          <a:latin typeface="Cambria Math" panose="02040503050406030204" pitchFamily="18" charset="0"/>
                          <a:cs typeface="Arial" panose="020B0604020202020204" pitchFamily="34" charset="0"/>
                        </a:rPr>
                        <m:t>=−</m:t>
                      </m:r>
                      <m:r>
                        <m:rPr>
                          <m:sty m:val="p"/>
                        </m:rPr>
                        <a:rPr lang="en-US" b="0" i="1" smtClean="0">
                          <a:latin typeface="Cambria Math" panose="02040503050406030204" pitchFamily="18" charset="0"/>
                          <a:cs typeface="Arial" panose="020B0604020202020204" pitchFamily="34" charset="0"/>
                        </a:rPr>
                        <m:t>ar</m:t>
                      </m:r>
                      <m:r>
                        <m:rPr>
                          <m:sty m:val="p"/>
                        </m:rPr>
                        <a:rPr lang="en-US" b="0" i="0" smtClean="0">
                          <a:latin typeface="Cambria Math" panose="02040503050406030204" pitchFamily="18" charset="0"/>
                          <a:cs typeface="Arial" panose="020B0604020202020204" pitchFamily="34" charset="0"/>
                        </a:rPr>
                        <m:t>ctan</m:t>
                      </m:r>
                      <m:r>
                        <a:rPr lang="en-US" b="0" i="0"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𝜔</m:t>
                          </m:r>
                        </m:num>
                        <m:den>
                          <m:r>
                            <a:rPr lang="en-US" b="0" i="1" smtClean="0">
                              <a:latin typeface="Cambria Math" panose="02040503050406030204" pitchFamily="18" charset="0"/>
                              <a:cs typeface="Arial" panose="020B0604020202020204" pitchFamily="34" charset="0"/>
                            </a:rPr>
                            <m:t>2</m:t>
                          </m:r>
                        </m:den>
                      </m:f>
                      <m:r>
                        <a:rPr lang="en-US" b="0" i="1" smtClean="0">
                          <a:latin typeface="Cambria Math" panose="02040503050406030204" pitchFamily="18" charset="0"/>
                          <a:cs typeface="Arial" panose="020B0604020202020204" pitchFamily="34" charset="0"/>
                        </a:rPr>
                        <m:t>)</m:t>
                      </m:r>
                    </m:oMath>
                  </m:oMathPara>
                </a14:m>
                <a:endParaRPr lang="en-VN" dirty="0">
                  <a:latin typeface="Arial" panose="020B0604020202020204" pitchFamily="34" charset="0"/>
                  <a:cs typeface="Arial" panose="020B0604020202020204" pitchFamily="34" charset="0"/>
                </a:endParaRPr>
              </a:p>
            </p:txBody>
          </p:sp>
        </mc:Choice>
        <mc:Fallback xmlns="">
          <p:sp>
            <p:nvSpPr>
              <p:cNvPr id="9" name="TextBox 8">
                <a:extLst>
                  <a:ext uri="{FF2B5EF4-FFF2-40B4-BE49-F238E27FC236}">
                    <a16:creationId xmlns:a16="http://schemas.microsoft.com/office/drawing/2014/main" id="{9E5DE290-E743-EF53-C2CB-4622CB9F6EBE}"/>
                  </a:ext>
                </a:extLst>
              </p:cNvPr>
              <p:cNvSpPr txBox="1">
                <a:spLocks noRot="1" noChangeAspect="1" noMove="1" noResize="1" noEditPoints="1" noAdjustHandles="1" noChangeArrowheads="1" noChangeShapeType="1" noTextEdit="1"/>
              </p:cNvSpPr>
              <p:nvPr/>
            </p:nvSpPr>
            <p:spPr>
              <a:xfrm>
                <a:off x="5833641" y="2432620"/>
                <a:ext cx="6125402" cy="1310102"/>
              </a:xfrm>
              <a:prstGeom prst="rect">
                <a:avLst/>
              </a:prstGeom>
              <a:blipFill>
                <a:blip r:embed="rId5"/>
                <a:stretch>
                  <a:fillRect l="-828" b="-1923"/>
                </a:stretch>
              </a:blipFill>
            </p:spPr>
            <p:txBody>
              <a:bodyPr/>
              <a:lstStyle/>
              <a:p>
                <a:r>
                  <a:rPr lang="en-VN">
                    <a:noFill/>
                  </a:rPr>
                  <a:t> </a:t>
                </a:r>
              </a:p>
            </p:txBody>
          </p:sp>
        </mc:Fallback>
      </mc:AlternateContent>
      <p:sp>
        <p:nvSpPr>
          <p:cNvPr id="11" name="Oval 10">
            <a:extLst>
              <a:ext uri="{FF2B5EF4-FFF2-40B4-BE49-F238E27FC236}">
                <a16:creationId xmlns:a16="http://schemas.microsoft.com/office/drawing/2014/main" id="{0C779C7A-5848-8BC1-6542-1ECF8C01F874}"/>
              </a:ext>
            </a:extLst>
          </p:cNvPr>
          <p:cNvSpPr/>
          <p:nvPr/>
        </p:nvSpPr>
        <p:spPr>
          <a:xfrm>
            <a:off x="2486346" y="2804845"/>
            <a:ext cx="77056" cy="77056"/>
          </a:xfrm>
          <a:prstGeom prst="ellipse">
            <a:avLst/>
          </a:prstGeom>
          <a:noFill/>
          <a:ln w="190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Oval 11">
            <a:extLst>
              <a:ext uri="{FF2B5EF4-FFF2-40B4-BE49-F238E27FC236}">
                <a16:creationId xmlns:a16="http://schemas.microsoft.com/office/drawing/2014/main" id="{F6264DA7-38A3-DD16-5A96-61A906D8C93F}"/>
              </a:ext>
            </a:extLst>
          </p:cNvPr>
          <p:cNvSpPr/>
          <p:nvPr/>
        </p:nvSpPr>
        <p:spPr>
          <a:xfrm>
            <a:off x="2493019" y="4829894"/>
            <a:ext cx="77056" cy="77056"/>
          </a:xfrm>
          <a:prstGeom prst="ellipse">
            <a:avLst/>
          </a:prstGeom>
          <a:noFill/>
          <a:ln w="190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4F06ECF-EDFB-9297-8B35-B57670A8605F}"/>
                  </a:ext>
                </a:extLst>
              </p:cNvPr>
              <p:cNvSpPr txBox="1"/>
              <p:nvPr/>
            </p:nvSpPr>
            <p:spPr>
              <a:xfrm>
                <a:off x="232957" y="1790700"/>
                <a:ext cx="5224868" cy="817853"/>
              </a:xfrm>
              <a:prstGeom prst="rect">
                <a:avLst/>
              </a:prstGeom>
              <a:noFill/>
            </p:spPr>
            <p:txBody>
              <a:bodyPr wrap="square" rtlCol="0">
                <a:spAutoFit/>
              </a:bodyPr>
              <a:lstStyle/>
              <a:p>
                <a:r>
                  <a:rPr lang="en-VN" sz="1400" dirty="0">
                    <a:latin typeface="Arial" panose="020B0604020202020204" pitchFamily="34" charset="0"/>
                    <a:cs typeface="Arial" panose="020B0604020202020204" pitchFamily="34" charset="0"/>
                  </a:rPr>
                  <a:t>Tại tần số 1 rad/s:</a:t>
                </a:r>
              </a:p>
              <a:p>
                <a:r>
                  <a:rPr lang="en-VN" sz="1400" dirty="0">
                    <a:latin typeface="Arial" panose="020B0604020202020204" pitchFamily="34" charset="0"/>
                    <a:cs typeface="Arial" panose="020B0604020202020204" pitchFamily="34" charset="0"/>
                  </a:rPr>
                  <a:t>Độ lớn biên độ: </a:t>
                </a:r>
                <a14:m>
                  <m:oMath xmlns:m="http://schemas.openxmlformats.org/officeDocument/2006/math">
                    <m:sSup>
                      <m:sSupPr>
                        <m:ctrlPr>
                          <a:rPr lang="en-US" sz="1400" b="0" i="1" smtClean="0">
                            <a:latin typeface="Cambria Math" panose="02040503050406030204" pitchFamily="18" charset="0"/>
                            <a:cs typeface="Arial" panose="020B0604020202020204" pitchFamily="34" charset="0"/>
                          </a:rPr>
                        </m:ctrlPr>
                      </m:sSupPr>
                      <m:e>
                        <m:r>
                          <a:rPr lang="en-US" sz="1400" b="0" i="1" smtClean="0">
                            <a:latin typeface="Cambria Math" panose="02040503050406030204" pitchFamily="18" charset="0"/>
                            <a:cs typeface="Arial" panose="020B0604020202020204" pitchFamily="34" charset="0"/>
                          </a:rPr>
                          <m:t>10</m:t>
                        </m:r>
                      </m:e>
                      <m:sup>
                        <m:r>
                          <a:rPr lang="en-US" sz="1400" b="0" i="1" smtClean="0">
                            <a:latin typeface="Cambria Math" panose="02040503050406030204" pitchFamily="18" charset="0"/>
                            <a:cs typeface="Arial" panose="020B0604020202020204" pitchFamily="34" charset="0"/>
                          </a:rPr>
                          <m:t>−</m:t>
                        </m:r>
                        <m:f>
                          <m:fPr>
                            <m:ctrlPr>
                              <a:rPr lang="en-US" sz="1400" b="0" i="1" smtClean="0">
                                <a:latin typeface="Cambria Math" panose="02040503050406030204" pitchFamily="18" charset="0"/>
                                <a:cs typeface="Arial" panose="020B0604020202020204" pitchFamily="34" charset="0"/>
                              </a:rPr>
                            </m:ctrlPr>
                          </m:fPr>
                          <m:num>
                            <m:r>
                              <a:rPr lang="en-US" sz="1400" b="0" i="1" smtClean="0">
                                <a:latin typeface="Cambria Math" panose="02040503050406030204" pitchFamily="18" charset="0"/>
                                <a:cs typeface="Arial" panose="020B0604020202020204" pitchFamily="34" charset="0"/>
                              </a:rPr>
                              <m:t>7</m:t>
                            </m:r>
                          </m:num>
                          <m:den>
                            <m:r>
                              <a:rPr lang="en-US" sz="1400" b="0" i="1" smtClean="0">
                                <a:latin typeface="Cambria Math" panose="02040503050406030204" pitchFamily="18" charset="0"/>
                                <a:cs typeface="Arial" panose="020B0604020202020204" pitchFamily="34" charset="0"/>
                              </a:rPr>
                              <m:t>20</m:t>
                            </m:r>
                          </m:den>
                        </m:f>
                      </m:sup>
                    </m:sSup>
                    <m:r>
                      <a:rPr lang="en-US" sz="1400" b="0" i="1" smtClean="0">
                        <a:latin typeface="Cambria Math" panose="02040503050406030204" pitchFamily="18" charset="0"/>
                        <a:cs typeface="Arial" panose="020B0604020202020204" pitchFamily="34" charset="0"/>
                      </a:rPr>
                      <m:t>=0.447</m:t>
                    </m:r>
                  </m:oMath>
                </a14:m>
                <a:endParaRPr lang="en-VN" sz="1400" dirty="0">
                  <a:latin typeface="Arial" panose="020B0604020202020204" pitchFamily="34" charset="0"/>
                  <a:cs typeface="Arial" panose="020B0604020202020204" pitchFamily="34" charset="0"/>
                </a:endParaRPr>
              </a:p>
              <a:p>
                <a:r>
                  <a:rPr lang="en-VN" sz="1400" dirty="0">
                    <a:latin typeface="Arial" panose="020B0604020202020204" pitchFamily="34" charset="0"/>
                    <a:cs typeface="Arial" panose="020B0604020202020204" pitchFamily="34" charset="0"/>
                  </a:rPr>
                  <a:t>Pha: </a:t>
                </a:r>
                <a14:m>
                  <m:oMath xmlns:m="http://schemas.openxmlformats.org/officeDocument/2006/math">
                    <m:r>
                      <a:rPr lang="en-US" sz="1400" b="0" i="1" smtClean="0">
                        <a:latin typeface="Cambria Math" panose="02040503050406030204" pitchFamily="18" charset="0"/>
                        <a:cs typeface="Arial" panose="020B0604020202020204" pitchFamily="34" charset="0"/>
                      </a:rPr>
                      <m:t>−26</m:t>
                    </m:r>
                    <m:r>
                      <a:rPr lang="en-US" sz="1400" b="0" i="1" smtClean="0">
                        <a:latin typeface="Cambria Math" panose="02040503050406030204" pitchFamily="18" charset="0"/>
                        <a:ea typeface="Cambria Math" panose="02040503050406030204" pitchFamily="18" charset="0"/>
                        <a:cs typeface="Arial" panose="020B0604020202020204" pitchFamily="34" charset="0"/>
                      </a:rPr>
                      <m:t>°</m:t>
                    </m:r>
                  </m:oMath>
                </a14:m>
                <a:endParaRPr lang="en-VN" sz="1400" dirty="0">
                  <a:latin typeface="Arial" panose="020B0604020202020204" pitchFamily="34" charset="0"/>
                  <a:cs typeface="Arial" panose="020B0604020202020204" pitchFamily="34" charset="0"/>
                </a:endParaRPr>
              </a:p>
            </p:txBody>
          </p:sp>
        </mc:Choice>
        <mc:Fallback xmlns="">
          <p:sp>
            <p:nvSpPr>
              <p:cNvPr id="13" name="TextBox 12">
                <a:extLst>
                  <a:ext uri="{FF2B5EF4-FFF2-40B4-BE49-F238E27FC236}">
                    <a16:creationId xmlns:a16="http://schemas.microsoft.com/office/drawing/2014/main" id="{74F06ECF-EDFB-9297-8B35-B57670A8605F}"/>
                  </a:ext>
                </a:extLst>
              </p:cNvPr>
              <p:cNvSpPr txBox="1">
                <a:spLocks noRot="1" noChangeAspect="1" noMove="1" noResize="1" noEditPoints="1" noAdjustHandles="1" noChangeArrowheads="1" noChangeShapeType="1" noTextEdit="1"/>
              </p:cNvSpPr>
              <p:nvPr/>
            </p:nvSpPr>
            <p:spPr>
              <a:xfrm>
                <a:off x="232957" y="1790700"/>
                <a:ext cx="5224868" cy="817853"/>
              </a:xfrm>
              <a:prstGeom prst="rect">
                <a:avLst/>
              </a:prstGeom>
              <a:blipFill>
                <a:blip r:embed="rId6"/>
                <a:stretch>
                  <a:fillRect l="-485" t="-1538" b="-6154"/>
                </a:stretch>
              </a:blipFill>
            </p:spPr>
            <p:txBody>
              <a:bodyPr/>
              <a:lstStyle/>
              <a:p>
                <a:r>
                  <a:rPr lang="en-VN">
                    <a:noFill/>
                  </a:rPr>
                  <a:t> </a:t>
                </a:r>
              </a:p>
            </p:txBody>
          </p:sp>
        </mc:Fallback>
      </mc:AlternateContent>
    </p:spTree>
    <p:extLst>
      <p:ext uri="{BB962C8B-B14F-4D97-AF65-F5344CB8AC3E}">
        <p14:creationId xmlns:p14="http://schemas.microsoft.com/office/powerpoint/2010/main" val="681839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linds(horizontal)">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63CE9-6E25-E12B-4FB1-22B7DE6A7913}"/>
              </a:ext>
            </a:extLst>
          </p:cNvPr>
          <p:cNvSpPr>
            <a:spLocks noGrp="1"/>
          </p:cNvSpPr>
          <p:nvPr>
            <p:ph type="title"/>
          </p:nvPr>
        </p:nvSpPr>
        <p:spPr/>
        <p:txBody>
          <a:bodyPr/>
          <a:lstStyle/>
          <a:p>
            <a:r>
              <a:rPr lang="en-VN" dirty="0"/>
              <a:t>ĐỒ THỊ BODE</a:t>
            </a:r>
          </a:p>
        </p:txBody>
      </p:sp>
      <p:sp>
        <p:nvSpPr>
          <p:cNvPr id="3" name="Content Placeholder 2">
            <a:extLst>
              <a:ext uri="{FF2B5EF4-FFF2-40B4-BE49-F238E27FC236}">
                <a16:creationId xmlns:a16="http://schemas.microsoft.com/office/drawing/2014/main" id="{8D85330E-C9B0-7403-14DC-192CFC520F69}"/>
              </a:ext>
            </a:extLst>
          </p:cNvPr>
          <p:cNvSpPr>
            <a:spLocks noGrp="1"/>
          </p:cNvSpPr>
          <p:nvPr>
            <p:ph idx="1"/>
          </p:nvPr>
        </p:nvSpPr>
        <p:spPr/>
        <p:txBody>
          <a:bodyPr/>
          <a:lstStyle/>
          <a:p>
            <a:r>
              <a:rPr lang="vi-VN" dirty="0"/>
              <a:t>Hạn chế của đồ thị cực là việc tính toán đáp ứng tần số khá rắc rối và không thể hiện được ảnh hưởng của từng điểm cực hay điểm không trong đồ thị. Vì vậy, người ta sử dụng đồ thị logarit (</a:t>
            </a:r>
            <a:r>
              <a:rPr lang="vi-VN" i="1" dirty="0"/>
              <a:t>logarithmic plot</a:t>
            </a:r>
            <a:r>
              <a:rPr lang="vi-VN" dirty="0"/>
              <a:t>), thường gọi là đồ thị Bode (</a:t>
            </a:r>
            <a:r>
              <a:rPr lang="vi-VN" i="1" dirty="0"/>
              <a:t>Bode plot</a:t>
            </a:r>
            <a:r>
              <a:rPr lang="vi-VN" dirty="0"/>
              <a:t>), để đơn giản hóa việc xác định biểu diễn đồ thị của đáp ứng tần số.</a:t>
            </a:r>
          </a:p>
          <a:p>
            <a:r>
              <a:rPr lang="vi-VN" dirty="0"/>
              <a:t>Xấp xỉ tiệm cận của đồ thị Bode: Đơn giản hoá việc vẽ đồ thị Bode sử dụng chuỗi các đường thẳng tiệm cận. </a:t>
            </a:r>
            <a:endParaRPr lang="en-VN" dirty="0"/>
          </a:p>
        </p:txBody>
      </p:sp>
    </p:spTree>
    <p:extLst>
      <p:ext uri="{BB962C8B-B14F-4D97-AF65-F5344CB8AC3E}">
        <p14:creationId xmlns:p14="http://schemas.microsoft.com/office/powerpoint/2010/main" val="951269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56503-D85E-041F-1C64-F4B7C9546A14}"/>
              </a:ext>
            </a:extLst>
          </p:cNvPr>
          <p:cNvSpPr>
            <a:spLocks noGrp="1"/>
          </p:cNvSpPr>
          <p:nvPr>
            <p:ph type="title"/>
          </p:nvPr>
        </p:nvSpPr>
        <p:spPr/>
        <p:txBody>
          <a:bodyPr/>
          <a:lstStyle/>
          <a:p>
            <a:r>
              <a:rPr lang="en-VN" dirty="0"/>
              <a:t>ĐỒ THỊ BODE</a:t>
            </a:r>
          </a:p>
        </p:txBody>
      </p:sp>
      <p:sp>
        <p:nvSpPr>
          <p:cNvPr id="3" name="Content Placeholder 2">
            <a:extLst>
              <a:ext uri="{FF2B5EF4-FFF2-40B4-BE49-F238E27FC236}">
                <a16:creationId xmlns:a16="http://schemas.microsoft.com/office/drawing/2014/main" id="{04CDBC10-0E31-4539-F290-EB13EF70E6AF}"/>
              </a:ext>
            </a:extLst>
          </p:cNvPr>
          <p:cNvSpPr>
            <a:spLocks noGrp="1"/>
          </p:cNvSpPr>
          <p:nvPr>
            <p:ph idx="1"/>
          </p:nvPr>
        </p:nvSpPr>
        <p:spPr/>
        <p:txBody>
          <a:bodyPr/>
          <a:lstStyle/>
          <a:p>
            <a:r>
              <a:rPr lang="en-VN" dirty="0"/>
              <a:t>Biên độ của đáp ứng tần số của hệ thống có thể được tính dựa trên phép cộng đại số đáp ứng biên độ các thành phần của hàm chuyển. </a:t>
            </a:r>
          </a:p>
          <a:p>
            <a:r>
              <a:rPr lang="en-VN" dirty="0"/>
              <a:t>Pha của đáp ứng tần số của hệ thống được tính bằng tổng pha của đáp ứng tần số của các thành phần tạo bởi điểm zero trừ đi pha của đáp ứng tần số của các thành phần tạo bởi điểm pole.</a:t>
            </a:r>
          </a:p>
        </p:txBody>
      </p:sp>
      <p:pic>
        <p:nvPicPr>
          <p:cNvPr id="4" name="Picture 3">
            <a:extLst>
              <a:ext uri="{FF2B5EF4-FFF2-40B4-BE49-F238E27FC236}">
                <a16:creationId xmlns:a16="http://schemas.microsoft.com/office/drawing/2014/main" id="{DC4878FE-2ACB-0F14-F278-1ED207783EBE}"/>
              </a:ext>
            </a:extLst>
          </p:cNvPr>
          <p:cNvPicPr>
            <a:picLocks noChangeAspect="1"/>
          </p:cNvPicPr>
          <p:nvPr/>
        </p:nvPicPr>
        <p:blipFill>
          <a:blip r:embed="rId2"/>
          <a:stretch>
            <a:fillRect/>
          </a:stretch>
        </p:blipFill>
        <p:spPr>
          <a:xfrm>
            <a:off x="3265051" y="3455919"/>
            <a:ext cx="6324092" cy="823985"/>
          </a:xfrm>
          <a:prstGeom prst="rect">
            <a:avLst/>
          </a:prstGeom>
        </p:spPr>
      </p:pic>
      <p:pic>
        <p:nvPicPr>
          <p:cNvPr id="5" name="Picture 4">
            <a:extLst>
              <a:ext uri="{FF2B5EF4-FFF2-40B4-BE49-F238E27FC236}">
                <a16:creationId xmlns:a16="http://schemas.microsoft.com/office/drawing/2014/main" id="{569D83E3-0927-4C92-8DDD-9150F2F893F8}"/>
              </a:ext>
            </a:extLst>
          </p:cNvPr>
          <p:cNvPicPr>
            <a:picLocks noChangeAspect="1"/>
          </p:cNvPicPr>
          <p:nvPr/>
        </p:nvPicPr>
        <p:blipFill>
          <a:blip r:embed="rId3"/>
          <a:stretch>
            <a:fillRect/>
          </a:stretch>
        </p:blipFill>
        <p:spPr>
          <a:xfrm>
            <a:off x="2811534" y="4485926"/>
            <a:ext cx="7231126" cy="825809"/>
          </a:xfrm>
          <a:prstGeom prst="rect">
            <a:avLst/>
          </a:prstGeom>
        </p:spPr>
      </p:pic>
      <p:pic>
        <p:nvPicPr>
          <p:cNvPr id="6" name="Picture 5">
            <a:extLst>
              <a:ext uri="{FF2B5EF4-FFF2-40B4-BE49-F238E27FC236}">
                <a16:creationId xmlns:a16="http://schemas.microsoft.com/office/drawing/2014/main" id="{A16F112F-EE7A-A2BB-9E92-AC72DAA1BF90}"/>
              </a:ext>
            </a:extLst>
          </p:cNvPr>
          <p:cNvPicPr>
            <a:picLocks noChangeAspect="1"/>
          </p:cNvPicPr>
          <p:nvPr/>
        </p:nvPicPr>
        <p:blipFill>
          <a:blip r:embed="rId4"/>
          <a:stretch>
            <a:fillRect/>
          </a:stretch>
        </p:blipFill>
        <p:spPr>
          <a:xfrm>
            <a:off x="2113773" y="5510372"/>
            <a:ext cx="8626648" cy="930539"/>
          </a:xfrm>
          <a:prstGeom prst="rect">
            <a:avLst/>
          </a:prstGeom>
        </p:spPr>
      </p:pic>
    </p:spTree>
    <p:extLst>
      <p:ext uri="{BB962C8B-B14F-4D97-AF65-F5344CB8AC3E}">
        <p14:creationId xmlns:p14="http://schemas.microsoft.com/office/powerpoint/2010/main" val="4073856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C406B-1DF3-1E56-2909-4E90335443C3}"/>
              </a:ext>
            </a:extLst>
          </p:cNvPr>
          <p:cNvSpPr>
            <a:spLocks noGrp="1"/>
          </p:cNvSpPr>
          <p:nvPr>
            <p:ph type="title"/>
          </p:nvPr>
        </p:nvSpPr>
        <p:spPr/>
        <p:txBody>
          <a:bodyPr/>
          <a:lstStyle/>
          <a:p>
            <a:r>
              <a:rPr lang="en-US" dirty="0" err="1"/>
              <a:t>Đ</a:t>
            </a:r>
            <a:r>
              <a:rPr lang="en-VN" dirty="0"/>
              <a:t>ồ thị bode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0A1402-B254-607B-B95B-D4294E2A5F5C}"/>
                  </a:ext>
                </a:extLst>
              </p:cNvPr>
              <p:cNvSpPr>
                <a:spLocks noGrp="1"/>
              </p:cNvSpPr>
              <p:nvPr>
                <p:ph idx="1"/>
              </p:nvPr>
            </p:nvSpPr>
            <p:spPr/>
            <p:txBody>
              <a:bodyPr/>
              <a:lstStyle/>
              <a:p>
                <a:r>
                  <a:rPr lang="en-VN" dirty="0"/>
                  <a:t>Đồ thị Bode cho hệ thống </a:t>
                </a:r>
                <a14:m>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oMath>
                </a14:m>
                <a:endParaRPr lang="en-US" b="0" dirty="0"/>
              </a:p>
              <a:p>
                <a:pPr marL="0" indent="0">
                  <a:buNone/>
                </a:pPr>
                <a:r>
                  <a:rPr lang="en-VN" dirty="0"/>
                  <a:t>Hàm chuyển của hệ thống trong miền tần số:</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r>
                            <a:rPr lang="en-US" b="0" i="1" smtClean="0">
                              <a:latin typeface="Cambria Math" panose="02040503050406030204" pitchFamily="18" charset="0"/>
                            </a:rPr>
                            <m:t>𝜔</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r>
                            <a:rPr lang="en-US" b="0" i="1" smtClean="0">
                              <a:latin typeface="Cambria Math" panose="02040503050406030204" pitchFamily="18" charset="0"/>
                            </a:rPr>
                            <m:t>𝜔</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𝑗</m:t>
                      </m:r>
                      <m:f>
                        <m:fPr>
                          <m:ctrlPr>
                            <a:rPr lang="en-US" b="0" i="1" smtClean="0">
                              <a:latin typeface="Cambria Math" panose="02040503050406030204" pitchFamily="18" charset="0"/>
                            </a:rPr>
                          </m:ctrlPr>
                        </m:fPr>
                        <m:num>
                          <m:r>
                            <a:rPr lang="en-US" b="0" i="1" smtClean="0">
                              <a:latin typeface="Cambria Math" panose="02040503050406030204" pitchFamily="18" charset="0"/>
                            </a:rPr>
                            <m:t>𝜔</m:t>
                          </m:r>
                        </m:num>
                        <m:den>
                          <m:r>
                            <a:rPr lang="en-US" b="0" i="1" smtClean="0">
                              <a:latin typeface="Cambria Math" panose="02040503050406030204" pitchFamily="18" charset="0"/>
                            </a:rPr>
                            <m:t>𝑎</m:t>
                          </m:r>
                        </m:den>
                      </m:f>
                      <m:r>
                        <a:rPr lang="en-US" b="0" i="1" smtClean="0">
                          <a:latin typeface="Cambria Math" panose="02040503050406030204" pitchFamily="18" charset="0"/>
                        </a:rPr>
                        <m:t>+1)</m:t>
                      </m:r>
                    </m:oMath>
                  </m:oMathPara>
                </a14:m>
                <a:endParaRPr lang="en-VN" dirty="0"/>
              </a:p>
              <a:p>
                <a:pPr>
                  <a:buFont typeface="Wingdings" pitchFamily="2" charset="2"/>
                  <a:buChar char="Ø"/>
                </a:pPr>
                <a:r>
                  <a:rPr lang="en-VN" dirty="0"/>
                  <a:t>Tại tần số thấp, hay </a:t>
                </a:r>
                <a14:m>
                  <m:oMath xmlns:m="http://schemas.openxmlformats.org/officeDocument/2006/math">
                    <m:r>
                      <a:rPr lang="en-US" b="0" i="1" smtClean="0">
                        <a:latin typeface="Cambria Math" panose="02040503050406030204" pitchFamily="18" charset="0"/>
                      </a:rPr>
                      <m:t>𝜔</m:t>
                    </m:r>
                  </m:oMath>
                </a14:m>
                <a:r>
                  <a:rPr lang="en-VN" dirty="0"/>
                  <a:t> tiến tới 0,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𝜔</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oMath>
                </a14:m>
                <a:r>
                  <a:rPr lang="en-VN" dirty="0"/>
                  <a:t> với </a:t>
                </a:r>
                <a14:m>
                  <m:oMath xmlns:m="http://schemas.openxmlformats.org/officeDocument/2006/math">
                    <m:r>
                      <a:rPr lang="en-US" b="0" i="1" smtClean="0">
                        <a:latin typeface="Cambria Math" panose="02040503050406030204" pitchFamily="18" charset="0"/>
                      </a:rPr>
                      <m:t>𝜔</m:t>
                    </m:r>
                  </m:oMath>
                </a14:m>
                <a:r>
                  <a:rPr lang="en-VN" dirty="0"/>
                  <a:t> trong khoảng 0.01a đến a.</a:t>
                </a:r>
              </a:p>
              <a:p>
                <a:pPr marL="0" indent="0">
                  <a:buNone/>
                </a:pPr>
                <a:r>
                  <a:rPr lang="en-VN" dirty="0"/>
                  <a:t>Khi đó, biên độ của đáp ứng tần số: </a:t>
                </a:r>
                <a14:m>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r>
                          <a:rPr lang="en-US" b="0" i="1" smtClean="0">
                            <a:latin typeface="Cambria Math" panose="02040503050406030204" pitchFamily="18" charset="0"/>
                          </a:rPr>
                          <m:t>𝜔</m:t>
                        </m:r>
                      </m:e>
                    </m:d>
                  </m:oMath>
                </a14:m>
                <a:r>
                  <a:rPr lang="en-VN" dirty="0"/>
                  <a:t> là hằng số, tính theo dB ta có:</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20</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𝑀</m:t>
                          </m:r>
                        </m:e>
                      </m:func>
                      <m:r>
                        <a:rPr lang="en-US" b="0" i="1" smtClean="0">
                          <a:latin typeface="Cambria Math" panose="02040503050406030204" pitchFamily="18" charset="0"/>
                        </a:rPr>
                        <m:t>=20</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𝑎</m:t>
                          </m:r>
                        </m:e>
                      </m:func>
                    </m:oMath>
                  </m:oMathPara>
                </a14:m>
                <a:endParaRPr lang="en-US" b="0" dirty="0"/>
              </a:p>
              <a:p>
                <a:pPr>
                  <a:buFont typeface="Wingdings" pitchFamily="2" charset="2"/>
                  <a:buChar char="Ø"/>
                </a:pPr>
                <a:r>
                  <a:rPr lang="en-VN" dirty="0"/>
                  <a:t>Tại tần số cao, khi </a:t>
                </a:r>
                <a14:m>
                  <m:oMath xmlns:m="http://schemas.openxmlformats.org/officeDocument/2006/math">
                    <m:r>
                      <a:rPr lang="en-US" b="0" i="1" smtClean="0">
                        <a:latin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oMath>
                </a14:m>
                <a:r>
                  <a:rPr lang="en-VN" dirty="0"/>
                  <a:t>, </a:t>
                </a:r>
                <a14:m>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r>
                          <a:rPr lang="en-US" b="0" i="1" smtClean="0">
                            <a:latin typeface="Cambria Math" panose="02040503050406030204" pitchFamily="18" charset="0"/>
                          </a:rPr>
                          <m:t>𝜔</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d>
                      <m:dPr>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rPr>
                          <m:t>𝑗</m:t>
                        </m:r>
                        <m:f>
                          <m:fPr>
                            <m:ctrlPr>
                              <a:rPr lang="en-US" i="1">
                                <a:latin typeface="Cambria Math" panose="02040503050406030204" pitchFamily="18" charset="0"/>
                              </a:rPr>
                            </m:ctrlPr>
                          </m:fPr>
                          <m:num>
                            <m:r>
                              <a:rPr lang="en-US" i="1">
                                <a:latin typeface="Cambria Math" panose="02040503050406030204" pitchFamily="18" charset="0"/>
                              </a:rPr>
                              <m:t>𝜔</m:t>
                            </m:r>
                          </m:num>
                          <m:den>
                            <m:r>
                              <a:rPr lang="en-US" i="1">
                                <a:latin typeface="Cambria Math" panose="02040503050406030204" pitchFamily="18" charset="0"/>
                              </a:rPr>
                              <m:t>𝑎</m:t>
                            </m:r>
                          </m:den>
                        </m:f>
                      </m:e>
                    </m:d>
                    <m:r>
                      <a:rPr lang="en-US" b="0" i="1" smtClean="0">
                        <a:latin typeface="Cambria Math" panose="02040503050406030204" pitchFamily="18" charset="0"/>
                      </a:rPr>
                      <m:t>=</m:t>
                    </m:r>
                    <m:r>
                      <a:rPr lang="en-US" b="0" i="1" smtClean="0">
                        <a:latin typeface="Cambria Math" panose="02040503050406030204" pitchFamily="18" charset="0"/>
                      </a:rPr>
                      <m:t>𝜔</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90°</m:t>
                    </m:r>
                  </m:oMath>
                </a14:m>
                <a:endParaRPr lang="en-VN" dirty="0"/>
              </a:p>
              <a:p>
                <a:pPr marL="0" indent="0">
                  <a:buNone/>
                </a:pPr>
                <a:r>
                  <a:rPr lang="en-VN" dirty="0"/>
                  <a:t>Khi đó, biên độ của đáp ứng tần số: </a:t>
                </a:r>
                <a14:m>
                  <m:oMath xmlns:m="http://schemas.openxmlformats.org/officeDocument/2006/math">
                    <m:r>
                      <a:rPr lang="en-US" b="0" i="1" smtClean="0">
                        <a:latin typeface="Cambria Math" panose="02040503050406030204" pitchFamily="18" charset="0"/>
                      </a:rPr>
                      <m:t>20</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𝑀</m:t>
                        </m:r>
                      </m:e>
                    </m:func>
                    <m:r>
                      <a:rPr lang="en-US" b="0" i="1" smtClean="0">
                        <a:latin typeface="Cambria Math" panose="02040503050406030204" pitchFamily="18" charset="0"/>
                      </a:rPr>
                      <m:t>=20</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𝜔</m:t>
                        </m:r>
                      </m:e>
                    </m:func>
                  </m:oMath>
                </a14:m>
                <a:r>
                  <a:rPr lang="en-VN" dirty="0"/>
                  <a:t> (</a:t>
                </a:r>
                <a:r>
                  <a:rPr lang="en-US" dirty="0"/>
                  <a:t>đường </a:t>
                </a:r>
                <a:r>
                  <a:rPr lang="en-US" dirty="0" err="1"/>
                  <a:t>tuyến</a:t>
                </a:r>
                <a:r>
                  <a:rPr lang="en-US" dirty="0"/>
                  <a:t> </a:t>
                </a:r>
                <a:r>
                  <a:rPr lang="en-US" dirty="0" err="1"/>
                  <a:t>tính</a:t>
                </a:r>
                <a:r>
                  <a:rPr lang="en-US" dirty="0"/>
                  <a:t> </a:t>
                </a:r>
                <a14:m>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=20</m:t>
                    </m:r>
                    <m:r>
                      <a:rPr lang="en-US" i="1">
                        <a:latin typeface="Cambria Math" panose="02040503050406030204" pitchFamily="18" charset="0"/>
                      </a:rPr>
                      <m:t>𝑥</m:t>
                    </m:r>
                  </m:oMath>
                </a14:m>
                <a:r>
                  <a:rPr lang="en-US" dirty="0"/>
                  <a:t>)</a:t>
                </a:r>
                <a:r>
                  <a:rPr lang="en-VN" dirty="0"/>
                  <a:t> với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&lt;</m:t>
                    </m:r>
                    <m:r>
                      <a:rPr lang="en-US" b="0" i="1" smtClean="0">
                        <a:latin typeface="Cambria Math" panose="02040503050406030204" pitchFamily="18" charset="0"/>
                      </a:rPr>
                      <m:t>𝜔</m:t>
                    </m:r>
                    <m:r>
                      <a:rPr lang="en-US" b="0" i="1" smtClean="0">
                        <a:latin typeface="Cambria Math" panose="02040503050406030204" pitchFamily="18" charset="0"/>
                      </a:rPr>
                      <m:t>&lt;∞</m:t>
                    </m:r>
                  </m:oMath>
                </a14:m>
                <a:endParaRPr lang="en-VN" dirty="0"/>
              </a:p>
            </p:txBody>
          </p:sp>
        </mc:Choice>
        <mc:Fallback xmlns="">
          <p:sp>
            <p:nvSpPr>
              <p:cNvPr id="3" name="Content Placeholder 2">
                <a:extLst>
                  <a:ext uri="{FF2B5EF4-FFF2-40B4-BE49-F238E27FC236}">
                    <a16:creationId xmlns:a16="http://schemas.microsoft.com/office/drawing/2014/main" id="{E80A1402-B254-607B-B95B-D4294E2A5F5C}"/>
                  </a:ext>
                </a:extLst>
              </p:cNvPr>
              <p:cNvSpPr>
                <a:spLocks noGrp="1" noRot="1" noChangeAspect="1" noMove="1" noResize="1" noEditPoints="1" noAdjustHandles="1" noChangeArrowheads="1" noChangeShapeType="1" noTextEdit="1"/>
              </p:cNvSpPr>
              <p:nvPr>
                <p:ph idx="1"/>
              </p:nvPr>
            </p:nvSpPr>
            <p:spPr>
              <a:blipFill>
                <a:blip r:embed="rId2"/>
                <a:stretch>
                  <a:fillRect l="-661" r="-264" b="-2564"/>
                </a:stretch>
              </a:blipFill>
            </p:spPr>
            <p:txBody>
              <a:bodyPr/>
              <a:lstStyle/>
              <a:p>
                <a:r>
                  <a:rPr lang="en-VN">
                    <a:noFill/>
                  </a:rPr>
                  <a:t> </a:t>
                </a:r>
              </a:p>
            </p:txBody>
          </p:sp>
        </mc:Fallback>
      </mc:AlternateContent>
    </p:spTree>
    <p:extLst>
      <p:ext uri="{BB962C8B-B14F-4D97-AF65-F5344CB8AC3E}">
        <p14:creationId xmlns:p14="http://schemas.microsoft.com/office/powerpoint/2010/main" val="889373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28850-59C4-F9F5-8D58-512E1C85BB1C}"/>
              </a:ext>
            </a:extLst>
          </p:cNvPr>
          <p:cNvSpPr>
            <a:spLocks noGrp="1"/>
          </p:cNvSpPr>
          <p:nvPr>
            <p:ph type="title"/>
          </p:nvPr>
        </p:nvSpPr>
        <p:spPr/>
        <p:txBody>
          <a:bodyPr/>
          <a:lstStyle/>
          <a:p>
            <a:r>
              <a:rPr lang="en-US" dirty="0" err="1"/>
              <a:t>Đ</a:t>
            </a:r>
            <a:r>
              <a:rPr lang="en-VN" dirty="0"/>
              <a:t>ồ thị bode</a:t>
            </a:r>
          </a:p>
        </p:txBody>
      </p:sp>
      <p:pic>
        <p:nvPicPr>
          <p:cNvPr id="5" name="Picture 4">
            <a:extLst>
              <a:ext uri="{FF2B5EF4-FFF2-40B4-BE49-F238E27FC236}">
                <a16:creationId xmlns:a16="http://schemas.microsoft.com/office/drawing/2014/main" id="{A6B62C4A-085D-0E02-9E7D-5E7CFD7FB165}"/>
              </a:ext>
            </a:extLst>
          </p:cNvPr>
          <p:cNvPicPr>
            <a:picLocks noChangeAspect="1"/>
          </p:cNvPicPr>
          <p:nvPr/>
        </p:nvPicPr>
        <p:blipFill>
          <a:blip r:embed="rId2"/>
          <a:stretch>
            <a:fillRect/>
          </a:stretch>
        </p:blipFill>
        <p:spPr>
          <a:xfrm>
            <a:off x="2622806" y="1198384"/>
            <a:ext cx="6752907" cy="5461547"/>
          </a:xfrm>
          <a:prstGeom prst="rect">
            <a:avLst/>
          </a:prstGeom>
        </p:spPr>
      </p:pic>
      <p:cxnSp>
        <p:nvCxnSpPr>
          <p:cNvPr id="7" name="Straight Arrow Connector 6">
            <a:extLst>
              <a:ext uri="{FF2B5EF4-FFF2-40B4-BE49-F238E27FC236}">
                <a16:creationId xmlns:a16="http://schemas.microsoft.com/office/drawing/2014/main" id="{6F8081E4-F725-2AA4-17E9-A74F52FA78B2}"/>
              </a:ext>
            </a:extLst>
          </p:cNvPr>
          <p:cNvCxnSpPr>
            <a:cxnSpLocks/>
          </p:cNvCxnSpPr>
          <p:nvPr/>
        </p:nvCxnSpPr>
        <p:spPr>
          <a:xfrm flipV="1">
            <a:off x="4133088" y="3429000"/>
            <a:ext cx="1133856" cy="643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4B13DC8-07E7-72BF-B866-F84CF093E33F}"/>
              </a:ext>
            </a:extLst>
          </p:cNvPr>
          <p:cNvSpPr txBox="1"/>
          <p:nvPr/>
        </p:nvSpPr>
        <p:spPr>
          <a:xfrm>
            <a:off x="2938272" y="4072128"/>
            <a:ext cx="2157984" cy="276999"/>
          </a:xfrm>
          <a:prstGeom prst="rect">
            <a:avLst/>
          </a:prstGeom>
          <a:solidFill>
            <a:schemeClr val="accent2">
              <a:lumMod val="20000"/>
              <a:lumOff val="80000"/>
            </a:schemeClr>
          </a:solidFill>
        </p:spPr>
        <p:txBody>
          <a:bodyPr wrap="square" rtlCol="0">
            <a:spAutoFit/>
          </a:bodyPr>
          <a:lstStyle/>
          <a:p>
            <a:pPr algn="ctr"/>
            <a:r>
              <a:rPr lang="en-VN" sz="1200" dirty="0">
                <a:latin typeface="Arial" panose="020B0604020202020204" pitchFamily="34" charset="0"/>
                <a:cs typeface="Arial" panose="020B0604020202020204" pitchFamily="34" charset="0"/>
              </a:rPr>
              <a:t>Đường tiệm cận tần số thấp</a:t>
            </a:r>
          </a:p>
        </p:txBody>
      </p:sp>
      <p:cxnSp>
        <p:nvCxnSpPr>
          <p:cNvPr id="10" name="Straight Arrow Connector 9">
            <a:extLst>
              <a:ext uri="{FF2B5EF4-FFF2-40B4-BE49-F238E27FC236}">
                <a16:creationId xmlns:a16="http://schemas.microsoft.com/office/drawing/2014/main" id="{2BEE89AC-60A3-D9DC-FC61-6339A323A92B}"/>
              </a:ext>
            </a:extLst>
          </p:cNvPr>
          <p:cNvCxnSpPr>
            <a:cxnSpLocks/>
          </p:cNvCxnSpPr>
          <p:nvPr/>
        </p:nvCxnSpPr>
        <p:spPr>
          <a:xfrm flipH="1" flipV="1">
            <a:off x="8375904" y="2150640"/>
            <a:ext cx="815500" cy="1921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47CDBA6-D863-4C57-2233-14D905CA41A0}"/>
              </a:ext>
            </a:extLst>
          </p:cNvPr>
          <p:cNvSpPr txBox="1"/>
          <p:nvPr/>
        </p:nvSpPr>
        <p:spPr>
          <a:xfrm>
            <a:off x="7996588" y="4072128"/>
            <a:ext cx="2157984" cy="276999"/>
          </a:xfrm>
          <a:prstGeom prst="rect">
            <a:avLst/>
          </a:prstGeom>
          <a:solidFill>
            <a:schemeClr val="accent2">
              <a:lumMod val="20000"/>
              <a:lumOff val="80000"/>
            </a:schemeClr>
          </a:solidFill>
        </p:spPr>
        <p:txBody>
          <a:bodyPr wrap="square" rtlCol="0">
            <a:spAutoFit/>
          </a:bodyPr>
          <a:lstStyle/>
          <a:p>
            <a:pPr algn="ctr"/>
            <a:r>
              <a:rPr lang="en-VN" sz="1200" dirty="0">
                <a:latin typeface="Arial" panose="020B0604020202020204" pitchFamily="34" charset="0"/>
                <a:cs typeface="Arial" panose="020B0604020202020204" pitchFamily="34" charset="0"/>
              </a:rPr>
              <a:t>Đường tiệm cận tần số cao</a:t>
            </a:r>
          </a:p>
        </p:txBody>
      </p:sp>
      <p:cxnSp>
        <p:nvCxnSpPr>
          <p:cNvPr id="13" name="Straight Arrow Connector 12">
            <a:extLst>
              <a:ext uri="{FF2B5EF4-FFF2-40B4-BE49-F238E27FC236}">
                <a16:creationId xmlns:a16="http://schemas.microsoft.com/office/drawing/2014/main" id="{5D7250CA-8FC7-5889-1D4A-EFC7E67BA612}"/>
              </a:ext>
            </a:extLst>
          </p:cNvPr>
          <p:cNvCxnSpPr>
            <a:cxnSpLocks/>
          </p:cNvCxnSpPr>
          <p:nvPr/>
        </p:nvCxnSpPr>
        <p:spPr>
          <a:xfrm flipH="1" flipV="1">
            <a:off x="6504432" y="3429000"/>
            <a:ext cx="253986" cy="643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7356F4A-E614-B9F6-FA4C-F85C4EAD8DE1}"/>
              </a:ext>
            </a:extLst>
          </p:cNvPr>
          <p:cNvSpPr txBox="1"/>
          <p:nvPr/>
        </p:nvSpPr>
        <p:spPr>
          <a:xfrm>
            <a:off x="5552774" y="4062189"/>
            <a:ext cx="2157984" cy="461665"/>
          </a:xfrm>
          <a:prstGeom prst="rect">
            <a:avLst/>
          </a:prstGeom>
          <a:solidFill>
            <a:schemeClr val="accent2">
              <a:lumMod val="20000"/>
              <a:lumOff val="80000"/>
            </a:schemeClr>
          </a:solidFill>
        </p:spPr>
        <p:txBody>
          <a:bodyPr wrap="square" rtlCol="0">
            <a:spAutoFit/>
          </a:bodyPr>
          <a:lstStyle/>
          <a:p>
            <a:pPr algn="ctr"/>
            <a:r>
              <a:rPr lang="en-VN" sz="1200" dirty="0">
                <a:latin typeface="Arial" panose="020B0604020202020204" pitchFamily="34" charset="0"/>
                <a:cs typeface="Arial" panose="020B0604020202020204" pitchFamily="34" charset="0"/>
              </a:rPr>
              <a:t>Tần số gãy (tần số bẻ)</a:t>
            </a:r>
          </a:p>
          <a:p>
            <a:pPr algn="ctr"/>
            <a:r>
              <a:rPr lang="en-VN" sz="1200" dirty="0">
                <a:latin typeface="Arial" panose="020B0604020202020204" pitchFamily="34" charset="0"/>
                <a:cs typeface="Arial" panose="020B0604020202020204" pitchFamily="34" charset="0"/>
              </a:rPr>
              <a:t>(</a:t>
            </a:r>
            <a:r>
              <a:rPr lang="en-VN" sz="1200" i="1" dirty="0">
                <a:latin typeface="Arial" panose="020B0604020202020204" pitchFamily="34" charset="0"/>
                <a:cs typeface="Arial" panose="020B0604020202020204" pitchFamily="34" charset="0"/>
              </a:rPr>
              <a:t>break frequency</a:t>
            </a:r>
            <a:r>
              <a:rPr lang="en-VN" sz="12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227149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13B13-D738-C9A9-E2CB-E73B188440AD}"/>
              </a:ext>
            </a:extLst>
          </p:cNvPr>
          <p:cNvSpPr>
            <a:spLocks noGrp="1"/>
          </p:cNvSpPr>
          <p:nvPr>
            <p:ph type="title"/>
          </p:nvPr>
        </p:nvSpPr>
        <p:spPr/>
        <p:txBody>
          <a:bodyPr/>
          <a:lstStyle/>
          <a:p>
            <a:r>
              <a:rPr lang="en-US" dirty="0" err="1"/>
              <a:t>Đ</a:t>
            </a:r>
            <a:r>
              <a:rPr lang="en-VN" dirty="0"/>
              <a:t>ồ thị bode</a:t>
            </a:r>
          </a:p>
        </p:txBody>
      </p:sp>
      <p:pic>
        <p:nvPicPr>
          <p:cNvPr id="5" name="Content Placeholder 4">
            <a:extLst>
              <a:ext uri="{FF2B5EF4-FFF2-40B4-BE49-F238E27FC236}">
                <a16:creationId xmlns:a16="http://schemas.microsoft.com/office/drawing/2014/main" id="{AD8E7C10-9BA8-5931-CEBC-09B649CB4D36}"/>
              </a:ext>
            </a:extLst>
          </p:cNvPr>
          <p:cNvPicPr>
            <a:picLocks noGrp="1" noChangeAspect="1"/>
          </p:cNvPicPr>
          <p:nvPr>
            <p:ph idx="1"/>
          </p:nvPr>
        </p:nvPicPr>
        <p:blipFill>
          <a:blip r:embed="rId2"/>
          <a:stretch>
            <a:fillRect/>
          </a:stretch>
        </p:blipFill>
        <p:spPr>
          <a:xfrm>
            <a:off x="232229" y="1818161"/>
            <a:ext cx="5674611" cy="3927909"/>
          </a:xfrm>
        </p:spPr>
      </p:pic>
      <p:pic>
        <p:nvPicPr>
          <p:cNvPr id="2050" name="Picture 2" descr="PPT - Chapter 10 PowerPoint Presentation, free download - ID:2153243">
            <a:extLst>
              <a:ext uri="{FF2B5EF4-FFF2-40B4-BE49-F238E27FC236}">
                <a16:creationId xmlns:a16="http://schemas.microsoft.com/office/drawing/2014/main" id="{DA550131-1CF5-C29C-3B9A-42D4C94274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794" t="26512" r="14921" b="9207"/>
          <a:stretch/>
        </p:blipFill>
        <p:spPr bwMode="auto">
          <a:xfrm>
            <a:off x="6253216" y="1933481"/>
            <a:ext cx="5696848" cy="3697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1303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C14BB-F65B-1A08-E8D7-9DDA85847B07}"/>
              </a:ext>
            </a:extLst>
          </p:cNvPr>
          <p:cNvSpPr>
            <a:spLocks noGrp="1"/>
          </p:cNvSpPr>
          <p:nvPr>
            <p:ph type="title"/>
          </p:nvPr>
        </p:nvSpPr>
        <p:spPr/>
        <p:txBody>
          <a:bodyPr/>
          <a:lstStyle/>
          <a:p>
            <a:r>
              <a:rPr lang="en-VN" dirty="0"/>
              <a:t>ĐỒ THỊ BODE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8A3DA7-057C-1BA6-CDE4-1BE9466D55E1}"/>
                  </a:ext>
                </a:extLst>
              </p:cNvPr>
              <p:cNvSpPr>
                <a:spLocks noGrp="1"/>
              </p:cNvSpPr>
              <p:nvPr>
                <p:ph idx="1"/>
              </p:nvPr>
            </p:nvSpPr>
            <p:spPr/>
            <p:txBody>
              <a:bodyPr/>
              <a:lstStyle/>
              <a:p>
                <a:r>
                  <a:rPr lang="en-VN" dirty="0"/>
                  <a:t>Đồ thị Bode cho hệ thống </a:t>
                </a:r>
                <a14:m>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=1/(</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endParaRPr lang="en-VN"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𝑎</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𝑠</m:t>
                                  </m:r>
                                </m:num>
                                <m:den>
                                  <m:r>
                                    <a:rPr lang="en-US" b="0" i="1" smtClean="0">
                                      <a:latin typeface="Cambria Math" panose="02040503050406030204" pitchFamily="18" charset="0"/>
                                    </a:rPr>
                                    <m:t>𝑎</m:t>
                                  </m:r>
                                </m:den>
                              </m:f>
                              <m:r>
                                <a:rPr lang="en-US" b="0" i="1" smtClean="0">
                                  <a:latin typeface="Cambria Math" panose="02040503050406030204" pitchFamily="18" charset="0"/>
                                </a:rPr>
                                <m:t>+1</m:t>
                              </m:r>
                            </m:e>
                          </m:d>
                        </m:den>
                      </m:f>
                    </m:oMath>
                  </m:oMathPara>
                </a14:m>
                <a:endParaRPr lang="en-VN"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r>
                            <a:rPr lang="en-US" b="0" i="1" smtClean="0">
                              <a:latin typeface="Cambria Math" panose="02040503050406030204" pitchFamily="18" charset="0"/>
                            </a:rPr>
                            <m:t>𝜔</m:t>
                          </m:r>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𝑎</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b="0" i="1" smtClean="0">
                                      <a:latin typeface="Cambria Math" panose="02040503050406030204" pitchFamily="18" charset="0"/>
                                    </a:rPr>
                                    <m:t>𝑗</m:t>
                                  </m:r>
                                  <m:r>
                                    <a:rPr lang="en-US" b="0" i="1" smtClean="0">
                                      <a:latin typeface="Cambria Math" panose="02040503050406030204" pitchFamily="18" charset="0"/>
                                    </a:rPr>
                                    <m:t>𝜔</m:t>
                                  </m:r>
                                </m:num>
                                <m:den>
                                  <m:r>
                                    <a:rPr lang="en-US" i="1">
                                      <a:latin typeface="Cambria Math" panose="02040503050406030204" pitchFamily="18" charset="0"/>
                                    </a:rPr>
                                    <m:t>𝑎</m:t>
                                  </m:r>
                                </m:den>
                              </m:f>
                              <m:r>
                                <a:rPr lang="en-US" i="1">
                                  <a:latin typeface="Cambria Math" panose="02040503050406030204" pitchFamily="18" charset="0"/>
                                </a:rPr>
                                <m:t>+1</m:t>
                              </m:r>
                            </m:e>
                          </m:d>
                        </m:den>
                      </m:f>
                    </m:oMath>
                  </m:oMathPara>
                </a14:m>
                <a:endParaRPr lang="en-US" b="0" dirty="0"/>
              </a:p>
              <a:p>
                <a:pPr>
                  <a:buFont typeface="Wingdings" pitchFamily="2" charset="2"/>
                  <a:buChar char="Ø"/>
                </a:pPr>
                <a:r>
                  <a:rPr lang="en-VN" dirty="0">
                    <a:solidFill>
                      <a:prstClr val="black"/>
                    </a:solidFill>
                  </a:rPr>
                  <a:t>Tại tần số thấp, hay </a:t>
                </a:r>
                <a14:m>
                  <m:oMath xmlns:m="http://schemas.openxmlformats.org/officeDocument/2006/math">
                    <m:r>
                      <a:rPr lang="en-US" i="1">
                        <a:solidFill>
                          <a:prstClr val="black"/>
                        </a:solidFill>
                        <a:latin typeface="Cambria Math" panose="02040503050406030204" pitchFamily="18" charset="0"/>
                      </a:rPr>
                      <m:t>𝜔</m:t>
                    </m:r>
                  </m:oMath>
                </a14:m>
                <a:r>
                  <a:rPr lang="en-VN" dirty="0">
                    <a:solidFill>
                      <a:prstClr val="black"/>
                    </a:solidFill>
                  </a:rPr>
                  <a:t> tiến tới 0, biên độ: </a:t>
                </a:r>
                <a14:m>
                  <m:oMath xmlns:m="http://schemas.openxmlformats.org/officeDocument/2006/math">
                    <m:r>
                      <a:rPr lang="en-US" b="0" i="1" smtClean="0">
                        <a:solidFill>
                          <a:prstClr val="black"/>
                        </a:solidFill>
                        <a:latin typeface="Cambria Math" panose="02040503050406030204" pitchFamily="18" charset="0"/>
                      </a:rPr>
                      <m:t>20</m:t>
                    </m:r>
                    <m:func>
                      <m:funcPr>
                        <m:ctrlPr>
                          <a:rPr lang="en-US" b="0" i="1" smtClean="0">
                            <a:solidFill>
                              <a:prstClr val="black"/>
                            </a:solidFill>
                            <a:latin typeface="Cambria Math" panose="02040503050406030204" pitchFamily="18" charset="0"/>
                          </a:rPr>
                        </m:ctrlPr>
                      </m:funcPr>
                      <m:fName>
                        <m:r>
                          <m:rPr>
                            <m:sty m:val="p"/>
                          </m:rPr>
                          <a:rPr lang="en-US" b="0" i="0" smtClean="0">
                            <a:solidFill>
                              <a:prstClr val="black"/>
                            </a:solidFill>
                            <a:latin typeface="Cambria Math" panose="02040503050406030204" pitchFamily="18" charset="0"/>
                          </a:rPr>
                          <m:t>log</m:t>
                        </m:r>
                      </m:fName>
                      <m:e>
                        <m:d>
                          <m:dPr>
                            <m:ctrlPr>
                              <a:rPr lang="en-US" b="0" i="1" smtClean="0">
                                <a:solidFill>
                                  <a:prstClr val="black"/>
                                </a:solidFill>
                                <a:latin typeface="Cambria Math" panose="02040503050406030204" pitchFamily="18" charset="0"/>
                              </a:rPr>
                            </m:ctrlPr>
                          </m:dPr>
                          <m:e>
                            <m:f>
                              <m:fPr>
                                <m:ctrlPr>
                                  <a:rPr lang="en-US" b="0" i="1" smtClean="0">
                                    <a:solidFill>
                                      <a:prstClr val="black"/>
                                    </a:solidFill>
                                    <a:latin typeface="Cambria Math" panose="02040503050406030204" pitchFamily="18" charset="0"/>
                                  </a:rPr>
                                </m:ctrlPr>
                              </m:fPr>
                              <m:num>
                                <m:r>
                                  <a:rPr lang="en-US" b="0" i="1" smtClean="0">
                                    <a:solidFill>
                                      <a:prstClr val="black"/>
                                    </a:solidFill>
                                    <a:latin typeface="Cambria Math" panose="02040503050406030204" pitchFamily="18" charset="0"/>
                                  </a:rPr>
                                  <m:t>1</m:t>
                                </m:r>
                              </m:num>
                              <m:den>
                                <m:r>
                                  <a:rPr lang="en-US" b="0" i="1" smtClean="0">
                                    <a:solidFill>
                                      <a:prstClr val="black"/>
                                    </a:solidFill>
                                    <a:latin typeface="Cambria Math" panose="02040503050406030204" pitchFamily="18" charset="0"/>
                                  </a:rPr>
                                  <m:t>𝑎</m:t>
                                </m:r>
                              </m:den>
                            </m:f>
                          </m:e>
                        </m:d>
                      </m:e>
                    </m:func>
                  </m:oMath>
                </a14:m>
                <a:endParaRPr lang="en-US" b="0" dirty="0">
                  <a:solidFill>
                    <a:prstClr val="black"/>
                  </a:solidFill>
                </a:endParaRPr>
              </a:p>
              <a:p>
                <a:pPr>
                  <a:buFont typeface="Wingdings" pitchFamily="2" charset="2"/>
                  <a:buChar char="Ø"/>
                </a:pPr>
                <a:r>
                  <a:rPr lang="en-US" b="0" dirty="0" err="1"/>
                  <a:t>Tại</a:t>
                </a:r>
                <a:r>
                  <a:rPr lang="en-US" b="0" dirty="0"/>
                  <a:t> </a:t>
                </a:r>
                <a:r>
                  <a:rPr lang="en-US" b="0" dirty="0" err="1"/>
                  <a:t>tần</a:t>
                </a:r>
                <a:r>
                  <a:rPr lang="en-US" b="0" dirty="0"/>
                  <a:t> </a:t>
                </a:r>
                <a:r>
                  <a:rPr lang="en-US" b="0" dirty="0" err="1"/>
                  <a:t>số</a:t>
                </a:r>
                <a:r>
                  <a:rPr lang="en-US" b="0" dirty="0"/>
                  <a:t> </a:t>
                </a:r>
                <a:r>
                  <a:rPr lang="en-US" b="0" dirty="0" err="1"/>
                  <a:t>cao</a:t>
                </a:r>
                <a:r>
                  <a:rPr lang="en-US" b="0" dirty="0"/>
                  <a:t>, </a:t>
                </a:r>
                <a:r>
                  <a:rPr lang="en-VN" dirty="0">
                    <a:solidFill>
                      <a:prstClr val="black"/>
                    </a:solidFill>
                  </a:rPr>
                  <a:t>hay </a:t>
                </a:r>
                <a14:m>
                  <m:oMath xmlns:m="http://schemas.openxmlformats.org/officeDocument/2006/math">
                    <m:r>
                      <a:rPr lang="en-US" i="1">
                        <a:solidFill>
                          <a:prstClr val="black"/>
                        </a:solidFill>
                        <a:latin typeface="Cambria Math" panose="02040503050406030204" pitchFamily="18" charset="0"/>
                      </a:rPr>
                      <m:t>𝜔</m:t>
                    </m:r>
                  </m:oMath>
                </a14:m>
                <a:r>
                  <a:rPr lang="en-VN" dirty="0">
                    <a:solidFill>
                      <a:prstClr val="black"/>
                    </a:solidFill>
                  </a:rPr>
                  <a:t> tiến tới </a:t>
                </a:r>
                <a14:m>
                  <m:oMath xmlns:m="http://schemas.openxmlformats.org/officeDocument/2006/math">
                    <m:r>
                      <a:rPr lang="en-VN" i="1" smtClean="0">
                        <a:solidFill>
                          <a:prstClr val="black"/>
                        </a:solidFill>
                        <a:latin typeface="Cambria Math" panose="02040503050406030204" pitchFamily="18" charset="0"/>
                        <a:ea typeface="Cambria Math" panose="02040503050406030204" pitchFamily="18" charset="0"/>
                      </a:rPr>
                      <m:t>∞</m:t>
                    </m:r>
                  </m:oMath>
                </a14:m>
                <a:r>
                  <a:rPr lang="en-US" b="0" dirty="0"/>
                  <a:t>, </a:t>
                </a:r>
                <a14:m>
                  <m:oMath xmlns:m="http://schemas.openxmlformats.org/officeDocument/2006/math">
                    <m:r>
                      <a:rPr lang="en-US" i="1">
                        <a:latin typeface="Cambria Math" panose="02040503050406030204" pitchFamily="18" charset="0"/>
                      </a:rPr>
                      <m:t>𝐺</m:t>
                    </m:r>
                    <m:d>
                      <m:dPr>
                        <m:ctrlPr>
                          <a:rPr lang="en-US" i="1">
                            <a:latin typeface="Cambria Math" panose="02040503050406030204" pitchFamily="18" charset="0"/>
                          </a:rPr>
                        </m:ctrlPr>
                      </m:dPr>
                      <m:e>
                        <m:r>
                          <a:rPr lang="en-US" i="1">
                            <a:latin typeface="Cambria Math" panose="02040503050406030204" pitchFamily="18" charset="0"/>
                          </a:rPr>
                          <m:t>𝑗</m:t>
                        </m:r>
                        <m:r>
                          <a:rPr lang="en-US" i="1">
                            <a:latin typeface="Cambria Math" panose="02040503050406030204" pitchFamily="18" charset="0"/>
                          </a:rPr>
                          <m:t>𝜔</m:t>
                        </m:r>
                      </m:e>
                    </m:d>
                    <m:r>
                      <a:rPr lang="en-US"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𝑎</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𝜔</m:t>
                                </m:r>
                              </m:num>
                              <m:den>
                                <m:r>
                                  <a:rPr lang="en-US" b="0" i="1" smtClean="0">
                                    <a:latin typeface="Cambria Math" panose="02040503050406030204" pitchFamily="18" charset="0"/>
                                    <a:ea typeface="Cambria Math" panose="02040503050406030204" pitchFamily="18" charset="0"/>
                                  </a:rPr>
                                  <m:t>𝑎</m:t>
                                </m:r>
                              </m:den>
                            </m:f>
                          </m:e>
                        </m:d>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𝜔</m:t>
                        </m:r>
                      </m:den>
                    </m:f>
                    <m:r>
                      <a:rPr lang="en-US" i="1">
                        <a:latin typeface="Cambria Math" panose="02040503050406030204" pitchFamily="18" charset="0"/>
                        <a:ea typeface="Cambria Math" panose="02040503050406030204" pitchFamily="18" charset="0"/>
                      </a:rPr>
                      <m:t>∠−90°</m:t>
                    </m:r>
                  </m:oMath>
                </a14:m>
                <a:endParaRPr lang="en-US" dirty="0"/>
              </a:p>
              <a:p>
                <a:pPr marL="0" indent="0">
                  <a:buNone/>
                </a:pPr>
                <a:r>
                  <a:rPr lang="en-VN" dirty="0"/>
                  <a:t>Tính theo dB, ta được: </a:t>
                </a:r>
                <a14:m>
                  <m:oMath xmlns:m="http://schemas.openxmlformats.org/officeDocument/2006/math">
                    <m:r>
                      <a:rPr lang="en-US" b="0" i="1" smtClean="0">
                        <a:latin typeface="Cambria Math" panose="02040503050406030204" pitchFamily="18" charset="0"/>
                      </a:rPr>
                      <m:t>20</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𝑀</m:t>
                        </m:r>
                      </m:e>
                    </m:func>
                    <m:r>
                      <a:rPr lang="en-US" b="0" i="1" smtClean="0">
                        <a:latin typeface="Cambria Math" panose="02040503050406030204" pitchFamily="18" charset="0"/>
                      </a:rPr>
                      <m:t>=−20</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𝜔</m:t>
                        </m:r>
                      </m:e>
                    </m:func>
                  </m:oMath>
                </a14:m>
                <a:endParaRPr lang="en-VN" dirty="0"/>
              </a:p>
              <a:p>
                <a:pPr marL="0" indent="0">
                  <a:buNone/>
                </a:pPr>
                <a:endParaRPr lang="en-VN" dirty="0"/>
              </a:p>
            </p:txBody>
          </p:sp>
        </mc:Choice>
        <mc:Fallback xmlns="">
          <p:sp>
            <p:nvSpPr>
              <p:cNvPr id="3" name="Content Placeholder 2">
                <a:extLst>
                  <a:ext uri="{FF2B5EF4-FFF2-40B4-BE49-F238E27FC236}">
                    <a16:creationId xmlns:a16="http://schemas.microsoft.com/office/drawing/2014/main" id="{D98A3DA7-057C-1BA6-CDE4-1BE9466D55E1}"/>
                  </a:ext>
                </a:extLst>
              </p:cNvPr>
              <p:cNvSpPr>
                <a:spLocks noGrp="1" noRot="1" noChangeAspect="1" noMove="1" noResize="1" noEditPoints="1" noAdjustHandles="1" noChangeArrowheads="1" noChangeShapeType="1" noTextEdit="1"/>
              </p:cNvSpPr>
              <p:nvPr>
                <p:ph idx="1"/>
              </p:nvPr>
            </p:nvSpPr>
            <p:spPr>
              <a:blipFill>
                <a:blip r:embed="rId2"/>
                <a:stretch>
                  <a:fillRect l="-661" b="-285"/>
                </a:stretch>
              </a:blipFill>
            </p:spPr>
            <p:txBody>
              <a:bodyPr/>
              <a:lstStyle/>
              <a:p>
                <a:r>
                  <a:rPr lang="en-VN">
                    <a:noFill/>
                  </a:rPr>
                  <a:t> </a:t>
                </a:r>
              </a:p>
            </p:txBody>
          </p:sp>
        </mc:Fallback>
      </mc:AlternateContent>
    </p:spTree>
    <p:extLst>
      <p:ext uri="{BB962C8B-B14F-4D97-AF65-F5344CB8AC3E}">
        <p14:creationId xmlns:p14="http://schemas.microsoft.com/office/powerpoint/2010/main" val="993138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24377-5075-C7D4-5AEA-719A616864F6}"/>
              </a:ext>
            </a:extLst>
          </p:cNvPr>
          <p:cNvSpPr>
            <a:spLocks noGrp="1"/>
          </p:cNvSpPr>
          <p:nvPr>
            <p:ph type="title"/>
          </p:nvPr>
        </p:nvSpPr>
        <p:spPr/>
        <p:txBody>
          <a:bodyPr/>
          <a:lstStyle/>
          <a:p>
            <a:r>
              <a:rPr lang="en-VN" dirty="0"/>
              <a:t>ĐỒ THỊ BODE</a:t>
            </a:r>
          </a:p>
        </p:txBody>
      </p:sp>
      <p:pic>
        <p:nvPicPr>
          <p:cNvPr id="5" name="Content Placeholder 4">
            <a:extLst>
              <a:ext uri="{FF2B5EF4-FFF2-40B4-BE49-F238E27FC236}">
                <a16:creationId xmlns:a16="http://schemas.microsoft.com/office/drawing/2014/main" id="{2F95CB53-88DB-CD62-9503-568AA6623A59}"/>
              </a:ext>
            </a:extLst>
          </p:cNvPr>
          <p:cNvPicPr>
            <a:picLocks noGrp="1" noChangeAspect="1"/>
          </p:cNvPicPr>
          <p:nvPr>
            <p:ph idx="1"/>
          </p:nvPr>
        </p:nvPicPr>
        <p:blipFill>
          <a:blip r:embed="rId2"/>
          <a:stretch>
            <a:fillRect/>
          </a:stretch>
        </p:blipFill>
        <p:spPr>
          <a:xfrm>
            <a:off x="3789718" y="1268737"/>
            <a:ext cx="5238168" cy="5391194"/>
          </a:xfrm>
        </p:spPr>
      </p:pic>
    </p:spTree>
    <p:extLst>
      <p:ext uri="{BB962C8B-B14F-4D97-AF65-F5344CB8AC3E}">
        <p14:creationId xmlns:p14="http://schemas.microsoft.com/office/powerpoint/2010/main" val="4011888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7F57D-A7BF-AE32-B71D-EC1FED8BD2F2}"/>
              </a:ext>
            </a:extLst>
          </p:cNvPr>
          <p:cNvSpPr>
            <a:spLocks noGrp="1"/>
          </p:cNvSpPr>
          <p:nvPr>
            <p:ph type="title"/>
          </p:nvPr>
        </p:nvSpPr>
        <p:spPr/>
        <p:txBody>
          <a:bodyPr/>
          <a:lstStyle/>
          <a:p>
            <a:r>
              <a:rPr lang="en-VN" dirty="0"/>
              <a:t>ĐỒ THỊ BODE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75BE17-97EB-90CB-0433-2E89A844D9E5}"/>
                  </a:ext>
                </a:extLst>
              </p:cNvPr>
              <p:cNvSpPr>
                <a:spLocks noGrp="1"/>
              </p:cNvSpPr>
              <p:nvPr>
                <p:ph idx="1"/>
              </p:nvPr>
            </p:nvSpPr>
            <p:spPr/>
            <p:txBody>
              <a:bodyPr/>
              <a:lstStyle/>
              <a:p>
                <a:r>
                  <a:rPr lang="en-VN" dirty="0"/>
                  <a:t>Đồ thị Bode cho hệ thống </a:t>
                </a:r>
                <a14:m>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𝑠</m:t>
                    </m:r>
                  </m:oMath>
                </a14:m>
                <a:endParaRPr lang="en-VN"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r>
                            <a:rPr lang="en-US" b="0" i="1" smtClean="0">
                              <a:latin typeface="Cambria Math" panose="02040503050406030204" pitchFamily="18" charset="0"/>
                            </a:rPr>
                            <m:t>𝜔</m:t>
                          </m:r>
                        </m:e>
                      </m:d>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𝜔</m:t>
                      </m:r>
                    </m:oMath>
                  </m:oMathPara>
                </a14:m>
                <a:endParaRPr lang="en-VN" dirty="0"/>
              </a:p>
              <a:p>
                <a:pPr marL="0" indent="0">
                  <a:buNone/>
                </a:pPr>
                <a:r>
                  <a:rPr lang="en-VN" dirty="0"/>
                  <a:t>Biên độ </a:t>
                </a:r>
                <a14:m>
                  <m:oMath xmlns:m="http://schemas.openxmlformats.org/officeDocument/2006/math">
                    <m:r>
                      <a:rPr lang="en-US" b="0" i="1" smtClean="0">
                        <a:latin typeface="Cambria Math" panose="02040503050406030204" pitchFamily="18" charset="0"/>
                      </a:rPr>
                      <m:t>20</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𝑀</m:t>
                        </m:r>
                      </m:e>
                    </m:func>
                    <m:r>
                      <a:rPr lang="en-US" b="0" i="1" smtClean="0">
                        <a:latin typeface="Cambria Math" panose="02040503050406030204" pitchFamily="18" charset="0"/>
                      </a:rPr>
                      <m:t>=20</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𝜔</m:t>
                        </m:r>
                      </m:e>
                    </m:func>
                  </m:oMath>
                </a14:m>
                <a:endParaRPr lang="en-VN" dirty="0"/>
              </a:p>
              <a:p>
                <a:pPr marL="0" indent="0">
                  <a:buNone/>
                </a:pPr>
                <a:r>
                  <a:rPr lang="en-VN" dirty="0"/>
                  <a:t>Pha </a:t>
                </a:r>
                <a14:m>
                  <m:oMath xmlns:m="http://schemas.openxmlformats.org/officeDocument/2006/math">
                    <m:r>
                      <a:rPr lang="en-US" b="0" i="1" smtClean="0">
                        <a:latin typeface="Cambria Math" panose="02040503050406030204" pitchFamily="18" charset="0"/>
                      </a:rPr>
                      <m:t>90</m:t>
                    </m:r>
                    <m:r>
                      <a:rPr lang="en-US" b="0" i="1" smtClean="0">
                        <a:latin typeface="Cambria Math" panose="02040503050406030204" pitchFamily="18" charset="0"/>
                        <a:ea typeface="Cambria Math" panose="02040503050406030204" pitchFamily="18" charset="0"/>
                      </a:rPr>
                      <m:t>°</m:t>
                    </m:r>
                  </m:oMath>
                </a14:m>
                <a:endParaRPr lang="en-VN" dirty="0"/>
              </a:p>
            </p:txBody>
          </p:sp>
        </mc:Choice>
        <mc:Fallback xmlns="">
          <p:sp>
            <p:nvSpPr>
              <p:cNvPr id="3" name="Content Placeholder 2">
                <a:extLst>
                  <a:ext uri="{FF2B5EF4-FFF2-40B4-BE49-F238E27FC236}">
                    <a16:creationId xmlns:a16="http://schemas.microsoft.com/office/drawing/2014/main" id="{2775BE17-97EB-90CB-0433-2E89A844D9E5}"/>
                  </a:ext>
                </a:extLst>
              </p:cNvPr>
              <p:cNvSpPr>
                <a:spLocks noGrp="1" noRot="1" noChangeAspect="1" noMove="1" noResize="1" noEditPoints="1" noAdjustHandles="1" noChangeArrowheads="1" noChangeShapeType="1" noTextEdit="1"/>
              </p:cNvSpPr>
              <p:nvPr>
                <p:ph idx="1"/>
              </p:nvPr>
            </p:nvSpPr>
            <p:spPr>
              <a:blipFill>
                <a:blip r:embed="rId2"/>
                <a:stretch>
                  <a:fillRect l="-661"/>
                </a:stretch>
              </a:blipFill>
            </p:spPr>
            <p:txBody>
              <a:bodyPr/>
              <a:lstStyle/>
              <a:p>
                <a:r>
                  <a:rPr lang="en-VN">
                    <a:noFill/>
                  </a:rPr>
                  <a:t> </a:t>
                </a:r>
              </a:p>
            </p:txBody>
          </p:sp>
        </mc:Fallback>
      </mc:AlternateContent>
      <p:pic>
        <p:nvPicPr>
          <p:cNvPr id="5" name="Picture 4">
            <a:extLst>
              <a:ext uri="{FF2B5EF4-FFF2-40B4-BE49-F238E27FC236}">
                <a16:creationId xmlns:a16="http://schemas.microsoft.com/office/drawing/2014/main" id="{71124338-AD67-2A69-6F07-6663DB252ACD}"/>
              </a:ext>
            </a:extLst>
          </p:cNvPr>
          <p:cNvPicPr>
            <a:picLocks noChangeAspect="1"/>
          </p:cNvPicPr>
          <p:nvPr/>
        </p:nvPicPr>
        <p:blipFill>
          <a:blip r:embed="rId3"/>
          <a:stretch>
            <a:fillRect/>
          </a:stretch>
        </p:blipFill>
        <p:spPr>
          <a:xfrm>
            <a:off x="5617028" y="2319460"/>
            <a:ext cx="4378778" cy="4179311"/>
          </a:xfrm>
          <a:prstGeom prst="rect">
            <a:avLst/>
          </a:prstGeom>
        </p:spPr>
      </p:pic>
    </p:spTree>
    <p:extLst>
      <p:ext uri="{BB962C8B-B14F-4D97-AF65-F5344CB8AC3E}">
        <p14:creationId xmlns:p14="http://schemas.microsoft.com/office/powerpoint/2010/main" val="3434580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24D98-9A77-B042-9826-C8D38A3AA2BC}"/>
              </a:ext>
            </a:extLst>
          </p:cNvPr>
          <p:cNvSpPr>
            <a:spLocks noGrp="1"/>
          </p:cNvSpPr>
          <p:nvPr>
            <p:ph type="title"/>
          </p:nvPr>
        </p:nvSpPr>
        <p:spPr/>
        <p:txBody>
          <a:bodyPr/>
          <a:lstStyle/>
          <a:p>
            <a:r>
              <a:rPr lang="en-VN" dirty="0"/>
              <a:t>ĐỒ THỊ BODE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ADEFAD-BF55-8E52-B044-C3FA31AA75A4}"/>
                  </a:ext>
                </a:extLst>
              </p:cNvPr>
              <p:cNvSpPr>
                <a:spLocks noGrp="1"/>
              </p:cNvSpPr>
              <p:nvPr>
                <p:ph idx="1"/>
              </p:nvPr>
            </p:nvSpPr>
            <p:spPr/>
            <p:txBody>
              <a:bodyPr/>
              <a:lstStyle/>
              <a:p>
                <a:r>
                  <a:rPr lang="en-VN" dirty="0"/>
                  <a:t>Đồ thị Bode cho hệ thống </a:t>
                </a:r>
                <a14:m>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=1/</m:t>
                    </m:r>
                    <m:r>
                      <a:rPr lang="en-US" b="0" i="1" smtClean="0">
                        <a:latin typeface="Cambria Math" panose="02040503050406030204" pitchFamily="18" charset="0"/>
                      </a:rPr>
                      <m:t>𝑠</m:t>
                    </m:r>
                  </m:oMath>
                </a14:m>
                <a:endParaRPr lang="en-VN" dirty="0"/>
              </a:p>
              <a:p>
                <a:pPr marL="0" indent="0">
                  <a:buNone/>
                </a:pPr>
                <a:r>
                  <a:rPr lang="en-VN" dirty="0"/>
                  <a:t>Tương tự như các phần trên, ta được:</a:t>
                </a:r>
              </a:p>
              <a:p>
                <a:pPr marL="0" indent="0">
                  <a:buNone/>
                </a:pPr>
                <a:r>
                  <a:rPr lang="en-VN" dirty="0"/>
                  <a:t>Biên độ: xấp xỉ đường -20dB/decade</a:t>
                </a:r>
              </a:p>
              <a:p>
                <a:pPr marL="0" indent="0">
                  <a:buNone/>
                </a:pPr>
                <a:r>
                  <a:rPr lang="en-VN" dirty="0"/>
                  <a:t>Pha: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90</m:t>
                    </m:r>
                    <m:r>
                      <a:rPr lang="en-US" b="0" i="1" smtClean="0">
                        <a:latin typeface="Cambria Math" panose="02040503050406030204" pitchFamily="18" charset="0"/>
                        <a:ea typeface="Cambria Math" panose="02040503050406030204" pitchFamily="18" charset="0"/>
                      </a:rPr>
                      <m:t>°</m:t>
                    </m:r>
                  </m:oMath>
                </a14:m>
                <a:endParaRPr lang="en-VN" dirty="0"/>
              </a:p>
              <a:p>
                <a:endParaRPr lang="en-VN" dirty="0"/>
              </a:p>
            </p:txBody>
          </p:sp>
        </mc:Choice>
        <mc:Fallback xmlns="">
          <p:sp>
            <p:nvSpPr>
              <p:cNvPr id="3" name="Content Placeholder 2">
                <a:extLst>
                  <a:ext uri="{FF2B5EF4-FFF2-40B4-BE49-F238E27FC236}">
                    <a16:creationId xmlns:a16="http://schemas.microsoft.com/office/drawing/2014/main" id="{FCADEFAD-BF55-8E52-B044-C3FA31AA75A4}"/>
                  </a:ext>
                </a:extLst>
              </p:cNvPr>
              <p:cNvSpPr>
                <a:spLocks noGrp="1" noRot="1" noChangeAspect="1" noMove="1" noResize="1" noEditPoints="1" noAdjustHandles="1" noChangeArrowheads="1" noChangeShapeType="1" noTextEdit="1"/>
              </p:cNvSpPr>
              <p:nvPr>
                <p:ph idx="1"/>
              </p:nvPr>
            </p:nvSpPr>
            <p:spPr>
              <a:blipFill>
                <a:blip r:embed="rId2"/>
                <a:stretch>
                  <a:fillRect l="-661"/>
                </a:stretch>
              </a:blipFill>
            </p:spPr>
            <p:txBody>
              <a:bodyPr/>
              <a:lstStyle/>
              <a:p>
                <a:r>
                  <a:rPr lang="en-VN">
                    <a:noFill/>
                  </a:rPr>
                  <a:t> </a:t>
                </a:r>
              </a:p>
            </p:txBody>
          </p:sp>
        </mc:Fallback>
      </mc:AlternateContent>
      <p:pic>
        <p:nvPicPr>
          <p:cNvPr id="5" name="Picture 4">
            <a:extLst>
              <a:ext uri="{FF2B5EF4-FFF2-40B4-BE49-F238E27FC236}">
                <a16:creationId xmlns:a16="http://schemas.microsoft.com/office/drawing/2014/main" id="{4F8DFB78-2F64-AE6F-3D45-69B973114259}"/>
              </a:ext>
            </a:extLst>
          </p:cNvPr>
          <p:cNvPicPr>
            <a:picLocks noChangeAspect="1"/>
          </p:cNvPicPr>
          <p:nvPr/>
        </p:nvPicPr>
        <p:blipFill>
          <a:blip r:embed="rId3"/>
          <a:stretch>
            <a:fillRect/>
          </a:stretch>
        </p:blipFill>
        <p:spPr>
          <a:xfrm>
            <a:off x="6487886" y="1815048"/>
            <a:ext cx="5137150" cy="4844883"/>
          </a:xfrm>
          <a:prstGeom prst="rect">
            <a:avLst/>
          </a:prstGeom>
        </p:spPr>
      </p:pic>
    </p:spTree>
    <p:extLst>
      <p:ext uri="{BB962C8B-B14F-4D97-AF65-F5344CB8AC3E}">
        <p14:creationId xmlns:p14="http://schemas.microsoft.com/office/powerpoint/2010/main" val="3429501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CCAA0-C5D7-8B4D-1D07-A266CC73CBB9}"/>
              </a:ext>
            </a:extLst>
          </p:cNvPr>
          <p:cNvSpPr>
            <a:spLocks noGrp="1"/>
          </p:cNvSpPr>
          <p:nvPr>
            <p:ph type="title"/>
          </p:nvPr>
        </p:nvSpPr>
        <p:spPr/>
        <p:txBody>
          <a:bodyPr/>
          <a:lstStyle/>
          <a:p>
            <a:r>
              <a:rPr lang="en-VN" dirty="0"/>
              <a:t>ĐỒ THỊ BODE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D06305-BE5D-4408-DBFF-9843D6BC6E1F}"/>
                  </a:ext>
                </a:extLst>
              </p:cNvPr>
              <p:cNvSpPr>
                <a:spLocks noGrp="1"/>
              </p:cNvSpPr>
              <p:nvPr>
                <p:ph idx="1"/>
              </p:nvPr>
            </p:nvSpPr>
            <p:spPr/>
            <p:txBody>
              <a:bodyPr/>
              <a:lstStyle/>
              <a:p>
                <a:r>
                  <a:rPr lang="en-VN" u="sng" dirty="0"/>
                  <a:t>Ví dụ:</a:t>
                </a:r>
                <a:r>
                  <a:rPr lang="en-VN" dirty="0"/>
                  <a:t> Vẽ đồ thị Bode cho hệ thống sau:</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2</m:t>
                              </m:r>
                            </m:den>
                          </m:f>
                          <m:r>
                            <a:rPr lang="en-US" b="0" i="1" smtClean="0">
                              <a:latin typeface="Cambria Math" panose="02040503050406030204" pitchFamily="18" charset="0"/>
                            </a:rPr>
                            <m:t>𝐾</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𝑠</m:t>
                                  </m:r>
                                </m:num>
                                <m:den>
                                  <m:r>
                                    <a:rPr lang="en-US" b="0" i="1" smtClean="0">
                                      <a:latin typeface="Cambria Math" panose="02040503050406030204" pitchFamily="18" charset="0"/>
                                    </a:rPr>
                                    <m:t>3</m:t>
                                  </m:r>
                                </m:den>
                              </m:f>
                              <m:r>
                                <a:rPr lang="en-US" b="0" i="1" smtClean="0">
                                  <a:latin typeface="Cambria Math" panose="02040503050406030204" pitchFamily="18" charset="0"/>
                                </a:rPr>
                                <m:t>+1</m:t>
                              </m:r>
                            </m:e>
                          </m:d>
                        </m:num>
                        <m:den>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+1</m:t>
                              </m:r>
                            </m:e>
                          </m:d>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𝑠</m:t>
                                  </m:r>
                                </m:num>
                                <m:den>
                                  <m:r>
                                    <a:rPr lang="en-US" b="0" i="1" smtClean="0">
                                      <a:latin typeface="Cambria Math" panose="02040503050406030204" pitchFamily="18" charset="0"/>
                                    </a:rPr>
                                    <m:t>2</m:t>
                                  </m:r>
                                </m:den>
                              </m:f>
                              <m:r>
                                <a:rPr lang="en-US" b="0" i="1" smtClean="0">
                                  <a:latin typeface="Cambria Math" panose="02040503050406030204" pitchFamily="18" charset="0"/>
                                </a:rPr>
                                <m:t>+1</m:t>
                              </m:r>
                            </m:e>
                          </m:d>
                        </m:den>
                      </m:f>
                    </m:oMath>
                  </m:oMathPara>
                </a14:m>
                <a:endParaRPr lang="en-VN" dirty="0"/>
              </a:p>
            </p:txBody>
          </p:sp>
        </mc:Choice>
        <mc:Fallback xmlns="">
          <p:sp>
            <p:nvSpPr>
              <p:cNvPr id="3" name="Content Placeholder 2">
                <a:extLst>
                  <a:ext uri="{FF2B5EF4-FFF2-40B4-BE49-F238E27FC236}">
                    <a16:creationId xmlns:a16="http://schemas.microsoft.com/office/drawing/2014/main" id="{A2D06305-BE5D-4408-DBFF-9843D6BC6E1F}"/>
                  </a:ext>
                </a:extLst>
              </p:cNvPr>
              <p:cNvSpPr>
                <a:spLocks noGrp="1" noRot="1" noChangeAspect="1" noMove="1" noResize="1" noEditPoints="1" noAdjustHandles="1" noChangeArrowheads="1" noChangeShapeType="1" noTextEdit="1"/>
              </p:cNvSpPr>
              <p:nvPr>
                <p:ph idx="1"/>
              </p:nvPr>
            </p:nvSpPr>
            <p:spPr>
              <a:blipFill>
                <a:blip r:embed="rId2"/>
                <a:stretch>
                  <a:fillRect l="-528"/>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7851582-6731-5972-8D62-8B6D24089393}"/>
                  </a:ext>
                </a:extLst>
              </p:cNvPr>
              <p:cNvSpPr txBox="1"/>
              <p:nvPr/>
            </p:nvSpPr>
            <p:spPr>
              <a:xfrm>
                <a:off x="1727200" y="3207657"/>
                <a:ext cx="8984343" cy="1707070"/>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Tần số gãy: 1, 2, 3</a:t>
                </a:r>
              </a:p>
              <a:p>
                <a:r>
                  <a:rPr lang="en-VN" dirty="0">
                    <a:latin typeface="Arial" panose="020B0604020202020204" pitchFamily="34" charset="0"/>
                    <a:cs typeface="Arial" panose="020B0604020202020204" pitchFamily="34" charset="0"/>
                  </a:rPr>
                  <a:t>Giá trị của K sẽ làm đồ thị Bode biên độ tăng hoặc giảm 1 khoảng là </a:t>
                </a:r>
                <a14:m>
                  <m:oMath xmlns:m="http://schemas.openxmlformats.org/officeDocument/2006/math">
                    <m:r>
                      <a:rPr lang="en-US" b="0" i="1" smtClean="0">
                        <a:latin typeface="Cambria Math" panose="02040503050406030204" pitchFamily="18" charset="0"/>
                        <a:cs typeface="Arial" panose="020B0604020202020204" pitchFamily="34" charset="0"/>
                      </a:rPr>
                      <m:t>20</m:t>
                    </m:r>
                    <m:func>
                      <m:funcPr>
                        <m:ctrlPr>
                          <a:rPr lang="en-US" b="0" i="1" smtClean="0">
                            <a:latin typeface="Cambria Math" panose="02040503050406030204" pitchFamily="18" charset="0"/>
                            <a:cs typeface="Arial" panose="020B0604020202020204" pitchFamily="34" charset="0"/>
                          </a:rPr>
                        </m:ctrlPr>
                      </m:funcPr>
                      <m:fName>
                        <m:r>
                          <m:rPr>
                            <m:sty m:val="p"/>
                          </m:rPr>
                          <a:rPr lang="en-US" b="0" i="0" smtClean="0">
                            <a:latin typeface="Cambria Math" panose="02040503050406030204" pitchFamily="18" charset="0"/>
                            <a:cs typeface="Arial" panose="020B0604020202020204" pitchFamily="34" charset="0"/>
                          </a:rPr>
                          <m:t>log</m:t>
                        </m:r>
                      </m:fName>
                      <m:e>
                        <m:r>
                          <a:rPr lang="en-US" b="0" i="1" smtClean="0">
                            <a:latin typeface="Cambria Math" panose="02040503050406030204" pitchFamily="18" charset="0"/>
                            <a:cs typeface="Arial" panose="020B0604020202020204" pitchFamily="34" charset="0"/>
                          </a:rPr>
                          <m:t>𝐾</m:t>
                        </m:r>
                      </m:e>
                    </m:func>
                  </m:oMath>
                </a14:m>
                <a:r>
                  <a:rPr lang="en-VN" dirty="0">
                    <a:latin typeface="Arial" panose="020B0604020202020204" pitchFamily="34" charset="0"/>
                    <a:cs typeface="Arial" panose="020B0604020202020204" pitchFamily="34" charset="0"/>
                  </a:rPr>
                  <a:t> và không làm ảnh hưởng đến đồ thị Bode pha.</a:t>
                </a:r>
              </a:p>
              <a:p>
                <a:r>
                  <a:rPr lang="en-VN" dirty="0">
                    <a:latin typeface="Arial" panose="020B0604020202020204" pitchFamily="34" charset="0"/>
                    <a:cs typeface="Arial" panose="020B0604020202020204" pitchFamily="34" charset="0"/>
                  </a:rPr>
                  <a:t>Dải tần số khảo sát: 0.1 rad đến 100 rad</a:t>
                </a:r>
              </a:p>
              <a:p>
                <a:r>
                  <a:rPr lang="en-US" dirty="0">
                    <a:latin typeface="Arial" panose="020B0604020202020204" pitchFamily="34" charset="0"/>
                    <a:cs typeface="Arial" panose="020B0604020202020204" pitchFamily="34" charset="0"/>
                  </a:rPr>
                  <a:t>T</a:t>
                </a:r>
                <a:r>
                  <a:rPr lang="en-VN" dirty="0">
                    <a:latin typeface="Arial" panose="020B0604020202020204" pitchFamily="34" charset="0"/>
                    <a:cs typeface="Arial" panose="020B0604020202020204" pitchFamily="34" charset="0"/>
                  </a:rPr>
                  <a:t>ại </a:t>
                </a:r>
                <a14:m>
                  <m:oMath xmlns:m="http://schemas.openxmlformats.org/officeDocument/2006/math">
                    <m:r>
                      <a:rPr lang="en-US" b="0" i="1" smtClean="0">
                        <a:latin typeface="Cambria Math" panose="02040503050406030204" pitchFamily="18" charset="0"/>
                        <a:cs typeface="Arial" panose="020B0604020202020204" pitchFamily="34" charset="0"/>
                      </a:rPr>
                      <m:t>𝜔</m:t>
                    </m:r>
                    <m:r>
                      <a:rPr lang="en-US" b="0" i="1" smtClean="0">
                        <a:latin typeface="Cambria Math" panose="02040503050406030204" pitchFamily="18" charset="0"/>
                        <a:cs typeface="Arial" panose="020B0604020202020204" pitchFamily="34" charset="0"/>
                      </a:rPr>
                      <m:t>=0.1 </m:t>
                    </m:r>
                    <m:r>
                      <a:rPr lang="en-US" b="0" i="1" smtClean="0">
                        <a:latin typeface="Cambria Math" panose="02040503050406030204" pitchFamily="18" charset="0"/>
                        <a:cs typeface="Arial" panose="020B0604020202020204" pitchFamily="34" charset="0"/>
                      </a:rPr>
                      <m:t>𝐺</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𝑗</m:t>
                        </m:r>
                        <m:r>
                          <a:rPr lang="en-US" b="0" i="1" smtClean="0">
                            <a:latin typeface="Cambria Math" panose="02040503050406030204" pitchFamily="18" charset="0"/>
                            <a:cs typeface="Arial" panose="020B0604020202020204" pitchFamily="34" charset="0"/>
                          </a:rPr>
                          <m:t>0.1</m:t>
                        </m:r>
                      </m:e>
                    </m:d>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3</m:t>
                            </m:r>
                          </m:num>
                          <m:den>
                            <m:r>
                              <a:rPr lang="en-US" b="0" i="1" smtClean="0">
                                <a:latin typeface="Cambria Math" panose="02040503050406030204" pitchFamily="18" charset="0"/>
                                <a:ea typeface="Cambria Math" panose="02040503050406030204" pitchFamily="18" charset="0"/>
                                <a:cs typeface="Arial" panose="020B0604020202020204" pitchFamily="34" charset="0"/>
                              </a:rPr>
                              <m:t>2</m:t>
                            </m:r>
                          </m:den>
                        </m:f>
                        <m:r>
                          <a:rPr lang="en-US" b="0" i="1" smtClean="0">
                            <a:latin typeface="Cambria Math" panose="02040503050406030204" pitchFamily="18" charset="0"/>
                            <a:ea typeface="Cambria Math" panose="02040503050406030204" pitchFamily="18" charset="0"/>
                            <a:cs typeface="Arial" panose="020B0604020202020204" pitchFamily="34" charset="0"/>
                          </a:rPr>
                          <m:t>𝐾</m:t>
                        </m:r>
                      </m:num>
                      <m:den>
                        <m:r>
                          <a:rPr lang="en-US" b="0" i="1" smtClean="0">
                            <a:latin typeface="Cambria Math" panose="02040503050406030204" pitchFamily="18" charset="0"/>
                            <a:ea typeface="Cambria Math" panose="02040503050406030204" pitchFamily="18" charset="0"/>
                            <a:cs typeface="Arial" panose="020B0604020202020204" pitchFamily="34" charset="0"/>
                          </a:rPr>
                          <m:t>0.1</m:t>
                        </m:r>
                      </m:den>
                    </m:f>
                    <m:r>
                      <a:rPr lang="en-US" b="0" i="1" smtClean="0">
                        <a:latin typeface="Cambria Math" panose="02040503050406030204" pitchFamily="18" charset="0"/>
                        <a:ea typeface="Cambria Math" panose="02040503050406030204" pitchFamily="18" charset="0"/>
                        <a:cs typeface="Arial" panose="020B0604020202020204" pitchFamily="34" charset="0"/>
                      </a:rPr>
                      <m:t>=15</m:t>
                    </m:r>
                    <m:r>
                      <a:rPr lang="en-US" b="0" i="1" smtClean="0">
                        <a:latin typeface="Cambria Math" panose="02040503050406030204" pitchFamily="18" charset="0"/>
                        <a:ea typeface="Cambria Math" panose="02040503050406030204" pitchFamily="18" charset="0"/>
                        <a:cs typeface="Arial" panose="020B0604020202020204" pitchFamily="34" charset="0"/>
                      </a:rPr>
                      <m:t>𝐾</m:t>
                    </m:r>
                  </m:oMath>
                </a14:m>
                <a:r>
                  <a:rPr lang="en-VN" dirty="0">
                    <a:latin typeface="Arial" panose="020B0604020202020204" pitchFamily="34" charset="0"/>
                    <a:cs typeface="Arial" panose="020B0604020202020204" pitchFamily="34" charset="0"/>
                  </a:rPr>
                  <a:t>, Chọn K = 1</a:t>
                </a:r>
              </a:p>
            </p:txBody>
          </p:sp>
        </mc:Choice>
        <mc:Fallback xmlns="">
          <p:sp>
            <p:nvSpPr>
              <p:cNvPr id="4" name="TextBox 3">
                <a:extLst>
                  <a:ext uri="{FF2B5EF4-FFF2-40B4-BE49-F238E27FC236}">
                    <a16:creationId xmlns:a16="http://schemas.microsoft.com/office/drawing/2014/main" id="{A7851582-6731-5972-8D62-8B6D24089393}"/>
                  </a:ext>
                </a:extLst>
              </p:cNvPr>
              <p:cNvSpPr txBox="1">
                <a:spLocks noRot="1" noChangeAspect="1" noMove="1" noResize="1" noEditPoints="1" noAdjustHandles="1" noChangeArrowheads="1" noChangeShapeType="1" noTextEdit="1"/>
              </p:cNvSpPr>
              <p:nvPr/>
            </p:nvSpPr>
            <p:spPr>
              <a:xfrm>
                <a:off x="1727200" y="3207657"/>
                <a:ext cx="8984343" cy="1707070"/>
              </a:xfrm>
              <a:prstGeom prst="rect">
                <a:avLst/>
              </a:prstGeom>
              <a:blipFill>
                <a:blip r:embed="rId3"/>
                <a:stretch>
                  <a:fillRect l="-423" t="-1481" r="-564" b="-1481"/>
                </a:stretch>
              </a:blipFill>
            </p:spPr>
            <p:txBody>
              <a:bodyPr/>
              <a:lstStyle/>
              <a:p>
                <a:r>
                  <a:rPr lang="en-VN">
                    <a:noFill/>
                  </a:rPr>
                  <a:t> </a:t>
                </a:r>
              </a:p>
            </p:txBody>
          </p:sp>
        </mc:Fallback>
      </mc:AlternateContent>
    </p:spTree>
    <p:extLst>
      <p:ext uri="{BB962C8B-B14F-4D97-AF65-F5344CB8AC3E}">
        <p14:creationId xmlns:p14="http://schemas.microsoft.com/office/powerpoint/2010/main" val="3841384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29A25-AFB7-76DB-0200-A200BD0388AD}"/>
              </a:ext>
            </a:extLst>
          </p:cNvPr>
          <p:cNvSpPr>
            <a:spLocks noGrp="1"/>
          </p:cNvSpPr>
          <p:nvPr>
            <p:ph type="title"/>
          </p:nvPr>
        </p:nvSpPr>
        <p:spPr/>
        <p:txBody>
          <a:bodyPr/>
          <a:lstStyle/>
          <a:p>
            <a:r>
              <a:rPr lang="en-VN" dirty="0"/>
              <a:t>ĐỒ THỊ BODE</a:t>
            </a:r>
          </a:p>
        </p:txBody>
      </p:sp>
      <p:pic>
        <p:nvPicPr>
          <p:cNvPr id="7" name="Picture 6">
            <a:extLst>
              <a:ext uri="{FF2B5EF4-FFF2-40B4-BE49-F238E27FC236}">
                <a16:creationId xmlns:a16="http://schemas.microsoft.com/office/drawing/2014/main" id="{68CA4B26-3E03-46CB-4433-03F5FAC16AD5}"/>
              </a:ext>
            </a:extLst>
          </p:cNvPr>
          <p:cNvPicPr>
            <a:picLocks noChangeAspect="1"/>
          </p:cNvPicPr>
          <p:nvPr/>
        </p:nvPicPr>
        <p:blipFill>
          <a:blip r:embed="rId2"/>
          <a:stretch>
            <a:fillRect/>
          </a:stretch>
        </p:blipFill>
        <p:spPr>
          <a:xfrm>
            <a:off x="4419600" y="409063"/>
            <a:ext cx="7772400" cy="6341291"/>
          </a:xfrm>
          <a:prstGeom prst="rect">
            <a:avLst/>
          </a:prstGeom>
        </p:spPr>
      </p:pic>
      <p:pic>
        <p:nvPicPr>
          <p:cNvPr id="5" name="Content Placeholder 4">
            <a:extLst>
              <a:ext uri="{FF2B5EF4-FFF2-40B4-BE49-F238E27FC236}">
                <a16:creationId xmlns:a16="http://schemas.microsoft.com/office/drawing/2014/main" id="{A46EB088-5196-08F3-F454-1BCD7BFAF053}"/>
              </a:ext>
            </a:extLst>
          </p:cNvPr>
          <p:cNvPicPr>
            <a:picLocks noGrp="1" noChangeAspect="1"/>
          </p:cNvPicPr>
          <p:nvPr>
            <p:ph idx="1"/>
          </p:nvPr>
        </p:nvPicPr>
        <p:blipFill>
          <a:blip r:embed="rId3"/>
          <a:stretch>
            <a:fillRect/>
          </a:stretch>
        </p:blipFill>
        <p:spPr>
          <a:xfrm>
            <a:off x="97973" y="1981469"/>
            <a:ext cx="4321628" cy="1784552"/>
          </a:xfrm>
        </p:spPr>
      </p:pic>
    </p:spTree>
    <p:extLst>
      <p:ext uri="{BB962C8B-B14F-4D97-AF65-F5344CB8AC3E}">
        <p14:creationId xmlns:p14="http://schemas.microsoft.com/office/powerpoint/2010/main" val="16997234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C8A40-4DDC-0C85-B3CB-D6D5E717D8D3}"/>
              </a:ext>
            </a:extLst>
          </p:cNvPr>
          <p:cNvSpPr>
            <a:spLocks noGrp="1"/>
          </p:cNvSpPr>
          <p:nvPr>
            <p:ph type="title"/>
          </p:nvPr>
        </p:nvSpPr>
        <p:spPr/>
        <p:txBody>
          <a:bodyPr/>
          <a:lstStyle/>
          <a:p>
            <a:r>
              <a:rPr lang="en-VN" dirty="0"/>
              <a:t>ĐỒ THỊ BODE</a:t>
            </a:r>
          </a:p>
        </p:txBody>
      </p:sp>
      <p:pic>
        <p:nvPicPr>
          <p:cNvPr id="5" name="Content Placeholder 4">
            <a:extLst>
              <a:ext uri="{FF2B5EF4-FFF2-40B4-BE49-F238E27FC236}">
                <a16:creationId xmlns:a16="http://schemas.microsoft.com/office/drawing/2014/main" id="{8B14C5E4-3F69-DB27-AEF2-6875AFB077A0}"/>
              </a:ext>
            </a:extLst>
          </p:cNvPr>
          <p:cNvPicPr>
            <a:picLocks noGrp="1" noChangeAspect="1"/>
          </p:cNvPicPr>
          <p:nvPr>
            <p:ph idx="1"/>
          </p:nvPr>
        </p:nvPicPr>
        <p:blipFill>
          <a:blip r:embed="rId2"/>
          <a:stretch>
            <a:fillRect/>
          </a:stretch>
        </p:blipFill>
        <p:spPr>
          <a:xfrm>
            <a:off x="4314221" y="91689"/>
            <a:ext cx="6426200" cy="1549400"/>
          </a:xfrm>
        </p:spPr>
      </p:pic>
      <p:pic>
        <p:nvPicPr>
          <p:cNvPr id="7" name="Picture 6">
            <a:extLst>
              <a:ext uri="{FF2B5EF4-FFF2-40B4-BE49-F238E27FC236}">
                <a16:creationId xmlns:a16="http://schemas.microsoft.com/office/drawing/2014/main" id="{791376A9-C450-14C4-8AF2-B040C6CE4EB4}"/>
              </a:ext>
            </a:extLst>
          </p:cNvPr>
          <p:cNvPicPr>
            <a:picLocks noChangeAspect="1"/>
          </p:cNvPicPr>
          <p:nvPr/>
        </p:nvPicPr>
        <p:blipFill>
          <a:blip r:embed="rId3"/>
          <a:stretch>
            <a:fillRect/>
          </a:stretch>
        </p:blipFill>
        <p:spPr>
          <a:xfrm>
            <a:off x="4117371" y="1560281"/>
            <a:ext cx="6819900" cy="5206030"/>
          </a:xfrm>
          <a:prstGeom prst="rect">
            <a:avLst/>
          </a:prstGeom>
        </p:spPr>
      </p:pic>
    </p:spTree>
    <p:extLst>
      <p:ext uri="{BB962C8B-B14F-4D97-AF65-F5344CB8AC3E}">
        <p14:creationId xmlns:p14="http://schemas.microsoft.com/office/powerpoint/2010/main" val="891054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CF497-DBE7-CC64-0046-1CA2E210D781}"/>
              </a:ext>
            </a:extLst>
          </p:cNvPr>
          <p:cNvSpPr>
            <a:spLocks noGrp="1"/>
          </p:cNvSpPr>
          <p:nvPr>
            <p:ph type="title"/>
          </p:nvPr>
        </p:nvSpPr>
        <p:spPr/>
        <p:txBody>
          <a:bodyPr/>
          <a:lstStyle/>
          <a:p>
            <a:r>
              <a:rPr lang="en-VN" dirty="0"/>
              <a:t>ĐỒ THỊ BODE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F9B649C-4AAD-A188-9863-48FF720AD918}"/>
                  </a:ext>
                </a:extLst>
              </p:cNvPr>
              <p:cNvSpPr>
                <a:spLocks noGrp="1"/>
              </p:cNvSpPr>
              <p:nvPr>
                <p:ph idx="1"/>
              </p:nvPr>
            </p:nvSpPr>
            <p:spPr/>
            <p:txBody>
              <a:bodyPr/>
              <a:lstStyle/>
              <a:p>
                <a:r>
                  <a:rPr lang="en-VN" dirty="0"/>
                  <a:t>Đồ thị Bode cho hệ thống </a:t>
                </a:r>
                <a14:m>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𝜁</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𝑛</m:t>
                        </m:r>
                      </m:sub>
                      <m:sup>
                        <m:r>
                          <a:rPr lang="en-US" b="0" i="1" smtClean="0">
                            <a:latin typeface="Cambria Math" panose="02040503050406030204" pitchFamily="18" charset="0"/>
                            <a:ea typeface="Cambria Math" panose="02040503050406030204" pitchFamily="18" charset="0"/>
                          </a:rPr>
                          <m:t>2</m:t>
                        </m:r>
                      </m:sup>
                    </m:sSubSup>
                  </m:oMath>
                </a14:m>
                <a:endParaRPr lang="en-VN" dirty="0"/>
              </a:p>
              <a:p>
                <a:endParaRPr lang="en-VN" dirty="0"/>
              </a:p>
              <a:p>
                <a:endParaRPr lang="en-VN" dirty="0"/>
              </a:p>
              <a:p>
                <a:pPr>
                  <a:buFont typeface="Wingdings" pitchFamily="2" charset="2"/>
                  <a:buChar char="Ø"/>
                </a:pPr>
                <a:r>
                  <a:rPr lang="en-VN" dirty="0"/>
                  <a:t>Tại tần số thấp: </a:t>
                </a:r>
                <a14:m>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𝑛</m:t>
                        </m:r>
                      </m:sub>
                      <m:sup>
                        <m:r>
                          <a:rPr lang="en-US" b="0" i="1" smtClean="0">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𝑛</m:t>
                        </m:r>
                      </m:sub>
                      <m:sup>
                        <m:r>
                          <a:rPr lang="en-US" b="0" i="1" smtClean="0">
                            <a:latin typeface="Cambria Math" panose="02040503050406030204" pitchFamily="18" charset="0"/>
                            <a:ea typeface="Cambria Math" panose="02040503050406030204" pitchFamily="18" charset="0"/>
                          </a:rPr>
                          <m:t>2</m:t>
                        </m:r>
                      </m:sup>
                    </m:sSub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endParaRPr lang="en-VN" dirty="0"/>
              </a:p>
              <a:p>
                <a:pPr marL="0" indent="0">
                  <a:buNone/>
                </a:pPr>
                <a:r>
                  <a:rPr lang="en-VN" dirty="0"/>
                  <a:t>Tính theo dB: </a:t>
                </a:r>
                <a14:m>
                  <m:oMath xmlns:m="http://schemas.openxmlformats.org/officeDocument/2006/math">
                    <m:r>
                      <a:rPr lang="en-US" b="0" i="1" smtClean="0">
                        <a:latin typeface="Cambria Math" panose="02040503050406030204" pitchFamily="18" charset="0"/>
                      </a:rPr>
                      <m:t>20</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𝑀</m:t>
                        </m:r>
                      </m:e>
                    </m:func>
                    <m:r>
                      <a:rPr lang="en-US" b="0" i="1" smtClean="0">
                        <a:latin typeface="Cambria Math" panose="02040503050406030204" pitchFamily="18" charset="0"/>
                      </a:rPr>
                      <m:t>=20</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𝜔</m:t>
                            </m:r>
                          </m:e>
                          <m:sub>
                            <m:r>
                              <a:rPr lang="en-US" b="0" i="1" smtClean="0">
                                <a:latin typeface="Cambria Math" panose="02040503050406030204" pitchFamily="18" charset="0"/>
                              </a:rPr>
                              <m:t>𝑛</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e>
                    </m:func>
                  </m:oMath>
                </a14:m>
                <a:endParaRPr lang="en-VN" dirty="0"/>
              </a:p>
              <a:p>
                <a:pPr>
                  <a:buFont typeface="Wingdings" pitchFamily="2" charset="2"/>
                  <a:buChar char="Ø"/>
                </a:pPr>
                <a:r>
                  <a:rPr lang="en-VN" dirty="0"/>
                  <a:t>Tại tần số cao: </a:t>
                </a:r>
                <a14:m>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2</m:t>
                        </m:r>
                      </m:sup>
                    </m:sSup>
                  </m:oMath>
                </a14:m>
                <a:endParaRPr lang="en-VN"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r>
                            <a:rPr lang="en-US" b="0" i="1" smtClean="0">
                              <a:latin typeface="Cambria Math" panose="02040503050406030204" pitchFamily="18" charset="0"/>
                            </a:rPr>
                            <m:t>𝜔</m:t>
                          </m:r>
                        </m:e>
                      </m:d>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180°</m:t>
                      </m:r>
                    </m:oMath>
                  </m:oMathPara>
                </a14:m>
                <a:endParaRPr lang="en-VN" dirty="0"/>
              </a:p>
              <a:p>
                <a:pPr marL="0" indent="0">
                  <a:buNone/>
                </a:pPr>
                <a:r>
                  <a:rPr lang="en-VN" dirty="0"/>
                  <a:t>Tính theo dB: </a:t>
                </a:r>
                <a14:m>
                  <m:oMath xmlns:m="http://schemas.openxmlformats.org/officeDocument/2006/math">
                    <m:r>
                      <a:rPr lang="en-US" b="0" i="1" smtClean="0">
                        <a:latin typeface="Cambria Math" panose="02040503050406030204" pitchFamily="18" charset="0"/>
                      </a:rPr>
                      <m:t>20</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𝑀</m:t>
                        </m:r>
                      </m:e>
                    </m:func>
                    <m:r>
                      <a:rPr lang="en-US" b="0" i="1" smtClean="0">
                        <a:latin typeface="Cambria Math" panose="02040503050406030204" pitchFamily="18" charset="0"/>
                      </a:rPr>
                      <m:t>=20</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𝜔</m:t>
                            </m:r>
                          </m:e>
                          <m:sup>
                            <m:r>
                              <a:rPr lang="en-US" b="0" i="1" smtClean="0">
                                <a:latin typeface="Cambria Math" panose="02040503050406030204" pitchFamily="18" charset="0"/>
                              </a:rPr>
                              <m:t>2</m:t>
                            </m:r>
                          </m:sup>
                        </m:sSup>
                        <m:r>
                          <a:rPr lang="en-US" b="0" i="1" smtClean="0">
                            <a:latin typeface="Cambria Math" panose="02040503050406030204" pitchFamily="18" charset="0"/>
                          </a:rPr>
                          <m:t>)</m:t>
                        </m:r>
                      </m:e>
                    </m:func>
                    <m:r>
                      <a:rPr lang="en-US" b="0" i="1" smtClean="0">
                        <a:latin typeface="Cambria Math" panose="02040503050406030204" pitchFamily="18" charset="0"/>
                      </a:rPr>
                      <m:t>=40</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𝜔</m:t>
                        </m:r>
                      </m:e>
                    </m:func>
                  </m:oMath>
                </a14:m>
                <a:endParaRPr lang="en-VN" dirty="0"/>
              </a:p>
              <a:p>
                <a:pPr marL="0" indent="0">
                  <a:buNone/>
                </a:pPr>
                <a:endParaRPr lang="en-VN" dirty="0"/>
              </a:p>
            </p:txBody>
          </p:sp>
        </mc:Choice>
        <mc:Fallback xmlns="">
          <p:sp>
            <p:nvSpPr>
              <p:cNvPr id="3" name="Content Placeholder 2">
                <a:extLst>
                  <a:ext uri="{FF2B5EF4-FFF2-40B4-BE49-F238E27FC236}">
                    <a16:creationId xmlns:a16="http://schemas.microsoft.com/office/drawing/2014/main" id="{6F9B649C-4AAD-A188-9863-48FF720AD918}"/>
                  </a:ext>
                </a:extLst>
              </p:cNvPr>
              <p:cNvSpPr>
                <a:spLocks noGrp="1" noRot="1" noChangeAspect="1" noMove="1" noResize="1" noEditPoints="1" noAdjustHandles="1" noChangeArrowheads="1" noChangeShapeType="1" noTextEdit="1"/>
              </p:cNvSpPr>
              <p:nvPr>
                <p:ph idx="1"/>
              </p:nvPr>
            </p:nvSpPr>
            <p:spPr>
              <a:blipFill>
                <a:blip r:embed="rId2"/>
                <a:stretch>
                  <a:fillRect l="-661"/>
                </a:stretch>
              </a:blipFill>
            </p:spPr>
            <p:txBody>
              <a:bodyPr/>
              <a:lstStyle/>
              <a:p>
                <a:r>
                  <a:rPr lang="en-VN">
                    <a:noFill/>
                  </a:rPr>
                  <a:t> </a:t>
                </a:r>
              </a:p>
            </p:txBody>
          </p:sp>
        </mc:Fallback>
      </mc:AlternateContent>
      <p:pic>
        <p:nvPicPr>
          <p:cNvPr id="5" name="Picture 4">
            <a:extLst>
              <a:ext uri="{FF2B5EF4-FFF2-40B4-BE49-F238E27FC236}">
                <a16:creationId xmlns:a16="http://schemas.microsoft.com/office/drawing/2014/main" id="{1FC11E60-A98B-60D0-B06B-3DAF5671AE78}"/>
              </a:ext>
            </a:extLst>
          </p:cNvPr>
          <p:cNvPicPr>
            <a:picLocks noChangeAspect="1"/>
          </p:cNvPicPr>
          <p:nvPr/>
        </p:nvPicPr>
        <p:blipFill>
          <a:blip r:embed="rId3"/>
          <a:stretch>
            <a:fillRect/>
          </a:stretch>
        </p:blipFill>
        <p:spPr>
          <a:xfrm>
            <a:off x="3646170" y="1881086"/>
            <a:ext cx="6436360" cy="783373"/>
          </a:xfrm>
          <a:prstGeom prst="rect">
            <a:avLst/>
          </a:prstGeom>
        </p:spPr>
      </p:pic>
    </p:spTree>
    <p:extLst>
      <p:ext uri="{BB962C8B-B14F-4D97-AF65-F5344CB8AC3E}">
        <p14:creationId xmlns:p14="http://schemas.microsoft.com/office/powerpoint/2010/main" val="704523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3F6ED-2C20-5AE2-4E7B-DCCA379BAD85}"/>
              </a:ext>
            </a:extLst>
          </p:cNvPr>
          <p:cNvSpPr>
            <a:spLocks noGrp="1"/>
          </p:cNvSpPr>
          <p:nvPr>
            <p:ph type="title"/>
          </p:nvPr>
        </p:nvSpPr>
        <p:spPr/>
        <p:txBody>
          <a:bodyPr/>
          <a:lstStyle/>
          <a:p>
            <a:r>
              <a:rPr lang="en-US" dirty="0" err="1"/>
              <a:t>Đ</a:t>
            </a:r>
            <a:r>
              <a:rPr lang="en-VN" dirty="0"/>
              <a:t>ồ thị bode</a:t>
            </a:r>
          </a:p>
        </p:txBody>
      </p:sp>
      <p:pic>
        <p:nvPicPr>
          <p:cNvPr id="5" name="Content Placeholder 4">
            <a:extLst>
              <a:ext uri="{FF2B5EF4-FFF2-40B4-BE49-F238E27FC236}">
                <a16:creationId xmlns:a16="http://schemas.microsoft.com/office/drawing/2014/main" id="{1BE547B9-8BE3-D5DB-9475-6F9EC147E5F6}"/>
              </a:ext>
            </a:extLst>
          </p:cNvPr>
          <p:cNvPicPr>
            <a:picLocks noGrp="1" noChangeAspect="1"/>
          </p:cNvPicPr>
          <p:nvPr>
            <p:ph idx="1"/>
          </p:nvPr>
        </p:nvPicPr>
        <p:blipFill>
          <a:blip r:embed="rId2"/>
          <a:stretch>
            <a:fillRect/>
          </a:stretch>
        </p:blipFill>
        <p:spPr>
          <a:xfrm>
            <a:off x="997441" y="1438910"/>
            <a:ext cx="5619403" cy="4443413"/>
          </a:xfrm>
        </p:spPr>
      </p:pic>
      <p:pic>
        <p:nvPicPr>
          <p:cNvPr id="7" name="Picture 6">
            <a:extLst>
              <a:ext uri="{FF2B5EF4-FFF2-40B4-BE49-F238E27FC236}">
                <a16:creationId xmlns:a16="http://schemas.microsoft.com/office/drawing/2014/main" id="{045ABCC5-CA84-2C84-74E0-56CF04C841EF}"/>
              </a:ext>
            </a:extLst>
          </p:cNvPr>
          <p:cNvPicPr>
            <a:picLocks noChangeAspect="1"/>
          </p:cNvPicPr>
          <p:nvPr/>
        </p:nvPicPr>
        <p:blipFill>
          <a:blip r:embed="rId3"/>
          <a:stretch>
            <a:fillRect/>
          </a:stretch>
        </p:blipFill>
        <p:spPr>
          <a:xfrm>
            <a:off x="7707630" y="2903220"/>
            <a:ext cx="2790952" cy="1531620"/>
          </a:xfrm>
          <a:prstGeom prst="rect">
            <a:avLst/>
          </a:prstGeom>
        </p:spPr>
      </p:pic>
      <p:sp>
        <p:nvSpPr>
          <p:cNvPr id="8" name="TextBox 7">
            <a:extLst>
              <a:ext uri="{FF2B5EF4-FFF2-40B4-BE49-F238E27FC236}">
                <a16:creationId xmlns:a16="http://schemas.microsoft.com/office/drawing/2014/main" id="{79B48C85-CA55-4519-25E8-D8988E6632BD}"/>
              </a:ext>
            </a:extLst>
          </p:cNvPr>
          <p:cNvSpPr txBox="1"/>
          <p:nvPr/>
        </p:nvSpPr>
        <p:spPr>
          <a:xfrm>
            <a:off x="7707630" y="2474609"/>
            <a:ext cx="3829050" cy="36933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Giá trị thực tế</a:t>
            </a:r>
          </a:p>
        </p:txBody>
      </p:sp>
    </p:spTree>
    <p:extLst>
      <p:ext uri="{BB962C8B-B14F-4D97-AF65-F5344CB8AC3E}">
        <p14:creationId xmlns:p14="http://schemas.microsoft.com/office/powerpoint/2010/main" val="3829467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2DC6D-98DA-BAB9-2285-04E62FF07BD5}"/>
              </a:ext>
            </a:extLst>
          </p:cNvPr>
          <p:cNvSpPr>
            <a:spLocks noGrp="1"/>
          </p:cNvSpPr>
          <p:nvPr>
            <p:ph type="title"/>
          </p:nvPr>
        </p:nvSpPr>
        <p:spPr/>
        <p:txBody>
          <a:bodyPr/>
          <a:lstStyle/>
          <a:p>
            <a:r>
              <a:rPr lang="en-US" dirty="0" err="1"/>
              <a:t>Đ</a:t>
            </a:r>
            <a:r>
              <a:rPr lang="en-VN" dirty="0"/>
              <a:t>ồ thị bode</a:t>
            </a:r>
          </a:p>
        </p:txBody>
      </p:sp>
      <p:pic>
        <p:nvPicPr>
          <p:cNvPr id="5" name="Content Placeholder 4">
            <a:extLst>
              <a:ext uri="{FF2B5EF4-FFF2-40B4-BE49-F238E27FC236}">
                <a16:creationId xmlns:a16="http://schemas.microsoft.com/office/drawing/2014/main" id="{F633BA7B-92B6-D0F0-5766-6882D7E15183}"/>
              </a:ext>
            </a:extLst>
          </p:cNvPr>
          <p:cNvPicPr>
            <a:picLocks noGrp="1" noChangeAspect="1"/>
          </p:cNvPicPr>
          <p:nvPr>
            <p:ph idx="1"/>
          </p:nvPr>
        </p:nvPicPr>
        <p:blipFill rotWithShape="1">
          <a:blip r:embed="rId2"/>
          <a:srcRect b="50000"/>
          <a:stretch/>
        </p:blipFill>
        <p:spPr>
          <a:xfrm>
            <a:off x="70830" y="1998106"/>
            <a:ext cx="5863738" cy="3831751"/>
          </a:xfrm>
        </p:spPr>
      </p:pic>
      <p:pic>
        <p:nvPicPr>
          <p:cNvPr id="6" name="Content Placeholder 4">
            <a:extLst>
              <a:ext uri="{FF2B5EF4-FFF2-40B4-BE49-F238E27FC236}">
                <a16:creationId xmlns:a16="http://schemas.microsoft.com/office/drawing/2014/main" id="{6ED9BC69-7A1E-E99E-C031-C694B7630CCE}"/>
              </a:ext>
            </a:extLst>
          </p:cNvPr>
          <p:cNvPicPr>
            <a:picLocks noChangeAspect="1"/>
          </p:cNvPicPr>
          <p:nvPr/>
        </p:nvPicPr>
        <p:blipFill rotWithShape="1">
          <a:blip r:embed="rId2"/>
          <a:srcRect t="51200"/>
          <a:stretch/>
        </p:blipFill>
        <p:spPr>
          <a:xfrm>
            <a:off x="6096000" y="2044104"/>
            <a:ext cx="5863738" cy="3739754"/>
          </a:xfrm>
          <a:prstGeom prst="rect">
            <a:avLst/>
          </a:prstGeom>
        </p:spPr>
      </p:pic>
    </p:spTree>
    <p:extLst>
      <p:ext uri="{BB962C8B-B14F-4D97-AF65-F5344CB8AC3E}">
        <p14:creationId xmlns:p14="http://schemas.microsoft.com/office/powerpoint/2010/main" val="3043881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C19D9-1BED-43CF-EF2A-338283F363E8}"/>
              </a:ext>
            </a:extLst>
          </p:cNvPr>
          <p:cNvSpPr>
            <a:spLocks noGrp="1"/>
          </p:cNvSpPr>
          <p:nvPr>
            <p:ph type="title"/>
          </p:nvPr>
        </p:nvSpPr>
        <p:spPr/>
        <p:txBody>
          <a:bodyPr/>
          <a:lstStyle/>
          <a:p>
            <a:r>
              <a:rPr lang="en-US" dirty="0" err="1"/>
              <a:t>Đ</a:t>
            </a:r>
            <a:r>
              <a:rPr lang="en-VN" dirty="0"/>
              <a:t>ồ thị bode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5336A3-2487-975A-CA58-DDBBEA909B15}"/>
                  </a:ext>
                </a:extLst>
              </p:cNvPr>
              <p:cNvSpPr>
                <a:spLocks noGrp="1"/>
              </p:cNvSpPr>
              <p:nvPr>
                <p:ph idx="1"/>
              </p:nvPr>
            </p:nvSpPr>
            <p:spPr/>
            <p:txBody>
              <a:bodyPr/>
              <a:lstStyle/>
              <a:p>
                <a:r>
                  <a:rPr lang="en-VN" dirty="0"/>
                  <a:t>Đồ thị Bode cho hệ thống </a:t>
                </a:r>
                <a14:m>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𝜁</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𝑛</m:t>
                        </m:r>
                      </m:sub>
                      <m:sup>
                        <m:r>
                          <a:rPr lang="en-US" b="0" i="1" smtClean="0">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m:t>
                    </m:r>
                  </m:oMath>
                </a14:m>
                <a:endParaRPr lang="en-VN" dirty="0"/>
              </a:p>
            </p:txBody>
          </p:sp>
        </mc:Choice>
        <mc:Fallback xmlns="">
          <p:sp>
            <p:nvSpPr>
              <p:cNvPr id="3" name="Content Placeholder 2">
                <a:extLst>
                  <a:ext uri="{FF2B5EF4-FFF2-40B4-BE49-F238E27FC236}">
                    <a16:creationId xmlns:a16="http://schemas.microsoft.com/office/drawing/2014/main" id="{815336A3-2487-975A-CA58-DDBBEA909B15}"/>
                  </a:ext>
                </a:extLst>
              </p:cNvPr>
              <p:cNvSpPr>
                <a:spLocks noGrp="1" noRot="1" noChangeAspect="1" noMove="1" noResize="1" noEditPoints="1" noAdjustHandles="1" noChangeArrowheads="1" noChangeShapeType="1" noTextEdit="1"/>
              </p:cNvSpPr>
              <p:nvPr>
                <p:ph idx="1"/>
              </p:nvPr>
            </p:nvSpPr>
            <p:spPr>
              <a:blipFill>
                <a:blip r:embed="rId2"/>
                <a:stretch>
                  <a:fillRect l="-528"/>
                </a:stretch>
              </a:blipFill>
            </p:spPr>
            <p:txBody>
              <a:bodyPr/>
              <a:lstStyle/>
              <a:p>
                <a:r>
                  <a:rPr lang="en-VN">
                    <a:noFill/>
                  </a:rPr>
                  <a:t> </a:t>
                </a:r>
              </a:p>
            </p:txBody>
          </p:sp>
        </mc:Fallback>
      </mc:AlternateContent>
      <p:pic>
        <p:nvPicPr>
          <p:cNvPr id="5" name="Picture 4">
            <a:extLst>
              <a:ext uri="{FF2B5EF4-FFF2-40B4-BE49-F238E27FC236}">
                <a16:creationId xmlns:a16="http://schemas.microsoft.com/office/drawing/2014/main" id="{B3F949A1-29DD-2BE7-89AA-2FEDF2B5B3BD}"/>
              </a:ext>
            </a:extLst>
          </p:cNvPr>
          <p:cNvPicPr>
            <a:picLocks noChangeAspect="1"/>
          </p:cNvPicPr>
          <p:nvPr/>
        </p:nvPicPr>
        <p:blipFill rotWithShape="1">
          <a:blip r:embed="rId3"/>
          <a:srcRect b="48167"/>
          <a:stretch/>
        </p:blipFill>
        <p:spPr>
          <a:xfrm>
            <a:off x="70630" y="2133682"/>
            <a:ext cx="6003069" cy="3752767"/>
          </a:xfrm>
          <a:prstGeom prst="rect">
            <a:avLst/>
          </a:prstGeom>
        </p:spPr>
      </p:pic>
      <p:pic>
        <p:nvPicPr>
          <p:cNvPr id="8" name="Picture 7">
            <a:extLst>
              <a:ext uri="{FF2B5EF4-FFF2-40B4-BE49-F238E27FC236}">
                <a16:creationId xmlns:a16="http://schemas.microsoft.com/office/drawing/2014/main" id="{A06A64CC-5BAF-0F50-F439-079F6958ABE4}"/>
              </a:ext>
            </a:extLst>
          </p:cNvPr>
          <p:cNvPicPr>
            <a:picLocks noChangeAspect="1"/>
          </p:cNvPicPr>
          <p:nvPr/>
        </p:nvPicPr>
        <p:blipFill>
          <a:blip r:embed="rId4"/>
          <a:stretch>
            <a:fillRect/>
          </a:stretch>
        </p:blipFill>
        <p:spPr>
          <a:xfrm>
            <a:off x="6229350" y="2133683"/>
            <a:ext cx="5730415" cy="3752766"/>
          </a:xfrm>
          <a:prstGeom prst="rect">
            <a:avLst/>
          </a:prstGeom>
        </p:spPr>
      </p:pic>
    </p:spTree>
    <p:extLst>
      <p:ext uri="{BB962C8B-B14F-4D97-AF65-F5344CB8AC3E}">
        <p14:creationId xmlns:p14="http://schemas.microsoft.com/office/powerpoint/2010/main" val="1260184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4E056-27DB-FDB1-6477-27E7AA4BEC65}"/>
              </a:ext>
            </a:extLst>
          </p:cNvPr>
          <p:cNvSpPr>
            <a:spLocks noGrp="1"/>
          </p:cNvSpPr>
          <p:nvPr>
            <p:ph type="title"/>
          </p:nvPr>
        </p:nvSpPr>
        <p:spPr/>
        <p:txBody>
          <a:bodyPr/>
          <a:lstStyle/>
          <a:p>
            <a:r>
              <a:rPr lang="en-US" dirty="0" err="1"/>
              <a:t>Đ</a:t>
            </a:r>
            <a:r>
              <a:rPr lang="en-VN" dirty="0"/>
              <a:t>ồ thị bode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D125D86-E3C6-E89E-1343-49A4459E60C3}"/>
                  </a:ext>
                </a:extLst>
              </p:cNvPr>
              <p:cNvSpPr>
                <a:spLocks noGrp="1"/>
              </p:cNvSpPr>
              <p:nvPr>
                <p:ph idx="1"/>
              </p:nvPr>
            </p:nvSpPr>
            <p:spPr/>
            <p:txBody>
              <a:bodyPr/>
              <a:lstStyle/>
              <a:p>
                <a:r>
                  <a:rPr lang="en-VN" u="sng" dirty="0"/>
                  <a:t>Ví dụ:</a:t>
                </a:r>
                <a:r>
                  <a:rPr lang="en-VN" dirty="0"/>
                  <a:t> Vẽ đồ thị Bode cho hệ thống sau:</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𝑠</m:t>
                          </m:r>
                          <m:r>
                            <a:rPr lang="en-US" b="0" i="1" smtClean="0">
                              <a:latin typeface="Cambria Math" panose="02040503050406030204" pitchFamily="18" charset="0"/>
                            </a:rPr>
                            <m:t>+3</m:t>
                          </m:r>
                        </m:num>
                        <m:den>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+2</m:t>
                              </m:r>
                            </m:e>
                          </m:d>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r>
                                <a:rPr lang="en-US" b="0" i="1" smtClean="0">
                                  <a:latin typeface="Cambria Math" panose="02040503050406030204" pitchFamily="18" charset="0"/>
                                </a:rPr>
                                <m:t>+2</m:t>
                              </m:r>
                              <m:r>
                                <a:rPr lang="en-US" b="0" i="1" smtClean="0">
                                  <a:latin typeface="Cambria Math" panose="02040503050406030204" pitchFamily="18" charset="0"/>
                                </a:rPr>
                                <m:t>𝑠</m:t>
                              </m:r>
                              <m:r>
                                <a:rPr lang="en-US" b="0" i="1" smtClean="0">
                                  <a:latin typeface="Cambria Math" panose="02040503050406030204" pitchFamily="18" charset="0"/>
                                </a:rPr>
                                <m:t>+25</m:t>
                              </m:r>
                            </m:e>
                          </m:d>
                        </m:den>
                      </m:f>
                    </m:oMath>
                  </m:oMathPara>
                </a14:m>
                <a:endParaRPr lang="en-US" b="0" dirty="0"/>
              </a:p>
              <a:p>
                <a:pPr marL="0" indent="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𝑛</m:t>
                          </m:r>
                        </m:sub>
                      </m:sSub>
                      <m:r>
                        <a:rPr lang="en-US" b="0" i="1" smtClean="0">
                          <a:latin typeface="Cambria Math" panose="02040503050406030204" pitchFamily="18" charset="0"/>
                        </a:rPr>
                        <m:t>=5</m:t>
                      </m:r>
                    </m:oMath>
                  </m:oMathPara>
                </a14:m>
                <a:endParaRPr lang="en-VN" dirty="0"/>
              </a:p>
            </p:txBody>
          </p:sp>
        </mc:Choice>
        <mc:Fallback xmlns="">
          <p:sp>
            <p:nvSpPr>
              <p:cNvPr id="3" name="Content Placeholder 2">
                <a:extLst>
                  <a:ext uri="{FF2B5EF4-FFF2-40B4-BE49-F238E27FC236}">
                    <a16:creationId xmlns:a16="http://schemas.microsoft.com/office/drawing/2014/main" id="{FD125D86-E3C6-E89E-1343-49A4459E60C3}"/>
                  </a:ext>
                </a:extLst>
              </p:cNvPr>
              <p:cNvSpPr>
                <a:spLocks noGrp="1" noRot="1" noChangeAspect="1" noMove="1" noResize="1" noEditPoints="1" noAdjustHandles="1" noChangeArrowheads="1" noChangeShapeType="1" noTextEdit="1"/>
              </p:cNvSpPr>
              <p:nvPr>
                <p:ph idx="1"/>
              </p:nvPr>
            </p:nvSpPr>
            <p:spPr>
              <a:blipFill>
                <a:blip r:embed="rId2"/>
                <a:stretch>
                  <a:fillRect l="-528"/>
                </a:stretch>
              </a:blipFill>
            </p:spPr>
            <p:txBody>
              <a:bodyPr/>
              <a:lstStyle/>
              <a:p>
                <a:r>
                  <a:rPr lang="en-VN">
                    <a:noFill/>
                  </a:rPr>
                  <a:t> </a:t>
                </a:r>
              </a:p>
            </p:txBody>
          </p:sp>
        </mc:Fallback>
      </mc:AlternateContent>
      <p:pic>
        <p:nvPicPr>
          <p:cNvPr id="5" name="Picture 4">
            <a:extLst>
              <a:ext uri="{FF2B5EF4-FFF2-40B4-BE49-F238E27FC236}">
                <a16:creationId xmlns:a16="http://schemas.microsoft.com/office/drawing/2014/main" id="{23B59C3D-E217-B53B-FEA3-AC42F4F9B031}"/>
              </a:ext>
            </a:extLst>
          </p:cNvPr>
          <p:cNvPicPr>
            <a:picLocks noChangeAspect="1"/>
          </p:cNvPicPr>
          <p:nvPr/>
        </p:nvPicPr>
        <p:blipFill rotWithShape="1">
          <a:blip r:embed="rId3"/>
          <a:srcRect t="3208"/>
          <a:stretch/>
        </p:blipFill>
        <p:spPr>
          <a:xfrm>
            <a:off x="731519" y="2842311"/>
            <a:ext cx="6165243" cy="3817620"/>
          </a:xfrm>
          <a:prstGeom prst="rect">
            <a:avLst/>
          </a:prstGeom>
        </p:spPr>
      </p:pic>
      <p:pic>
        <p:nvPicPr>
          <p:cNvPr id="7" name="Picture 6">
            <a:extLst>
              <a:ext uri="{FF2B5EF4-FFF2-40B4-BE49-F238E27FC236}">
                <a16:creationId xmlns:a16="http://schemas.microsoft.com/office/drawing/2014/main" id="{67FF4614-71B8-7A27-5DA2-791C45C709C9}"/>
              </a:ext>
            </a:extLst>
          </p:cNvPr>
          <p:cNvPicPr>
            <a:picLocks noChangeAspect="1"/>
          </p:cNvPicPr>
          <p:nvPr/>
        </p:nvPicPr>
        <p:blipFill>
          <a:blip r:embed="rId4"/>
          <a:stretch>
            <a:fillRect/>
          </a:stretch>
        </p:blipFill>
        <p:spPr>
          <a:xfrm>
            <a:off x="7269480" y="3544725"/>
            <a:ext cx="4597400" cy="1752965"/>
          </a:xfrm>
          <a:prstGeom prst="rect">
            <a:avLst/>
          </a:prstGeom>
        </p:spPr>
      </p:pic>
    </p:spTree>
    <p:extLst>
      <p:ext uri="{BB962C8B-B14F-4D97-AF65-F5344CB8AC3E}">
        <p14:creationId xmlns:p14="http://schemas.microsoft.com/office/powerpoint/2010/main" val="22281423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80D0B-A518-6CD8-6132-D9DE8640DF97}"/>
              </a:ext>
            </a:extLst>
          </p:cNvPr>
          <p:cNvSpPr>
            <a:spLocks noGrp="1"/>
          </p:cNvSpPr>
          <p:nvPr>
            <p:ph type="title"/>
          </p:nvPr>
        </p:nvSpPr>
        <p:spPr/>
        <p:txBody>
          <a:bodyPr/>
          <a:lstStyle/>
          <a:p>
            <a:endParaRPr lang="en-VN"/>
          </a:p>
        </p:txBody>
      </p:sp>
      <p:pic>
        <p:nvPicPr>
          <p:cNvPr id="5" name="Content Placeholder 4">
            <a:extLst>
              <a:ext uri="{FF2B5EF4-FFF2-40B4-BE49-F238E27FC236}">
                <a16:creationId xmlns:a16="http://schemas.microsoft.com/office/drawing/2014/main" id="{74EB05F1-D172-9D25-E272-8598F43A8DF9}"/>
              </a:ext>
            </a:extLst>
          </p:cNvPr>
          <p:cNvPicPr>
            <a:picLocks noGrp="1" noChangeAspect="1"/>
          </p:cNvPicPr>
          <p:nvPr>
            <p:ph idx="1"/>
          </p:nvPr>
        </p:nvPicPr>
        <p:blipFill>
          <a:blip r:embed="rId2"/>
          <a:stretch>
            <a:fillRect/>
          </a:stretch>
        </p:blipFill>
        <p:spPr>
          <a:xfrm>
            <a:off x="2663190" y="0"/>
            <a:ext cx="5923280" cy="1663559"/>
          </a:xfrm>
        </p:spPr>
      </p:pic>
      <p:pic>
        <p:nvPicPr>
          <p:cNvPr id="7" name="Picture 6">
            <a:extLst>
              <a:ext uri="{FF2B5EF4-FFF2-40B4-BE49-F238E27FC236}">
                <a16:creationId xmlns:a16="http://schemas.microsoft.com/office/drawing/2014/main" id="{3DF137B8-4C16-C21A-30BB-72791F7F480E}"/>
              </a:ext>
            </a:extLst>
          </p:cNvPr>
          <p:cNvPicPr>
            <a:picLocks noChangeAspect="1"/>
          </p:cNvPicPr>
          <p:nvPr/>
        </p:nvPicPr>
        <p:blipFill>
          <a:blip r:embed="rId3"/>
          <a:stretch>
            <a:fillRect/>
          </a:stretch>
        </p:blipFill>
        <p:spPr>
          <a:xfrm>
            <a:off x="1851660" y="1758818"/>
            <a:ext cx="7123980" cy="4901113"/>
          </a:xfrm>
          <a:prstGeom prst="rect">
            <a:avLst/>
          </a:prstGeom>
        </p:spPr>
      </p:pic>
    </p:spTree>
    <p:extLst>
      <p:ext uri="{BB962C8B-B14F-4D97-AF65-F5344CB8AC3E}">
        <p14:creationId xmlns:p14="http://schemas.microsoft.com/office/powerpoint/2010/main" val="22095553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FBD3F-59C7-303F-119E-339C1E5633BC}"/>
              </a:ext>
            </a:extLst>
          </p:cNvPr>
          <p:cNvSpPr>
            <a:spLocks noGrp="1"/>
          </p:cNvSpPr>
          <p:nvPr>
            <p:ph type="title"/>
          </p:nvPr>
        </p:nvSpPr>
        <p:spPr/>
        <p:txBody>
          <a:bodyPr/>
          <a:lstStyle/>
          <a:p>
            <a:r>
              <a:rPr lang="en-VN" dirty="0"/>
              <a:t>NHẬN XÉT</a:t>
            </a:r>
          </a:p>
        </p:txBody>
      </p:sp>
      <p:sp>
        <p:nvSpPr>
          <p:cNvPr id="3" name="Content Placeholder 2">
            <a:extLst>
              <a:ext uri="{FF2B5EF4-FFF2-40B4-BE49-F238E27FC236}">
                <a16:creationId xmlns:a16="http://schemas.microsoft.com/office/drawing/2014/main" id="{6A417480-AF41-9AFD-188F-3CD72808A63E}"/>
              </a:ext>
            </a:extLst>
          </p:cNvPr>
          <p:cNvSpPr>
            <a:spLocks noGrp="1"/>
          </p:cNvSpPr>
          <p:nvPr>
            <p:ph idx="1"/>
          </p:nvPr>
        </p:nvSpPr>
        <p:spPr/>
        <p:txBody>
          <a:bodyPr>
            <a:normAutofit/>
          </a:bodyPr>
          <a:lstStyle/>
          <a:p>
            <a:pPr algn="just"/>
            <a:r>
              <a:rPr lang="en-US" sz="1600" dirty="0" err="1">
                <a:ea typeface="Times New Roman" panose="02020603050405020304" pitchFamily="18" charset="0"/>
              </a:rPr>
              <a:t>N</a:t>
            </a:r>
            <a:r>
              <a:rPr lang="en-US" sz="1600" dirty="0" err="1">
                <a:effectLst/>
                <a:ea typeface="Times New Roman" panose="02020603050405020304" pitchFamily="18" charset="0"/>
              </a:rPr>
              <a:t>ếu</a:t>
            </a:r>
            <a:r>
              <a:rPr lang="en-US" sz="1600" dirty="0">
                <a:effectLst/>
                <a:ea typeface="Times New Roman" panose="02020603050405020304" pitchFamily="18" charset="0"/>
              </a:rPr>
              <a:t> </a:t>
            </a:r>
            <a:r>
              <a:rPr lang="en-US" sz="1600" dirty="0" err="1">
                <a:effectLst/>
                <a:ea typeface="Times New Roman" panose="02020603050405020304" pitchFamily="18" charset="0"/>
              </a:rPr>
              <a:t>chúng</a:t>
            </a:r>
            <a:r>
              <a:rPr lang="en-US" sz="1600" dirty="0">
                <a:effectLst/>
                <a:ea typeface="Times New Roman" panose="02020603050405020304" pitchFamily="18" charset="0"/>
              </a:rPr>
              <a:t> ta </a:t>
            </a:r>
            <a:r>
              <a:rPr lang="en-US" sz="1600" dirty="0" err="1">
                <a:effectLst/>
                <a:ea typeface="Times New Roman" panose="02020603050405020304" pitchFamily="18" charset="0"/>
              </a:rPr>
              <a:t>đổi</a:t>
            </a:r>
            <a:r>
              <a:rPr lang="en-US" sz="1600" dirty="0">
                <a:effectLst/>
                <a:ea typeface="Times New Roman" panose="02020603050405020304" pitchFamily="18" charset="0"/>
              </a:rPr>
              <a:t> </a:t>
            </a:r>
            <a:r>
              <a:rPr lang="en-US" sz="1600" dirty="0" err="1">
                <a:effectLst/>
                <a:ea typeface="Times New Roman" panose="02020603050405020304" pitchFamily="18" charset="0"/>
              </a:rPr>
              <a:t>dấu</a:t>
            </a:r>
            <a:r>
              <a:rPr lang="en-US" sz="1600" dirty="0">
                <a:effectLst/>
                <a:ea typeface="Times New Roman" panose="02020603050405020304" pitchFamily="18" charset="0"/>
              </a:rPr>
              <a:t> </a:t>
            </a:r>
            <a:r>
              <a:rPr lang="en-US" sz="1600" dirty="0" err="1">
                <a:effectLst/>
                <a:ea typeface="Times New Roman" panose="02020603050405020304" pitchFamily="18" charset="0"/>
              </a:rPr>
              <a:t>phần</a:t>
            </a:r>
            <a:r>
              <a:rPr lang="en-US" sz="1600" dirty="0">
                <a:effectLst/>
                <a:ea typeface="Times New Roman" panose="02020603050405020304" pitchFamily="18" charset="0"/>
              </a:rPr>
              <a:t> </a:t>
            </a:r>
            <a:r>
              <a:rPr lang="en-US" sz="1600" dirty="0" err="1">
                <a:effectLst/>
                <a:ea typeface="Times New Roman" panose="02020603050405020304" pitchFamily="18" charset="0"/>
              </a:rPr>
              <a:t>thực</a:t>
            </a:r>
            <a:r>
              <a:rPr lang="en-US" sz="1600" dirty="0">
                <a:effectLst/>
                <a:ea typeface="Times New Roman" panose="02020603050405020304" pitchFamily="18" charset="0"/>
              </a:rPr>
              <a:t> </a:t>
            </a:r>
            <a:r>
              <a:rPr lang="en-US" sz="1600" dirty="0" err="1">
                <a:effectLst/>
                <a:ea typeface="Times New Roman" panose="02020603050405020304" pitchFamily="18" charset="0"/>
              </a:rPr>
              <a:t>của</a:t>
            </a:r>
            <a:r>
              <a:rPr lang="en-US" sz="1600" dirty="0">
                <a:effectLst/>
                <a:ea typeface="Times New Roman" panose="02020603050405020304" pitchFamily="18" charset="0"/>
              </a:rPr>
              <a:t> </a:t>
            </a:r>
            <a:r>
              <a:rPr lang="en-US" sz="1600" dirty="0" err="1">
                <a:effectLst/>
                <a:ea typeface="Times New Roman" panose="02020603050405020304" pitchFamily="18" charset="0"/>
              </a:rPr>
              <a:t>các</a:t>
            </a:r>
            <a:r>
              <a:rPr lang="en-US" sz="1600" dirty="0">
                <a:effectLst/>
                <a:ea typeface="Times New Roman" panose="02020603050405020304" pitchFamily="18" charset="0"/>
              </a:rPr>
              <a:t> </a:t>
            </a:r>
            <a:r>
              <a:rPr lang="en-US" sz="1600" dirty="0" err="1">
                <a:effectLst/>
                <a:ea typeface="Times New Roman" panose="02020603050405020304" pitchFamily="18" charset="0"/>
              </a:rPr>
              <a:t>điểm</a:t>
            </a:r>
            <a:r>
              <a:rPr lang="en-US" sz="1600" dirty="0">
                <a:effectLst/>
                <a:ea typeface="Times New Roman" panose="02020603050405020304" pitchFamily="18" charset="0"/>
              </a:rPr>
              <a:t> </a:t>
            </a:r>
            <a:r>
              <a:rPr lang="en-US" sz="1600" dirty="0" err="1">
                <a:effectLst/>
                <a:ea typeface="Times New Roman" panose="02020603050405020304" pitchFamily="18" charset="0"/>
              </a:rPr>
              <a:t>không</a:t>
            </a:r>
            <a:r>
              <a:rPr lang="en-US" sz="1600" dirty="0">
                <a:effectLst/>
                <a:ea typeface="Times New Roman" panose="02020603050405020304" pitchFamily="18" charset="0"/>
              </a:rPr>
              <a:t> </a:t>
            </a:r>
            <a:r>
              <a:rPr lang="en-US" sz="1600" dirty="0" err="1">
                <a:effectLst/>
                <a:ea typeface="Times New Roman" panose="02020603050405020304" pitchFamily="18" charset="0"/>
              </a:rPr>
              <a:t>hoặc</a:t>
            </a:r>
            <a:r>
              <a:rPr lang="en-US" sz="1600" dirty="0">
                <a:effectLst/>
                <a:ea typeface="Times New Roman" panose="02020603050405020304" pitchFamily="18" charset="0"/>
              </a:rPr>
              <a:t> </a:t>
            </a:r>
            <a:r>
              <a:rPr lang="en-US" sz="1600" dirty="0" err="1">
                <a:effectLst/>
                <a:ea typeface="Times New Roman" panose="02020603050405020304" pitchFamily="18" charset="0"/>
              </a:rPr>
              <a:t>các</a:t>
            </a:r>
            <a:r>
              <a:rPr lang="en-US" sz="1600" dirty="0">
                <a:effectLst/>
                <a:ea typeface="Times New Roman" panose="02020603050405020304" pitchFamily="18" charset="0"/>
              </a:rPr>
              <a:t> </a:t>
            </a:r>
            <a:r>
              <a:rPr lang="en-US" sz="1600" dirty="0" err="1">
                <a:effectLst/>
                <a:ea typeface="Times New Roman" panose="02020603050405020304" pitchFamily="18" charset="0"/>
              </a:rPr>
              <a:t>điểm</a:t>
            </a:r>
            <a:r>
              <a:rPr lang="en-US" sz="1600" dirty="0">
                <a:effectLst/>
                <a:ea typeface="Times New Roman" panose="02020603050405020304" pitchFamily="18" charset="0"/>
              </a:rPr>
              <a:t> </a:t>
            </a:r>
            <a:r>
              <a:rPr lang="en-US" sz="1600" dirty="0" err="1">
                <a:effectLst/>
                <a:ea typeface="Times New Roman" panose="02020603050405020304" pitchFamily="18" charset="0"/>
              </a:rPr>
              <a:t>cực</a:t>
            </a:r>
            <a:r>
              <a:rPr lang="en-US" sz="1600" dirty="0">
                <a:effectLst/>
                <a:ea typeface="Times New Roman" panose="02020603050405020304" pitchFamily="18" charset="0"/>
              </a:rPr>
              <a:t> </a:t>
            </a:r>
            <a:r>
              <a:rPr lang="en-US" sz="1600" dirty="0" err="1">
                <a:effectLst/>
                <a:ea typeface="Times New Roman" panose="02020603050405020304" pitchFamily="18" charset="0"/>
              </a:rPr>
              <a:t>của</a:t>
            </a:r>
            <a:r>
              <a:rPr lang="en-US" sz="1600" dirty="0">
                <a:effectLst/>
                <a:ea typeface="Times New Roman" panose="02020603050405020304" pitchFamily="18" charset="0"/>
              </a:rPr>
              <a:t> </a:t>
            </a:r>
            <a:r>
              <a:rPr lang="en-US" sz="1600" dirty="0" err="1">
                <a:effectLst/>
                <a:ea typeface="Times New Roman" panose="02020603050405020304" pitchFamily="18" charset="0"/>
              </a:rPr>
              <a:t>hàm</a:t>
            </a:r>
            <a:r>
              <a:rPr lang="en-US" sz="1600" dirty="0">
                <a:effectLst/>
                <a:ea typeface="Times New Roman" panose="02020603050405020304" pitchFamily="18" charset="0"/>
              </a:rPr>
              <a:t> </a:t>
            </a:r>
            <a:r>
              <a:rPr lang="en-US" sz="1600" dirty="0" err="1">
                <a:effectLst/>
                <a:ea typeface="Times New Roman" panose="02020603050405020304" pitchFamily="18" charset="0"/>
              </a:rPr>
              <a:t>chuyển</a:t>
            </a:r>
            <a:r>
              <a:rPr lang="en-US" sz="1600" dirty="0">
                <a:effectLst/>
                <a:ea typeface="Times New Roman" panose="02020603050405020304" pitchFamily="18" charset="0"/>
              </a:rPr>
              <a:t>, </a:t>
            </a:r>
            <a:r>
              <a:rPr lang="en-US" sz="1600" dirty="0" err="1">
                <a:effectLst/>
                <a:ea typeface="Times New Roman" panose="02020603050405020304" pitchFamily="18" charset="0"/>
              </a:rPr>
              <a:t>độ</a:t>
            </a:r>
            <a:r>
              <a:rPr lang="en-US" sz="1600" dirty="0">
                <a:effectLst/>
                <a:ea typeface="Times New Roman" panose="02020603050405020304" pitchFamily="18" charset="0"/>
              </a:rPr>
              <a:t> </a:t>
            </a:r>
            <a:r>
              <a:rPr lang="en-US" sz="1600" dirty="0" err="1">
                <a:effectLst/>
                <a:ea typeface="Times New Roman" panose="02020603050405020304" pitchFamily="18" charset="0"/>
              </a:rPr>
              <a:t>lớn</a:t>
            </a:r>
            <a:r>
              <a:rPr lang="en-US" sz="1600" dirty="0">
                <a:effectLst/>
                <a:ea typeface="Times New Roman" panose="02020603050405020304" pitchFamily="18" charset="0"/>
              </a:rPr>
              <a:t> </a:t>
            </a:r>
            <a:r>
              <a:rPr lang="en-US" sz="1600" dirty="0" err="1">
                <a:effectLst/>
                <a:ea typeface="Times New Roman" panose="02020603050405020304" pitchFamily="18" charset="0"/>
              </a:rPr>
              <a:t>của</a:t>
            </a:r>
            <a:r>
              <a:rPr lang="en-US" sz="1600" dirty="0">
                <a:effectLst/>
                <a:ea typeface="Times New Roman" panose="02020603050405020304" pitchFamily="18" charset="0"/>
              </a:rPr>
              <a:t> </a:t>
            </a:r>
            <a:r>
              <a:rPr lang="en-US" sz="1600" dirty="0" err="1">
                <a:effectLst/>
                <a:ea typeface="Times New Roman" panose="02020603050405020304" pitchFamily="18" charset="0"/>
              </a:rPr>
              <a:t>đáp</a:t>
            </a:r>
            <a:r>
              <a:rPr lang="en-US" sz="1600" dirty="0">
                <a:effectLst/>
                <a:ea typeface="Times New Roman" panose="02020603050405020304" pitchFamily="18" charset="0"/>
              </a:rPr>
              <a:t> </a:t>
            </a:r>
            <a:r>
              <a:rPr lang="en-US" sz="1600" dirty="0" err="1">
                <a:effectLst/>
                <a:ea typeface="Times New Roman" panose="02020603050405020304" pitchFamily="18" charset="0"/>
              </a:rPr>
              <a:t>ứng</a:t>
            </a:r>
            <a:r>
              <a:rPr lang="en-US" sz="1600" dirty="0">
                <a:effectLst/>
                <a:ea typeface="Times New Roman" panose="02020603050405020304" pitchFamily="18" charset="0"/>
              </a:rPr>
              <a:t> </a:t>
            </a:r>
            <a:r>
              <a:rPr lang="en-US" sz="1600" dirty="0" err="1">
                <a:effectLst/>
                <a:ea typeface="Times New Roman" panose="02020603050405020304" pitchFamily="18" charset="0"/>
              </a:rPr>
              <a:t>tần</a:t>
            </a:r>
            <a:r>
              <a:rPr lang="en-US" sz="1600" dirty="0">
                <a:effectLst/>
                <a:ea typeface="Times New Roman" panose="02020603050405020304" pitchFamily="18" charset="0"/>
              </a:rPr>
              <a:t> </a:t>
            </a:r>
            <a:r>
              <a:rPr lang="en-US" sz="1600" dirty="0" err="1">
                <a:effectLst/>
                <a:ea typeface="Times New Roman" panose="02020603050405020304" pitchFamily="18" charset="0"/>
              </a:rPr>
              <a:t>số</a:t>
            </a:r>
            <a:r>
              <a:rPr lang="en-US" sz="1600" dirty="0">
                <a:effectLst/>
                <a:ea typeface="Times New Roman" panose="02020603050405020304" pitchFamily="18" charset="0"/>
              </a:rPr>
              <a:t> </a:t>
            </a:r>
            <a:r>
              <a:rPr lang="en-US" sz="1600" dirty="0" err="1">
                <a:effectLst/>
                <a:ea typeface="Times New Roman" panose="02020603050405020304" pitchFamily="18" charset="0"/>
              </a:rPr>
              <a:t>vẫn</a:t>
            </a:r>
            <a:r>
              <a:rPr lang="en-US" sz="1600" dirty="0">
                <a:effectLst/>
                <a:ea typeface="Times New Roman" panose="02020603050405020304" pitchFamily="18" charset="0"/>
              </a:rPr>
              <a:t> </a:t>
            </a:r>
            <a:r>
              <a:rPr lang="en-US" sz="1600" dirty="0" err="1">
                <a:effectLst/>
                <a:ea typeface="Times New Roman" panose="02020603050405020304" pitchFamily="18" charset="0"/>
              </a:rPr>
              <a:t>sẽ</a:t>
            </a:r>
            <a:r>
              <a:rPr lang="en-US" sz="1600" dirty="0">
                <a:effectLst/>
                <a:ea typeface="Times New Roman" panose="02020603050405020304" pitchFamily="18" charset="0"/>
              </a:rPr>
              <a:t> </a:t>
            </a:r>
            <a:r>
              <a:rPr lang="en-US" sz="1600" dirty="0" err="1">
                <a:effectLst/>
                <a:ea typeface="Times New Roman" panose="02020603050405020304" pitchFamily="18" charset="0"/>
              </a:rPr>
              <a:t>giữ</a:t>
            </a:r>
            <a:r>
              <a:rPr lang="en-US" sz="1600" dirty="0">
                <a:effectLst/>
                <a:ea typeface="Times New Roman" panose="02020603050405020304" pitchFamily="18" charset="0"/>
              </a:rPr>
              <a:t> </a:t>
            </a:r>
            <a:r>
              <a:rPr lang="en-US" sz="1600" dirty="0" err="1">
                <a:effectLst/>
                <a:ea typeface="Times New Roman" panose="02020603050405020304" pitchFamily="18" charset="0"/>
              </a:rPr>
              <a:t>nguyên</a:t>
            </a:r>
            <a:r>
              <a:rPr lang="en-US" sz="1600" dirty="0">
                <a:effectLst/>
                <a:ea typeface="Times New Roman" panose="02020603050405020304" pitchFamily="18" charset="0"/>
              </a:rPr>
              <a:t>, </a:t>
            </a:r>
            <a:r>
              <a:rPr lang="en-US" sz="1600" dirty="0" err="1">
                <a:effectLst/>
                <a:ea typeface="Times New Roman" panose="02020603050405020304" pitchFamily="18" charset="0"/>
              </a:rPr>
              <a:t>chỉ</a:t>
            </a:r>
            <a:r>
              <a:rPr lang="en-US" sz="1600" dirty="0">
                <a:effectLst/>
                <a:ea typeface="Times New Roman" panose="02020603050405020304" pitchFamily="18" charset="0"/>
              </a:rPr>
              <a:t> </a:t>
            </a:r>
            <a:r>
              <a:rPr lang="en-US" sz="1600" dirty="0" err="1">
                <a:effectLst/>
                <a:ea typeface="Times New Roman" panose="02020603050405020304" pitchFamily="18" charset="0"/>
              </a:rPr>
              <a:t>có</a:t>
            </a:r>
            <a:r>
              <a:rPr lang="en-US" sz="1600" dirty="0">
                <a:effectLst/>
                <a:ea typeface="Times New Roman" panose="02020603050405020304" pitchFamily="18" charset="0"/>
              </a:rPr>
              <a:t> </a:t>
            </a:r>
            <a:r>
              <a:rPr lang="en-US" sz="1600" dirty="0" err="1">
                <a:effectLst/>
                <a:ea typeface="Times New Roman" panose="02020603050405020304" pitchFamily="18" charset="0"/>
              </a:rPr>
              <a:t>pha</a:t>
            </a:r>
            <a:r>
              <a:rPr lang="en-US" sz="1600" dirty="0">
                <a:effectLst/>
                <a:ea typeface="Times New Roman" panose="02020603050405020304" pitchFamily="18" charset="0"/>
              </a:rPr>
              <a:t> </a:t>
            </a:r>
            <a:r>
              <a:rPr lang="en-US" sz="1600" dirty="0" err="1">
                <a:effectLst/>
                <a:ea typeface="Times New Roman" panose="02020603050405020304" pitchFamily="18" charset="0"/>
              </a:rPr>
              <a:t>bị</a:t>
            </a:r>
            <a:r>
              <a:rPr lang="en-US" sz="1600" dirty="0">
                <a:effectLst/>
                <a:ea typeface="Times New Roman" panose="02020603050405020304" pitchFamily="18" charset="0"/>
              </a:rPr>
              <a:t> </a:t>
            </a:r>
            <a:r>
              <a:rPr lang="en-US" sz="1600" dirty="0" err="1">
                <a:effectLst/>
                <a:ea typeface="Times New Roman" panose="02020603050405020304" pitchFamily="18" charset="0"/>
              </a:rPr>
              <a:t>dịch</a:t>
            </a:r>
            <a:r>
              <a:rPr lang="en-US" sz="1600" dirty="0">
                <a:effectLst/>
                <a:ea typeface="Times New Roman" panose="02020603050405020304" pitchFamily="18" charset="0"/>
              </a:rPr>
              <a:t>. </a:t>
            </a:r>
            <a:r>
              <a:rPr lang="en-US" sz="1600" dirty="0" err="1">
                <a:effectLst/>
                <a:ea typeface="Times New Roman" panose="02020603050405020304" pitchFamily="18" charset="0"/>
              </a:rPr>
              <a:t>Tuy</a:t>
            </a:r>
            <a:r>
              <a:rPr lang="en-US" sz="1600" dirty="0">
                <a:effectLst/>
                <a:ea typeface="Times New Roman" panose="02020603050405020304" pitchFamily="18" charset="0"/>
              </a:rPr>
              <a:t> </a:t>
            </a:r>
            <a:r>
              <a:rPr lang="en-US" sz="1600" dirty="0" err="1">
                <a:effectLst/>
                <a:ea typeface="Times New Roman" panose="02020603050405020304" pitchFamily="18" charset="0"/>
              </a:rPr>
              <a:t>nhiên</a:t>
            </a:r>
            <a:r>
              <a:rPr lang="en-US" sz="1600" dirty="0">
                <a:effectLst/>
                <a:ea typeface="Times New Roman" panose="02020603050405020304" pitchFamily="18" charset="0"/>
              </a:rPr>
              <a:t>, </a:t>
            </a:r>
            <a:r>
              <a:rPr lang="en-US" sz="1600" dirty="0" err="1">
                <a:effectLst/>
                <a:ea typeface="Times New Roman" panose="02020603050405020304" pitchFamily="18" charset="0"/>
              </a:rPr>
              <a:t>để</a:t>
            </a:r>
            <a:r>
              <a:rPr lang="en-US" sz="1600" dirty="0">
                <a:effectLst/>
                <a:ea typeface="Times New Roman" panose="02020603050405020304" pitchFamily="18" charset="0"/>
              </a:rPr>
              <a:t> </a:t>
            </a:r>
            <a:r>
              <a:rPr lang="en-US" sz="1600" dirty="0" err="1">
                <a:effectLst/>
                <a:ea typeface="Times New Roman" panose="02020603050405020304" pitchFamily="18" charset="0"/>
              </a:rPr>
              <a:t>hệ</a:t>
            </a:r>
            <a:r>
              <a:rPr lang="en-US" sz="1600" dirty="0">
                <a:effectLst/>
                <a:ea typeface="Times New Roman" panose="02020603050405020304" pitchFamily="18" charset="0"/>
              </a:rPr>
              <a:t> </a:t>
            </a:r>
            <a:r>
              <a:rPr lang="en-US" sz="1600" dirty="0" err="1">
                <a:effectLst/>
                <a:ea typeface="Times New Roman" panose="02020603050405020304" pitchFamily="18" charset="0"/>
              </a:rPr>
              <a:t>thống</a:t>
            </a:r>
            <a:r>
              <a:rPr lang="en-US" sz="1600" dirty="0">
                <a:effectLst/>
                <a:ea typeface="Times New Roman" panose="02020603050405020304" pitchFamily="18" charset="0"/>
              </a:rPr>
              <a:t> </a:t>
            </a:r>
            <a:r>
              <a:rPr lang="en-US" sz="1600" dirty="0" err="1">
                <a:effectLst/>
                <a:ea typeface="Times New Roman" panose="02020603050405020304" pitchFamily="18" charset="0"/>
              </a:rPr>
              <a:t>ổn</a:t>
            </a:r>
            <a:r>
              <a:rPr lang="en-US" sz="1600" dirty="0">
                <a:effectLst/>
                <a:ea typeface="Times New Roman" panose="02020603050405020304" pitchFamily="18" charset="0"/>
              </a:rPr>
              <a:t> </a:t>
            </a:r>
            <a:r>
              <a:rPr lang="en-US" sz="1600" dirty="0" err="1">
                <a:effectLst/>
                <a:ea typeface="Times New Roman" panose="02020603050405020304" pitchFamily="18" charset="0"/>
              </a:rPr>
              <a:t>định</a:t>
            </a:r>
            <a:r>
              <a:rPr lang="en-US" sz="1600" dirty="0">
                <a:effectLst/>
                <a:ea typeface="Times New Roman" panose="02020603050405020304" pitchFamily="18" charset="0"/>
              </a:rPr>
              <a:t>, </a:t>
            </a:r>
            <a:r>
              <a:rPr lang="en-US" sz="1600" dirty="0" err="1">
                <a:effectLst/>
                <a:ea typeface="Times New Roman" panose="02020603050405020304" pitchFamily="18" charset="0"/>
              </a:rPr>
              <a:t>tất</a:t>
            </a:r>
            <a:r>
              <a:rPr lang="en-US" sz="1600" dirty="0">
                <a:effectLst/>
                <a:ea typeface="Times New Roman" panose="02020603050405020304" pitchFamily="18" charset="0"/>
              </a:rPr>
              <a:t> </a:t>
            </a:r>
            <a:r>
              <a:rPr lang="en-US" sz="1600" dirty="0" err="1">
                <a:effectLst/>
                <a:ea typeface="Times New Roman" panose="02020603050405020304" pitchFamily="18" charset="0"/>
              </a:rPr>
              <a:t>cả</a:t>
            </a:r>
            <a:r>
              <a:rPr lang="en-US" sz="1600" dirty="0">
                <a:effectLst/>
                <a:ea typeface="Times New Roman" panose="02020603050405020304" pitchFamily="18" charset="0"/>
              </a:rPr>
              <a:t> </a:t>
            </a:r>
            <a:r>
              <a:rPr lang="en-US" sz="1600" dirty="0" err="1">
                <a:effectLst/>
                <a:ea typeface="Times New Roman" panose="02020603050405020304" pitchFamily="18" charset="0"/>
              </a:rPr>
              <a:t>các</a:t>
            </a:r>
            <a:r>
              <a:rPr lang="en-US" sz="1600" dirty="0">
                <a:effectLst/>
                <a:ea typeface="Times New Roman" panose="02020603050405020304" pitchFamily="18" charset="0"/>
              </a:rPr>
              <a:t> </a:t>
            </a:r>
            <a:r>
              <a:rPr lang="en-US" sz="1600" dirty="0" err="1">
                <a:effectLst/>
                <a:ea typeface="Times New Roman" panose="02020603050405020304" pitchFamily="18" charset="0"/>
              </a:rPr>
              <a:t>điểm</a:t>
            </a:r>
            <a:r>
              <a:rPr lang="en-US" sz="1600" dirty="0">
                <a:effectLst/>
                <a:ea typeface="Times New Roman" panose="02020603050405020304" pitchFamily="18" charset="0"/>
              </a:rPr>
              <a:t> </a:t>
            </a:r>
            <a:r>
              <a:rPr lang="en-US" sz="1600" dirty="0" err="1">
                <a:effectLst/>
                <a:ea typeface="Times New Roman" panose="02020603050405020304" pitchFamily="18" charset="0"/>
              </a:rPr>
              <a:t>cực</a:t>
            </a:r>
            <a:r>
              <a:rPr lang="en-US" sz="1600" dirty="0">
                <a:effectLst/>
                <a:ea typeface="Times New Roman" panose="02020603050405020304" pitchFamily="18" charset="0"/>
              </a:rPr>
              <a:t> </a:t>
            </a:r>
            <a:r>
              <a:rPr lang="en-US" sz="1600" dirty="0" err="1">
                <a:effectLst/>
                <a:ea typeface="Times New Roman" panose="02020603050405020304" pitchFamily="18" charset="0"/>
              </a:rPr>
              <a:t>cần</a:t>
            </a:r>
            <a:r>
              <a:rPr lang="en-US" sz="1600" dirty="0">
                <a:effectLst/>
                <a:ea typeface="Times New Roman" panose="02020603050405020304" pitchFamily="18" charset="0"/>
              </a:rPr>
              <a:t> </a:t>
            </a:r>
            <a:r>
              <a:rPr lang="en-US" sz="1600" dirty="0" err="1">
                <a:effectLst/>
                <a:ea typeface="Times New Roman" panose="02020603050405020304" pitchFamily="18" charset="0"/>
              </a:rPr>
              <a:t>nằm</a:t>
            </a:r>
            <a:r>
              <a:rPr lang="en-US" sz="1600" dirty="0">
                <a:effectLst/>
                <a:ea typeface="Times New Roman" panose="02020603050405020304" pitchFamily="18" charset="0"/>
              </a:rPr>
              <a:t> </a:t>
            </a:r>
            <a:r>
              <a:rPr lang="en-US" sz="1600" dirty="0" err="1">
                <a:effectLst/>
                <a:ea typeface="Times New Roman" panose="02020603050405020304" pitchFamily="18" charset="0"/>
              </a:rPr>
              <a:t>bên</a:t>
            </a:r>
            <a:r>
              <a:rPr lang="en-US" sz="1600" dirty="0">
                <a:effectLst/>
                <a:ea typeface="Times New Roman" panose="02020603050405020304" pitchFamily="18" charset="0"/>
              </a:rPr>
              <a:t> </a:t>
            </a:r>
            <a:r>
              <a:rPr lang="en-US" sz="1600" dirty="0" err="1">
                <a:effectLst/>
                <a:ea typeface="Times New Roman" panose="02020603050405020304" pitchFamily="18" charset="0"/>
              </a:rPr>
              <a:t>trái</a:t>
            </a:r>
            <a:r>
              <a:rPr lang="en-US" sz="1600" dirty="0">
                <a:effectLst/>
                <a:ea typeface="Times New Roman" panose="02020603050405020304" pitchFamily="18" charset="0"/>
              </a:rPr>
              <a:t> </a:t>
            </a:r>
            <a:r>
              <a:rPr lang="en-US" sz="1600" dirty="0" err="1">
                <a:effectLst/>
                <a:ea typeface="Times New Roman" panose="02020603050405020304" pitchFamily="18" charset="0"/>
              </a:rPr>
              <a:t>trục</a:t>
            </a:r>
            <a:r>
              <a:rPr lang="en-US" sz="1600" dirty="0">
                <a:effectLst/>
                <a:ea typeface="Times New Roman" panose="02020603050405020304" pitchFamily="18" charset="0"/>
              </a:rPr>
              <a:t> </a:t>
            </a:r>
            <a:r>
              <a:rPr lang="en-US" sz="1600" dirty="0" err="1">
                <a:effectLst/>
                <a:ea typeface="Times New Roman" panose="02020603050405020304" pitchFamily="18" charset="0"/>
              </a:rPr>
              <a:t>ảo</a:t>
            </a:r>
            <a:r>
              <a:rPr lang="en-US" sz="1600" dirty="0">
                <a:effectLst/>
                <a:ea typeface="Times New Roman" panose="02020603050405020304" pitchFamily="18" charset="0"/>
              </a:rPr>
              <a:t>, </a:t>
            </a:r>
            <a:r>
              <a:rPr lang="en-US" sz="1600" dirty="0" err="1">
                <a:effectLst/>
                <a:ea typeface="Times New Roman" panose="02020603050405020304" pitchFamily="18" charset="0"/>
              </a:rPr>
              <a:t>vì</a:t>
            </a:r>
            <a:r>
              <a:rPr lang="en-US" sz="1600" dirty="0">
                <a:effectLst/>
                <a:ea typeface="Times New Roman" panose="02020603050405020304" pitchFamily="18" charset="0"/>
              </a:rPr>
              <a:t> </a:t>
            </a:r>
            <a:r>
              <a:rPr lang="en-US" sz="1600" dirty="0" err="1">
                <a:effectLst/>
                <a:ea typeface="Times New Roman" panose="02020603050405020304" pitchFamily="18" charset="0"/>
              </a:rPr>
              <a:t>vậy</a:t>
            </a:r>
            <a:r>
              <a:rPr lang="en-US" sz="1600" dirty="0">
                <a:effectLst/>
                <a:ea typeface="Times New Roman" panose="02020603050405020304" pitchFamily="18" charset="0"/>
              </a:rPr>
              <a:t> </a:t>
            </a:r>
            <a:r>
              <a:rPr lang="en-US" sz="1600" dirty="0" err="1">
                <a:effectLst/>
                <a:ea typeface="Times New Roman" panose="02020603050405020304" pitchFamily="18" charset="0"/>
              </a:rPr>
              <a:t>chúng</a:t>
            </a:r>
            <a:r>
              <a:rPr lang="en-US" sz="1600" dirty="0">
                <a:effectLst/>
                <a:ea typeface="Times New Roman" panose="02020603050405020304" pitchFamily="18" charset="0"/>
              </a:rPr>
              <a:t> ta </a:t>
            </a:r>
            <a:r>
              <a:rPr lang="en-US" sz="1600" dirty="0" err="1">
                <a:effectLst/>
                <a:ea typeface="Times New Roman" panose="02020603050405020304" pitchFamily="18" charset="0"/>
              </a:rPr>
              <a:t>chỉ</a:t>
            </a:r>
            <a:r>
              <a:rPr lang="en-US" sz="1600" dirty="0">
                <a:effectLst/>
                <a:ea typeface="Times New Roman" panose="02020603050405020304" pitchFamily="18" charset="0"/>
              </a:rPr>
              <a:t> </a:t>
            </a:r>
            <a:r>
              <a:rPr lang="en-US" sz="1600" dirty="0" err="1">
                <a:effectLst/>
                <a:ea typeface="Times New Roman" panose="02020603050405020304" pitchFamily="18" charset="0"/>
              </a:rPr>
              <a:t>quan</a:t>
            </a:r>
            <a:r>
              <a:rPr lang="en-US" sz="1600" dirty="0">
                <a:effectLst/>
                <a:ea typeface="Times New Roman" panose="02020603050405020304" pitchFamily="18" charset="0"/>
              </a:rPr>
              <a:t> </a:t>
            </a:r>
            <a:r>
              <a:rPr lang="en-US" sz="1600" dirty="0" err="1">
                <a:effectLst/>
                <a:ea typeface="Times New Roman" panose="02020603050405020304" pitchFamily="18" charset="0"/>
              </a:rPr>
              <a:t>tâm</a:t>
            </a:r>
            <a:r>
              <a:rPr lang="en-US" sz="1600" dirty="0">
                <a:effectLst/>
                <a:ea typeface="Times New Roman" panose="02020603050405020304" pitchFamily="18" charset="0"/>
              </a:rPr>
              <a:t> </a:t>
            </a:r>
            <a:r>
              <a:rPr lang="en-US" sz="1600" dirty="0" err="1">
                <a:effectLst/>
                <a:ea typeface="Times New Roman" panose="02020603050405020304" pitchFamily="18" charset="0"/>
              </a:rPr>
              <a:t>tới</a:t>
            </a:r>
            <a:r>
              <a:rPr lang="en-US" sz="1600" dirty="0">
                <a:effectLst/>
                <a:ea typeface="Times New Roman" panose="02020603050405020304" pitchFamily="18" charset="0"/>
              </a:rPr>
              <a:t> </a:t>
            </a:r>
            <a:r>
              <a:rPr lang="en-US" sz="1600" dirty="0" err="1">
                <a:effectLst/>
                <a:ea typeface="Times New Roman" panose="02020603050405020304" pitchFamily="18" charset="0"/>
              </a:rPr>
              <a:t>các</a:t>
            </a:r>
            <a:r>
              <a:rPr lang="en-US" sz="1600" dirty="0">
                <a:effectLst/>
                <a:ea typeface="Times New Roman" panose="02020603050405020304" pitchFamily="18" charset="0"/>
              </a:rPr>
              <a:t> </a:t>
            </a:r>
            <a:r>
              <a:rPr lang="en-US" sz="1600" dirty="0" err="1">
                <a:effectLst/>
                <a:ea typeface="Times New Roman" panose="02020603050405020304" pitchFamily="18" charset="0"/>
              </a:rPr>
              <a:t>điểm</a:t>
            </a:r>
            <a:r>
              <a:rPr lang="en-US" sz="1600" dirty="0">
                <a:effectLst/>
                <a:ea typeface="Times New Roman" panose="02020603050405020304" pitchFamily="18" charset="0"/>
              </a:rPr>
              <a:t> </a:t>
            </a:r>
            <a:r>
              <a:rPr lang="en-US" sz="1600" dirty="0" err="1">
                <a:effectLst/>
                <a:ea typeface="Times New Roman" panose="02020603050405020304" pitchFamily="18" charset="0"/>
              </a:rPr>
              <a:t>cực</a:t>
            </a:r>
            <a:r>
              <a:rPr lang="en-US" sz="1600" dirty="0">
                <a:effectLst/>
                <a:ea typeface="Times New Roman" panose="02020603050405020304" pitchFamily="18" charset="0"/>
              </a:rPr>
              <a:t> </a:t>
            </a:r>
            <a:r>
              <a:rPr lang="en-US" sz="1600" dirty="0" err="1">
                <a:effectLst/>
                <a:ea typeface="Times New Roman" panose="02020603050405020304" pitchFamily="18" charset="0"/>
              </a:rPr>
              <a:t>có</a:t>
            </a:r>
            <a:r>
              <a:rPr lang="en-US" sz="1600" dirty="0">
                <a:effectLst/>
                <a:ea typeface="Times New Roman" panose="02020603050405020304" pitchFamily="18" charset="0"/>
              </a:rPr>
              <a:t> </a:t>
            </a:r>
            <a:r>
              <a:rPr lang="en-US" sz="1600" dirty="0" err="1">
                <a:effectLst/>
                <a:ea typeface="Times New Roman" panose="02020603050405020304" pitchFamily="18" charset="0"/>
              </a:rPr>
              <a:t>phần</a:t>
            </a:r>
            <a:r>
              <a:rPr lang="en-US" sz="1600" dirty="0">
                <a:effectLst/>
                <a:ea typeface="Times New Roman" panose="02020603050405020304" pitchFamily="18" charset="0"/>
              </a:rPr>
              <a:t> </a:t>
            </a:r>
            <a:r>
              <a:rPr lang="en-US" sz="1600" dirty="0" err="1">
                <a:effectLst/>
                <a:ea typeface="Times New Roman" panose="02020603050405020304" pitchFamily="18" charset="0"/>
              </a:rPr>
              <a:t>thực</a:t>
            </a:r>
            <a:r>
              <a:rPr lang="en-US" sz="1600" dirty="0">
                <a:effectLst/>
                <a:ea typeface="Times New Roman" panose="02020603050405020304" pitchFamily="18" charset="0"/>
              </a:rPr>
              <a:t> </a:t>
            </a:r>
            <a:r>
              <a:rPr lang="en-US" sz="1600" dirty="0" err="1">
                <a:effectLst/>
                <a:ea typeface="Times New Roman" panose="02020603050405020304" pitchFamily="18" charset="0"/>
              </a:rPr>
              <a:t>âm</a:t>
            </a:r>
            <a:r>
              <a:rPr lang="en-US" sz="1600" dirty="0">
                <a:effectLst/>
                <a:ea typeface="Times New Roman" panose="02020603050405020304" pitchFamily="18" charset="0"/>
              </a:rPr>
              <a:t>. </a:t>
            </a:r>
            <a:r>
              <a:rPr lang="en-US" sz="1600" dirty="0" err="1">
                <a:effectLst/>
                <a:ea typeface="Times New Roman" panose="02020603050405020304" pitchFamily="18" charset="0"/>
              </a:rPr>
              <a:t>Các</a:t>
            </a:r>
            <a:r>
              <a:rPr lang="en-US" sz="1600" dirty="0">
                <a:effectLst/>
                <a:ea typeface="Times New Roman" panose="02020603050405020304" pitchFamily="18" charset="0"/>
              </a:rPr>
              <a:t> </a:t>
            </a:r>
            <a:r>
              <a:rPr lang="en-US" sz="1600" dirty="0" err="1">
                <a:effectLst/>
                <a:ea typeface="Times New Roman" panose="02020603050405020304" pitchFamily="18" charset="0"/>
              </a:rPr>
              <a:t>điểm</a:t>
            </a:r>
            <a:r>
              <a:rPr lang="en-US" sz="1600" dirty="0">
                <a:effectLst/>
                <a:ea typeface="Times New Roman" panose="02020603050405020304" pitchFamily="18" charset="0"/>
              </a:rPr>
              <a:t> </a:t>
            </a:r>
            <a:r>
              <a:rPr lang="en-US" sz="1600" dirty="0" err="1">
                <a:effectLst/>
                <a:ea typeface="Times New Roman" panose="02020603050405020304" pitchFamily="18" charset="0"/>
              </a:rPr>
              <a:t>không</a:t>
            </a:r>
            <a:r>
              <a:rPr lang="en-US" sz="1600" dirty="0">
                <a:effectLst/>
                <a:ea typeface="Times New Roman" panose="02020603050405020304" pitchFamily="18" charset="0"/>
              </a:rPr>
              <a:t> </a:t>
            </a:r>
            <a:r>
              <a:rPr lang="en-US" sz="1600" dirty="0" err="1">
                <a:effectLst/>
                <a:ea typeface="Times New Roman" panose="02020603050405020304" pitchFamily="18" charset="0"/>
              </a:rPr>
              <a:t>của</a:t>
            </a:r>
            <a:r>
              <a:rPr lang="en-US" sz="1600" dirty="0">
                <a:effectLst/>
                <a:ea typeface="Times New Roman" panose="02020603050405020304" pitchFamily="18" charset="0"/>
              </a:rPr>
              <a:t> </a:t>
            </a:r>
            <a:r>
              <a:rPr lang="en-US" sz="1600" dirty="0" err="1">
                <a:effectLst/>
                <a:ea typeface="Times New Roman" panose="02020603050405020304" pitchFamily="18" charset="0"/>
              </a:rPr>
              <a:t>hàm</a:t>
            </a:r>
            <a:r>
              <a:rPr lang="en-US" sz="1600" dirty="0">
                <a:effectLst/>
                <a:ea typeface="Times New Roman" panose="02020603050405020304" pitchFamily="18" charset="0"/>
              </a:rPr>
              <a:t> </a:t>
            </a:r>
            <a:r>
              <a:rPr lang="en-US" sz="1600" dirty="0" err="1">
                <a:effectLst/>
                <a:ea typeface="Times New Roman" panose="02020603050405020304" pitchFamily="18" charset="0"/>
              </a:rPr>
              <a:t>chuyển</a:t>
            </a:r>
            <a:r>
              <a:rPr lang="en-US" sz="1600" dirty="0">
                <a:effectLst/>
                <a:ea typeface="Times New Roman" panose="02020603050405020304" pitchFamily="18" charset="0"/>
              </a:rPr>
              <a:t> </a:t>
            </a:r>
            <a:r>
              <a:rPr lang="en-US" sz="1600" dirty="0" err="1">
                <a:effectLst/>
                <a:ea typeface="Times New Roman" panose="02020603050405020304" pitchFamily="18" charset="0"/>
              </a:rPr>
              <a:t>có</a:t>
            </a:r>
            <a:r>
              <a:rPr lang="en-US" sz="1600" dirty="0">
                <a:effectLst/>
                <a:ea typeface="Times New Roman" panose="02020603050405020304" pitchFamily="18" charset="0"/>
              </a:rPr>
              <a:t> </a:t>
            </a:r>
            <a:r>
              <a:rPr lang="en-US" sz="1600" dirty="0" err="1">
                <a:effectLst/>
                <a:ea typeface="Times New Roman" panose="02020603050405020304" pitchFamily="18" charset="0"/>
              </a:rPr>
              <a:t>thể</a:t>
            </a:r>
            <a:r>
              <a:rPr lang="en-US" sz="1600" dirty="0">
                <a:effectLst/>
                <a:ea typeface="Times New Roman" panose="02020603050405020304" pitchFamily="18" charset="0"/>
              </a:rPr>
              <a:t> </a:t>
            </a:r>
            <a:r>
              <a:rPr lang="en-US" sz="1600" dirty="0" err="1">
                <a:effectLst/>
                <a:ea typeface="Times New Roman" panose="02020603050405020304" pitchFamily="18" charset="0"/>
              </a:rPr>
              <a:t>nằm</a:t>
            </a:r>
            <a:r>
              <a:rPr lang="en-US" sz="1600" dirty="0">
                <a:effectLst/>
                <a:ea typeface="Times New Roman" panose="02020603050405020304" pitchFamily="18" charset="0"/>
              </a:rPr>
              <a:t> </a:t>
            </a:r>
            <a:r>
              <a:rPr lang="en-US" sz="1600" dirty="0" err="1">
                <a:effectLst/>
                <a:ea typeface="Times New Roman" panose="02020603050405020304" pitchFamily="18" charset="0"/>
              </a:rPr>
              <a:t>ở</a:t>
            </a:r>
            <a:r>
              <a:rPr lang="en-US" sz="1600" dirty="0">
                <a:effectLst/>
                <a:ea typeface="Times New Roman" panose="02020603050405020304" pitchFamily="18" charset="0"/>
              </a:rPr>
              <a:t> </a:t>
            </a:r>
            <a:r>
              <a:rPr lang="en-US" sz="1600" dirty="0" err="1">
                <a:effectLst/>
                <a:ea typeface="Times New Roman" panose="02020603050405020304" pitchFamily="18" charset="0"/>
              </a:rPr>
              <a:t>cả</a:t>
            </a:r>
            <a:r>
              <a:rPr lang="en-US" sz="1600" dirty="0">
                <a:effectLst/>
                <a:ea typeface="Times New Roman" panose="02020603050405020304" pitchFamily="18" charset="0"/>
              </a:rPr>
              <a:t> </a:t>
            </a:r>
            <a:r>
              <a:rPr lang="en-US" sz="1600" dirty="0" err="1">
                <a:effectLst/>
                <a:ea typeface="Times New Roman" panose="02020603050405020304" pitchFamily="18" charset="0"/>
              </a:rPr>
              <a:t>hai</a:t>
            </a:r>
            <a:r>
              <a:rPr lang="en-US" sz="1600" dirty="0">
                <a:effectLst/>
                <a:ea typeface="Times New Roman" panose="02020603050405020304" pitchFamily="18" charset="0"/>
              </a:rPr>
              <a:t> </a:t>
            </a:r>
            <a:r>
              <a:rPr lang="en-US" sz="1600" dirty="0" err="1">
                <a:effectLst/>
                <a:ea typeface="Times New Roman" panose="02020603050405020304" pitchFamily="18" charset="0"/>
              </a:rPr>
              <a:t>bên</a:t>
            </a:r>
            <a:r>
              <a:rPr lang="en-US" sz="1600" dirty="0">
                <a:effectLst/>
                <a:ea typeface="Times New Roman" panose="02020603050405020304" pitchFamily="18" charset="0"/>
              </a:rPr>
              <a:t> </a:t>
            </a:r>
            <a:r>
              <a:rPr lang="en-US" sz="1600" dirty="0" err="1">
                <a:effectLst/>
                <a:ea typeface="Times New Roman" panose="02020603050405020304" pitchFamily="18" charset="0"/>
              </a:rPr>
              <a:t>của</a:t>
            </a:r>
            <a:r>
              <a:rPr lang="en-US" sz="1600" dirty="0">
                <a:effectLst/>
                <a:ea typeface="Times New Roman" panose="02020603050405020304" pitchFamily="18" charset="0"/>
              </a:rPr>
              <a:t> </a:t>
            </a:r>
            <a:r>
              <a:rPr lang="en-US" sz="1600" dirty="0" err="1">
                <a:effectLst/>
                <a:ea typeface="Times New Roman" panose="02020603050405020304" pitchFamily="18" charset="0"/>
              </a:rPr>
              <a:t>trục</a:t>
            </a:r>
            <a:r>
              <a:rPr lang="en-US" sz="1600" dirty="0">
                <a:effectLst/>
                <a:ea typeface="Times New Roman" panose="02020603050405020304" pitchFamily="18" charset="0"/>
              </a:rPr>
              <a:t> </a:t>
            </a:r>
            <a:r>
              <a:rPr lang="en-US" sz="1600" dirty="0" err="1">
                <a:effectLst/>
                <a:ea typeface="Times New Roman" panose="02020603050405020304" pitchFamily="18" charset="0"/>
              </a:rPr>
              <a:t>ảo</a:t>
            </a:r>
            <a:r>
              <a:rPr lang="en-US" sz="1600" dirty="0">
                <a:effectLst/>
                <a:ea typeface="Times New Roman" panose="02020603050405020304" pitchFamily="18" charset="0"/>
              </a:rPr>
              <a:t> </a:t>
            </a:r>
            <a:r>
              <a:rPr lang="en-US" sz="1600" dirty="0" err="1">
                <a:effectLst/>
                <a:ea typeface="Times New Roman" panose="02020603050405020304" pitchFamily="18" charset="0"/>
              </a:rPr>
              <a:t>mà</a:t>
            </a:r>
            <a:r>
              <a:rPr lang="en-US" sz="1600" dirty="0">
                <a:effectLst/>
                <a:ea typeface="Times New Roman" panose="02020603050405020304" pitchFamily="18" charset="0"/>
              </a:rPr>
              <a:t> </a:t>
            </a:r>
            <a:r>
              <a:rPr lang="en-US" sz="1600" dirty="0" err="1">
                <a:effectLst/>
                <a:ea typeface="Times New Roman" panose="02020603050405020304" pitchFamily="18" charset="0"/>
              </a:rPr>
              <a:t>không</a:t>
            </a:r>
            <a:r>
              <a:rPr lang="en-US" sz="1600" dirty="0">
                <a:effectLst/>
                <a:ea typeface="Times New Roman" panose="02020603050405020304" pitchFamily="18" charset="0"/>
              </a:rPr>
              <a:t> </a:t>
            </a:r>
            <a:r>
              <a:rPr lang="en-US" sz="1600" dirty="0" err="1">
                <a:effectLst/>
                <a:ea typeface="Times New Roman" panose="02020603050405020304" pitchFamily="18" charset="0"/>
              </a:rPr>
              <a:t>ảnh</a:t>
            </a:r>
            <a:r>
              <a:rPr lang="en-US" sz="1600" dirty="0">
                <a:effectLst/>
                <a:ea typeface="Times New Roman" panose="02020603050405020304" pitchFamily="18" charset="0"/>
              </a:rPr>
              <a:t> </a:t>
            </a:r>
            <a:r>
              <a:rPr lang="en-US" sz="1600" dirty="0" err="1">
                <a:effectLst/>
                <a:ea typeface="Times New Roman" panose="02020603050405020304" pitchFamily="18" charset="0"/>
              </a:rPr>
              <a:t>hưởng</a:t>
            </a:r>
            <a:r>
              <a:rPr lang="en-US" sz="1600" dirty="0">
                <a:effectLst/>
                <a:ea typeface="Times New Roman" panose="02020603050405020304" pitchFamily="18" charset="0"/>
              </a:rPr>
              <a:t> </a:t>
            </a:r>
            <a:r>
              <a:rPr lang="en-US" sz="1600" dirty="0" err="1">
                <a:effectLst/>
                <a:ea typeface="Times New Roman" panose="02020603050405020304" pitchFamily="18" charset="0"/>
              </a:rPr>
              <a:t>tới</a:t>
            </a:r>
            <a:r>
              <a:rPr lang="en-US" sz="1600" dirty="0">
                <a:effectLst/>
                <a:ea typeface="Times New Roman" panose="02020603050405020304" pitchFamily="18" charset="0"/>
              </a:rPr>
              <a:t> </a:t>
            </a:r>
            <a:r>
              <a:rPr lang="en-US" sz="1600" dirty="0" err="1">
                <a:effectLst/>
                <a:ea typeface="Times New Roman" panose="02020603050405020304" pitchFamily="18" charset="0"/>
              </a:rPr>
              <a:t>tính</a:t>
            </a:r>
            <a:r>
              <a:rPr lang="en-US" sz="1600" dirty="0">
                <a:effectLst/>
                <a:ea typeface="Times New Roman" panose="02020603050405020304" pitchFamily="18" charset="0"/>
              </a:rPr>
              <a:t> </a:t>
            </a:r>
            <a:r>
              <a:rPr lang="en-US" sz="1600" dirty="0" err="1">
                <a:effectLst/>
                <a:ea typeface="Times New Roman" panose="02020603050405020304" pitchFamily="18" charset="0"/>
              </a:rPr>
              <a:t>ổn</a:t>
            </a:r>
            <a:r>
              <a:rPr lang="en-US" sz="1600" dirty="0">
                <a:effectLst/>
                <a:ea typeface="Times New Roman" panose="02020603050405020304" pitchFamily="18" charset="0"/>
              </a:rPr>
              <a:t> </a:t>
            </a:r>
            <a:r>
              <a:rPr lang="en-US" sz="1600" dirty="0" err="1">
                <a:effectLst/>
                <a:ea typeface="Times New Roman" panose="02020603050405020304" pitchFamily="18" charset="0"/>
              </a:rPr>
              <a:t>định</a:t>
            </a:r>
            <a:r>
              <a:rPr lang="en-US" sz="1600" dirty="0">
                <a:effectLst/>
                <a:ea typeface="Times New Roman" panose="02020603050405020304" pitchFamily="18" charset="0"/>
              </a:rPr>
              <a:t> </a:t>
            </a:r>
            <a:r>
              <a:rPr lang="en-US" sz="1600" dirty="0" err="1">
                <a:effectLst/>
                <a:ea typeface="Times New Roman" panose="02020603050405020304" pitchFamily="18" charset="0"/>
              </a:rPr>
              <a:t>của</a:t>
            </a:r>
            <a:r>
              <a:rPr lang="en-US" sz="1600" dirty="0">
                <a:effectLst/>
                <a:ea typeface="Times New Roman" panose="02020603050405020304" pitchFamily="18" charset="0"/>
              </a:rPr>
              <a:t> </a:t>
            </a:r>
            <a:r>
              <a:rPr lang="en-US" sz="1600" dirty="0" err="1">
                <a:effectLst/>
                <a:ea typeface="Times New Roman" panose="02020603050405020304" pitchFamily="18" charset="0"/>
              </a:rPr>
              <a:t>hệ</a:t>
            </a:r>
            <a:r>
              <a:rPr lang="en-US" sz="1600" dirty="0">
                <a:effectLst/>
                <a:ea typeface="Times New Roman" panose="02020603050405020304" pitchFamily="18" charset="0"/>
              </a:rPr>
              <a:t> </a:t>
            </a:r>
            <a:r>
              <a:rPr lang="en-US" sz="1600" dirty="0" err="1">
                <a:effectLst/>
                <a:ea typeface="Times New Roman" panose="02020603050405020304" pitchFamily="18" charset="0"/>
              </a:rPr>
              <a:t>thống</a:t>
            </a:r>
            <a:r>
              <a:rPr lang="en-US" sz="1600" dirty="0">
                <a:effectLst/>
                <a:ea typeface="Times New Roman" panose="02020603050405020304" pitchFamily="18" charset="0"/>
              </a:rPr>
              <a:t>, </a:t>
            </a:r>
            <a:r>
              <a:rPr lang="en-US" sz="1600" dirty="0" err="1">
                <a:effectLst/>
                <a:ea typeface="Times New Roman" panose="02020603050405020304" pitchFamily="18" charset="0"/>
              </a:rPr>
              <a:t>nhưng</a:t>
            </a:r>
            <a:r>
              <a:rPr lang="en-US" sz="1600" dirty="0">
                <a:effectLst/>
                <a:ea typeface="Times New Roman" panose="02020603050405020304" pitchFamily="18" charset="0"/>
              </a:rPr>
              <a:t> </a:t>
            </a:r>
            <a:r>
              <a:rPr lang="en-US" sz="1600" dirty="0" err="1">
                <a:effectLst/>
                <a:ea typeface="Times New Roman" panose="02020603050405020304" pitchFamily="18" charset="0"/>
              </a:rPr>
              <a:t>ảnh</a:t>
            </a:r>
            <a:r>
              <a:rPr lang="en-US" sz="1600" dirty="0">
                <a:effectLst/>
                <a:ea typeface="Times New Roman" panose="02020603050405020304" pitchFamily="18" charset="0"/>
              </a:rPr>
              <a:t> </a:t>
            </a:r>
            <a:r>
              <a:rPr lang="en-US" sz="1600" dirty="0" err="1">
                <a:effectLst/>
                <a:ea typeface="Times New Roman" panose="02020603050405020304" pitchFamily="18" charset="0"/>
              </a:rPr>
              <a:t>hưởng</a:t>
            </a:r>
            <a:r>
              <a:rPr lang="en-US" sz="1600" dirty="0">
                <a:effectLst/>
                <a:ea typeface="Times New Roman" panose="02020603050405020304" pitchFamily="18" charset="0"/>
              </a:rPr>
              <a:t> </a:t>
            </a:r>
            <a:r>
              <a:rPr lang="en-US" sz="1600" dirty="0" err="1">
                <a:effectLst/>
                <a:ea typeface="Times New Roman" panose="02020603050405020304" pitchFamily="18" charset="0"/>
              </a:rPr>
              <a:t>đến</a:t>
            </a:r>
            <a:r>
              <a:rPr lang="en-US" sz="1600" dirty="0">
                <a:effectLst/>
                <a:ea typeface="Times New Roman" panose="02020603050405020304" pitchFamily="18" charset="0"/>
              </a:rPr>
              <a:t> </a:t>
            </a:r>
            <a:r>
              <a:rPr lang="en-US" sz="1600" dirty="0" err="1">
                <a:effectLst/>
                <a:ea typeface="Times New Roman" panose="02020603050405020304" pitchFamily="18" charset="0"/>
              </a:rPr>
              <a:t>độ</a:t>
            </a:r>
            <a:r>
              <a:rPr lang="en-US" sz="1600" dirty="0">
                <a:effectLst/>
                <a:ea typeface="Times New Roman" panose="02020603050405020304" pitchFamily="18" charset="0"/>
              </a:rPr>
              <a:t> </a:t>
            </a:r>
            <a:r>
              <a:rPr lang="en-US" sz="1600" dirty="0" err="1">
                <a:effectLst/>
                <a:ea typeface="Times New Roman" panose="02020603050405020304" pitchFamily="18" charset="0"/>
              </a:rPr>
              <a:t>dịch</a:t>
            </a:r>
            <a:r>
              <a:rPr lang="en-US" sz="1600" dirty="0">
                <a:effectLst/>
                <a:ea typeface="Times New Roman" panose="02020603050405020304" pitchFamily="18" charset="0"/>
              </a:rPr>
              <a:t> </a:t>
            </a:r>
            <a:r>
              <a:rPr lang="en-US" sz="1600" dirty="0" err="1">
                <a:effectLst/>
                <a:ea typeface="Times New Roman" panose="02020603050405020304" pitchFamily="18" charset="0"/>
              </a:rPr>
              <a:t>pha</a:t>
            </a:r>
            <a:r>
              <a:rPr lang="en-US" sz="1600" dirty="0">
                <a:effectLst/>
                <a:ea typeface="Times New Roman" panose="02020603050405020304" pitchFamily="18" charset="0"/>
              </a:rPr>
              <a:t> </a:t>
            </a:r>
            <a:r>
              <a:rPr lang="en-US" sz="1600" dirty="0" err="1">
                <a:effectLst/>
                <a:ea typeface="Times New Roman" panose="02020603050405020304" pitchFamily="18" charset="0"/>
              </a:rPr>
              <a:t>của</a:t>
            </a:r>
            <a:r>
              <a:rPr lang="en-US" sz="1600" dirty="0">
                <a:effectLst/>
                <a:ea typeface="Times New Roman" panose="02020603050405020304" pitchFamily="18" charset="0"/>
              </a:rPr>
              <a:t> </a:t>
            </a:r>
            <a:r>
              <a:rPr lang="en-US" sz="1600" dirty="0" err="1">
                <a:effectLst/>
                <a:ea typeface="Times New Roman" panose="02020603050405020304" pitchFamily="18" charset="0"/>
              </a:rPr>
              <a:t>tín</a:t>
            </a:r>
            <a:r>
              <a:rPr lang="en-US" sz="1600" dirty="0">
                <a:effectLst/>
                <a:ea typeface="Times New Roman" panose="02020603050405020304" pitchFamily="18" charset="0"/>
              </a:rPr>
              <a:t> </a:t>
            </a:r>
            <a:r>
              <a:rPr lang="en-US" sz="1600" dirty="0" err="1">
                <a:effectLst/>
                <a:ea typeface="Times New Roman" panose="02020603050405020304" pitchFamily="18" charset="0"/>
              </a:rPr>
              <a:t>hiệu</a:t>
            </a:r>
            <a:r>
              <a:rPr lang="en-US" sz="1600" dirty="0">
                <a:effectLst/>
                <a:ea typeface="Times New Roman" panose="02020603050405020304" pitchFamily="18" charset="0"/>
              </a:rPr>
              <a:t> </a:t>
            </a:r>
            <a:r>
              <a:rPr lang="en-US" sz="1600" dirty="0" err="1">
                <a:effectLst/>
                <a:ea typeface="Times New Roman" panose="02020603050405020304" pitchFamily="18" charset="0"/>
              </a:rPr>
              <a:t>ra</a:t>
            </a:r>
            <a:r>
              <a:rPr lang="en-US" sz="1600" dirty="0">
                <a:effectLst/>
                <a:ea typeface="Times New Roman" panose="02020603050405020304" pitchFamily="18" charset="0"/>
              </a:rPr>
              <a:t> so </a:t>
            </a:r>
            <a:r>
              <a:rPr lang="en-US" sz="1600" dirty="0" err="1">
                <a:effectLst/>
                <a:ea typeface="Times New Roman" panose="02020603050405020304" pitchFamily="18" charset="0"/>
              </a:rPr>
              <a:t>với</a:t>
            </a:r>
            <a:r>
              <a:rPr lang="en-US" sz="1600" dirty="0">
                <a:effectLst/>
                <a:ea typeface="Times New Roman" panose="02020603050405020304" pitchFamily="18" charset="0"/>
              </a:rPr>
              <a:t> </a:t>
            </a:r>
            <a:r>
              <a:rPr lang="en-US" sz="1600" dirty="0" err="1">
                <a:effectLst/>
                <a:ea typeface="Times New Roman" panose="02020603050405020304" pitchFamily="18" charset="0"/>
              </a:rPr>
              <a:t>tín</a:t>
            </a:r>
            <a:r>
              <a:rPr lang="en-US" sz="1600" dirty="0">
                <a:effectLst/>
                <a:ea typeface="Times New Roman" panose="02020603050405020304" pitchFamily="18" charset="0"/>
              </a:rPr>
              <a:t> </a:t>
            </a:r>
            <a:r>
              <a:rPr lang="en-US" sz="1600" dirty="0" err="1">
                <a:effectLst/>
                <a:ea typeface="Times New Roman" panose="02020603050405020304" pitchFamily="18" charset="0"/>
              </a:rPr>
              <a:t>hiệu</a:t>
            </a:r>
            <a:r>
              <a:rPr lang="en-US" sz="1600" dirty="0">
                <a:effectLst/>
                <a:ea typeface="Times New Roman" panose="02020603050405020304" pitchFamily="18" charset="0"/>
              </a:rPr>
              <a:t> </a:t>
            </a:r>
            <a:r>
              <a:rPr lang="en-US" sz="1600" dirty="0" err="1">
                <a:effectLst/>
                <a:ea typeface="Times New Roman" panose="02020603050405020304" pitchFamily="18" charset="0"/>
              </a:rPr>
              <a:t>vào</a:t>
            </a:r>
            <a:r>
              <a:rPr lang="en-US" sz="1600" dirty="0">
                <a:effectLst/>
                <a:ea typeface="Times New Roman" panose="02020603050405020304" pitchFamily="18" charset="0"/>
              </a:rPr>
              <a:t>. </a:t>
            </a:r>
            <a:r>
              <a:rPr lang="en-US" sz="1600" dirty="0" err="1">
                <a:effectLst/>
                <a:ea typeface="Times New Roman" panose="02020603050405020304" pitchFamily="18" charset="0"/>
              </a:rPr>
              <a:t>Hàm</a:t>
            </a:r>
            <a:r>
              <a:rPr lang="en-US" sz="1600" dirty="0">
                <a:effectLst/>
                <a:ea typeface="Times New Roman" panose="02020603050405020304" pitchFamily="18" charset="0"/>
              </a:rPr>
              <a:t> </a:t>
            </a:r>
            <a:r>
              <a:rPr lang="en-US" sz="1600" dirty="0" err="1">
                <a:effectLst/>
                <a:ea typeface="Times New Roman" panose="02020603050405020304" pitchFamily="18" charset="0"/>
              </a:rPr>
              <a:t>chuyển</a:t>
            </a:r>
            <a:r>
              <a:rPr lang="en-US" sz="1600" dirty="0">
                <a:effectLst/>
                <a:ea typeface="Times New Roman" panose="02020603050405020304" pitchFamily="18" charset="0"/>
              </a:rPr>
              <a:t> </a:t>
            </a:r>
            <a:r>
              <a:rPr lang="en-US" sz="1600" dirty="0" err="1">
                <a:effectLst/>
                <a:ea typeface="Times New Roman" panose="02020603050405020304" pitchFamily="18" charset="0"/>
              </a:rPr>
              <a:t>có</a:t>
            </a:r>
            <a:r>
              <a:rPr lang="en-US" sz="1600" dirty="0">
                <a:effectLst/>
                <a:ea typeface="Times New Roman" panose="02020603050405020304" pitchFamily="18" charset="0"/>
              </a:rPr>
              <a:t> </a:t>
            </a:r>
            <a:r>
              <a:rPr lang="en-US" sz="1600" dirty="0" err="1">
                <a:effectLst/>
                <a:ea typeface="Times New Roman" panose="02020603050405020304" pitchFamily="18" charset="0"/>
              </a:rPr>
              <a:t>tất</a:t>
            </a:r>
            <a:r>
              <a:rPr lang="en-US" sz="1600" dirty="0">
                <a:effectLst/>
                <a:ea typeface="Times New Roman" panose="02020603050405020304" pitchFamily="18" charset="0"/>
              </a:rPr>
              <a:t> </a:t>
            </a:r>
            <a:r>
              <a:rPr lang="en-US" sz="1600" dirty="0" err="1">
                <a:effectLst/>
                <a:ea typeface="Times New Roman" panose="02020603050405020304" pitchFamily="18" charset="0"/>
              </a:rPr>
              <a:t>cả</a:t>
            </a:r>
            <a:r>
              <a:rPr lang="en-US" sz="1600" dirty="0">
                <a:effectLst/>
                <a:ea typeface="Times New Roman" panose="02020603050405020304" pitchFamily="18" charset="0"/>
              </a:rPr>
              <a:t> </a:t>
            </a:r>
            <a:r>
              <a:rPr lang="en-US" sz="1600" dirty="0" err="1">
                <a:effectLst/>
                <a:ea typeface="Times New Roman" panose="02020603050405020304" pitchFamily="18" charset="0"/>
              </a:rPr>
              <a:t>các</a:t>
            </a:r>
            <a:r>
              <a:rPr lang="en-US" sz="1600" dirty="0">
                <a:effectLst/>
                <a:ea typeface="Times New Roman" panose="02020603050405020304" pitchFamily="18" charset="0"/>
              </a:rPr>
              <a:t> </a:t>
            </a:r>
            <a:r>
              <a:rPr lang="en-US" sz="1600" dirty="0" err="1">
                <a:effectLst/>
                <a:ea typeface="Times New Roman" panose="02020603050405020304" pitchFamily="18" charset="0"/>
              </a:rPr>
              <a:t>điểm</a:t>
            </a:r>
            <a:r>
              <a:rPr lang="en-US" sz="1600" dirty="0">
                <a:effectLst/>
                <a:ea typeface="Times New Roman" panose="02020603050405020304" pitchFamily="18" charset="0"/>
              </a:rPr>
              <a:t> </a:t>
            </a:r>
            <a:r>
              <a:rPr lang="en-US" sz="1600" dirty="0" err="1">
                <a:effectLst/>
                <a:ea typeface="Times New Roman" panose="02020603050405020304" pitchFamily="18" charset="0"/>
              </a:rPr>
              <a:t>không</a:t>
            </a:r>
            <a:r>
              <a:rPr lang="en-US" sz="1600" dirty="0">
                <a:effectLst/>
                <a:ea typeface="Times New Roman" panose="02020603050405020304" pitchFamily="18" charset="0"/>
              </a:rPr>
              <a:t> </a:t>
            </a:r>
            <a:r>
              <a:rPr lang="en-US" sz="1600" dirty="0" err="1">
                <a:effectLst/>
                <a:ea typeface="Times New Roman" panose="02020603050405020304" pitchFamily="18" charset="0"/>
              </a:rPr>
              <a:t>đều</a:t>
            </a:r>
            <a:r>
              <a:rPr lang="en-US" sz="1600" dirty="0">
                <a:effectLst/>
                <a:ea typeface="Times New Roman" panose="02020603050405020304" pitchFamily="18" charset="0"/>
              </a:rPr>
              <a:t> </a:t>
            </a:r>
            <a:r>
              <a:rPr lang="en-US" sz="1600" dirty="0" err="1">
                <a:effectLst/>
                <a:ea typeface="Times New Roman" panose="02020603050405020304" pitchFamily="18" charset="0"/>
              </a:rPr>
              <a:t>nằm</a:t>
            </a:r>
            <a:r>
              <a:rPr lang="en-US" sz="1600" dirty="0">
                <a:effectLst/>
                <a:ea typeface="Times New Roman" panose="02020603050405020304" pitchFamily="18" charset="0"/>
              </a:rPr>
              <a:t> </a:t>
            </a:r>
            <a:r>
              <a:rPr lang="en-US" sz="1600" dirty="0" err="1">
                <a:effectLst/>
                <a:ea typeface="Times New Roman" panose="02020603050405020304" pitchFamily="18" charset="0"/>
              </a:rPr>
              <a:t>bên</a:t>
            </a:r>
            <a:r>
              <a:rPr lang="en-US" sz="1600" dirty="0">
                <a:effectLst/>
                <a:ea typeface="Times New Roman" panose="02020603050405020304" pitchFamily="18" charset="0"/>
              </a:rPr>
              <a:t> </a:t>
            </a:r>
            <a:r>
              <a:rPr lang="en-US" sz="1600" dirty="0" err="1">
                <a:effectLst/>
                <a:ea typeface="Times New Roman" panose="02020603050405020304" pitchFamily="18" charset="0"/>
              </a:rPr>
              <a:t>trái</a:t>
            </a:r>
            <a:r>
              <a:rPr lang="en-US" sz="1600" dirty="0">
                <a:effectLst/>
                <a:ea typeface="Times New Roman" panose="02020603050405020304" pitchFamily="18" charset="0"/>
              </a:rPr>
              <a:t> </a:t>
            </a:r>
            <a:r>
              <a:rPr lang="en-US" sz="1600" dirty="0" err="1">
                <a:effectLst/>
                <a:ea typeface="Times New Roman" panose="02020603050405020304" pitchFamily="18" charset="0"/>
              </a:rPr>
              <a:t>trục</a:t>
            </a:r>
            <a:r>
              <a:rPr lang="en-US" sz="1600" dirty="0">
                <a:effectLst/>
                <a:ea typeface="Times New Roman" panose="02020603050405020304" pitchFamily="18" charset="0"/>
              </a:rPr>
              <a:t> </a:t>
            </a:r>
            <a:r>
              <a:rPr lang="en-US" sz="1600" dirty="0" err="1">
                <a:effectLst/>
                <a:ea typeface="Times New Roman" panose="02020603050405020304" pitchFamily="18" charset="0"/>
              </a:rPr>
              <a:t>ảo</a:t>
            </a:r>
            <a:r>
              <a:rPr lang="en-US" sz="1600" dirty="0">
                <a:effectLst/>
                <a:ea typeface="Times New Roman" panose="02020603050405020304" pitchFamily="18" charset="0"/>
              </a:rPr>
              <a:t> </a:t>
            </a:r>
            <a:r>
              <a:rPr lang="en-US" sz="1600" dirty="0" err="1">
                <a:effectLst/>
                <a:ea typeface="Times New Roman" panose="02020603050405020304" pitchFamily="18" charset="0"/>
              </a:rPr>
              <a:t>được</a:t>
            </a:r>
            <a:r>
              <a:rPr lang="en-US" sz="1600" dirty="0">
                <a:effectLst/>
                <a:ea typeface="Times New Roman" panose="02020603050405020304" pitchFamily="18" charset="0"/>
              </a:rPr>
              <a:t> </a:t>
            </a:r>
            <a:r>
              <a:rPr lang="en-US" sz="1600" dirty="0" err="1">
                <a:effectLst/>
                <a:ea typeface="Times New Roman" panose="02020603050405020304" pitchFamily="18" charset="0"/>
              </a:rPr>
              <a:t>gọi</a:t>
            </a:r>
            <a:r>
              <a:rPr lang="en-US" sz="1600" dirty="0">
                <a:effectLst/>
                <a:ea typeface="Times New Roman" panose="02020603050405020304" pitchFamily="18" charset="0"/>
              </a:rPr>
              <a:t> </a:t>
            </a:r>
            <a:r>
              <a:rPr lang="en-US" sz="1600" dirty="0" err="1">
                <a:effectLst/>
                <a:ea typeface="Times New Roman" panose="02020603050405020304" pitchFamily="18" charset="0"/>
              </a:rPr>
              <a:t>là</a:t>
            </a:r>
            <a:r>
              <a:rPr lang="en-US" sz="1600" dirty="0">
                <a:effectLst/>
                <a:ea typeface="Times New Roman" panose="02020603050405020304" pitchFamily="18" charset="0"/>
              </a:rPr>
              <a:t> </a:t>
            </a:r>
            <a:r>
              <a:rPr lang="en-US" sz="1600" i="1" dirty="0" err="1">
                <a:effectLst/>
                <a:ea typeface="Times New Roman" panose="02020603050405020304" pitchFamily="18" charset="0"/>
              </a:rPr>
              <a:t>hàm</a:t>
            </a:r>
            <a:r>
              <a:rPr lang="en-US" sz="1600" i="1" dirty="0">
                <a:effectLst/>
                <a:ea typeface="Times New Roman" panose="02020603050405020304" pitchFamily="18" charset="0"/>
              </a:rPr>
              <a:t> </a:t>
            </a:r>
            <a:r>
              <a:rPr lang="en-US" sz="1600" i="1" dirty="0" err="1">
                <a:effectLst/>
                <a:ea typeface="Times New Roman" panose="02020603050405020304" pitchFamily="18" charset="0"/>
              </a:rPr>
              <a:t>chuyển</a:t>
            </a:r>
            <a:r>
              <a:rPr lang="en-US" sz="1600" i="1" dirty="0">
                <a:effectLst/>
                <a:ea typeface="Times New Roman" panose="02020603050405020304" pitchFamily="18" charset="0"/>
              </a:rPr>
              <a:t> </a:t>
            </a:r>
            <a:r>
              <a:rPr lang="en-US" sz="1600" i="1" dirty="0" err="1">
                <a:effectLst/>
                <a:ea typeface="Times New Roman" panose="02020603050405020304" pitchFamily="18" charset="0"/>
              </a:rPr>
              <a:t>dịch</a:t>
            </a:r>
            <a:r>
              <a:rPr lang="en-US" sz="1600" i="1" dirty="0">
                <a:effectLst/>
                <a:ea typeface="Times New Roman" panose="02020603050405020304" pitchFamily="18" charset="0"/>
              </a:rPr>
              <a:t> </a:t>
            </a:r>
            <a:r>
              <a:rPr lang="en-US" sz="1600" i="1" dirty="0" err="1">
                <a:effectLst/>
                <a:ea typeface="Times New Roman" panose="02020603050405020304" pitchFamily="18" charset="0"/>
              </a:rPr>
              <a:t>pha</a:t>
            </a:r>
            <a:r>
              <a:rPr lang="en-US" sz="1600" i="1" dirty="0">
                <a:effectLst/>
                <a:ea typeface="Times New Roman" panose="02020603050405020304" pitchFamily="18" charset="0"/>
              </a:rPr>
              <a:t> </a:t>
            </a:r>
            <a:r>
              <a:rPr lang="en-US" sz="1600" i="1" dirty="0" err="1">
                <a:effectLst/>
                <a:ea typeface="Times New Roman" panose="02020603050405020304" pitchFamily="18" charset="0"/>
              </a:rPr>
              <a:t>tối</a:t>
            </a:r>
            <a:r>
              <a:rPr lang="en-US" sz="1600" i="1" dirty="0">
                <a:effectLst/>
                <a:ea typeface="Times New Roman" panose="02020603050405020304" pitchFamily="18" charset="0"/>
              </a:rPr>
              <a:t> </a:t>
            </a:r>
            <a:r>
              <a:rPr lang="en-US" sz="1600" i="1" dirty="0" err="1">
                <a:effectLst/>
                <a:ea typeface="Times New Roman" panose="02020603050405020304" pitchFamily="18" charset="0"/>
              </a:rPr>
              <a:t>thiểu</a:t>
            </a:r>
            <a:r>
              <a:rPr lang="en-US" sz="1600" dirty="0">
                <a:effectLst/>
                <a:ea typeface="Times New Roman" panose="02020603050405020304" pitchFamily="18" charset="0"/>
              </a:rPr>
              <a:t> (</a:t>
            </a:r>
            <a:r>
              <a:rPr lang="en-US" sz="1600" i="1" dirty="0">
                <a:effectLst/>
                <a:ea typeface="Times New Roman" panose="02020603050405020304" pitchFamily="18" charset="0"/>
              </a:rPr>
              <a:t>minimum phase-shift transfer function</a:t>
            </a:r>
            <a:r>
              <a:rPr lang="en-US" sz="1600" dirty="0">
                <a:effectLst/>
                <a:ea typeface="Times New Roman" panose="02020603050405020304" pitchFamily="18" charset="0"/>
              </a:rPr>
              <a:t>), </a:t>
            </a:r>
            <a:r>
              <a:rPr lang="en-US" sz="1600" dirty="0" err="1">
                <a:effectLst/>
                <a:ea typeface="Times New Roman" panose="02020603050405020304" pitchFamily="18" charset="0"/>
              </a:rPr>
              <a:t>bởi</a:t>
            </a:r>
            <a:r>
              <a:rPr lang="en-US" sz="1600" dirty="0">
                <a:effectLst/>
                <a:ea typeface="Times New Roman" panose="02020603050405020304" pitchFamily="18" charset="0"/>
              </a:rPr>
              <a:t> </a:t>
            </a:r>
            <a:r>
              <a:rPr lang="en-US" sz="1600" dirty="0" err="1">
                <a:effectLst/>
                <a:ea typeface="Times New Roman" panose="02020603050405020304" pitchFamily="18" charset="0"/>
              </a:rPr>
              <a:t>độ</a:t>
            </a:r>
            <a:r>
              <a:rPr lang="en-US" sz="1600" dirty="0">
                <a:effectLst/>
                <a:ea typeface="Times New Roman" panose="02020603050405020304" pitchFamily="18" charset="0"/>
              </a:rPr>
              <a:t> </a:t>
            </a:r>
            <a:r>
              <a:rPr lang="en-US" sz="1600" dirty="0" err="1">
                <a:effectLst/>
                <a:ea typeface="Times New Roman" panose="02020603050405020304" pitchFamily="18" charset="0"/>
              </a:rPr>
              <a:t>dịch</a:t>
            </a:r>
            <a:r>
              <a:rPr lang="en-US" sz="1600" dirty="0">
                <a:effectLst/>
                <a:ea typeface="Times New Roman" panose="02020603050405020304" pitchFamily="18" charset="0"/>
              </a:rPr>
              <a:t> </a:t>
            </a:r>
            <a:r>
              <a:rPr lang="en-US" sz="1600" dirty="0" err="1">
                <a:effectLst/>
                <a:ea typeface="Times New Roman" panose="02020603050405020304" pitchFamily="18" charset="0"/>
              </a:rPr>
              <a:t>pha</a:t>
            </a:r>
            <a:r>
              <a:rPr lang="en-US" sz="1600" dirty="0">
                <a:effectLst/>
                <a:ea typeface="Times New Roman" panose="02020603050405020304" pitchFamily="18" charset="0"/>
              </a:rPr>
              <a:t> </a:t>
            </a:r>
            <a:r>
              <a:rPr lang="en-US" sz="1600" dirty="0" err="1">
                <a:effectLst/>
                <a:ea typeface="Times New Roman" panose="02020603050405020304" pitchFamily="18" charset="0"/>
              </a:rPr>
              <a:t>trong</a:t>
            </a:r>
            <a:r>
              <a:rPr lang="en-US" sz="1600" dirty="0">
                <a:effectLst/>
                <a:ea typeface="Times New Roman" panose="02020603050405020304" pitchFamily="18" charset="0"/>
              </a:rPr>
              <a:t> </a:t>
            </a:r>
            <a:r>
              <a:rPr lang="en-US" sz="1600" dirty="0" err="1">
                <a:effectLst/>
                <a:ea typeface="Times New Roman" panose="02020603050405020304" pitchFamily="18" charset="0"/>
              </a:rPr>
              <a:t>trường</a:t>
            </a:r>
            <a:r>
              <a:rPr lang="en-US" sz="1600" dirty="0">
                <a:effectLst/>
                <a:ea typeface="Times New Roman" panose="02020603050405020304" pitchFamily="18" charset="0"/>
              </a:rPr>
              <a:t> </a:t>
            </a:r>
            <a:r>
              <a:rPr lang="en-US" sz="1600" dirty="0" err="1">
                <a:effectLst/>
                <a:ea typeface="Times New Roman" panose="02020603050405020304" pitchFamily="18" charset="0"/>
              </a:rPr>
              <a:t>hợp</a:t>
            </a:r>
            <a:r>
              <a:rPr lang="en-US" sz="1600" dirty="0">
                <a:effectLst/>
                <a:ea typeface="Times New Roman" panose="02020603050405020304" pitchFamily="18" charset="0"/>
              </a:rPr>
              <a:t> </a:t>
            </a:r>
            <a:r>
              <a:rPr lang="en-US" sz="1600" dirty="0" err="1">
                <a:effectLst/>
                <a:ea typeface="Times New Roman" panose="02020603050405020304" pitchFamily="18" charset="0"/>
              </a:rPr>
              <a:t>này</a:t>
            </a:r>
            <a:r>
              <a:rPr lang="en-US" sz="1600" dirty="0">
                <a:effectLst/>
                <a:ea typeface="Times New Roman" panose="02020603050405020304" pitchFamily="18" charset="0"/>
              </a:rPr>
              <a:t> </a:t>
            </a:r>
            <a:r>
              <a:rPr lang="en-US" sz="1600" dirty="0" err="1">
                <a:effectLst/>
                <a:ea typeface="Times New Roman" panose="02020603050405020304" pitchFamily="18" charset="0"/>
              </a:rPr>
              <a:t>là</a:t>
            </a:r>
            <a:r>
              <a:rPr lang="en-US" sz="1600" dirty="0">
                <a:effectLst/>
                <a:ea typeface="Times New Roman" panose="02020603050405020304" pitchFamily="18" charset="0"/>
              </a:rPr>
              <a:t> </a:t>
            </a:r>
            <a:r>
              <a:rPr lang="en-US" sz="1600" dirty="0" err="1">
                <a:effectLst/>
                <a:ea typeface="Times New Roman" panose="02020603050405020304" pitchFamily="18" charset="0"/>
              </a:rPr>
              <a:t>ít</a:t>
            </a:r>
            <a:r>
              <a:rPr lang="en-US" sz="1600" dirty="0">
                <a:effectLst/>
                <a:ea typeface="Times New Roman" panose="02020603050405020304" pitchFamily="18" charset="0"/>
              </a:rPr>
              <a:t> </a:t>
            </a:r>
            <a:r>
              <a:rPr lang="en-US" sz="1600" dirty="0" err="1">
                <a:effectLst/>
                <a:ea typeface="Times New Roman" panose="02020603050405020304" pitchFamily="18" charset="0"/>
              </a:rPr>
              <a:t>nhất</a:t>
            </a:r>
            <a:r>
              <a:rPr lang="en-US" sz="1600" dirty="0">
                <a:effectLst/>
                <a:ea typeface="Times New Roman" panose="02020603050405020304" pitchFamily="18" charset="0"/>
              </a:rPr>
              <a:t>. </a:t>
            </a:r>
            <a:r>
              <a:rPr lang="en-US" sz="1600" dirty="0" err="1">
                <a:effectLst/>
                <a:ea typeface="Times New Roman" panose="02020603050405020304" pitchFamily="18" charset="0"/>
              </a:rPr>
              <a:t>Còn</a:t>
            </a:r>
            <a:r>
              <a:rPr lang="en-US" sz="1600" dirty="0">
                <a:effectLst/>
                <a:ea typeface="Times New Roman" panose="02020603050405020304" pitchFamily="18" charset="0"/>
              </a:rPr>
              <a:t> </a:t>
            </a:r>
            <a:r>
              <a:rPr lang="en-US" sz="1600" dirty="0" err="1">
                <a:effectLst/>
                <a:ea typeface="Times New Roman" panose="02020603050405020304" pitchFamily="18" charset="0"/>
              </a:rPr>
              <a:t>hàm</a:t>
            </a:r>
            <a:r>
              <a:rPr lang="en-US" sz="1600" dirty="0">
                <a:effectLst/>
                <a:ea typeface="Times New Roman" panose="02020603050405020304" pitchFamily="18" charset="0"/>
              </a:rPr>
              <a:t> </a:t>
            </a:r>
            <a:r>
              <a:rPr lang="en-US" sz="1600" dirty="0" err="1">
                <a:effectLst/>
                <a:ea typeface="Times New Roman" panose="02020603050405020304" pitchFamily="18" charset="0"/>
              </a:rPr>
              <a:t>chuyển</a:t>
            </a:r>
            <a:r>
              <a:rPr lang="en-US" sz="1600" dirty="0">
                <a:effectLst/>
                <a:ea typeface="Times New Roman" panose="02020603050405020304" pitchFamily="18" charset="0"/>
              </a:rPr>
              <a:t> </a:t>
            </a:r>
            <a:r>
              <a:rPr lang="en-US" sz="1600" dirty="0" err="1">
                <a:effectLst/>
                <a:ea typeface="Times New Roman" panose="02020603050405020304" pitchFamily="18" charset="0"/>
              </a:rPr>
              <a:t>có</a:t>
            </a:r>
            <a:r>
              <a:rPr lang="en-US" sz="1600" dirty="0">
                <a:effectLst/>
                <a:ea typeface="Times New Roman" panose="02020603050405020304" pitchFamily="18" charset="0"/>
              </a:rPr>
              <a:t> </a:t>
            </a:r>
            <a:r>
              <a:rPr lang="en-US" sz="1600" dirty="0" err="1">
                <a:effectLst/>
                <a:ea typeface="Times New Roman" panose="02020603050405020304" pitchFamily="18" charset="0"/>
              </a:rPr>
              <a:t>điểm</a:t>
            </a:r>
            <a:r>
              <a:rPr lang="en-US" sz="1600" dirty="0">
                <a:effectLst/>
                <a:ea typeface="Times New Roman" panose="02020603050405020304" pitchFamily="18" charset="0"/>
              </a:rPr>
              <a:t> </a:t>
            </a:r>
            <a:r>
              <a:rPr lang="en-US" sz="1600" dirty="0" err="1">
                <a:effectLst/>
                <a:ea typeface="Times New Roman" panose="02020603050405020304" pitchFamily="18" charset="0"/>
              </a:rPr>
              <a:t>không</a:t>
            </a:r>
            <a:r>
              <a:rPr lang="en-US" sz="1600" dirty="0">
                <a:effectLst/>
                <a:ea typeface="Times New Roman" panose="02020603050405020304" pitchFamily="18" charset="0"/>
              </a:rPr>
              <a:t> </a:t>
            </a:r>
            <a:r>
              <a:rPr lang="en-US" sz="1600" dirty="0" err="1">
                <a:effectLst/>
                <a:ea typeface="Times New Roman" panose="02020603050405020304" pitchFamily="18" charset="0"/>
              </a:rPr>
              <a:t>nằm</a:t>
            </a:r>
            <a:r>
              <a:rPr lang="en-US" sz="1600" dirty="0">
                <a:effectLst/>
                <a:ea typeface="Times New Roman" panose="02020603050405020304" pitchFamily="18" charset="0"/>
              </a:rPr>
              <a:t> </a:t>
            </a:r>
            <a:r>
              <a:rPr lang="en-US" sz="1600" dirty="0" err="1">
                <a:effectLst/>
                <a:ea typeface="Times New Roman" panose="02020603050405020304" pitchFamily="18" charset="0"/>
              </a:rPr>
              <a:t>bên</a:t>
            </a:r>
            <a:r>
              <a:rPr lang="en-US" sz="1600" dirty="0">
                <a:effectLst/>
                <a:ea typeface="Times New Roman" panose="02020603050405020304" pitchFamily="18" charset="0"/>
              </a:rPr>
              <a:t> </a:t>
            </a:r>
            <a:r>
              <a:rPr lang="en-US" sz="1600" dirty="0" err="1">
                <a:effectLst/>
                <a:ea typeface="Times New Roman" panose="02020603050405020304" pitchFamily="18" charset="0"/>
              </a:rPr>
              <a:t>phải</a:t>
            </a:r>
            <a:r>
              <a:rPr lang="en-US" sz="1600" dirty="0">
                <a:effectLst/>
                <a:ea typeface="Times New Roman" panose="02020603050405020304" pitchFamily="18" charset="0"/>
              </a:rPr>
              <a:t> </a:t>
            </a:r>
            <a:r>
              <a:rPr lang="en-US" sz="1600" dirty="0" err="1">
                <a:effectLst/>
                <a:ea typeface="Times New Roman" panose="02020603050405020304" pitchFamily="18" charset="0"/>
              </a:rPr>
              <a:t>trục</a:t>
            </a:r>
            <a:r>
              <a:rPr lang="en-US" sz="1600" dirty="0">
                <a:effectLst/>
                <a:ea typeface="Times New Roman" panose="02020603050405020304" pitchFamily="18" charset="0"/>
              </a:rPr>
              <a:t> </a:t>
            </a:r>
            <a:r>
              <a:rPr lang="en-US" sz="1600" dirty="0" err="1">
                <a:effectLst/>
                <a:ea typeface="Times New Roman" panose="02020603050405020304" pitchFamily="18" charset="0"/>
              </a:rPr>
              <a:t>ảo</a:t>
            </a:r>
            <a:r>
              <a:rPr lang="en-US" sz="1600" dirty="0">
                <a:effectLst/>
                <a:ea typeface="Times New Roman" panose="02020603050405020304" pitchFamily="18" charset="0"/>
              </a:rPr>
              <a:t> </a:t>
            </a:r>
            <a:r>
              <a:rPr lang="en-US" sz="1600" dirty="0" err="1">
                <a:effectLst/>
                <a:ea typeface="Times New Roman" panose="02020603050405020304" pitchFamily="18" charset="0"/>
              </a:rPr>
              <a:t>được</a:t>
            </a:r>
            <a:r>
              <a:rPr lang="en-US" sz="1600" dirty="0">
                <a:effectLst/>
                <a:ea typeface="Times New Roman" panose="02020603050405020304" pitchFamily="18" charset="0"/>
              </a:rPr>
              <a:t> </a:t>
            </a:r>
            <a:r>
              <a:rPr lang="en-US" sz="1600" dirty="0" err="1">
                <a:effectLst/>
                <a:ea typeface="Times New Roman" panose="02020603050405020304" pitchFamily="18" charset="0"/>
              </a:rPr>
              <a:t>gọi</a:t>
            </a:r>
            <a:r>
              <a:rPr lang="en-US" sz="1600" dirty="0">
                <a:effectLst/>
                <a:ea typeface="Times New Roman" panose="02020603050405020304" pitchFamily="18" charset="0"/>
              </a:rPr>
              <a:t> </a:t>
            </a:r>
            <a:r>
              <a:rPr lang="en-US" sz="1600" dirty="0" err="1">
                <a:effectLst/>
                <a:ea typeface="Times New Roman" panose="02020603050405020304" pitchFamily="18" charset="0"/>
              </a:rPr>
              <a:t>là</a:t>
            </a:r>
            <a:r>
              <a:rPr lang="en-US" sz="1600" dirty="0">
                <a:effectLst/>
                <a:ea typeface="Times New Roman" panose="02020603050405020304" pitchFamily="18" charset="0"/>
              </a:rPr>
              <a:t> </a:t>
            </a:r>
            <a:r>
              <a:rPr lang="en-US" sz="1600" i="1" dirty="0" err="1">
                <a:effectLst/>
                <a:ea typeface="Times New Roman" panose="02020603050405020304" pitchFamily="18" charset="0"/>
              </a:rPr>
              <a:t>hàm</a:t>
            </a:r>
            <a:r>
              <a:rPr lang="en-US" sz="1600" i="1" dirty="0">
                <a:effectLst/>
                <a:ea typeface="Times New Roman" panose="02020603050405020304" pitchFamily="18" charset="0"/>
              </a:rPr>
              <a:t> </a:t>
            </a:r>
            <a:r>
              <a:rPr lang="en-US" sz="1600" i="1" dirty="0" err="1">
                <a:effectLst/>
                <a:ea typeface="Times New Roman" panose="02020603050405020304" pitchFamily="18" charset="0"/>
              </a:rPr>
              <a:t>chuyển</a:t>
            </a:r>
            <a:r>
              <a:rPr lang="en-US" sz="1600" i="1" dirty="0">
                <a:effectLst/>
                <a:ea typeface="Times New Roman" panose="02020603050405020304" pitchFamily="18" charset="0"/>
              </a:rPr>
              <a:t> </a:t>
            </a:r>
            <a:r>
              <a:rPr lang="en-US" sz="1600" i="1" dirty="0" err="1">
                <a:effectLst/>
                <a:ea typeface="Times New Roman" panose="02020603050405020304" pitchFamily="18" charset="0"/>
              </a:rPr>
              <a:t>dịch</a:t>
            </a:r>
            <a:r>
              <a:rPr lang="en-US" sz="1600" i="1" dirty="0">
                <a:effectLst/>
                <a:ea typeface="Times New Roman" panose="02020603050405020304" pitchFamily="18" charset="0"/>
              </a:rPr>
              <a:t> </a:t>
            </a:r>
            <a:r>
              <a:rPr lang="en-US" sz="1600" i="1" dirty="0" err="1">
                <a:effectLst/>
                <a:ea typeface="Times New Roman" panose="02020603050405020304" pitchFamily="18" charset="0"/>
              </a:rPr>
              <a:t>pha</a:t>
            </a:r>
            <a:r>
              <a:rPr lang="en-US" sz="1600" i="1" dirty="0">
                <a:effectLst/>
                <a:ea typeface="Times New Roman" panose="02020603050405020304" pitchFamily="18" charset="0"/>
              </a:rPr>
              <a:t> </a:t>
            </a:r>
            <a:r>
              <a:rPr lang="en-US" sz="1600" i="1" dirty="0" err="1">
                <a:effectLst/>
                <a:ea typeface="Times New Roman" panose="02020603050405020304" pitchFamily="18" charset="0"/>
              </a:rPr>
              <a:t>không</a:t>
            </a:r>
            <a:r>
              <a:rPr lang="en-US" sz="1600" i="1" dirty="0">
                <a:effectLst/>
                <a:ea typeface="Times New Roman" panose="02020603050405020304" pitchFamily="18" charset="0"/>
              </a:rPr>
              <a:t> </a:t>
            </a:r>
            <a:r>
              <a:rPr lang="en-US" sz="1600" i="1" dirty="0" err="1">
                <a:effectLst/>
                <a:ea typeface="Times New Roman" panose="02020603050405020304" pitchFamily="18" charset="0"/>
              </a:rPr>
              <a:t>tối</a:t>
            </a:r>
            <a:r>
              <a:rPr lang="en-US" sz="1600" i="1" dirty="0">
                <a:effectLst/>
                <a:ea typeface="Times New Roman" panose="02020603050405020304" pitchFamily="18" charset="0"/>
              </a:rPr>
              <a:t> </a:t>
            </a:r>
            <a:r>
              <a:rPr lang="en-US" sz="1600" i="1" dirty="0" err="1">
                <a:effectLst/>
                <a:ea typeface="Times New Roman" panose="02020603050405020304" pitchFamily="18" charset="0"/>
              </a:rPr>
              <a:t>thiểu</a:t>
            </a:r>
            <a:r>
              <a:rPr lang="en-US" sz="1600" dirty="0">
                <a:effectLst/>
                <a:ea typeface="Times New Roman" panose="02020603050405020304" pitchFamily="18" charset="0"/>
              </a:rPr>
              <a:t> (</a:t>
            </a:r>
            <a:r>
              <a:rPr lang="en-US" sz="1600" i="1" dirty="0">
                <a:effectLst/>
                <a:ea typeface="Times New Roman" panose="02020603050405020304" pitchFamily="18" charset="0"/>
              </a:rPr>
              <a:t>non-minimum phase-shift transfer function</a:t>
            </a:r>
            <a:r>
              <a:rPr lang="en-US" sz="1600" dirty="0">
                <a:effectLst/>
                <a:ea typeface="Times New Roman" panose="02020603050405020304" pitchFamily="18" charset="0"/>
              </a:rPr>
              <a:t>).</a:t>
            </a:r>
            <a:r>
              <a:rPr lang="en-VN" sz="1800" dirty="0">
                <a:effectLst/>
              </a:rPr>
              <a:t> </a:t>
            </a:r>
            <a:endParaRPr lang="en-VN" sz="1800" dirty="0"/>
          </a:p>
        </p:txBody>
      </p:sp>
    </p:spTree>
    <p:extLst>
      <p:ext uri="{BB962C8B-B14F-4D97-AF65-F5344CB8AC3E}">
        <p14:creationId xmlns:p14="http://schemas.microsoft.com/office/powerpoint/2010/main" val="11175141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ECDD-2A2E-FA31-41D9-ED2A3A1DB6CC}"/>
              </a:ext>
            </a:extLst>
          </p:cNvPr>
          <p:cNvSpPr>
            <a:spLocks noGrp="1"/>
          </p:cNvSpPr>
          <p:nvPr>
            <p:ph type="title"/>
          </p:nvPr>
        </p:nvSpPr>
        <p:spPr/>
        <p:txBody>
          <a:bodyPr/>
          <a:lstStyle/>
          <a:p>
            <a:r>
              <a:rPr lang="en-VN" dirty="0"/>
              <a:t>Bài tập</a:t>
            </a:r>
          </a:p>
        </p:txBody>
      </p:sp>
      <p:sp>
        <p:nvSpPr>
          <p:cNvPr id="7" name="Content Placeholder 6">
            <a:extLst>
              <a:ext uri="{FF2B5EF4-FFF2-40B4-BE49-F238E27FC236}">
                <a16:creationId xmlns:a16="http://schemas.microsoft.com/office/drawing/2014/main" id="{A4C3323D-7D5A-540F-AC35-AC19B48EADCA}"/>
              </a:ext>
            </a:extLst>
          </p:cNvPr>
          <p:cNvSpPr>
            <a:spLocks noGrp="1"/>
          </p:cNvSpPr>
          <p:nvPr>
            <p:ph idx="1"/>
          </p:nvPr>
        </p:nvSpPr>
        <p:spPr/>
        <p:txBody>
          <a:bodyPr/>
          <a:lstStyle/>
          <a:p>
            <a:endParaRPr lang="en-VN" dirty="0"/>
          </a:p>
        </p:txBody>
      </p:sp>
    </p:spTree>
    <p:extLst>
      <p:ext uri="{BB962C8B-B14F-4D97-AF65-F5344CB8AC3E}">
        <p14:creationId xmlns:p14="http://schemas.microsoft.com/office/powerpoint/2010/main" val="175357171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{DA89C2F4-FBD1-684E-A465-9AFB9D00BEE5}tf10001119</Template>
  <TotalTime>5009</TotalTime>
  <Words>1850</Words>
  <Application>Microsoft Macintosh PowerPoint</Application>
  <PresentationFormat>Widescreen</PresentationFormat>
  <Paragraphs>122</Paragraphs>
  <Slides>28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Cambria Math</vt:lpstr>
      <vt:lpstr>Gill Sans MT</vt:lpstr>
      <vt:lpstr>Wingdings</vt:lpstr>
      <vt:lpstr>Gallery</vt:lpstr>
      <vt:lpstr>CHƯƠNG 10: PHƯƠNG PHÁP ĐÁP ỨNG TẦN SỐ</vt:lpstr>
      <vt:lpstr>GIỚI THIỆU</vt:lpstr>
      <vt:lpstr>GIỚI THIỆU</vt:lpstr>
      <vt:lpstr>GIỚI THIỆU</vt:lpstr>
      <vt:lpstr>GIỚI THIỆU</vt:lpstr>
      <vt:lpstr>GIỚI THIỆU</vt:lpstr>
      <vt:lpstr>ĐỒ THỊ CỦA ĐÁP ỨNG TẦN SỐ</vt:lpstr>
      <vt:lpstr>ĐỒ THỊ CỦA ĐÁP ỨNG TẦN SỐ</vt:lpstr>
      <vt:lpstr>ĐỒ THỊ BODE</vt:lpstr>
      <vt:lpstr>ĐỒ THỊ BODE</vt:lpstr>
      <vt:lpstr>Đồ thị bode</vt:lpstr>
      <vt:lpstr>Đồ thị bode</vt:lpstr>
      <vt:lpstr>Đồ thị bode</vt:lpstr>
      <vt:lpstr>ĐỒ THỊ BODE</vt:lpstr>
      <vt:lpstr>ĐỒ THỊ BODE</vt:lpstr>
      <vt:lpstr>ĐỒ THỊ BODE</vt:lpstr>
      <vt:lpstr>ĐỒ THỊ BODE</vt:lpstr>
      <vt:lpstr>ĐỒ THỊ BODE</vt:lpstr>
      <vt:lpstr>ĐỒ THỊ BODE</vt:lpstr>
      <vt:lpstr>ĐỒ THỊ BODE</vt:lpstr>
      <vt:lpstr>ĐỒ THỊ BODE</vt:lpstr>
      <vt:lpstr>Đồ thị bode</vt:lpstr>
      <vt:lpstr>Đồ thị bode</vt:lpstr>
      <vt:lpstr>Đồ thị bode</vt:lpstr>
      <vt:lpstr>Đồ thị bode</vt:lpstr>
      <vt:lpstr>PowerPoint Presentation</vt:lpstr>
      <vt:lpstr>NHẬN XÉT</vt:lpstr>
      <vt:lpstr>Bài tập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2: MÔ HÌNH TRONG MIỀN TẦN SỐ</dc:title>
  <dc:creator>Nguyễn Thu Hằng</dc:creator>
  <cp:lastModifiedBy>Nguyễn Thu Hằng</cp:lastModifiedBy>
  <cp:revision>29</cp:revision>
  <dcterms:created xsi:type="dcterms:W3CDTF">2023-08-28T11:08:29Z</dcterms:created>
  <dcterms:modified xsi:type="dcterms:W3CDTF">2023-12-05T02:00:41Z</dcterms:modified>
</cp:coreProperties>
</file>