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780" r:id="rId1"/>
  </p:sldMasterIdLst>
  <p:notesMasterIdLst>
    <p:notesMasterId r:id="rId25"/>
  </p:notesMasterIdLst>
  <p:sldIdLst>
    <p:sldId id="256" r:id="rId2"/>
    <p:sldId id="274" r:id="rId3"/>
    <p:sldId id="275" r:id="rId4"/>
    <p:sldId id="276" r:id="rId5"/>
    <p:sldId id="292" r:id="rId6"/>
    <p:sldId id="278" r:id="rId7"/>
    <p:sldId id="277" r:id="rId8"/>
    <p:sldId id="279" r:id="rId9"/>
    <p:sldId id="293" r:id="rId10"/>
    <p:sldId id="280" r:id="rId11"/>
    <p:sldId id="281" r:id="rId12"/>
    <p:sldId id="282" r:id="rId13"/>
    <p:sldId id="294" r:id="rId14"/>
    <p:sldId id="283" r:id="rId15"/>
    <p:sldId id="284" r:id="rId16"/>
    <p:sldId id="285" r:id="rId17"/>
    <p:sldId id="286" r:id="rId18"/>
    <p:sldId id="287" r:id="rId19"/>
    <p:sldId id="288" r:id="rId20"/>
    <p:sldId id="289" r:id="rId21"/>
    <p:sldId id="290" r:id="rId22"/>
    <p:sldId id="291" r:id="rId23"/>
    <p:sldId id="273" r:id="rId24"/>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0"/>
    <p:restoredTop sz="96341"/>
  </p:normalViewPr>
  <p:slideViewPr>
    <p:cSldViewPr snapToGrid="0">
      <p:cViewPr>
        <p:scale>
          <a:sx n="112" d="100"/>
          <a:sy n="112" d="100"/>
        </p:scale>
        <p:origin x="480" y="40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V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C2E158AC-6904-3B42-A5B5-F59B06135C78}" type="datetimeFigureOut">
              <a:rPr lang="en-VN" smtClean="0"/>
              <a:t>14/12/2023</a:t>
            </a:fld>
            <a:endParaRPr lang="en-V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V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V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V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4DAA1D77-F03F-2146-939B-9B0FF654C722}" type="slidenum">
              <a:rPr lang="en-VN" smtClean="0"/>
              <a:t>‹#›</a:t>
            </a:fld>
            <a:endParaRPr lang="en-VN"/>
          </a:p>
        </p:txBody>
      </p:sp>
    </p:spTree>
    <p:extLst>
      <p:ext uri="{BB962C8B-B14F-4D97-AF65-F5344CB8AC3E}">
        <p14:creationId xmlns:p14="http://schemas.microsoft.com/office/powerpoint/2010/main" val="199080320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VN" dirty="0"/>
          </a:p>
        </p:txBody>
      </p:sp>
      <p:sp>
        <p:nvSpPr>
          <p:cNvPr id="4" name="Slide Number Placeholder 3"/>
          <p:cNvSpPr>
            <a:spLocks noGrp="1"/>
          </p:cNvSpPr>
          <p:nvPr>
            <p:ph type="sldNum" sz="quarter" idx="5"/>
          </p:nvPr>
        </p:nvSpPr>
        <p:spPr/>
        <p:txBody>
          <a:bodyPr/>
          <a:lstStyle/>
          <a:p>
            <a:fld id="{4DAA1D77-F03F-2146-939B-9B0FF654C722}" type="slidenum">
              <a:rPr lang="en-VN" smtClean="0"/>
              <a:t>14</a:t>
            </a:fld>
            <a:endParaRPr lang="en-VN"/>
          </a:p>
        </p:txBody>
      </p:sp>
    </p:spTree>
    <p:extLst>
      <p:ext uri="{BB962C8B-B14F-4D97-AF65-F5344CB8AC3E}">
        <p14:creationId xmlns:p14="http://schemas.microsoft.com/office/powerpoint/2010/main" val="215428833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VN" dirty="0"/>
          </a:p>
        </p:txBody>
      </p:sp>
      <p:sp>
        <p:nvSpPr>
          <p:cNvPr id="4" name="Slide Number Placeholder 3"/>
          <p:cNvSpPr>
            <a:spLocks noGrp="1"/>
          </p:cNvSpPr>
          <p:nvPr>
            <p:ph type="sldNum" sz="quarter" idx="5"/>
          </p:nvPr>
        </p:nvSpPr>
        <p:spPr/>
        <p:txBody>
          <a:bodyPr/>
          <a:lstStyle/>
          <a:p>
            <a:fld id="{4DAA1D77-F03F-2146-939B-9B0FF654C722}" type="slidenum">
              <a:rPr lang="en-VN" smtClean="0"/>
              <a:t>19</a:t>
            </a:fld>
            <a:endParaRPr lang="en-VN"/>
          </a:p>
        </p:txBody>
      </p:sp>
    </p:spTree>
    <p:extLst>
      <p:ext uri="{BB962C8B-B14F-4D97-AF65-F5344CB8AC3E}">
        <p14:creationId xmlns:p14="http://schemas.microsoft.com/office/powerpoint/2010/main" val="190751699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2417779" y="802298"/>
            <a:ext cx="8637073" cy="2541431"/>
          </a:xfrm>
        </p:spPr>
        <p:txBody>
          <a:bodyPr bIns="0" anchor="b">
            <a:normAutofit/>
          </a:bodyPr>
          <a:lstStyle>
            <a:lvl1pPr algn="l">
              <a:defRPr sz="6600"/>
            </a:lvl1pPr>
          </a:lstStyle>
          <a:p>
            <a:r>
              <a:rPr lang="en-US"/>
              <a:t>Click to edit Master title style</a:t>
            </a:r>
            <a:endParaRPr lang="en-US" dirty="0"/>
          </a:p>
        </p:txBody>
      </p:sp>
      <p:sp>
        <p:nvSpPr>
          <p:cNvPr id="3" name="Subtitle 2"/>
          <p:cNvSpPr>
            <a:spLocks noGrp="1"/>
          </p:cNvSpPr>
          <p:nvPr>
            <p:ph type="subTitle" idx="1"/>
          </p:nvPr>
        </p:nvSpPr>
        <p:spPr>
          <a:xfrm>
            <a:off x="2417780" y="3531204"/>
            <a:ext cx="8637072" cy="977621"/>
          </a:xfrm>
        </p:spPr>
        <p:txBody>
          <a:bodyPr tIns="91440" bIns="91440">
            <a:normAutofit/>
          </a:bodyPr>
          <a:lstStyle>
            <a:lvl1pPr marL="0" indent="0" algn="l">
              <a:buNone/>
              <a:defRPr sz="1800" b="0" cap="all" baseline="0">
                <a:solidFill>
                  <a:schemeClr val="tx1"/>
                </a:solidFill>
              </a:defRPr>
            </a:lvl1pPr>
            <a:lvl2pPr marL="457200" indent="0" algn="ctr">
              <a:buNone/>
              <a:defRPr sz="18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1EF61E88-A186-394E-83B0-C95AB89BE3CE}" type="datetimeFigureOut">
              <a:rPr lang="en-VN" smtClean="0"/>
              <a:t>13/12/2023</a:t>
            </a:fld>
            <a:endParaRPr lang="en-VN"/>
          </a:p>
        </p:txBody>
      </p:sp>
      <p:sp>
        <p:nvSpPr>
          <p:cNvPr id="5" name="Footer Placeholder 4"/>
          <p:cNvSpPr>
            <a:spLocks noGrp="1"/>
          </p:cNvSpPr>
          <p:nvPr>
            <p:ph type="ftr" sz="quarter" idx="11"/>
          </p:nvPr>
        </p:nvSpPr>
        <p:spPr>
          <a:xfrm>
            <a:off x="2416500" y="329307"/>
            <a:ext cx="4973915" cy="309201"/>
          </a:xfrm>
        </p:spPr>
        <p:txBody>
          <a:bodyPr/>
          <a:lstStyle/>
          <a:p>
            <a:endParaRPr lang="en-VN"/>
          </a:p>
        </p:txBody>
      </p:sp>
      <p:sp>
        <p:nvSpPr>
          <p:cNvPr id="6" name="Slide Number Placeholder 5"/>
          <p:cNvSpPr>
            <a:spLocks noGrp="1"/>
          </p:cNvSpPr>
          <p:nvPr>
            <p:ph type="sldNum" sz="quarter" idx="12"/>
          </p:nvPr>
        </p:nvSpPr>
        <p:spPr>
          <a:xfrm>
            <a:off x="1437664" y="798973"/>
            <a:ext cx="811019" cy="503578"/>
          </a:xfrm>
        </p:spPr>
        <p:txBody>
          <a:bodyPr/>
          <a:lstStyle/>
          <a:p>
            <a:fld id="{AB7131A4-70E5-2C47-979D-CC0A508A1115}" type="slidenum">
              <a:rPr lang="en-VN" smtClean="0"/>
              <a:t>‹#›</a:t>
            </a:fld>
            <a:endParaRPr lang="en-VN"/>
          </a:p>
        </p:txBody>
      </p:sp>
      <p:cxnSp>
        <p:nvCxnSpPr>
          <p:cNvPr id="15" name="Straight Connector 14"/>
          <p:cNvCxnSpPr/>
          <p:nvPr/>
        </p:nvCxnSpPr>
        <p:spPr>
          <a:xfrm>
            <a:off x="2417780" y="3528542"/>
            <a:ext cx="8637072"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404465343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1451579" y="198069"/>
            <a:ext cx="9603275" cy="674212"/>
          </a:xfrm>
        </p:spPr>
        <p:txBody>
          <a:bodyPr/>
          <a:lstStyle>
            <a:lvl1pPr>
              <a:defRPr>
                <a:latin typeface="Arial" panose="020B0604020202020204" pitchFamily="34" charset="0"/>
                <a:cs typeface="Arial" panose="020B0604020202020204" pitchFamily="34" charset="0"/>
              </a:defRPr>
            </a:lvl1pPr>
          </a:lstStyle>
          <a:p>
            <a:r>
              <a:rPr lang="en-US" dirty="0"/>
              <a:t>Click to edit Master title style</a:t>
            </a:r>
          </a:p>
        </p:txBody>
      </p:sp>
      <p:sp>
        <p:nvSpPr>
          <p:cNvPr id="3" name="Content Placeholder 2"/>
          <p:cNvSpPr>
            <a:spLocks noGrp="1"/>
          </p:cNvSpPr>
          <p:nvPr>
            <p:ph idx="1"/>
          </p:nvPr>
        </p:nvSpPr>
        <p:spPr>
          <a:xfrm>
            <a:off x="1451579" y="1244014"/>
            <a:ext cx="9603275" cy="4444399"/>
          </a:xfrm>
        </p:spPr>
        <p:txBody>
          <a:bodyPr anchor="t"/>
          <a:lstStyle>
            <a:lvl1pPr>
              <a:defRPr>
                <a:latin typeface="Arial" panose="020B0604020202020204" pitchFamily="34" charset="0"/>
                <a:cs typeface="Arial" panose="020B0604020202020204" pitchFamily="34" charset="0"/>
              </a:defRPr>
            </a:lvl1pPr>
            <a:lvl2pPr>
              <a:defRPr>
                <a:latin typeface="Arial" panose="020B0604020202020204" pitchFamily="34" charset="0"/>
                <a:cs typeface="Arial" panose="020B0604020202020204" pitchFamily="34" charset="0"/>
              </a:defRPr>
            </a:lvl2pPr>
            <a:lvl3pPr>
              <a:defRPr>
                <a:latin typeface="Arial" panose="020B0604020202020204" pitchFamily="34" charset="0"/>
                <a:cs typeface="Arial" panose="020B0604020202020204" pitchFamily="34" charset="0"/>
              </a:defRPr>
            </a:lvl3pPr>
            <a:lvl4pPr>
              <a:defRPr>
                <a:latin typeface="Arial" panose="020B0604020202020204" pitchFamily="34" charset="0"/>
                <a:cs typeface="Arial" panose="020B0604020202020204" pitchFamily="34" charset="0"/>
              </a:defRPr>
            </a:lvl4pPr>
            <a:lvl5pPr>
              <a:defRPr>
                <a:latin typeface="Arial" panose="020B0604020202020204" pitchFamily="34" charset="0"/>
                <a:cs typeface="Arial" panose="020B0604020202020204"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Slide Number Placeholder 5"/>
          <p:cNvSpPr>
            <a:spLocks noGrp="1"/>
          </p:cNvSpPr>
          <p:nvPr>
            <p:ph type="sldNum" sz="quarter" idx="12"/>
          </p:nvPr>
        </p:nvSpPr>
        <p:spPr>
          <a:xfrm>
            <a:off x="480060" y="479993"/>
            <a:ext cx="811019" cy="503578"/>
          </a:xfrm>
        </p:spPr>
        <p:txBody>
          <a:bodyPr/>
          <a:lstStyle>
            <a:lvl1pPr>
              <a:defRPr>
                <a:latin typeface="Arial" panose="020B0604020202020204" pitchFamily="34" charset="0"/>
                <a:cs typeface="Arial" panose="020B0604020202020204" pitchFamily="34" charset="0"/>
              </a:defRPr>
            </a:lvl1pPr>
          </a:lstStyle>
          <a:p>
            <a:fld id="{AB7131A4-70E5-2C47-979D-CC0A508A1115}" type="slidenum">
              <a:rPr lang="en-VN" smtClean="0"/>
              <a:pPr/>
              <a:t>‹#›</a:t>
            </a:fld>
            <a:endParaRPr lang="en-VN"/>
          </a:p>
        </p:txBody>
      </p:sp>
      <p:cxnSp>
        <p:nvCxnSpPr>
          <p:cNvPr id="33" name="Straight Connector 32"/>
          <p:cNvCxnSpPr/>
          <p:nvPr/>
        </p:nvCxnSpPr>
        <p:spPr>
          <a:xfrm>
            <a:off x="1447332" y="983571"/>
            <a:ext cx="9607522"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55871901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454239" y="1756130"/>
            <a:ext cx="8643154" cy="1887950"/>
          </a:xfrm>
        </p:spPr>
        <p:txBody>
          <a:bodyPr anchor="b">
            <a:normAutofit/>
          </a:bodyPr>
          <a:lstStyle>
            <a:lvl1pPr algn="l">
              <a:defRPr sz="3600"/>
            </a:lvl1pPr>
          </a:lstStyle>
          <a:p>
            <a:r>
              <a:rPr lang="en-US"/>
              <a:t>Click to edit Master title style</a:t>
            </a:r>
            <a:endParaRPr lang="en-US" dirty="0"/>
          </a:p>
        </p:txBody>
      </p:sp>
      <p:sp>
        <p:nvSpPr>
          <p:cNvPr id="3" name="Text Placeholder 2"/>
          <p:cNvSpPr>
            <a:spLocks noGrp="1"/>
          </p:cNvSpPr>
          <p:nvPr>
            <p:ph type="body" idx="1"/>
          </p:nvPr>
        </p:nvSpPr>
        <p:spPr>
          <a:xfrm>
            <a:off x="1454239" y="3806195"/>
            <a:ext cx="8630446" cy="1012929"/>
          </a:xfrm>
        </p:spPr>
        <p:txBody>
          <a:bodyPr tIns="91440">
            <a:normAutofit/>
          </a:bodyPr>
          <a:lstStyle>
            <a:lvl1pPr marL="0" indent="0" algn="l">
              <a:buNone/>
              <a:defRPr sz="1800">
                <a:solidFill>
                  <a:schemeClr val="tx1"/>
                </a:solidFill>
              </a:defRPr>
            </a:lvl1pPr>
            <a:lvl2pPr marL="457200" indent="0">
              <a:buNone/>
              <a:defRPr sz="18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EF61E88-A186-394E-83B0-C95AB89BE3CE}" type="datetimeFigureOut">
              <a:rPr lang="en-VN" smtClean="0"/>
              <a:t>13/12/2023</a:t>
            </a:fld>
            <a:endParaRPr lang="en-VN"/>
          </a:p>
        </p:txBody>
      </p:sp>
      <p:sp>
        <p:nvSpPr>
          <p:cNvPr id="5" name="Footer Placeholder 4"/>
          <p:cNvSpPr>
            <a:spLocks noGrp="1"/>
          </p:cNvSpPr>
          <p:nvPr>
            <p:ph type="ftr" sz="quarter" idx="11"/>
          </p:nvPr>
        </p:nvSpPr>
        <p:spPr/>
        <p:txBody>
          <a:bodyPr/>
          <a:lstStyle/>
          <a:p>
            <a:endParaRPr lang="en-VN"/>
          </a:p>
        </p:txBody>
      </p:sp>
      <p:sp>
        <p:nvSpPr>
          <p:cNvPr id="6" name="Slide Number Placeholder 5"/>
          <p:cNvSpPr>
            <a:spLocks noGrp="1"/>
          </p:cNvSpPr>
          <p:nvPr>
            <p:ph type="sldNum" sz="quarter" idx="12"/>
          </p:nvPr>
        </p:nvSpPr>
        <p:spPr/>
        <p:txBody>
          <a:bodyPr/>
          <a:lstStyle/>
          <a:p>
            <a:fld id="{AB7131A4-70E5-2C47-979D-CC0A508A1115}" type="slidenum">
              <a:rPr lang="en-VN" smtClean="0"/>
              <a:t>‹#›</a:t>
            </a:fld>
            <a:endParaRPr lang="en-VN"/>
          </a:p>
        </p:txBody>
      </p:sp>
      <p:cxnSp>
        <p:nvCxnSpPr>
          <p:cNvPr id="15" name="Straight Connector 14"/>
          <p:cNvCxnSpPr/>
          <p:nvPr/>
        </p:nvCxnSpPr>
        <p:spPr>
          <a:xfrm>
            <a:off x="1454239" y="3804985"/>
            <a:ext cx="8630446"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224645856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1449217" y="804889"/>
            <a:ext cx="9605635" cy="1059305"/>
          </a:xfrm>
        </p:spPr>
        <p:txBody>
          <a:bodyPr/>
          <a:lstStyle/>
          <a:p>
            <a:r>
              <a:rPr lang="en-US"/>
              <a:t>Click to edit Master title style</a:t>
            </a:r>
            <a:endParaRPr lang="en-US" dirty="0"/>
          </a:p>
        </p:txBody>
      </p:sp>
      <p:sp>
        <p:nvSpPr>
          <p:cNvPr id="3" name="Content Placeholder 2"/>
          <p:cNvSpPr>
            <a:spLocks noGrp="1"/>
          </p:cNvSpPr>
          <p:nvPr>
            <p:ph sz="half" idx="1"/>
          </p:nvPr>
        </p:nvSpPr>
        <p:spPr>
          <a:xfrm>
            <a:off x="1447331" y="2010878"/>
            <a:ext cx="4645152" cy="344859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413771" y="2017343"/>
            <a:ext cx="4645152" cy="344152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1EF61E88-A186-394E-83B0-C95AB89BE3CE}" type="datetimeFigureOut">
              <a:rPr lang="en-VN" smtClean="0"/>
              <a:t>13/12/2023</a:t>
            </a:fld>
            <a:endParaRPr lang="en-VN"/>
          </a:p>
        </p:txBody>
      </p:sp>
      <p:sp>
        <p:nvSpPr>
          <p:cNvPr id="6" name="Footer Placeholder 5"/>
          <p:cNvSpPr>
            <a:spLocks noGrp="1"/>
          </p:cNvSpPr>
          <p:nvPr>
            <p:ph type="ftr" sz="quarter" idx="11"/>
          </p:nvPr>
        </p:nvSpPr>
        <p:spPr/>
        <p:txBody>
          <a:bodyPr/>
          <a:lstStyle/>
          <a:p>
            <a:endParaRPr lang="en-VN"/>
          </a:p>
        </p:txBody>
      </p:sp>
      <p:sp>
        <p:nvSpPr>
          <p:cNvPr id="7" name="Slide Number Placeholder 6"/>
          <p:cNvSpPr>
            <a:spLocks noGrp="1"/>
          </p:cNvSpPr>
          <p:nvPr>
            <p:ph type="sldNum" sz="quarter" idx="12"/>
          </p:nvPr>
        </p:nvSpPr>
        <p:spPr/>
        <p:txBody>
          <a:bodyPr/>
          <a:lstStyle/>
          <a:p>
            <a:fld id="{AB7131A4-70E5-2C47-979D-CC0A508A1115}" type="slidenum">
              <a:rPr lang="en-VN" smtClean="0"/>
              <a:t>‹#›</a:t>
            </a:fld>
            <a:endParaRPr lang="en-VN"/>
          </a:p>
        </p:txBody>
      </p:sp>
      <p:cxnSp>
        <p:nvCxnSpPr>
          <p:cNvPr id="35" name="Straight Connector 34"/>
          <p:cNvCxnSpPr/>
          <p:nvPr/>
        </p:nvCxnSpPr>
        <p:spPr>
          <a:xfrm>
            <a:off x="1453896" y="1847088"/>
            <a:ext cx="9607522"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213319305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1447191" y="804163"/>
            <a:ext cx="9607661" cy="1056319"/>
          </a:xfrm>
        </p:spPr>
        <p:txBody>
          <a:bodyPr/>
          <a:lstStyle/>
          <a:p>
            <a:r>
              <a:rPr lang="en-US"/>
              <a:t>Click to edit Master title style</a:t>
            </a:r>
            <a:endParaRPr lang="en-US" dirty="0"/>
          </a:p>
        </p:txBody>
      </p:sp>
      <p:sp>
        <p:nvSpPr>
          <p:cNvPr id="3" name="Text Placeholder 2"/>
          <p:cNvSpPr>
            <a:spLocks noGrp="1"/>
          </p:cNvSpPr>
          <p:nvPr>
            <p:ph type="body" idx="1"/>
          </p:nvPr>
        </p:nvSpPr>
        <p:spPr>
          <a:xfrm>
            <a:off x="1447191" y="2019549"/>
            <a:ext cx="4645152" cy="801943"/>
          </a:xfrm>
        </p:spPr>
        <p:txBody>
          <a:bodyPr anchor="b">
            <a:normAutofit/>
          </a:bodyPr>
          <a:lstStyle>
            <a:lvl1pPr marL="0" indent="0">
              <a:lnSpc>
                <a:spcPct val="100000"/>
              </a:lnSpc>
              <a:buNone/>
              <a:defRPr sz="2200" b="0" cap="all" baseline="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447191" y="2824269"/>
            <a:ext cx="4645152" cy="264445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412362" y="2023003"/>
            <a:ext cx="4645152" cy="802237"/>
          </a:xfrm>
        </p:spPr>
        <p:txBody>
          <a:bodyPr anchor="b">
            <a:normAutofit/>
          </a:bodyPr>
          <a:lstStyle>
            <a:lvl1pPr marL="0" indent="0">
              <a:lnSpc>
                <a:spcPct val="100000"/>
              </a:lnSpc>
              <a:buNone/>
              <a:defRPr sz="2200" b="0" cap="all" baseline="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412362" y="2821491"/>
            <a:ext cx="4645152" cy="263737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1EF61E88-A186-394E-83B0-C95AB89BE3CE}" type="datetimeFigureOut">
              <a:rPr lang="en-VN" smtClean="0"/>
              <a:t>13/12/2023</a:t>
            </a:fld>
            <a:endParaRPr lang="en-VN"/>
          </a:p>
        </p:txBody>
      </p:sp>
      <p:sp>
        <p:nvSpPr>
          <p:cNvPr id="8" name="Footer Placeholder 7"/>
          <p:cNvSpPr>
            <a:spLocks noGrp="1"/>
          </p:cNvSpPr>
          <p:nvPr>
            <p:ph type="ftr" sz="quarter" idx="11"/>
          </p:nvPr>
        </p:nvSpPr>
        <p:spPr/>
        <p:txBody>
          <a:bodyPr/>
          <a:lstStyle/>
          <a:p>
            <a:endParaRPr lang="en-VN"/>
          </a:p>
        </p:txBody>
      </p:sp>
      <p:sp>
        <p:nvSpPr>
          <p:cNvPr id="9" name="Slide Number Placeholder 8"/>
          <p:cNvSpPr>
            <a:spLocks noGrp="1"/>
          </p:cNvSpPr>
          <p:nvPr>
            <p:ph type="sldNum" sz="quarter" idx="12"/>
          </p:nvPr>
        </p:nvSpPr>
        <p:spPr/>
        <p:txBody>
          <a:bodyPr/>
          <a:lstStyle/>
          <a:p>
            <a:fld id="{AB7131A4-70E5-2C47-979D-CC0A508A1115}" type="slidenum">
              <a:rPr lang="en-VN" smtClean="0"/>
              <a:t>‹#›</a:t>
            </a:fld>
            <a:endParaRPr lang="en-VN"/>
          </a:p>
        </p:txBody>
      </p:sp>
      <p:cxnSp>
        <p:nvCxnSpPr>
          <p:cNvPr id="29" name="Straight Connector 28"/>
          <p:cNvCxnSpPr/>
          <p:nvPr/>
        </p:nvCxnSpPr>
        <p:spPr>
          <a:xfrm>
            <a:off x="1453896" y="1847088"/>
            <a:ext cx="9607522"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27207197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1EF61E88-A186-394E-83B0-C95AB89BE3CE}" type="datetimeFigureOut">
              <a:rPr lang="en-VN" smtClean="0"/>
              <a:t>13/12/2023</a:t>
            </a:fld>
            <a:endParaRPr lang="en-VN"/>
          </a:p>
        </p:txBody>
      </p:sp>
      <p:sp>
        <p:nvSpPr>
          <p:cNvPr id="4" name="Footer Placeholder 3"/>
          <p:cNvSpPr>
            <a:spLocks noGrp="1"/>
          </p:cNvSpPr>
          <p:nvPr>
            <p:ph type="ftr" sz="quarter" idx="11"/>
          </p:nvPr>
        </p:nvSpPr>
        <p:spPr/>
        <p:txBody>
          <a:bodyPr/>
          <a:lstStyle/>
          <a:p>
            <a:endParaRPr lang="en-VN"/>
          </a:p>
        </p:txBody>
      </p:sp>
      <p:sp>
        <p:nvSpPr>
          <p:cNvPr id="5" name="Slide Number Placeholder 4"/>
          <p:cNvSpPr>
            <a:spLocks noGrp="1"/>
          </p:cNvSpPr>
          <p:nvPr>
            <p:ph type="sldNum" sz="quarter" idx="12"/>
          </p:nvPr>
        </p:nvSpPr>
        <p:spPr/>
        <p:txBody>
          <a:bodyPr/>
          <a:lstStyle/>
          <a:p>
            <a:fld id="{AB7131A4-70E5-2C47-979D-CC0A508A1115}" type="slidenum">
              <a:rPr lang="en-VN" smtClean="0"/>
              <a:t>‹#›</a:t>
            </a:fld>
            <a:endParaRPr lang="en-VN"/>
          </a:p>
        </p:txBody>
      </p:sp>
      <p:cxnSp>
        <p:nvCxnSpPr>
          <p:cNvPr id="25" name="Straight Connector 24"/>
          <p:cNvCxnSpPr/>
          <p:nvPr/>
        </p:nvCxnSpPr>
        <p:spPr>
          <a:xfrm>
            <a:off x="1453896" y="1847088"/>
            <a:ext cx="9607522"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27569084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EF61E88-A186-394E-83B0-C95AB89BE3CE}" type="datetimeFigureOut">
              <a:rPr lang="en-VN" smtClean="0"/>
              <a:t>13/12/2023</a:t>
            </a:fld>
            <a:endParaRPr lang="en-VN"/>
          </a:p>
        </p:txBody>
      </p:sp>
      <p:sp>
        <p:nvSpPr>
          <p:cNvPr id="3" name="Footer Placeholder 2"/>
          <p:cNvSpPr>
            <a:spLocks noGrp="1"/>
          </p:cNvSpPr>
          <p:nvPr>
            <p:ph type="ftr" sz="quarter" idx="11"/>
          </p:nvPr>
        </p:nvSpPr>
        <p:spPr/>
        <p:txBody>
          <a:bodyPr/>
          <a:lstStyle/>
          <a:p>
            <a:endParaRPr lang="en-VN"/>
          </a:p>
        </p:txBody>
      </p:sp>
      <p:sp>
        <p:nvSpPr>
          <p:cNvPr id="4" name="Slide Number Placeholder 3"/>
          <p:cNvSpPr>
            <a:spLocks noGrp="1"/>
          </p:cNvSpPr>
          <p:nvPr>
            <p:ph type="sldNum" sz="quarter" idx="12"/>
          </p:nvPr>
        </p:nvSpPr>
        <p:spPr/>
        <p:txBody>
          <a:bodyPr/>
          <a:lstStyle/>
          <a:p>
            <a:fld id="{AB7131A4-70E5-2C47-979D-CC0A508A1115}" type="slidenum">
              <a:rPr lang="en-VN" smtClean="0"/>
              <a:t>‹#›</a:t>
            </a:fld>
            <a:endParaRPr lang="en-VN"/>
          </a:p>
        </p:txBody>
      </p:sp>
    </p:spTree>
    <p:extLst>
      <p:ext uri="{BB962C8B-B14F-4D97-AF65-F5344CB8AC3E}">
        <p14:creationId xmlns:p14="http://schemas.microsoft.com/office/powerpoint/2010/main" val="352877081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444671" y="798973"/>
            <a:ext cx="3273099" cy="2247117"/>
          </a:xfrm>
        </p:spPr>
        <p:txBody>
          <a:bodyPr anchor="b">
            <a:normAutofit/>
          </a:bodyPr>
          <a:lstStyle>
            <a:lvl1pPr algn="l">
              <a:defRPr sz="2400"/>
            </a:lvl1pPr>
          </a:lstStyle>
          <a:p>
            <a:r>
              <a:rPr lang="en-US"/>
              <a:t>Click to edit Master title style</a:t>
            </a:r>
            <a:endParaRPr lang="en-US" dirty="0"/>
          </a:p>
        </p:txBody>
      </p:sp>
      <p:sp>
        <p:nvSpPr>
          <p:cNvPr id="3" name="Content Placeholder 2"/>
          <p:cNvSpPr>
            <a:spLocks noGrp="1"/>
          </p:cNvSpPr>
          <p:nvPr>
            <p:ph idx="1"/>
          </p:nvPr>
        </p:nvSpPr>
        <p:spPr>
          <a:xfrm>
            <a:off x="5043714" y="798974"/>
            <a:ext cx="6012470" cy="4658826"/>
          </a:xfrm>
        </p:spPr>
        <p:txBody>
          <a:bodyPr anchor="ct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444671" y="3205491"/>
            <a:ext cx="3275013" cy="2248181"/>
          </a:xfrm>
        </p:spPr>
        <p:txBody>
          <a:bodyPr/>
          <a:lstStyle>
            <a:lvl1pPr marL="0" indent="0" algn="l">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1EF61E88-A186-394E-83B0-C95AB89BE3CE}" type="datetimeFigureOut">
              <a:rPr lang="en-VN" smtClean="0"/>
              <a:t>13/12/2023</a:t>
            </a:fld>
            <a:endParaRPr lang="en-VN"/>
          </a:p>
        </p:txBody>
      </p:sp>
      <p:sp>
        <p:nvSpPr>
          <p:cNvPr id="6" name="Footer Placeholder 5"/>
          <p:cNvSpPr>
            <a:spLocks noGrp="1"/>
          </p:cNvSpPr>
          <p:nvPr>
            <p:ph type="ftr" sz="quarter" idx="11"/>
          </p:nvPr>
        </p:nvSpPr>
        <p:spPr/>
        <p:txBody>
          <a:bodyPr/>
          <a:lstStyle/>
          <a:p>
            <a:endParaRPr lang="en-VN"/>
          </a:p>
        </p:txBody>
      </p:sp>
      <p:sp>
        <p:nvSpPr>
          <p:cNvPr id="7" name="Slide Number Placeholder 6"/>
          <p:cNvSpPr>
            <a:spLocks noGrp="1"/>
          </p:cNvSpPr>
          <p:nvPr>
            <p:ph type="sldNum" sz="quarter" idx="12"/>
          </p:nvPr>
        </p:nvSpPr>
        <p:spPr/>
        <p:txBody>
          <a:bodyPr/>
          <a:lstStyle/>
          <a:p>
            <a:fld id="{AB7131A4-70E5-2C47-979D-CC0A508A1115}" type="slidenum">
              <a:rPr lang="en-VN" smtClean="0"/>
              <a:t>‹#›</a:t>
            </a:fld>
            <a:endParaRPr lang="en-VN"/>
          </a:p>
        </p:txBody>
      </p:sp>
      <p:cxnSp>
        <p:nvCxnSpPr>
          <p:cNvPr id="17" name="Straight Connector 16"/>
          <p:cNvCxnSpPr/>
          <p:nvPr/>
        </p:nvCxnSpPr>
        <p:spPr>
          <a:xfrm>
            <a:off x="1448280" y="3205491"/>
            <a:ext cx="3269490"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963394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grpSp>
        <p:nvGrpSpPr>
          <p:cNvPr id="8" name="Group 7"/>
          <p:cNvGrpSpPr/>
          <p:nvPr/>
        </p:nvGrpSpPr>
        <p:grpSpPr>
          <a:xfrm>
            <a:off x="7477387" y="482170"/>
            <a:ext cx="4074533" cy="5149101"/>
            <a:chOff x="7477387" y="482170"/>
            <a:chExt cx="4074533" cy="5149101"/>
          </a:xfrm>
        </p:grpSpPr>
        <p:sp>
          <p:nvSpPr>
            <p:cNvPr id="18" name="Rectangle 17"/>
            <p:cNvSpPr/>
            <p:nvPr/>
          </p:nvSpPr>
          <p:spPr bwMode="black">
            <a:xfrm>
              <a:off x="7477387" y="482170"/>
              <a:ext cx="4074533" cy="5149101"/>
            </a:xfrm>
            <a:prstGeom prst="rect">
              <a:avLst/>
            </a:prstGeom>
            <a:gradFill>
              <a:gsLst>
                <a:gs pos="0">
                  <a:srgbClr val="000001"/>
                </a:gs>
                <a:gs pos="100000">
                  <a:srgbClr val="191919"/>
                </a:gs>
              </a:gsLst>
            </a:gradFill>
            <a:ln w="76200" cmpd="sng">
              <a:noFill/>
              <a:miter lim="800000"/>
            </a:ln>
            <a:effectLst>
              <a:outerShdw blurRad="127000" dist="228600" dir="4740000" sx="98000" sy="98000" algn="tl" rotWithShape="0">
                <a:srgbClr val="000000">
                  <a:alpha val="34000"/>
                </a:srgbClr>
              </a:outerShdw>
            </a:effectLst>
            <a:scene3d>
              <a:camera prst="orthographicFront"/>
              <a:lightRig rig="threePt" dir="t"/>
            </a:scene3d>
            <a:sp3d>
              <a:bevelT w="152400" h="50800" prst="softRound"/>
            </a:sp3d>
          </p:spPr>
          <p:style>
            <a:lnRef idx="1">
              <a:schemeClr val="accent1"/>
            </a:lnRef>
            <a:fillRef idx="3">
              <a:schemeClr val="accent1"/>
            </a:fillRef>
            <a:effectRef idx="2">
              <a:schemeClr val="accent1"/>
            </a:effectRef>
            <a:fontRef idx="minor">
              <a:schemeClr val="lt1"/>
            </a:fontRef>
          </p:style>
        </p:sp>
        <p:sp>
          <p:nvSpPr>
            <p:cNvPr id="19" name="Rectangle 18"/>
            <p:cNvSpPr/>
            <p:nvPr/>
          </p:nvSpPr>
          <p:spPr bwMode="blackWhite">
            <a:xfrm>
              <a:off x="7790446" y="812506"/>
              <a:ext cx="3450289" cy="4466452"/>
            </a:xfrm>
            <a:prstGeom prst="rect">
              <a:avLst/>
            </a:prstGeom>
            <a:gradFill>
              <a:gsLst>
                <a:gs pos="0">
                  <a:srgbClr val="DADADA"/>
                </a:gs>
                <a:gs pos="100000">
                  <a:srgbClr val="FFFFFE"/>
                </a:gs>
              </a:gsLst>
              <a:lin ang="16200000" scaled="0"/>
            </a:gradFill>
            <a:ln w="50800" cmpd="sng">
              <a:solidFill>
                <a:srgbClr val="191919"/>
              </a:solidFill>
              <a:miter lim="800000"/>
            </a:ln>
            <a:effectLst>
              <a:innerShdw blurRad="63500" dist="88900" dir="14100000">
                <a:srgbClr val="000000">
                  <a:alpha val="30000"/>
                </a:srgbClr>
              </a:innerShdw>
            </a:effectLst>
            <a:scene3d>
              <a:camera prst="orthographicFront"/>
              <a:lightRig rig="threePt" dir="t"/>
            </a:scene3d>
            <a:sp3d>
              <a:bevelT prst="relaxedInset"/>
            </a:sp3d>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title"/>
          </p:nvPr>
        </p:nvSpPr>
        <p:spPr>
          <a:xfrm>
            <a:off x="1451206" y="1129513"/>
            <a:ext cx="5532328" cy="1830584"/>
          </a:xfrm>
        </p:spPr>
        <p:txBody>
          <a:bodyPr anchor="b">
            <a:normAutofit/>
          </a:bodyPr>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8124389" y="1122542"/>
            <a:ext cx="2791171" cy="3866327"/>
          </a:xfrm>
          <a:solidFill>
            <a:schemeClr val="bg1">
              <a:lumMod val="85000"/>
            </a:schemeClr>
          </a:solidFill>
          <a:ln w="9525" cap="sq">
            <a:noFill/>
            <a:miter lim="800000"/>
          </a:ln>
          <a:effectLst/>
        </p:spPr>
        <p:txBody>
          <a:bodyPr anchor="t"/>
          <a:lstStyle>
            <a:lvl1pPr marL="0" indent="0" algn="ctr">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1450329" y="3145992"/>
            <a:ext cx="5524404" cy="2003742"/>
          </a:xfrm>
        </p:spPr>
        <p:txBody>
          <a:bodyPr>
            <a:normAutofit/>
          </a:bodyPr>
          <a:lstStyle>
            <a:lvl1pPr marL="0" indent="0" algn="l">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a:xfrm>
            <a:off x="1447382" y="5469856"/>
            <a:ext cx="5527351" cy="320123"/>
          </a:xfrm>
        </p:spPr>
        <p:txBody>
          <a:bodyPr/>
          <a:lstStyle>
            <a:lvl1pPr algn="l">
              <a:defRPr/>
            </a:lvl1pPr>
          </a:lstStyle>
          <a:p>
            <a:fld id="{1EF61E88-A186-394E-83B0-C95AB89BE3CE}" type="datetimeFigureOut">
              <a:rPr lang="en-VN" smtClean="0"/>
              <a:t>13/12/2023</a:t>
            </a:fld>
            <a:endParaRPr lang="en-VN"/>
          </a:p>
        </p:txBody>
      </p:sp>
      <p:sp>
        <p:nvSpPr>
          <p:cNvPr id="6" name="Footer Placeholder 5"/>
          <p:cNvSpPr>
            <a:spLocks noGrp="1"/>
          </p:cNvSpPr>
          <p:nvPr>
            <p:ph type="ftr" sz="quarter" idx="11"/>
          </p:nvPr>
        </p:nvSpPr>
        <p:spPr>
          <a:xfrm>
            <a:off x="1447382" y="318640"/>
            <a:ext cx="5541004" cy="320931"/>
          </a:xfrm>
        </p:spPr>
        <p:txBody>
          <a:bodyPr/>
          <a:lstStyle/>
          <a:p>
            <a:endParaRPr lang="en-US" dirty="0"/>
          </a:p>
        </p:txBody>
      </p:sp>
      <p:sp>
        <p:nvSpPr>
          <p:cNvPr id="7" name="Slide Number Placeholder 6"/>
          <p:cNvSpPr>
            <a:spLocks noGrp="1"/>
          </p:cNvSpPr>
          <p:nvPr>
            <p:ph type="sldNum" sz="quarter" idx="12"/>
          </p:nvPr>
        </p:nvSpPr>
        <p:spPr/>
        <p:txBody>
          <a:bodyPr/>
          <a:lstStyle/>
          <a:p>
            <a:fld id="{AB7131A4-70E5-2C47-979D-CC0A508A1115}" type="slidenum">
              <a:rPr lang="en-VN" smtClean="0"/>
              <a:t>‹#›</a:t>
            </a:fld>
            <a:endParaRPr lang="en-VN"/>
          </a:p>
        </p:txBody>
      </p:sp>
      <p:cxnSp>
        <p:nvCxnSpPr>
          <p:cNvPr id="31" name="Straight Connector 30"/>
          <p:cNvCxnSpPr/>
          <p:nvPr/>
        </p:nvCxnSpPr>
        <p:spPr>
          <a:xfrm>
            <a:off x="1447382" y="3143605"/>
            <a:ext cx="5527351"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425022639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1EF61E88-A186-394E-83B0-C95AB89BE3CE}" type="datetimeFigureOut">
              <a:rPr lang="en-VN" smtClean="0"/>
              <a:t>13/12/2023</a:t>
            </a:fld>
            <a:endParaRPr lang="en-VN"/>
          </a:p>
        </p:txBody>
      </p:sp>
      <p:sp>
        <p:nvSpPr>
          <p:cNvPr id="5" name="Footer Placeholder 4"/>
          <p:cNvSpPr>
            <a:spLocks noGrp="1"/>
          </p:cNvSpPr>
          <p:nvPr>
            <p:ph type="ftr" sz="quarter" idx="11"/>
          </p:nvPr>
        </p:nvSpPr>
        <p:spPr/>
        <p:txBody>
          <a:bodyPr/>
          <a:lstStyle/>
          <a:p>
            <a:endParaRPr lang="en-VN"/>
          </a:p>
        </p:txBody>
      </p:sp>
      <p:sp>
        <p:nvSpPr>
          <p:cNvPr id="6" name="Slide Number Placeholder 5"/>
          <p:cNvSpPr>
            <a:spLocks noGrp="1"/>
          </p:cNvSpPr>
          <p:nvPr>
            <p:ph type="sldNum" sz="quarter" idx="12"/>
          </p:nvPr>
        </p:nvSpPr>
        <p:spPr/>
        <p:txBody>
          <a:bodyPr/>
          <a:lstStyle/>
          <a:p>
            <a:fld id="{AB7131A4-70E5-2C47-979D-CC0A508A1115}" type="slidenum">
              <a:rPr lang="en-VN" smtClean="0"/>
              <a:t>‹#›</a:t>
            </a:fld>
            <a:endParaRPr lang="en-VN"/>
          </a:p>
        </p:txBody>
      </p:sp>
      <p:cxnSp>
        <p:nvCxnSpPr>
          <p:cNvPr id="26" name="Straight Connector 25"/>
          <p:cNvCxnSpPr/>
          <p:nvPr/>
        </p:nvCxnSpPr>
        <p:spPr>
          <a:xfrm>
            <a:off x="1453896" y="1847088"/>
            <a:ext cx="9607522"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123003263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439111" y="798973"/>
            <a:ext cx="1615742" cy="4659889"/>
          </a:xfrm>
        </p:spPr>
        <p:txBody>
          <a:bodyPr vert="eaVert"/>
          <a:lstStyle>
            <a:lvl1pPr algn="l">
              <a:defRPr/>
            </a:lvl1pPr>
          </a:lstStyle>
          <a:p>
            <a:r>
              <a:rPr lang="en-US"/>
              <a:t>Click to edit Master title style</a:t>
            </a:r>
            <a:endParaRPr lang="en-US" dirty="0"/>
          </a:p>
        </p:txBody>
      </p:sp>
      <p:sp>
        <p:nvSpPr>
          <p:cNvPr id="3" name="Vertical Text Placeholder 2"/>
          <p:cNvSpPr>
            <a:spLocks noGrp="1"/>
          </p:cNvSpPr>
          <p:nvPr>
            <p:ph type="body" orient="vert" idx="1"/>
          </p:nvPr>
        </p:nvSpPr>
        <p:spPr>
          <a:xfrm>
            <a:off x="1444672" y="798973"/>
            <a:ext cx="7828830" cy="4659889"/>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1EF61E88-A186-394E-83B0-C95AB89BE3CE}" type="datetimeFigureOut">
              <a:rPr lang="en-VN" smtClean="0"/>
              <a:t>13/12/2023</a:t>
            </a:fld>
            <a:endParaRPr lang="en-VN"/>
          </a:p>
        </p:txBody>
      </p:sp>
      <p:sp>
        <p:nvSpPr>
          <p:cNvPr id="5" name="Footer Placeholder 4"/>
          <p:cNvSpPr>
            <a:spLocks noGrp="1"/>
          </p:cNvSpPr>
          <p:nvPr>
            <p:ph type="ftr" sz="quarter" idx="11"/>
          </p:nvPr>
        </p:nvSpPr>
        <p:spPr/>
        <p:txBody>
          <a:bodyPr/>
          <a:lstStyle/>
          <a:p>
            <a:endParaRPr lang="en-VN"/>
          </a:p>
        </p:txBody>
      </p:sp>
      <p:sp>
        <p:nvSpPr>
          <p:cNvPr id="6" name="Slide Number Placeholder 5"/>
          <p:cNvSpPr>
            <a:spLocks noGrp="1"/>
          </p:cNvSpPr>
          <p:nvPr>
            <p:ph type="sldNum" sz="quarter" idx="12"/>
          </p:nvPr>
        </p:nvSpPr>
        <p:spPr/>
        <p:txBody>
          <a:bodyPr/>
          <a:lstStyle/>
          <a:p>
            <a:fld id="{AB7131A4-70E5-2C47-979D-CC0A508A1115}" type="slidenum">
              <a:rPr lang="en-VN" smtClean="0"/>
              <a:t>‹#›</a:t>
            </a:fld>
            <a:endParaRPr lang="en-VN"/>
          </a:p>
        </p:txBody>
      </p:sp>
      <p:cxnSp>
        <p:nvCxnSpPr>
          <p:cNvPr id="15" name="Straight Connector 14"/>
          <p:cNvCxnSpPr/>
          <p:nvPr/>
        </p:nvCxnSpPr>
        <p:spPr>
          <a:xfrm>
            <a:off x="9439111" y="798973"/>
            <a:ext cx="0" cy="4659889"/>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380692191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sp>
        <p:nvSpPr>
          <p:cNvPr id="8" name="Rectangle 7"/>
          <p:cNvSpPr/>
          <p:nvPr/>
        </p:nvSpPr>
        <p:spPr>
          <a:xfrm>
            <a:off x="0" y="2019476"/>
            <a:ext cx="12192000" cy="4105941"/>
          </a:xfrm>
          <a:prstGeom prst="rect">
            <a:avLst/>
          </a:prstGeom>
          <a:gradFill flip="none" rotWithShape="1">
            <a:gsLst>
              <a:gs pos="0">
                <a:schemeClr val="bg2">
                  <a:alpha val="0"/>
                </a:schemeClr>
              </a:gs>
              <a:gs pos="100000">
                <a:schemeClr val="bg2"/>
              </a:gs>
            </a:gsLst>
            <a:lin ang="5400000" scaled="0"/>
            <a:tileRect/>
          </a:gradFill>
          <a:ln>
            <a:noFill/>
          </a:ln>
        </p:spPr>
        <p:style>
          <a:lnRef idx="2">
            <a:schemeClr val="accent1">
              <a:shade val="50000"/>
            </a:schemeClr>
          </a:lnRef>
          <a:fillRef idx="1">
            <a:schemeClr val="accent1"/>
          </a:fillRef>
          <a:effectRef idx="0">
            <a:schemeClr val="accent1"/>
          </a:effectRef>
          <a:fontRef idx="minor">
            <a:schemeClr val="lt1"/>
          </a:fontRef>
        </p:style>
      </p:sp>
      <p:pic>
        <p:nvPicPr>
          <p:cNvPr id="7" name="Picture 6"/>
          <p:cNvPicPr>
            <a:picLocks noChangeAspect="1"/>
          </p:cNvPicPr>
          <p:nvPr/>
        </p:nvPicPr>
        <p:blipFill rotWithShape="1">
          <a:blip r:embed="rId13">
            <a:extLst>
              <a:ext uri="{28A0092B-C50C-407E-A947-70E740481C1C}">
                <a14:useLocalDpi xmlns:a14="http://schemas.microsoft.com/office/drawing/2010/main" val="0"/>
              </a:ext>
            </a:extLst>
          </a:blip>
          <a:srcRect t="1538" b="-1538"/>
          <a:stretch/>
        </p:blipFill>
        <p:spPr bwMode="black">
          <a:xfrm>
            <a:off x="0" y="6126480"/>
            <a:ext cx="12192000" cy="742950"/>
          </a:xfrm>
          <a:prstGeom prst="rect">
            <a:avLst/>
          </a:prstGeom>
        </p:spPr>
      </p:pic>
      <p:sp>
        <p:nvSpPr>
          <p:cNvPr id="2" name="Title Placeholder 1"/>
          <p:cNvSpPr>
            <a:spLocks noGrp="1"/>
          </p:cNvSpPr>
          <p:nvPr>
            <p:ph type="title"/>
          </p:nvPr>
        </p:nvSpPr>
        <p:spPr>
          <a:xfrm>
            <a:off x="1451579" y="804519"/>
            <a:ext cx="9603275" cy="1049235"/>
          </a:xfrm>
          <a:prstGeom prst="rect">
            <a:avLst/>
          </a:prstGeom>
        </p:spPr>
        <p:txBody>
          <a:bodyPr vert="horz" lIns="91440" tIns="45720" rIns="91440" bIns="45720" rtlCol="0" anchor="t">
            <a:normAutofit/>
          </a:bodyPr>
          <a:lstStyle/>
          <a:p>
            <a:r>
              <a:rPr lang="en-US" dirty="0"/>
              <a:t>Click to edit Master title style</a:t>
            </a:r>
          </a:p>
        </p:txBody>
      </p:sp>
      <p:sp>
        <p:nvSpPr>
          <p:cNvPr id="3" name="Text Placeholder 2"/>
          <p:cNvSpPr>
            <a:spLocks noGrp="1"/>
          </p:cNvSpPr>
          <p:nvPr>
            <p:ph type="body" idx="1"/>
          </p:nvPr>
        </p:nvSpPr>
        <p:spPr>
          <a:xfrm>
            <a:off x="1451579" y="2015732"/>
            <a:ext cx="9603275" cy="345061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554138" y="330370"/>
            <a:ext cx="3500715" cy="309201"/>
          </a:xfrm>
          <a:prstGeom prst="rect">
            <a:avLst/>
          </a:prstGeom>
        </p:spPr>
        <p:txBody>
          <a:bodyPr vert="horz" lIns="91440" tIns="45720" rIns="91440" bIns="45720" rtlCol="0" anchor="ctr"/>
          <a:lstStyle>
            <a:lvl1pPr algn="r">
              <a:defRPr sz="1000">
                <a:solidFill>
                  <a:schemeClr val="tx1">
                    <a:tint val="75000"/>
                  </a:schemeClr>
                </a:solidFill>
              </a:defRPr>
            </a:lvl1pPr>
          </a:lstStyle>
          <a:p>
            <a:fld id="{1EF61E88-A186-394E-83B0-C95AB89BE3CE}" type="datetimeFigureOut">
              <a:rPr lang="en-VN" smtClean="0"/>
              <a:t>13/12/2023</a:t>
            </a:fld>
            <a:endParaRPr lang="en-VN"/>
          </a:p>
        </p:txBody>
      </p:sp>
      <p:sp>
        <p:nvSpPr>
          <p:cNvPr id="5" name="Footer Placeholder 4"/>
          <p:cNvSpPr>
            <a:spLocks noGrp="1"/>
          </p:cNvSpPr>
          <p:nvPr>
            <p:ph type="ftr" sz="quarter" idx="3"/>
          </p:nvPr>
        </p:nvSpPr>
        <p:spPr>
          <a:xfrm>
            <a:off x="1451579" y="329307"/>
            <a:ext cx="5938836" cy="309201"/>
          </a:xfrm>
          <a:prstGeom prst="rect">
            <a:avLst/>
          </a:prstGeom>
        </p:spPr>
        <p:txBody>
          <a:bodyPr vert="horz" lIns="91440" tIns="45720" rIns="91440" bIns="45720" rtlCol="0" anchor="ctr"/>
          <a:lstStyle>
            <a:lvl1pPr algn="l">
              <a:defRPr sz="1000">
                <a:solidFill>
                  <a:schemeClr val="tx1">
                    <a:tint val="75000"/>
                  </a:schemeClr>
                </a:solidFill>
              </a:defRPr>
            </a:lvl1pPr>
          </a:lstStyle>
          <a:p>
            <a:endParaRPr lang="en-VN" dirty="0"/>
          </a:p>
        </p:txBody>
      </p:sp>
      <p:sp>
        <p:nvSpPr>
          <p:cNvPr id="6" name="Slide Number Placeholder 5"/>
          <p:cNvSpPr>
            <a:spLocks noGrp="1"/>
          </p:cNvSpPr>
          <p:nvPr>
            <p:ph type="sldNum" sz="quarter" idx="4"/>
          </p:nvPr>
        </p:nvSpPr>
        <p:spPr>
          <a:xfrm>
            <a:off x="480060" y="798973"/>
            <a:ext cx="811019" cy="503578"/>
          </a:xfrm>
          <a:prstGeom prst="rect">
            <a:avLst/>
          </a:prstGeom>
        </p:spPr>
        <p:txBody>
          <a:bodyPr vert="horz" lIns="91440" tIns="45720" rIns="91440" bIns="45720" rtlCol="0" anchor="t"/>
          <a:lstStyle>
            <a:lvl1pPr algn="r">
              <a:defRPr sz="2800">
                <a:solidFill>
                  <a:schemeClr val="accent1"/>
                </a:solidFill>
              </a:defRPr>
            </a:lvl1pPr>
          </a:lstStyle>
          <a:p>
            <a:fld id="{AB7131A4-70E5-2C47-979D-CC0A508A1115}" type="slidenum">
              <a:rPr lang="en-VN" smtClean="0"/>
              <a:t>‹#›</a:t>
            </a:fld>
            <a:endParaRPr lang="en-VN"/>
          </a:p>
        </p:txBody>
      </p:sp>
      <p:cxnSp>
        <p:nvCxnSpPr>
          <p:cNvPr id="10" name="Straight Connector 9"/>
          <p:cNvCxnSpPr/>
          <p:nvPr/>
        </p:nvCxnSpPr>
        <p:spPr>
          <a:xfrm>
            <a:off x="0" y="6128413"/>
            <a:ext cx="12192000" cy="0"/>
          </a:xfrm>
          <a:prstGeom prst="line">
            <a:avLst/>
          </a:prstGeom>
          <a:ln w="12700">
            <a:solidFill>
              <a:srgbClr val="000001">
                <a:alpha val="20000"/>
              </a:srgb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497159300"/>
      </p:ext>
    </p:extLst>
  </p:cSld>
  <p:clrMap bg1="lt1" tx1="dk1" bg2="lt2" tx2="dk2" accent1="accent1" accent2="accent2" accent3="accent3" accent4="accent4" accent5="accent5" accent6="accent6" hlink="hlink" folHlink="folHlink"/>
  <p:sldLayoutIdLst>
    <p:sldLayoutId id="2147483781" r:id="rId1"/>
    <p:sldLayoutId id="2147483782" r:id="rId2"/>
    <p:sldLayoutId id="2147483783" r:id="rId3"/>
    <p:sldLayoutId id="2147483784" r:id="rId4"/>
    <p:sldLayoutId id="2147483785" r:id="rId5"/>
    <p:sldLayoutId id="2147483786" r:id="rId6"/>
    <p:sldLayoutId id="2147483787" r:id="rId7"/>
    <p:sldLayoutId id="2147483788" r:id="rId8"/>
    <p:sldLayoutId id="2147483789" r:id="rId9"/>
    <p:sldLayoutId id="2147483790" r:id="rId10"/>
    <p:sldLayoutId id="2147483791" r:id="rId11"/>
  </p:sldLayoutIdLst>
  <p:txStyles>
    <p:titleStyle>
      <a:lvl1pPr algn="l" defTabSz="914400" rtl="0" eaLnBrk="1" latinLnBrk="0" hangingPunct="1">
        <a:lnSpc>
          <a:spcPct val="90000"/>
        </a:lnSpc>
        <a:spcBef>
          <a:spcPct val="0"/>
        </a:spcBef>
        <a:buNone/>
        <a:defRPr sz="3200" b="0" i="0" kern="1200" cap="all">
          <a:solidFill>
            <a:schemeClr val="tx1"/>
          </a:solidFill>
          <a:effectLst/>
          <a:latin typeface="+mj-lt"/>
          <a:ea typeface="+mj-ea"/>
          <a:cs typeface="+mj-cs"/>
        </a:defRPr>
      </a:lvl1pPr>
    </p:titleStyle>
    <p:bodyStyle>
      <a:lvl1pPr marL="228600" indent="-228600" algn="l" defTabSz="914400" rtl="0" eaLnBrk="1" latinLnBrk="0" hangingPunct="1">
        <a:lnSpc>
          <a:spcPct val="120000"/>
        </a:lnSpc>
        <a:spcBef>
          <a:spcPts val="1000"/>
        </a:spcBef>
        <a:buClr>
          <a:schemeClr val="accent1"/>
        </a:buClr>
        <a:buSzPct val="100000"/>
        <a:buFont typeface="Arial" panose="020B0604020202020204" pitchFamily="34" charset="0"/>
        <a:buChar char="•"/>
        <a:defRPr sz="2000" kern="1200">
          <a:solidFill>
            <a:schemeClr val="tx1"/>
          </a:solidFill>
          <a:effectLst/>
          <a:latin typeface="+mn-lt"/>
          <a:ea typeface="+mn-ea"/>
          <a:cs typeface="+mn-cs"/>
        </a:defRPr>
      </a:lvl1pPr>
      <a:lvl2pPr marL="6858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800" kern="1200" cap="none" baseline="0">
          <a:solidFill>
            <a:schemeClr val="tx1"/>
          </a:solidFill>
          <a:effectLst/>
          <a:latin typeface="+mn-lt"/>
          <a:ea typeface="+mn-ea"/>
          <a:cs typeface="+mn-cs"/>
        </a:defRPr>
      </a:lvl2pPr>
      <a:lvl3pPr marL="11430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600" kern="1200">
          <a:solidFill>
            <a:schemeClr val="tx1"/>
          </a:solidFill>
          <a:effectLst/>
          <a:latin typeface="+mn-lt"/>
          <a:ea typeface="+mn-ea"/>
          <a:cs typeface="+mn-cs"/>
        </a:defRPr>
      </a:lvl3pPr>
      <a:lvl4pPr marL="16002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400" kern="1200" cap="none" baseline="0">
          <a:solidFill>
            <a:schemeClr val="tx1"/>
          </a:solidFill>
          <a:effectLst/>
          <a:latin typeface="+mn-lt"/>
          <a:ea typeface="+mn-ea"/>
          <a:cs typeface="+mn-cs"/>
        </a:defRPr>
      </a:lvl4pPr>
      <a:lvl5pPr marL="20574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a:solidFill>
            <a:schemeClr val="tx1"/>
          </a:solidFill>
          <a:effectLst/>
          <a:latin typeface="+mn-lt"/>
          <a:ea typeface="+mn-ea"/>
          <a:cs typeface="+mn-cs"/>
        </a:defRPr>
      </a:lvl5pPr>
      <a:lvl6pPr marL="25146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a:solidFill>
            <a:schemeClr val="tx1"/>
          </a:solidFill>
          <a:effectLst/>
          <a:latin typeface="+mn-lt"/>
          <a:ea typeface="+mn-ea"/>
          <a:cs typeface="+mn-cs"/>
        </a:defRPr>
      </a:lvl6pPr>
      <a:lvl7pPr marL="29718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a:solidFill>
            <a:schemeClr val="tx1"/>
          </a:solidFill>
          <a:effectLst/>
          <a:latin typeface="+mn-lt"/>
          <a:ea typeface="+mn-ea"/>
          <a:cs typeface="+mn-cs"/>
        </a:defRPr>
      </a:lvl7pPr>
      <a:lvl8pPr marL="34290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baseline="0">
          <a:solidFill>
            <a:schemeClr val="tx1"/>
          </a:solidFill>
          <a:effectLst/>
          <a:latin typeface="+mn-lt"/>
          <a:ea typeface="+mn-ea"/>
          <a:cs typeface="+mn-cs"/>
        </a:defRPr>
      </a:lvl8pPr>
      <a:lvl9pPr marL="38862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baseline="0">
          <a:solidFill>
            <a:schemeClr val="tx1"/>
          </a:solidFill>
          <a:effectLst/>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image" Target="../media/image4.png"/><Relationship Id="rId1" Type="http://schemas.openxmlformats.org/officeDocument/2006/relationships/slideLayout" Target="../slideLayouts/slideLayout2.xml"/><Relationship Id="rId5" Type="http://schemas.openxmlformats.org/officeDocument/2006/relationships/image" Target="../media/image6.png"/><Relationship Id="rId4" Type="http://schemas.openxmlformats.org/officeDocument/2006/relationships/image" Target="../media/image5.emf"/></Relationships>
</file>

<file path=ppt/slides/_rels/slide4.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2.xml"/><Relationship Id="rId5" Type="http://schemas.openxmlformats.org/officeDocument/2006/relationships/image" Target="../media/image10.png"/><Relationship Id="rId4" Type="http://schemas.openxmlformats.org/officeDocument/2006/relationships/image" Target="../media/image9.png"/></Relationships>
</file>

<file path=ppt/slides/_rels/slide5.xml.rels><?xml version="1.0" encoding="UTF-8" standalone="yes"?>
<Relationships xmlns="http://schemas.openxmlformats.org/package/2006/relationships"><Relationship Id="rId3" Type="http://schemas.openxmlformats.org/officeDocument/2006/relationships/image" Target="../media/image11.emf"/><Relationship Id="rId2" Type="http://schemas.openxmlformats.org/officeDocument/2006/relationships/oleObject" Target="../embeddings/oleObject2.bin"/><Relationship Id="rId1" Type="http://schemas.openxmlformats.org/officeDocument/2006/relationships/slideLayout" Target="../slideLayouts/slideLayout2.xml"/><Relationship Id="rId5" Type="http://schemas.openxmlformats.org/officeDocument/2006/relationships/image" Target="../media/image12.emf"/><Relationship Id="rId4" Type="http://schemas.openxmlformats.org/officeDocument/2006/relationships/oleObject" Target="../embeddings/oleObject3.bin"/></Relationships>
</file>

<file path=ppt/slides/_rels/slide6.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png"/><Relationship Id="rId1" Type="http://schemas.openxmlformats.org/officeDocument/2006/relationships/slideLayout" Target="../slideLayouts/slideLayout2.xml"/><Relationship Id="rId4" Type="http://schemas.openxmlformats.org/officeDocument/2006/relationships/image" Target="../media/image15.png"/></Relationships>
</file>

<file path=ppt/slides/_rels/slide7.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6.png"/><Relationship Id="rId1" Type="http://schemas.openxmlformats.org/officeDocument/2006/relationships/slideLayout" Target="../slideLayouts/slideLayout2.xml"/><Relationship Id="rId5" Type="http://schemas.openxmlformats.org/officeDocument/2006/relationships/image" Target="../media/image19.png"/><Relationship Id="rId4" Type="http://schemas.openxmlformats.org/officeDocument/2006/relationships/image" Target="../media/image18.png"/></Relationships>
</file>

<file path=ppt/slides/_rels/slide8.xml.rels><?xml version="1.0" encoding="UTF-8" standalone="yes"?>
<Relationships xmlns="http://schemas.openxmlformats.org/package/2006/relationships"><Relationship Id="rId3" Type="http://schemas.openxmlformats.org/officeDocument/2006/relationships/image" Target="../media/image21.emf"/><Relationship Id="rId2" Type="http://schemas.openxmlformats.org/officeDocument/2006/relationships/image" Target="../media/image20.png"/><Relationship Id="rId1" Type="http://schemas.openxmlformats.org/officeDocument/2006/relationships/slideLayout" Target="../slideLayouts/slideLayout2.xml"/><Relationship Id="rId5" Type="http://schemas.openxmlformats.org/officeDocument/2006/relationships/image" Target="../media/image23.png"/><Relationship Id="rId4" Type="http://schemas.openxmlformats.org/officeDocument/2006/relationships/image" Target="../media/image22.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image" Target="../media/image24.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image" Target="../media/image26.png"/><Relationship Id="rId1" Type="http://schemas.openxmlformats.org/officeDocument/2006/relationships/slideLayout" Target="../slideLayouts/slideLayout2.xml"/><Relationship Id="rId4" Type="http://schemas.openxmlformats.org/officeDocument/2006/relationships/image" Target="../media/image28.png"/></Relationships>
</file>

<file path=ppt/slides/_rels/slide12.xml.rels><?xml version="1.0" encoding="UTF-8" standalone="yes"?>
<Relationships xmlns="http://schemas.openxmlformats.org/package/2006/relationships"><Relationship Id="rId8" Type="http://schemas.openxmlformats.org/officeDocument/2006/relationships/image" Target="../media/image35.png"/><Relationship Id="rId3" Type="http://schemas.openxmlformats.org/officeDocument/2006/relationships/image" Target="../media/image30.png"/><Relationship Id="rId7" Type="http://schemas.openxmlformats.org/officeDocument/2006/relationships/image" Target="../media/image34.png"/><Relationship Id="rId2" Type="http://schemas.openxmlformats.org/officeDocument/2006/relationships/image" Target="../media/image29.png"/><Relationship Id="rId1" Type="http://schemas.openxmlformats.org/officeDocument/2006/relationships/slideLayout" Target="../slideLayouts/slideLayout2.xml"/><Relationship Id="rId6" Type="http://schemas.openxmlformats.org/officeDocument/2006/relationships/image" Target="../media/image33.png"/><Relationship Id="rId5" Type="http://schemas.openxmlformats.org/officeDocument/2006/relationships/image" Target="../media/image32.png"/><Relationship Id="rId4" Type="http://schemas.openxmlformats.org/officeDocument/2006/relationships/image" Target="../media/image31.png"/></Relationships>
</file>

<file path=ppt/slides/_rels/slide13.xml.rels><?xml version="1.0" encoding="UTF-8" standalone="yes"?>
<Relationships xmlns="http://schemas.openxmlformats.org/package/2006/relationships"><Relationship Id="rId2" Type="http://schemas.openxmlformats.org/officeDocument/2006/relationships/image" Target="../media/image36.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notesSlide" Target="../notesSlides/notesSlide1.xml"/><Relationship Id="rId1" Type="http://schemas.openxmlformats.org/officeDocument/2006/relationships/slideLayout" Target="../slideLayouts/slideLayout2.xml"/><Relationship Id="rId5" Type="http://schemas.openxmlformats.org/officeDocument/2006/relationships/image" Target="../media/image39.png"/><Relationship Id="rId4" Type="http://schemas.openxmlformats.org/officeDocument/2006/relationships/image" Target="../media/image38.png"/></Relationships>
</file>

<file path=ppt/slides/_rels/slide15.xml.rels><?xml version="1.0" encoding="UTF-8" standalone="yes"?>
<Relationships xmlns="http://schemas.openxmlformats.org/package/2006/relationships"><Relationship Id="rId3" Type="http://schemas.openxmlformats.org/officeDocument/2006/relationships/image" Target="../media/image41.png"/><Relationship Id="rId7" Type="http://schemas.openxmlformats.org/officeDocument/2006/relationships/image" Target="../media/image45.png"/><Relationship Id="rId2" Type="http://schemas.openxmlformats.org/officeDocument/2006/relationships/image" Target="../media/image40.png"/><Relationship Id="rId1" Type="http://schemas.openxmlformats.org/officeDocument/2006/relationships/slideLayout" Target="../slideLayouts/slideLayout2.xml"/><Relationship Id="rId6" Type="http://schemas.openxmlformats.org/officeDocument/2006/relationships/image" Target="../media/image44.png"/><Relationship Id="rId5" Type="http://schemas.openxmlformats.org/officeDocument/2006/relationships/image" Target="../media/image43.png"/><Relationship Id="rId4" Type="http://schemas.openxmlformats.org/officeDocument/2006/relationships/image" Target="../media/image42.png"/></Relationships>
</file>

<file path=ppt/slides/_rels/slide16.xml.rels><?xml version="1.0" encoding="UTF-8" standalone="yes"?>
<Relationships xmlns="http://schemas.openxmlformats.org/package/2006/relationships"><Relationship Id="rId3" Type="http://schemas.openxmlformats.org/officeDocument/2006/relationships/image" Target="../media/image47.png"/><Relationship Id="rId2" Type="http://schemas.openxmlformats.org/officeDocument/2006/relationships/image" Target="../media/image46.png"/><Relationship Id="rId1" Type="http://schemas.openxmlformats.org/officeDocument/2006/relationships/slideLayout" Target="../slideLayouts/slideLayout2.xml"/><Relationship Id="rId6" Type="http://schemas.openxmlformats.org/officeDocument/2006/relationships/image" Target="../media/image50.png"/><Relationship Id="rId5" Type="http://schemas.openxmlformats.org/officeDocument/2006/relationships/image" Target="../media/image49.png"/><Relationship Id="rId4" Type="http://schemas.openxmlformats.org/officeDocument/2006/relationships/image" Target="../media/image48.png"/></Relationships>
</file>

<file path=ppt/slides/_rels/slide17.xml.rels><?xml version="1.0" encoding="UTF-8" standalone="yes"?>
<Relationships xmlns="http://schemas.openxmlformats.org/package/2006/relationships"><Relationship Id="rId3" Type="http://schemas.openxmlformats.org/officeDocument/2006/relationships/image" Target="../media/image52.png"/><Relationship Id="rId2" Type="http://schemas.openxmlformats.org/officeDocument/2006/relationships/image" Target="../media/image51.png"/><Relationship Id="rId1" Type="http://schemas.openxmlformats.org/officeDocument/2006/relationships/slideLayout" Target="../slideLayouts/slideLayout2.xml"/><Relationship Id="rId5" Type="http://schemas.openxmlformats.org/officeDocument/2006/relationships/image" Target="../media/image54.png"/><Relationship Id="rId4" Type="http://schemas.openxmlformats.org/officeDocument/2006/relationships/image" Target="../media/image53.png"/></Relationships>
</file>

<file path=ppt/slides/_rels/slide18.xml.rels><?xml version="1.0" encoding="UTF-8" standalone="yes"?>
<Relationships xmlns="http://schemas.openxmlformats.org/package/2006/relationships"><Relationship Id="rId2" Type="http://schemas.openxmlformats.org/officeDocument/2006/relationships/image" Target="../media/image55.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56.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57.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58.emf"/><Relationship Id="rId2" Type="http://schemas.openxmlformats.org/officeDocument/2006/relationships/oleObject" Target="../embeddings/oleObject4.bin"/><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60.png"/><Relationship Id="rId2" Type="http://schemas.openxmlformats.org/officeDocument/2006/relationships/image" Target="../media/image59.png"/><Relationship Id="rId1" Type="http://schemas.openxmlformats.org/officeDocument/2006/relationships/slideLayout" Target="../slideLayouts/slideLayout2.xml"/><Relationship Id="rId5" Type="http://schemas.openxmlformats.org/officeDocument/2006/relationships/image" Target="../media/image62.png"/><Relationship Id="rId4" Type="http://schemas.openxmlformats.org/officeDocument/2006/relationships/image" Target="../media/image61.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FF13693-A035-3C4E-7F71-6028A05A4966}"/>
              </a:ext>
            </a:extLst>
          </p:cNvPr>
          <p:cNvSpPr>
            <a:spLocks noGrp="1"/>
          </p:cNvSpPr>
          <p:nvPr>
            <p:ph type="ctrTitle"/>
          </p:nvPr>
        </p:nvSpPr>
        <p:spPr/>
        <p:txBody>
          <a:bodyPr>
            <a:normAutofit fontScale="90000"/>
          </a:bodyPr>
          <a:lstStyle/>
          <a:p>
            <a:r>
              <a:rPr lang="en-VN" dirty="0">
                <a:latin typeface="Arial" panose="020B0604020202020204" pitchFamily="34" charset="0"/>
                <a:cs typeface="Arial" panose="020B0604020202020204" pitchFamily="34" charset="0"/>
              </a:rPr>
              <a:t>CHƯƠNG 10: PHƯƠNG PHÁP ĐÁP ỨNG TẦN SỐ</a:t>
            </a:r>
          </a:p>
        </p:txBody>
      </p:sp>
      <p:sp>
        <p:nvSpPr>
          <p:cNvPr id="3" name="Subtitle 2">
            <a:extLst>
              <a:ext uri="{FF2B5EF4-FFF2-40B4-BE49-F238E27FC236}">
                <a16:creationId xmlns:a16="http://schemas.microsoft.com/office/drawing/2014/main" id="{AFEE02D5-7413-F104-1030-A7A1F479E957}"/>
              </a:ext>
            </a:extLst>
          </p:cNvPr>
          <p:cNvSpPr>
            <a:spLocks noGrp="1"/>
          </p:cNvSpPr>
          <p:nvPr>
            <p:ph type="subTitle" idx="1"/>
          </p:nvPr>
        </p:nvSpPr>
        <p:spPr/>
        <p:txBody>
          <a:bodyPr>
            <a:normAutofit/>
          </a:bodyPr>
          <a:lstStyle/>
          <a:p>
            <a:r>
              <a:rPr kumimoji="0" lang="en-VN" altLang="en-VN" sz="3600" b="0" i="1" u="none" strike="noStrike" cap="none" normalizeH="0" baseline="0" dirty="0">
                <a:ln>
                  <a:noFill/>
                </a:ln>
                <a:solidFill>
                  <a:schemeClr val="tx1"/>
                </a:solidFill>
                <a:effectLst/>
                <a:latin typeface="Arial" panose="020B0604020202020204" pitchFamily="34" charset="0"/>
                <a:cs typeface="Arial" panose="020B0604020202020204" pitchFamily="34" charset="0"/>
              </a:rPr>
              <a:t>Frequency Response Techniques</a:t>
            </a:r>
          </a:p>
        </p:txBody>
      </p:sp>
      <p:pic>
        <p:nvPicPr>
          <p:cNvPr id="1025" name="Picture 1" descr="page53image1145757968">
            <a:extLst>
              <a:ext uri="{FF2B5EF4-FFF2-40B4-BE49-F238E27FC236}">
                <a16:creationId xmlns:a16="http://schemas.microsoft.com/office/drawing/2014/main" id="{93647881-E3F9-0241-C1ED-5F534C819204}"/>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0"/>
            <a:ext cx="6019800" cy="4445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52969686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3240456-9F94-E3E6-A596-CCE08C0D1167}"/>
              </a:ext>
            </a:extLst>
          </p:cNvPr>
          <p:cNvSpPr>
            <a:spLocks noGrp="1"/>
          </p:cNvSpPr>
          <p:nvPr>
            <p:ph type="title"/>
          </p:nvPr>
        </p:nvSpPr>
        <p:spPr/>
        <p:txBody>
          <a:bodyPr/>
          <a:lstStyle/>
          <a:p>
            <a:r>
              <a:rPr lang="en-VN" dirty="0"/>
              <a:t>GIỚI THIỆU</a:t>
            </a:r>
          </a:p>
        </p:txBody>
      </p:sp>
      <mc:AlternateContent xmlns:mc="http://schemas.openxmlformats.org/markup-compatibility/2006">
        <mc:Choice xmlns:a14="http://schemas.microsoft.com/office/drawing/2010/main" Requires="a14">
          <p:sp>
            <p:nvSpPr>
              <p:cNvPr id="3" name="Content Placeholder 2">
                <a:extLst>
                  <a:ext uri="{FF2B5EF4-FFF2-40B4-BE49-F238E27FC236}">
                    <a16:creationId xmlns:a16="http://schemas.microsoft.com/office/drawing/2014/main" id="{8028EC68-F951-686A-B646-76ED5BB5AB97}"/>
                  </a:ext>
                </a:extLst>
              </p:cNvPr>
              <p:cNvSpPr>
                <a:spLocks noGrp="1"/>
              </p:cNvSpPr>
              <p:nvPr>
                <p:ph idx="1"/>
              </p:nvPr>
            </p:nvSpPr>
            <p:spPr>
              <a:xfrm>
                <a:off x="1451579" y="1244014"/>
                <a:ext cx="9714859" cy="4444399"/>
              </a:xfrm>
            </p:spPr>
            <p:txBody>
              <a:bodyPr>
                <a:normAutofit/>
              </a:bodyPr>
              <a:lstStyle/>
              <a:p>
                <a:pPr algn="just"/>
                <a:r>
                  <a:rPr lang="en-VN" sz="1600" dirty="0"/>
                  <a:t>Xác định tính ổn định của hệ thống trong miền tần số.</a:t>
                </a:r>
              </a:p>
              <a:p>
                <a:pPr algn="just"/>
                <a:r>
                  <a:rPr lang="vi-VN" sz="1600" dirty="0"/>
                  <a:t>Đáp ứng tần số biểu diễn đáp ứng của hệ thống với tín hiệu vào dạng sin ở trạng thái thường trực và cung cấp đầy đủ thông tin cho việc xác định tính ổn định tương đối của hệ thống. Đáp ứng tần số của hệ thống có thể đo được một cách dễ dàng bằng thực nghiệm, vì vậy có thể dùng được để nghiên cứu tính ổn định tương đối của hệ thống khi mà giá trị của các tham số hệ thống không xác định. Thêm nữa, điều kiện ổn định trong miền tần số rất hữu ích cho việc xác định các phương pháp thích hợp nhằm làm tăng tính ổn định tương đối của hệ thống. </a:t>
                </a:r>
              </a:p>
              <a:p>
                <a:pPr algn="just"/>
                <a:r>
                  <a:rPr lang="vi-VN" sz="1600" dirty="0"/>
                  <a:t>Điều kiện ổn định Nyquist (</a:t>
                </a:r>
                <a:r>
                  <a:rPr lang="vi-VN" sz="1600" i="1" dirty="0"/>
                  <a:t>Nyquist stability criterion</a:t>
                </a:r>
                <a:r>
                  <a:rPr lang="vi-VN" sz="1600" dirty="0"/>
                  <a:t>) (1932) là phương pháp mang tính nền tảng đối với việc nghiên cứu tính ổn định của hệ thống điều khiển tuyến tính.</a:t>
                </a:r>
                <a:endParaRPr lang="en-VN" sz="1600" dirty="0"/>
              </a:p>
              <a:p>
                <a:pPr algn="just"/>
                <a:r>
                  <a:rPr lang="en-VN" sz="1600" dirty="0"/>
                  <a:t>Để áp dụng điều kiện ổn định Nyquist, cần phải hiểu: (1) Mối quan hệ giữa điểm cực của </a:t>
                </a:r>
                <a14:m>
                  <m:oMath xmlns:m="http://schemas.openxmlformats.org/officeDocument/2006/math">
                    <m:r>
                      <a:rPr lang="en-US" sz="1600" b="0" i="1" smtClean="0">
                        <a:latin typeface="Cambria Math" panose="02040503050406030204" pitchFamily="18" charset="0"/>
                      </a:rPr>
                      <m:t>1+</m:t>
                    </m:r>
                    <m:r>
                      <a:rPr lang="en-US" sz="1600" b="0" i="1" smtClean="0">
                        <a:latin typeface="Cambria Math" panose="02040503050406030204" pitchFamily="18" charset="0"/>
                      </a:rPr>
                      <m:t>𝐺</m:t>
                    </m:r>
                    <m:d>
                      <m:dPr>
                        <m:ctrlPr>
                          <a:rPr lang="en-US" sz="1600" b="0" i="1" smtClean="0">
                            <a:latin typeface="Cambria Math" panose="02040503050406030204" pitchFamily="18" charset="0"/>
                          </a:rPr>
                        </m:ctrlPr>
                      </m:dPr>
                      <m:e>
                        <m:r>
                          <a:rPr lang="en-US" sz="1600" b="0" i="1" smtClean="0">
                            <a:latin typeface="Cambria Math" panose="02040503050406030204" pitchFamily="18" charset="0"/>
                          </a:rPr>
                          <m:t>𝑠</m:t>
                        </m:r>
                      </m:e>
                    </m:d>
                    <m:r>
                      <a:rPr lang="en-US" sz="1600" b="0" i="1" smtClean="0">
                        <a:latin typeface="Cambria Math" panose="02040503050406030204" pitchFamily="18" charset="0"/>
                      </a:rPr>
                      <m:t>𝐻</m:t>
                    </m:r>
                    <m:r>
                      <a:rPr lang="en-US" sz="1600" b="0" i="1" smtClean="0">
                        <a:latin typeface="Cambria Math" panose="02040503050406030204" pitchFamily="18" charset="0"/>
                      </a:rPr>
                      <m:t>(</m:t>
                    </m:r>
                    <m:r>
                      <a:rPr lang="en-US" sz="1600" b="0" i="1" smtClean="0">
                        <a:latin typeface="Cambria Math" panose="02040503050406030204" pitchFamily="18" charset="0"/>
                      </a:rPr>
                      <m:t>𝑠</m:t>
                    </m:r>
                    <m:r>
                      <a:rPr lang="en-US" sz="1600" b="0" i="1" smtClean="0">
                        <a:latin typeface="Cambria Math" panose="02040503050406030204" pitchFamily="18" charset="0"/>
                      </a:rPr>
                      <m:t>)</m:t>
                    </m:r>
                  </m:oMath>
                </a14:m>
                <a:r>
                  <a:rPr lang="vi-VN" sz="1600" dirty="0"/>
                  <a:t> và điểm cực của </a:t>
                </a:r>
                <a14:m>
                  <m:oMath xmlns:m="http://schemas.openxmlformats.org/officeDocument/2006/math">
                    <m:r>
                      <a:rPr lang="en-US" sz="1600" b="0" i="1" smtClean="0">
                        <a:latin typeface="Cambria Math" panose="02040503050406030204" pitchFamily="18" charset="0"/>
                      </a:rPr>
                      <m:t>𝐺</m:t>
                    </m:r>
                    <m:d>
                      <m:dPr>
                        <m:ctrlPr>
                          <a:rPr lang="en-US" sz="1600" b="0" i="1" smtClean="0">
                            <a:latin typeface="Cambria Math" panose="02040503050406030204" pitchFamily="18" charset="0"/>
                          </a:rPr>
                        </m:ctrlPr>
                      </m:dPr>
                      <m:e>
                        <m:r>
                          <a:rPr lang="en-US" sz="1600" b="0" i="1" smtClean="0">
                            <a:latin typeface="Cambria Math" panose="02040503050406030204" pitchFamily="18" charset="0"/>
                          </a:rPr>
                          <m:t>𝑠</m:t>
                        </m:r>
                      </m:e>
                    </m:d>
                    <m:r>
                      <a:rPr lang="en-US" sz="1600" b="0" i="1" smtClean="0">
                        <a:latin typeface="Cambria Math" panose="02040503050406030204" pitchFamily="18" charset="0"/>
                      </a:rPr>
                      <m:t>𝐻</m:t>
                    </m:r>
                    <m:r>
                      <a:rPr lang="en-US" sz="1600" b="0" i="1" smtClean="0">
                        <a:latin typeface="Cambria Math" panose="02040503050406030204" pitchFamily="18" charset="0"/>
                      </a:rPr>
                      <m:t>(</m:t>
                    </m:r>
                    <m:r>
                      <a:rPr lang="en-US" sz="1600" b="0" i="1" smtClean="0">
                        <a:latin typeface="Cambria Math" panose="02040503050406030204" pitchFamily="18" charset="0"/>
                      </a:rPr>
                      <m:t>𝑠</m:t>
                    </m:r>
                    <m:r>
                      <a:rPr lang="en-US" sz="1600" b="0" i="1" smtClean="0">
                        <a:latin typeface="Cambria Math" panose="02040503050406030204" pitchFamily="18" charset="0"/>
                      </a:rPr>
                      <m:t>)</m:t>
                    </m:r>
                  </m:oMath>
                </a14:m>
                <a:r>
                  <a:rPr lang="vi-VN" sz="1600" dirty="0"/>
                  <a:t>; (2) Mối quan hệ giữa điểm không của </a:t>
                </a:r>
                <a14:m>
                  <m:oMath xmlns:m="http://schemas.openxmlformats.org/officeDocument/2006/math">
                    <m:r>
                      <a:rPr lang="en-US" sz="1600" b="0" i="1" smtClean="0">
                        <a:latin typeface="Cambria Math" panose="02040503050406030204" pitchFamily="18" charset="0"/>
                      </a:rPr>
                      <m:t>1+</m:t>
                    </m:r>
                    <m:r>
                      <a:rPr lang="en-US" sz="1600" b="0" i="1" smtClean="0">
                        <a:latin typeface="Cambria Math" panose="02040503050406030204" pitchFamily="18" charset="0"/>
                      </a:rPr>
                      <m:t>𝐺</m:t>
                    </m:r>
                    <m:d>
                      <m:dPr>
                        <m:ctrlPr>
                          <a:rPr lang="en-US" sz="1600" b="0" i="1" smtClean="0">
                            <a:latin typeface="Cambria Math" panose="02040503050406030204" pitchFamily="18" charset="0"/>
                          </a:rPr>
                        </m:ctrlPr>
                      </m:dPr>
                      <m:e>
                        <m:r>
                          <a:rPr lang="en-US" sz="1600" b="0" i="1" smtClean="0">
                            <a:latin typeface="Cambria Math" panose="02040503050406030204" pitchFamily="18" charset="0"/>
                          </a:rPr>
                          <m:t>𝑠</m:t>
                        </m:r>
                      </m:e>
                    </m:d>
                    <m:r>
                      <a:rPr lang="en-US" sz="1600" b="0" i="1" smtClean="0">
                        <a:latin typeface="Cambria Math" panose="02040503050406030204" pitchFamily="18" charset="0"/>
                      </a:rPr>
                      <m:t>𝐻</m:t>
                    </m:r>
                    <m:r>
                      <a:rPr lang="en-US" sz="1600" b="0" i="1" smtClean="0">
                        <a:latin typeface="Cambria Math" panose="02040503050406030204" pitchFamily="18" charset="0"/>
                      </a:rPr>
                      <m:t>(</m:t>
                    </m:r>
                    <m:r>
                      <a:rPr lang="en-US" sz="1600" b="0" i="1" smtClean="0">
                        <a:latin typeface="Cambria Math" panose="02040503050406030204" pitchFamily="18" charset="0"/>
                      </a:rPr>
                      <m:t>𝑠</m:t>
                    </m:r>
                    <m:r>
                      <a:rPr lang="en-US" sz="1600" b="0" i="1" smtClean="0">
                        <a:latin typeface="Cambria Math" panose="02040503050406030204" pitchFamily="18" charset="0"/>
                      </a:rPr>
                      <m:t>)</m:t>
                    </m:r>
                  </m:oMath>
                </a14:m>
                <a:r>
                  <a:rPr lang="vi-VN" sz="1600" dirty="0"/>
                  <a:t> và điểm cực của hệ thống vòng kín; (3) Ánh xạ một điểm (</a:t>
                </a:r>
                <a:r>
                  <a:rPr lang="vi-VN" sz="1600" i="1" dirty="0"/>
                  <a:t>Mapping points</a:t>
                </a:r>
                <a:r>
                  <a:rPr lang="vi-VN" sz="1600" dirty="0"/>
                  <a:t>); (4) Ánh xạ của các chu tuyến (</a:t>
                </a:r>
                <a:r>
                  <a:rPr lang="vi-VN" sz="1600" i="1" dirty="0"/>
                  <a:t>Mapping contours</a:t>
                </a:r>
                <a:r>
                  <a:rPr lang="vi-VN" sz="1600" dirty="0"/>
                  <a:t>)</a:t>
                </a:r>
              </a:p>
            </p:txBody>
          </p:sp>
        </mc:Choice>
        <mc:Fallback>
          <p:sp>
            <p:nvSpPr>
              <p:cNvPr id="3" name="Content Placeholder 2">
                <a:extLst>
                  <a:ext uri="{FF2B5EF4-FFF2-40B4-BE49-F238E27FC236}">
                    <a16:creationId xmlns:a16="http://schemas.microsoft.com/office/drawing/2014/main" id="{8028EC68-F951-686A-B646-76ED5BB5AB97}"/>
                  </a:ext>
                </a:extLst>
              </p:cNvPr>
              <p:cNvSpPr>
                <a:spLocks noGrp="1" noRot="1" noChangeAspect="1" noMove="1" noResize="1" noEditPoints="1" noAdjustHandles="1" noChangeArrowheads="1" noChangeShapeType="1" noTextEdit="1"/>
              </p:cNvSpPr>
              <p:nvPr>
                <p:ph idx="1"/>
              </p:nvPr>
            </p:nvSpPr>
            <p:spPr>
              <a:xfrm>
                <a:off x="1451579" y="1244014"/>
                <a:ext cx="9714859" cy="4444399"/>
              </a:xfrm>
              <a:blipFill>
                <a:blip r:embed="rId2"/>
                <a:stretch>
                  <a:fillRect l="-261" r="-261"/>
                </a:stretch>
              </a:blipFill>
            </p:spPr>
            <p:txBody>
              <a:bodyPr/>
              <a:lstStyle/>
              <a:p>
                <a:r>
                  <a:rPr lang="en-VN">
                    <a:noFill/>
                  </a:rPr>
                  <a:t> </a:t>
                </a:r>
              </a:p>
            </p:txBody>
          </p:sp>
        </mc:Fallback>
      </mc:AlternateContent>
    </p:spTree>
    <p:extLst>
      <p:ext uri="{BB962C8B-B14F-4D97-AF65-F5344CB8AC3E}">
        <p14:creationId xmlns:p14="http://schemas.microsoft.com/office/powerpoint/2010/main" val="354541630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77896DF-FF24-07DF-259E-0A57D0AA3825}"/>
              </a:ext>
            </a:extLst>
          </p:cNvPr>
          <p:cNvSpPr>
            <a:spLocks noGrp="1"/>
          </p:cNvSpPr>
          <p:nvPr>
            <p:ph type="title"/>
          </p:nvPr>
        </p:nvSpPr>
        <p:spPr/>
        <p:txBody>
          <a:bodyPr/>
          <a:lstStyle/>
          <a:p>
            <a:r>
              <a:rPr lang="en-VN" dirty="0"/>
              <a:t>ÁNH XẠ CỦA CHU TUYẾN TRONG MẶT PHẲNG S</a:t>
            </a:r>
          </a:p>
        </p:txBody>
      </p:sp>
      <mc:AlternateContent xmlns:mc="http://schemas.openxmlformats.org/markup-compatibility/2006">
        <mc:Choice xmlns:a14="http://schemas.microsoft.com/office/drawing/2010/main" Requires="a14">
          <p:sp>
            <p:nvSpPr>
              <p:cNvPr id="3" name="Content Placeholder 2">
                <a:extLst>
                  <a:ext uri="{FF2B5EF4-FFF2-40B4-BE49-F238E27FC236}">
                    <a16:creationId xmlns:a16="http://schemas.microsoft.com/office/drawing/2014/main" id="{1017FD97-ED15-F00B-838C-21EADA039B29}"/>
                  </a:ext>
                </a:extLst>
              </p:cNvPr>
              <p:cNvSpPr>
                <a:spLocks noGrp="1"/>
              </p:cNvSpPr>
              <p:nvPr>
                <p:ph idx="1"/>
              </p:nvPr>
            </p:nvSpPr>
            <p:spPr/>
            <p:txBody>
              <a:bodyPr>
                <a:normAutofit/>
              </a:bodyPr>
              <a:lstStyle/>
              <a:p>
                <a:r>
                  <a:rPr lang="en-US" sz="1800" dirty="0"/>
                  <a:t>Ánh </a:t>
                </a:r>
                <a:r>
                  <a:rPr lang="en-US" sz="1800" dirty="0" err="1"/>
                  <a:t>xạ</a:t>
                </a:r>
                <a:r>
                  <a:rPr lang="en-US" sz="1800" dirty="0"/>
                  <a:t> </a:t>
                </a:r>
                <a:r>
                  <a:rPr lang="en-US" sz="1800" dirty="0" err="1"/>
                  <a:t>của</a:t>
                </a:r>
                <a:r>
                  <a:rPr lang="en-US" sz="1800" dirty="0"/>
                  <a:t> chu </a:t>
                </a:r>
                <a:r>
                  <a:rPr lang="en-US" sz="1800" dirty="0" err="1"/>
                  <a:t>tuyến</a:t>
                </a:r>
                <a:r>
                  <a:rPr lang="en-US" sz="1800" dirty="0"/>
                  <a:t> (</a:t>
                </a:r>
                <a:r>
                  <a:rPr lang="vi-VN" sz="1800" i="1" dirty="0"/>
                  <a:t>Mapping contours)</a:t>
                </a:r>
                <a:r>
                  <a:rPr lang="en-US" sz="1800" dirty="0"/>
                  <a:t> </a:t>
                </a:r>
                <a:r>
                  <a:rPr lang="en-US" sz="1800" dirty="0" err="1"/>
                  <a:t>là</a:t>
                </a:r>
                <a:r>
                  <a:rPr lang="en-US" sz="1800" dirty="0"/>
                  <a:t> </a:t>
                </a:r>
                <a:r>
                  <a:rPr lang="en-US" sz="1800" dirty="0" err="1"/>
                  <a:t>ánh</a:t>
                </a:r>
                <a:r>
                  <a:rPr lang="en-US" sz="1800" dirty="0"/>
                  <a:t> </a:t>
                </a:r>
                <a:r>
                  <a:rPr lang="en-US" sz="1800" dirty="0" err="1"/>
                  <a:t>xạ</a:t>
                </a:r>
                <a:r>
                  <a:rPr lang="en-US" sz="1800" dirty="0"/>
                  <a:t> </a:t>
                </a:r>
                <a:r>
                  <a:rPr lang="en-US" sz="1800" dirty="0" err="1"/>
                  <a:t>của</a:t>
                </a:r>
                <a:r>
                  <a:rPr lang="en-US" sz="1800" dirty="0"/>
                  <a:t> </a:t>
                </a:r>
                <a:r>
                  <a:rPr lang="en-US" sz="1800" dirty="0" err="1"/>
                  <a:t>một</a:t>
                </a:r>
                <a:r>
                  <a:rPr lang="en-US" sz="1800" dirty="0"/>
                  <a:t> chu </a:t>
                </a:r>
                <a:r>
                  <a:rPr lang="en-US" sz="1800" dirty="0" err="1"/>
                  <a:t>tuyến</a:t>
                </a:r>
                <a:r>
                  <a:rPr lang="en-US" sz="1800" dirty="0"/>
                  <a:t> hay </a:t>
                </a:r>
                <a:r>
                  <a:rPr lang="en-US" sz="1800" dirty="0" err="1"/>
                  <a:t>một</a:t>
                </a:r>
                <a:r>
                  <a:rPr lang="en-US" sz="1800" dirty="0"/>
                  <a:t> </a:t>
                </a:r>
                <a:r>
                  <a:rPr lang="en-US" sz="1800" dirty="0" err="1"/>
                  <a:t>quỹ</a:t>
                </a:r>
                <a:r>
                  <a:rPr lang="en-US" sz="1800" dirty="0"/>
                  <a:t> </a:t>
                </a:r>
                <a:r>
                  <a:rPr lang="en-US" sz="1800" dirty="0" err="1"/>
                  <a:t>đạo</a:t>
                </a:r>
                <a:r>
                  <a:rPr lang="en-US" sz="1800" dirty="0"/>
                  <a:t> </a:t>
                </a:r>
                <a:r>
                  <a:rPr lang="en-US" sz="1800" dirty="0" err="1"/>
                  <a:t>trong</a:t>
                </a:r>
                <a:r>
                  <a:rPr lang="en-US" sz="1800" dirty="0"/>
                  <a:t> </a:t>
                </a:r>
                <a:r>
                  <a:rPr lang="en-US" sz="1800" dirty="0" err="1"/>
                  <a:t>một</a:t>
                </a:r>
                <a:r>
                  <a:rPr lang="en-US" sz="1800" dirty="0"/>
                  <a:t> </a:t>
                </a:r>
                <a:r>
                  <a:rPr lang="en-US" sz="1800" dirty="0" err="1"/>
                  <a:t>mặt</a:t>
                </a:r>
                <a:r>
                  <a:rPr lang="en-US" sz="1800" dirty="0"/>
                  <a:t> </a:t>
                </a:r>
                <a:r>
                  <a:rPr lang="en-US" sz="1800" dirty="0" err="1"/>
                  <a:t>phẳng</a:t>
                </a:r>
                <a:r>
                  <a:rPr lang="en-US" sz="1800" dirty="0"/>
                  <a:t> </a:t>
                </a:r>
                <a:r>
                  <a:rPr lang="en-US" sz="1800" dirty="0" err="1"/>
                  <a:t>vào</a:t>
                </a:r>
                <a:r>
                  <a:rPr lang="en-US" sz="1800" dirty="0"/>
                  <a:t> </a:t>
                </a:r>
                <a:r>
                  <a:rPr lang="en-US" sz="1800" dirty="0" err="1"/>
                  <a:t>một</a:t>
                </a:r>
                <a:r>
                  <a:rPr lang="en-US" sz="1800" dirty="0"/>
                  <a:t> </a:t>
                </a:r>
                <a:r>
                  <a:rPr lang="en-US" sz="1800" dirty="0" err="1"/>
                  <a:t>mặt</a:t>
                </a:r>
                <a:r>
                  <a:rPr lang="en-US" sz="1800" dirty="0"/>
                  <a:t> </a:t>
                </a:r>
                <a:r>
                  <a:rPr lang="en-US" sz="1800" dirty="0" err="1"/>
                  <a:t>phẳng</a:t>
                </a:r>
                <a:r>
                  <a:rPr lang="en-US" sz="1800" dirty="0"/>
                  <a:t> </a:t>
                </a:r>
                <a:r>
                  <a:rPr lang="en-US" sz="1800" dirty="0" err="1"/>
                  <a:t>khác</a:t>
                </a:r>
                <a:r>
                  <a:rPr lang="en-US" sz="1800" dirty="0"/>
                  <a:t> </a:t>
                </a:r>
                <a:r>
                  <a:rPr lang="en-US" sz="1800" dirty="0" err="1"/>
                  <a:t>bởi</a:t>
                </a:r>
                <a:r>
                  <a:rPr lang="en-US" sz="1800" dirty="0"/>
                  <a:t> </a:t>
                </a:r>
                <a:r>
                  <a:rPr lang="en-US" sz="1800" dirty="0" err="1"/>
                  <a:t>một</a:t>
                </a:r>
                <a:r>
                  <a:rPr lang="en-US" sz="1800" dirty="0"/>
                  <a:t> </a:t>
                </a:r>
                <a:r>
                  <a:rPr lang="en-US" sz="1800" dirty="0" err="1"/>
                  <a:t>quan</a:t>
                </a:r>
                <a:r>
                  <a:rPr lang="en-US" sz="1800" dirty="0"/>
                  <a:t> </a:t>
                </a:r>
                <a:r>
                  <a:rPr lang="en-US" sz="1800" dirty="0" err="1"/>
                  <a:t>hệ</a:t>
                </a:r>
                <a:r>
                  <a:rPr lang="en-US" sz="1800" dirty="0"/>
                  <a:t> </a:t>
                </a:r>
                <a14:m>
                  <m:oMath xmlns:m="http://schemas.openxmlformats.org/officeDocument/2006/math">
                    <m:r>
                      <a:rPr lang="en-US" sz="1800" b="0" i="1" smtClean="0">
                        <a:latin typeface="Cambria Math" panose="02040503050406030204" pitchFamily="18" charset="0"/>
                      </a:rPr>
                      <m:t>𝐹</m:t>
                    </m:r>
                    <m:r>
                      <a:rPr lang="en-US" sz="1800" b="0" i="1" smtClean="0">
                        <a:latin typeface="Cambria Math" panose="02040503050406030204" pitchFamily="18" charset="0"/>
                      </a:rPr>
                      <m:t>(</m:t>
                    </m:r>
                    <m:r>
                      <a:rPr lang="en-US" sz="1800" b="0" i="1" smtClean="0">
                        <a:latin typeface="Cambria Math" panose="02040503050406030204" pitchFamily="18" charset="0"/>
                      </a:rPr>
                      <m:t>𝑠</m:t>
                    </m:r>
                    <m:r>
                      <a:rPr lang="en-US" sz="1800" b="0" i="1" smtClean="0">
                        <a:latin typeface="Cambria Math" panose="02040503050406030204" pitchFamily="18" charset="0"/>
                      </a:rPr>
                      <m:t>)</m:t>
                    </m:r>
                  </m:oMath>
                </a14:m>
                <a:r>
                  <a:rPr lang="en-US" sz="1800" dirty="0"/>
                  <a:t>. </a:t>
                </a:r>
              </a:p>
              <a:p>
                <a:pPr>
                  <a:tabLst>
                    <a:tab pos="7950200" algn="l"/>
                  </a:tabLst>
                </a:pPr>
                <a:r>
                  <a:rPr lang="en-VN" sz="1800" dirty="0"/>
                  <a:t>Do </a:t>
                </a:r>
                <a14:m>
                  <m:oMath xmlns:m="http://schemas.openxmlformats.org/officeDocument/2006/math">
                    <m:r>
                      <a:rPr lang="en-US" sz="1800" b="0" i="1" smtClean="0">
                        <a:latin typeface="Cambria Math" panose="02040503050406030204" pitchFamily="18" charset="0"/>
                      </a:rPr>
                      <m:t>𝑠</m:t>
                    </m:r>
                  </m:oMath>
                </a14:m>
                <a:r>
                  <a:rPr lang="en-VN" sz="1800" dirty="0"/>
                  <a:t> là một biến phức, hàm </a:t>
                </a:r>
                <a14:m>
                  <m:oMath xmlns:m="http://schemas.openxmlformats.org/officeDocument/2006/math">
                    <m:r>
                      <a:rPr lang="en-US" sz="1800" b="0" i="1" smtClean="0">
                        <a:latin typeface="Cambria Math" panose="02040503050406030204" pitchFamily="18" charset="0"/>
                      </a:rPr>
                      <m:t>𝐹</m:t>
                    </m:r>
                    <m:r>
                      <a:rPr lang="en-US" sz="1800" b="0" i="1" smtClean="0">
                        <a:latin typeface="Cambria Math" panose="02040503050406030204" pitchFamily="18" charset="0"/>
                      </a:rPr>
                      <m:t>(</m:t>
                    </m:r>
                    <m:r>
                      <a:rPr lang="en-US" sz="1800" b="0" i="1" smtClean="0">
                        <a:latin typeface="Cambria Math" panose="02040503050406030204" pitchFamily="18" charset="0"/>
                      </a:rPr>
                      <m:t>𝑠</m:t>
                    </m:r>
                    <m:r>
                      <a:rPr lang="en-US" sz="1800" b="0" i="1" smtClean="0">
                        <a:latin typeface="Cambria Math" panose="02040503050406030204" pitchFamily="18" charset="0"/>
                      </a:rPr>
                      <m:t>)</m:t>
                    </m:r>
                  </m:oMath>
                </a14:m>
                <a:r>
                  <a:rPr lang="en-VN" sz="1800" dirty="0"/>
                  <a:t> có giá trị phức, và có thể biểu diễn dưới dạng </a:t>
                </a:r>
                <a14:m>
                  <m:oMath xmlns:m="http://schemas.openxmlformats.org/officeDocument/2006/math">
                    <m:r>
                      <a:rPr lang="en-US" sz="1800" b="0" i="1" smtClean="0">
                        <a:latin typeface="Cambria Math" panose="02040503050406030204" pitchFamily="18" charset="0"/>
                      </a:rPr>
                      <m:t>𝐹</m:t>
                    </m:r>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𝑠</m:t>
                        </m:r>
                      </m:e>
                    </m:d>
                    <m:r>
                      <a:rPr lang="en-US" sz="1800" b="0" i="1" smtClean="0">
                        <a:latin typeface="Cambria Math" panose="02040503050406030204" pitchFamily="18" charset="0"/>
                      </a:rPr>
                      <m:t>=</m:t>
                    </m:r>
                    <m:r>
                      <a:rPr lang="en-US" sz="1800" b="0" i="1" smtClean="0">
                        <a:latin typeface="Cambria Math" panose="02040503050406030204" pitchFamily="18" charset="0"/>
                      </a:rPr>
                      <m:t>𝑢</m:t>
                    </m:r>
                    <m:r>
                      <a:rPr lang="en-US" sz="1800" b="0" i="1" smtClean="0">
                        <a:latin typeface="Cambria Math" panose="02040503050406030204" pitchFamily="18" charset="0"/>
                      </a:rPr>
                      <m:t>+</m:t>
                    </m:r>
                    <m:r>
                      <a:rPr lang="en-US" sz="1800" b="0" i="1" smtClean="0">
                        <a:latin typeface="Cambria Math" panose="02040503050406030204" pitchFamily="18" charset="0"/>
                      </a:rPr>
                      <m:t>𝑗𝑣</m:t>
                    </m:r>
                  </m:oMath>
                </a14:m>
                <a:r>
                  <a:rPr lang="en-VN" sz="1800" dirty="0"/>
                  <a:t>, được biểu diễn trong một mặt phẳng phức </a:t>
                </a:r>
                <a14:m>
                  <m:oMath xmlns:m="http://schemas.openxmlformats.org/officeDocument/2006/math">
                    <m:r>
                      <a:rPr lang="en-US" sz="1800" b="0" i="1" smtClean="0">
                        <a:latin typeface="Cambria Math" panose="02040503050406030204" pitchFamily="18" charset="0"/>
                      </a:rPr>
                      <m:t>𝐹</m:t>
                    </m:r>
                    <m:r>
                      <a:rPr lang="en-US" sz="1800" b="0" i="1" smtClean="0">
                        <a:latin typeface="Cambria Math" panose="02040503050406030204" pitchFamily="18" charset="0"/>
                      </a:rPr>
                      <m:t>(</m:t>
                    </m:r>
                    <m:r>
                      <a:rPr lang="en-US" sz="1800" b="0" i="1" smtClean="0">
                        <a:latin typeface="Cambria Math" panose="02040503050406030204" pitchFamily="18" charset="0"/>
                      </a:rPr>
                      <m:t>𝑠</m:t>
                    </m:r>
                    <m:r>
                      <a:rPr lang="en-US" sz="1800" b="0" i="1" smtClean="0">
                        <a:latin typeface="Cambria Math" panose="02040503050406030204" pitchFamily="18" charset="0"/>
                      </a:rPr>
                      <m:t>)</m:t>
                    </m:r>
                  </m:oMath>
                </a14:m>
                <a:r>
                  <a:rPr lang="en-VN" sz="1800" dirty="0"/>
                  <a:t> với các toạ độ </a:t>
                </a:r>
                <a14:m>
                  <m:oMath xmlns:m="http://schemas.openxmlformats.org/officeDocument/2006/math">
                    <m:r>
                      <a:rPr lang="en-US" sz="1800" b="0" i="1" smtClean="0">
                        <a:latin typeface="Cambria Math" panose="02040503050406030204" pitchFamily="18" charset="0"/>
                      </a:rPr>
                      <m:t>𝑢</m:t>
                    </m:r>
                    <m:r>
                      <a:rPr lang="en-US" sz="1800" b="0" i="1" smtClean="0">
                        <a:latin typeface="Cambria Math" panose="02040503050406030204" pitchFamily="18" charset="0"/>
                      </a:rPr>
                      <m:t>, </m:t>
                    </m:r>
                    <m:r>
                      <a:rPr lang="en-US" sz="1800" b="0" i="1" smtClean="0">
                        <a:latin typeface="Cambria Math" panose="02040503050406030204" pitchFamily="18" charset="0"/>
                      </a:rPr>
                      <m:t>𝑣</m:t>
                    </m:r>
                  </m:oMath>
                </a14:m>
                <a:r>
                  <a:rPr lang="en-VN" sz="1800" dirty="0"/>
                  <a:t>.</a:t>
                </a:r>
              </a:p>
              <a:p>
                <a:pPr>
                  <a:tabLst>
                    <a:tab pos="7950200" algn="l"/>
                  </a:tabLst>
                </a:pPr>
                <a:r>
                  <a:rPr lang="en-VN" sz="1800" dirty="0"/>
                  <a:t>Ví dụ: </a:t>
                </a:r>
                <a14:m>
                  <m:oMath xmlns:m="http://schemas.openxmlformats.org/officeDocument/2006/math">
                    <m:r>
                      <a:rPr lang="en-US" sz="1800" b="0" i="1" smtClean="0">
                        <a:latin typeface="Cambria Math" panose="02040503050406030204" pitchFamily="18" charset="0"/>
                      </a:rPr>
                      <m:t>𝐹</m:t>
                    </m:r>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𝑠</m:t>
                        </m:r>
                      </m:e>
                    </m:d>
                    <m:r>
                      <a:rPr lang="en-US" sz="1800" b="0" i="1" smtClean="0">
                        <a:latin typeface="Cambria Math" panose="02040503050406030204" pitchFamily="18" charset="0"/>
                      </a:rPr>
                      <m:t>=</m:t>
                    </m:r>
                    <m:r>
                      <a:rPr lang="en-US" sz="1800" b="0" i="1" smtClean="0">
                        <a:latin typeface="Cambria Math" panose="02040503050406030204" pitchFamily="18" charset="0"/>
                      </a:rPr>
                      <m:t>𝑢</m:t>
                    </m:r>
                    <m:r>
                      <a:rPr lang="en-US" sz="1800" b="0" i="1" smtClean="0">
                        <a:latin typeface="Cambria Math" panose="02040503050406030204" pitchFamily="18" charset="0"/>
                      </a:rPr>
                      <m:t>+</m:t>
                    </m:r>
                    <m:r>
                      <a:rPr lang="en-US" sz="1800" b="0" i="1" smtClean="0">
                        <a:latin typeface="Cambria Math" panose="02040503050406030204" pitchFamily="18" charset="0"/>
                      </a:rPr>
                      <m:t>𝑗𝑣</m:t>
                    </m:r>
                    <m:r>
                      <a:rPr lang="en-US" sz="1800" b="0" i="1" smtClean="0">
                        <a:latin typeface="Cambria Math" panose="02040503050406030204" pitchFamily="18" charset="0"/>
                      </a:rPr>
                      <m:t>=2</m:t>
                    </m:r>
                    <m:r>
                      <a:rPr lang="en-US" sz="1800" b="0" i="1" smtClean="0">
                        <a:latin typeface="Cambria Math" panose="02040503050406030204" pitchFamily="18" charset="0"/>
                      </a:rPr>
                      <m:t>𝑠</m:t>
                    </m:r>
                    <m:r>
                      <a:rPr lang="en-US" sz="1800" b="0" i="1" smtClean="0">
                        <a:latin typeface="Cambria Math" panose="02040503050406030204" pitchFamily="18" charset="0"/>
                      </a:rPr>
                      <m:t>+1=2</m:t>
                    </m:r>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𝜎</m:t>
                        </m:r>
                        <m:r>
                          <a:rPr lang="en-US" sz="1800" b="0" i="1" smtClean="0">
                            <a:latin typeface="Cambria Math" panose="02040503050406030204" pitchFamily="18" charset="0"/>
                          </a:rPr>
                          <m:t>+</m:t>
                        </m:r>
                        <m:r>
                          <a:rPr lang="en-US" sz="1800" b="0" i="1" smtClean="0">
                            <a:latin typeface="Cambria Math" panose="02040503050406030204" pitchFamily="18" charset="0"/>
                          </a:rPr>
                          <m:t>𝑗</m:t>
                        </m:r>
                        <m:r>
                          <a:rPr lang="en-US" sz="1800" b="0" i="1" smtClean="0">
                            <a:latin typeface="Cambria Math" panose="02040503050406030204" pitchFamily="18" charset="0"/>
                          </a:rPr>
                          <m:t>𝜔</m:t>
                        </m:r>
                      </m:e>
                    </m:d>
                    <m:r>
                      <a:rPr lang="en-US" sz="1800" b="0" i="1" smtClean="0">
                        <a:latin typeface="Cambria Math" panose="02040503050406030204" pitchFamily="18" charset="0"/>
                      </a:rPr>
                      <m:t>+1=</m:t>
                    </m:r>
                    <m:d>
                      <m:dPr>
                        <m:ctrlPr>
                          <a:rPr lang="en-US" sz="1800" b="0" i="1" smtClean="0">
                            <a:latin typeface="Cambria Math" panose="02040503050406030204" pitchFamily="18" charset="0"/>
                          </a:rPr>
                        </m:ctrlPr>
                      </m:dPr>
                      <m:e>
                        <m:r>
                          <a:rPr lang="en-US" sz="1800" b="0" i="1" smtClean="0">
                            <a:latin typeface="Cambria Math" panose="02040503050406030204" pitchFamily="18" charset="0"/>
                          </a:rPr>
                          <m:t>2</m:t>
                        </m:r>
                        <m:r>
                          <a:rPr lang="en-US" sz="1800" b="0" i="1" smtClean="0">
                            <a:latin typeface="Cambria Math" panose="02040503050406030204" pitchFamily="18" charset="0"/>
                          </a:rPr>
                          <m:t>𝜎</m:t>
                        </m:r>
                        <m:r>
                          <a:rPr lang="en-US" sz="1800" b="0" i="1" smtClean="0">
                            <a:latin typeface="Cambria Math" panose="02040503050406030204" pitchFamily="18" charset="0"/>
                          </a:rPr>
                          <m:t>+1</m:t>
                        </m:r>
                      </m:e>
                    </m:d>
                    <m:r>
                      <a:rPr lang="en-US" sz="1800" b="0" i="1" smtClean="0">
                        <a:latin typeface="Cambria Math" panose="02040503050406030204" pitchFamily="18" charset="0"/>
                      </a:rPr>
                      <m:t>+</m:t>
                    </m:r>
                    <m:r>
                      <a:rPr lang="en-US" sz="1800" b="0" i="1" smtClean="0">
                        <a:latin typeface="Cambria Math" panose="02040503050406030204" pitchFamily="18" charset="0"/>
                      </a:rPr>
                      <m:t>𝑗</m:t>
                    </m:r>
                    <m:r>
                      <a:rPr lang="en-US" sz="1800" b="0" i="1" smtClean="0">
                        <a:latin typeface="Cambria Math" panose="02040503050406030204" pitchFamily="18" charset="0"/>
                      </a:rPr>
                      <m:t>2</m:t>
                    </m:r>
                    <m:r>
                      <a:rPr lang="en-US" sz="1800" b="0" i="1" smtClean="0">
                        <a:latin typeface="Cambria Math" panose="02040503050406030204" pitchFamily="18" charset="0"/>
                      </a:rPr>
                      <m:t>𝜔</m:t>
                    </m:r>
                  </m:oMath>
                </a14:m>
                <a:r>
                  <a:rPr lang="en-VN" sz="1800" dirty="0"/>
                  <a:t> </a:t>
                </a:r>
              </a:p>
              <a:p>
                <a:pPr marL="0" indent="0">
                  <a:buNone/>
                  <a:tabLst>
                    <a:tab pos="7950200" algn="l"/>
                  </a:tabLst>
                </a:pPr>
                <a:r>
                  <a:rPr lang="en-VN" sz="1800" dirty="0"/>
                  <a:t>Ta có: </a:t>
                </a:r>
                <a14:m>
                  <m:oMath xmlns:m="http://schemas.openxmlformats.org/officeDocument/2006/math">
                    <m:r>
                      <a:rPr lang="en-US" sz="1800" b="0" i="1" smtClean="0">
                        <a:latin typeface="Cambria Math" panose="02040503050406030204" pitchFamily="18" charset="0"/>
                      </a:rPr>
                      <m:t>𝑢</m:t>
                    </m:r>
                    <m:r>
                      <a:rPr lang="en-US" sz="1800" b="0" i="1" smtClean="0">
                        <a:latin typeface="Cambria Math" panose="02040503050406030204" pitchFamily="18" charset="0"/>
                      </a:rPr>
                      <m:t>=2</m:t>
                    </m:r>
                    <m:r>
                      <a:rPr lang="en-US" sz="1800" b="0" i="1" smtClean="0">
                        <a:latin typeface="Cambria Math" panose="02040503050406030204" pitchFamily="18" charset="0"/>
                      </a:rPr>
                      <m:t>𝜎</m:t>
                    </m:r>
                    <m:r>
                      <a:rPr lang="en-US" sz="1800" b="0" i="1" smtClean="0">
                        <a:latin typeface="Cambria Math" panose="02040503050406030204" pitchFamily="18" charset="0"/>
                      </a:rPr>
                      <m:t>+1</m:t>
                    </m:r>
                  </m:oMath>
                </a14:m>
                <a:r>
                  <a:rPr lang="en-VN" sz="1800" dirty="0"/>
                  <a:t>, </a:t>
                </a:r>
                <a14:m>
                  <m:oMath xmlns:m="http://schemas.openxmlformats.org/officeDocument/2006/math">
                    <m:r>
                      <a:rPr lang="en-US" sz="1800" b="0" i="1" smtClean="0">
                        <a:latin typeface="Cambria Math" panose="02040503050406030204" pitchFamily="18" charset="0"/>
                      </a:rPr>
                      <m:t>𝑣</m:t>
                    </m:r>
                    <m:r>
                      <a:rPr lang="en-US" sz="1800" b="0" i="1" smtClean="0">
                        <a:latin typeface="Cambria Math" panose="02040503050406030204" pitchFamily="18" charset="0"/>
                      </a:rPr>
                      <m:t>=2</m:t>
                    </m:r>
                    <m:r>
                      <a:rPr lang="en-US" sz="1800" b="0" i="1" smtClean="0">
                        <a:latin typeface="Cambria Math" panose="02040503050406030204" pitchFamily="18" charset="0"/>
                      </a:rPr>
                      <m:t>𝜔</m:t>
                    </m:r>
                  </m:oMath>
                </a14:m>
                <a:endParaRPr lang="en-VN" sz="1800" dirty="0"/>
              </a:p>
            </p:txBody>
          </p:sp>
        </mc:Choice>
        <mc:Fallback>
          <p:sp>
            <p:nvSpPr>
              <p:cNvPr id="3" name="Content Placeholder 2">
                <a:extLst>
                  <a:ext uri="{FF2B5EF4-FFF2-40B4-BE49-F238E27FC236}">
                    <a16:creationId xmlns:a16="http://schemas.microsoft.com/office/drawing/2014/main" id="{1017FD97-ED15-F00B-838C-21EADA039B29}"/>
                  </a:ext>
                </a:extLst>
              </p:cNvPr>
              <p:cNvSpPr>
                <a:spLocks noGrp="1" noRot="1" noChangeAspect="1" noMove="1" noResize="1" noEditPoints="1" noAdjustHandles="1" noChangeArrowheads="1" noChangeShapeType="1" noTextEdit="1"/>
              </p:cNvSpPr>
              <p:nvPr>
                <p:ph idx="1"/>
              </p:nvPr>
            </p:nvSpPr>
            <p:spPr>
              <a:blipFill>
                <a:blip r:embed="rId2"/>
                <a:stretch>
                  <a:fillRect l="-528" t="-285"/>
                </a:stretch>
              </a:blipFill>
            </p:spPr>
            <p:txBody>
              <a:bodyPr/>
              <a:lstStyle/>
              <a:p>
                <a:r>
                  <a:rPr lang="en-VN">
                    <a:noFill/>
                  </a:rPr>
                  <a:t> </a:t>
                </a:r>
              </a:p>
            </p:txBody>
          </p:sp>
        </mc:Fallback>
      </mc:AlternateContent>
      <p:graphicFrame>
        <p:nvGraphicFramePr>
          <p:cNvPr id="50" name="Object 49">
            <a:extLst>
              <a:ext uri="{FF2B5EF4-FFF2-40B4-BE49-F238E27FC236}">
                <a16:creationId xmlns:a16="http://schemas.microsoft.com/office/drawing/2014/main" id="{D1F8AD06-7882-5FD3-D830-04E0449C225C}"/>
              </a:ext>
            </a:extLst>
          </p:cNvPr>
          <p:cNvGraphicFramePr>
            <a:graphicFrameLocks noChangeAspect="1"/>
          </p:cNvGraphicFramePr>
          <p:nvPr>
            <p:extLst>
              <p:ext uri="{D42A27DB-BD31-4B8C-83A1-F6EECF244321}">
                <p14:modId xmlns:p14="http://schemas.microsoft.com/office/powerpoint/2010/main" val="366803086"/>
              </p:ext>
            </p:extLst>
          </p:nvPr>
        </p:nvGraphicFramePr>
        <p:xfrm>
          <a:off x="7845683" y="3061390"/>
          <a:ext cx="4114799" cy="2998756"/>
        </p:xfrm>
        <a:graphic>
          <a:graphicData uri="http://schemas.openxmlformats.org/presentationml/2006/ole">
            <mc:AlternateContent xmlns:mc="http://schemas.openxmlformats.org/markup-compatibility/2006">
              <mc:Choice xmlns:v="urn:schemas-microsoft-com:vml" Requires="v">
                <p:oleObj name="Picture" r:id="rId3" imgW="5397500" imgH="3911600" progId="Word.Picture.8">
                  <p:embed/>
                </p:oleObj>
              </mc:Choice>
              <mc:Fallback>
                <p:oleObj name="Picture" r:id="rId3" imgW="5397500" imgH="3911600" progId="Word.Picture.8">
                  <p:embed/>
                  <p:pic>
                    <p:nvPicPr>
                      <p:cNvPr id="0" name="Object 69"/>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845683" y="3061390"/>
                        <a:ext cx="4114799" cy="2998756"/>
                      </a:xfrm>
                      <a:prstGeom prst="rect">
                        <a:avLst/>
                      </a:prstGeom>
                      <a:noFill/>
                    </p:spPr>
                  </p:pic>
                </p:oleObj>
              </mc:Fallback>
            </mc:AlternateContent>
          </a:graphicData>
        </a:graphic>
      </p:graphicFrame>
      <p:pic>
        <p:nvPicPr>
          <p:cNvPr id="51" name="Content Placeholder 4">
            <a:extLst>
              <a:ext uri="{FF2B5EF4-FFF2-40B4-BE49-F238E27FC236}">
                <a16:creationId xmlns:a16="http://schemas.microsoft.com/office/drawing/2014/main" id="{E7A11742-EF1D-AA4C-BCA4-5749FB26D2F7}"/>
              </a:ext>
            </a:extLst>
          </p:cNvPr>
          <p:cNvPicPr>
            <a:picLocks noChangeAspect="1"/>
          </p:cNvPicPr>
          <p:nvPr/>
        </p:nvPicPr>
        <p:blipFill>
          <a:blip r:embed="rId5"/>
          <a:stretch>
            <a:fillRect/>
          </a:stretch>
        </p:blipFill>
        <p:spPr>
          <a:xfrm>
            <a:off x="1287378" y="3924613"/>
            <a:ext cx="5412539" cy="1873163"/>
          </a:xfrm>
          <a:prstGeom prst="rect">
            <a:avLst/>
          </a:prstGeom>
        </p:spPr>
      </p:pic>
    </p:spTree>
    <p:extLst>
      <p:ext uri="{BB962C8B-B14F-4D97-AF65-F5344CB8AC3E}">
        <p14:creationId xmlns:p14="http://schemas.microsoft.com/office/powerpoint/2010/main" val="20220784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9077D6E-2BFA-0A8E-19F9-BB1C2B8A53D0}"/>
              </a:ext>
            </a:extLst>
          </p:cNvPr>
          <p:cNvSpPr>
            <a:spLocks noGrp="1"/>
          </p:cNvSpPr>
          <p:nvPr>
            <p:ph type="title"/>
          </p:nvPr>
        </p:nvSpPr>
        <p:spPr/>
        <p:txBody>
          <a:bodyPr/>
          <a:lstStyle/>
          <a:p>
            <a:r>
              <a:rPr lang="en-VN" dirty="0"/>
              <a:t>ÁNH XẠ CỦA CHU TUYẾN TRONG MẶT PHẲNG S</a:t>
            </a:r>
          </a:p>
        </p:txBody>
      </p:sp>
      <p:pic>
        <p:nvPicPr>
          <p:cNvPr id="9" name="Content Placeholder 8">
            <a:extLst>
              <a:ext uri="{FF2B5EF4-FFF2-40B4-BE49-F238E27FC236}">
                <a16:creationId xmlns:a16="http://schemas.microsoft.com/office/drawing/2014/main" id="{A7F56FF0-ED1A-327C-F8AC-826E46D6A90F}"/>
              </a:ext>
            </a:extLst>
          </p:cNvPr>
          <p:cNvPicPr>
            <a:picLocks noGrp="1" noChangeAspect="1"/>
          </p:cNvPicPr>
          <p:nvPr>
            <p:ph idx="1"/>
          </p:nvPr>
        </p:nvPicPr>
        <p:blipFill>
          <a:blip r:embed="rId2"/>
          <a:stretch>
            <a:fillRect/>
          </a:stretch>
        </p:blipFill>
        <p:spPr>
          <a:xfrm>
            <a:off x="194311" y="1039787"/>
            <a:ext cx="4945827" cy="4618585"/>
          </a:xfrm>
        </p:spPr>
      </p:pic>
      <mc:AlternateContent xmlns:mc="http://schemas.openxmlformats.org/markup-compatibility/2006">
        <mc:Choice xmlns:a14="http://schemas.microsoft.com/office/drawing/2010/main" Requires="a14">
          <p:sp>
            <p:nvSpPr>
              <p:cNvPr id="12" name="TextBox 11">
                <a:extLst>
                  <a:ext uri="{FF2B5EF4-FFF2-40B4-BE49-F238E27FC236}">
                    <a16:creationId xmlns:a16="http://schemas.microsoft.com/office/drawing/2014/main" id="{EAC19F79-29C2-5578-A679-AB919425E9CF}"/>
                  </a:ext>
                </a:extLst>
              </p:cNvPr>
              <p:cNvSpPr txBox="1"/>
              <p:nvPr/>
            </p:nvSpPr>
            <p:spPr>
              <a:xfrm>
                <a:off x="5086351" y="3842491"/>
                <a:ext cx="6703349" cy="1815882"/>
              </a:xfrm>
              <a:prstGeom prst="rect">
                <a:avLst/>
              </a:prstGeom>
              <a:noFill/>
            </p:spPr>
            <p:txBody>
              <a:bodyPr wrap="square" rtlCol="0">
                <a:spAutoFit/>
              </a:bodyPr>
              <a:lstStyle/>
              <a:p>
                <a:pPr marL="285750" indent="-285750">
                  <a:buFont typeface="Arial" panose="020B0604020202020204" pitchFamily="34" charset="0"/>
                  <a:buChar char="•"/>
                </a:pPr>
                <a:r>
                  <a:rPr lang="vi-VN" sz="1400" dirty="0"/>
                  <a:t>Hướng của chu tuyến được chỉ định bằng các mũi tên trong hình vẽ. Quy ước chiều dương của chu tuyến là chiều thuận theo chiều quay của kim đồng hồ.</a:t>
                </a:r>
              </a:p>
              <a:p>
                <a:pPr marL="285750" indent="-285750">
                  <a:buFont typeface="Arial" panose="020B0604020202020204" pitchFamily="34" charset="0"/>
                  <a:buChar char="•"/>
                </a:pPr>
                <a:r>
                  <a:rPr lang="vi-VN" sz="1400" dirty="0"/>
                  <a:t>Nếu chu tuyến A hướng theo chiều kim đồng hồ, ánh xạ của chu tuyến A (chu tuyến B) hướng theo chiều kim đồng hồ nếu </a:t>
                </a:r>
                <a14:m>
                  <m:oMath xmlns:m="http://schemas.openxmlformats.org/officeDocument/2006/math">
                    <m:r>
                      <a:rPr lang="en-US" sz="1400" b="0" i="1" smtClean="0">
                        <a:latin typeface="Cambria Math" panose="02040503050406030204" pitchFamily="18" charset="0"/>
                      </a:rPr>
                      <m:t>𝐹</m:t>
                    </m:r>
                    <m:r>
                      <a:rPr lang="en-US" sz="1400" b="0" i="1" smtClean="0">
                        <a:latin typeface="Cambria Math" panose="02040503050406030204" pitchFamily="18" charset="0"/>
                      </a:rPr>
                      <m:t>(</m:t>
                    </m:r>
                    <m:r>
                      <a:rPr lang="en-US" sz="1400" b="0" i="1" smtClean="0">
                        <a:latin typeface="Cambria Math" panose="02040503050406030204" pitchFamily="18" charset="0"/>
                      </a:rPr>
                      <m:t>𝑠</m:t>
                    </m:r>
                    <m:r>
                      <a:rPr lang="en-US" sz="1400" b="0" i="1" smtClean="0">
                        <a:latin typeface="Cambria Math" panose="02040503050406030204" pitchFamily="18" charset="0"/>
                      </a:rPr>
                      <m:t>)</m:t>
                    </m:r>
                  </m:oMath>
                </a14:m>
                <a:r>
                  <a:rPr lang="en-VN" sz="1400" dirty="0"/>
                  <a:t> </a:t>
                </a:r>
                <a:r>
                  <a:rPr lang="en-VN" sz="1400" dirty="0">
                    <a:latin typeface="Arial" panose="020B0604020202020204" pitchFamily="34" charset="0"/>
                    <a:cs typeface="Arial" panose="020B0604020202020204" pitchFamily="34" charset="0"/>
                  </a:rPr>
                  <a:t>chỉ có điểm zero hoặc điểm cực không nằm trong chu tuyến A. Chu tuyến B hướng ngược chiều kim đồng hồ nếu </a:t>
                </a:r>
                <a14:m>
                  <m:oMath xmlns:m="http://schemas.openxmlformats.org/officeDocument/2006/math">
                    <m:r>
                      <a:rPr lang="en-US" sz="1400" i="1">
                        <a:latin typeface="Cambria Math" panose="02040503050406030204" pitchFamily="18" charset="0"/>
                      </a:rPr>
                      <m:t>𝐹</m:t>
                    </m:r>
                    <m:r>
                      <a:rPr lang="en-US" sz="1400" i="1">
                        <a:latin typeface="Cambria Math" panose="02040503050406030204" pitchFamily="18" charset="0"/>
                      </a:rPr>
                      <m:t>(</m:t>
                    </m:r>
                    <m:r>
                      <a:rPr lang="en-US" sz="1400" i="1">
                        <a:latin typeface="Cambria Math" panose="02040503050406030204" pitchFamily="18" charset="0"/>
                      </a:rPr>
                      <m:t>𝑠</m:t>
                    </m:r>
                    <m:r>
                      <a:rPr lang="en-US" sz="1400" i="1">
                        <a:latin typeface="Cambria Math" panose="02040503050406030204" pitchFamily="18" charset="0"/>
                      </a:rPr>
                      <m:t>)</m:t>
                    </m:r>
                  </m:oMath>
                </a14:m>
                <a:r>
                  <a:rPr lang="en-VN" sz="1400" dirty="0">
                    <a:latin typeface="Arial" panose="020B0604020202020204" pitchFamily="34" charset="0"/>
                    <a:cs typeface="Arial" panose="020B0604020202020204" pitchFamily="34" charset="0"/>
                  </a:rPr>
                  <a:t> chỉ có điểm cực nằm ở trong chu tuyến A.</a:t>
                </a:r>
              </a:p>
              <a:p>
                <a:pPr marL="285750" indent="-285750">
                  <a:buFont typeface="Arial" panose="020B0604020202020204" pitchFamily="34" charset="0"/>
                  <a:buChar char="•"/>
                </a:pPr>
                <a:r>
                  <a:rPr lang="en-VN" sz="1400" dirty="0">
                    <a:latin typeface="Arial" panose="020B0604020202020204" pitchFamily="34" charset="0"/>
                    <a:cs typeface="Arial" panose="020B0604020202020204" pitchFamily="34" charset="0"/>
                  </a:rPr>
                  <a:t>Nếu điểm không hoặc điểm cực của </a:t>
                </a:r>
                <a14:m>
                  <m:oMath xmlns:m="http://schemas.openxmlformats.org/officeDocument/2006/math">
                    <m:r>
                      <a:rPr lang="en-US" sz="1400" i="1" smtClean="0">
                        <a:latin typeface="Cambria Math" panose="02040503050406030204" pitchFamily="18" charset="0"/>
                      </a:rPr>
                      <m:t>𝐹</m:t>
                    </m:r>
                    <m:r>
                      <a:rPr lang="en-US" sz="1400" i="1" smtClean="0">
                        <a:latin typeface="Cambria Math" panose="02040503050406030204" pitchFamily="18" charset="0"/>
                      </a:rPr>
                      <m:t>(</m:t>
                    </m:r>
                    <m:r>
                      <a:rPr lang="en-US" sz="1400" i="1" smtClean="0">
                        <a:latin typeface="Cambria Math" panose="02040503050406030204" pitchFamily="18" charset="0"/>
                      </a:rPr>
                      <m:t>𝑠</m:t>
                    </m:r>
                    <m:r>
                      <a:rPr lang="en-US" sz="1400" i="1" smtClean="0">
                        <a:latin typeface="Cambria Math" panose="02040503050406030204" pitchFamily="18" charset="0"/>
                      </a:rPr>
                      <m:t>)</m:t>
                    </m:r>
                  </m:oMath>
                </a14:m>
                <a:r>
                  <a:rPr lang="en-VN" sz="1400" dirty="0">
                    <a:latin typeface="Arial" panose="020B0604020202020204" pitchFamily="34" charset="0"/>
                    <a:cs typeface="Arial" panose="020B0604020202020204" pitchFamily="34" charset="0"/>
                  </a:rPr>
                  <a:t> nằm trong chu tuyến A, chu tuyến B sẽ chứa gốc toạ độ.</a:t>
                </a:r>
              </a:p>
            </p:txBody>
          </p:sp>
        </mc:Choice>
        <mc:Fallback>
          <p:sp>
            <p:nvSpPr>
              <p:cNvPr id="12" name="TextBox 11">
                <a:extLst>
                  <a:ext uri="{FF2B5EF4-FFF2-40B4-BE49-F238E27FC236}">
                    <a16:creationId xmlns:a16="http://schemas.microsoft.com/office/drawing/2014/main" id="{EAC19F79-29C2-5578-A679-AB919425E9CF}"/>
                  </a:ext>
                </a:extLst>
              </p:cNvPr>
              <p:cNvSpPr txBox="1">
                <a:spLocks noRot="1" noChangeAspect="1" noMove="1" noResize="1" noEditPoints="1" noAdjustHandles="1" noChangeArrowheads="1" noChangeShapeType="1" noTextEdit="1"/>
              </p:cNvSpPr>
              <p:nvPr/>
            </p:nvSpPr>
            <p:spPr>
              <a:xfrm>
                <a:off x="5086351" y="3842491"/>
                <a:ext cx="6703349" cy="1815882"/>
              </a:xfrm>
              <a:prstGeom prst="rect">
                <a:avLst/>
              </a:prstGeom>
              <a:blipFill>
                <a:blip r:embed="rId3"/>
                <a:stretch>
                  <a:fillRect l="-189" t="-694" b="-2083"/>
                </a:stretch>
              </a:blipFill>
            </p:spPr>
            <p:txBody>
              <a:bodyPr/>
              <a:lstStyle/>
              <a:p>
                <a:r>
                  <a:rPr lang="en-VN">
                    <a:noFill/>
                  </a:rPr>
                  <a:t> </a:t>
                </a:r>
              </a:p>
            </p:txBody>
          </p:sp>
        </mc:Fallback>
      </mc:AlternateContent>
      <mc:AlternateContent xmlns:mc="http://schemas.openxmlformats.org/markup-compatibility/2006">
        <mc:Choice xmlns:a14="http://schemas.microsoft.com/office/drawing/2010/main" Requires="a14">
          <p:sp>
            <p:nvSpPr>
              <p:cNvPr id="13" name="Rectangle 12">
                <a:extLst>
                  <a:ext uri="{FF2B5EF4-FFF2-40B4-BE49-F238E27FC236}">
                    <a16:creationId xmlns:a16="http://schemas.microsoft.com/office/drawing/2014/main" id="{CD07BD5C-4C7F-8AD9-0D5C-34401D641F1A}"/>
                  </a:ext>
                </a:extLst>
              </p:cNvPr>
              <p:cNvSpPr/>
              <p:nvPr/>
            </p:nvSpPr>
            <p:spPr>
              <a:xfrm>
                <a:off x="1031488" y="5658373"/>
                <a:ext cx="10129024" cy="1163325"/>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VN" sz="1600" dirty="0">
                    <a:latin typeface="Arial" panose="020B0604020202020204" pitchFamily="34" charset="0"/>
                    <a:cs typeface="Arial" panose="020B0604020202020204" pitchFamily="34" charset="0"/>
                  </a:rPr>
                  <a:t>Mỗi điểm không nằm trong chu tuyến A ➔ 1 vòng chu tuyến ánh xạ theo chiều kim đồng hồ</a:t>
                </a:r>
              </a:p>
              <a:p>
                <a:pPr algn="ctr"/>
                <a:r>
                  <a:rPr lang="en-US" sz="1600" dirty="0">
                    <a:latin typeface="Arial" panose="020B0604020202020204" pitchFamily="34" charset="0"/>
                    <a:cs typeface="Arial" panose="020B0604020202020204" pitchFamily="34" charset="0"/>
                  </a:rPr>
                  <a:t>M</a:t>
                </a:r>
                <a:r>
                  <a:rPr lang="en-VN" sz="1600" dirty="0">
                    <a:latin typeface="Arial" panose="020B0604020202020204" pitchFamily="34" charset="0"/>
                    <a:cs typeface="Arial" panose="020B0604020202020204" pitchFamily="34" charset="0"/>
                  </a:rPr>
                  <a:t>ỗi điểm cực nằm trong chu tuyến A ➔ 1 vòng chu tuyến ánh xạ ngược chiều kim đồng hồ</a:t>
                </a:r>
              </a:p>
              <a:p>
                <a:pPr algn="ctr"/>
                <a14:m>
                  <m:oMath xmlns:m="http://schemas.openxmlformats.org/officeDocument/2006/math">
                    <m:r>
                      <a:rPr lang="en-US" sz="1600" b="0" i="1" smtClean="0">
                        <a:latin typeface="Cambria Math" panose="02040503050406030204" pitchFamily="18" charset="0"/>
                        <a:cs typeface="Arial" panose="020B0604020202020204" pitchFamily="34" charset="0"/>
                      </a:rPr>
                      <m:t>𝑁</m:t>
                    </m:r>
                    <m:r>
                      <a:rPr lang="en-US" sz="1600" b="0" i="1" smtClean="0">
                        <a:latin typeface="Cambria Math" panose="02040503050406030204" pitchFamily="18" charset="0"/>
                        <a:cs typeface="Arial" panose="020B0604020202020204" pitchFamily="34" charset="0"/>
                      </a:rPr>
                      <m:t>=</m:t>
                    </m:r>
                    <m:r>
                      <a:rPr lang="en-US" sz="1600" b="0" i="1" smtClean="0">
                        <a:latin typeface="Cambria Math" panose="02040503050406030204" pitchFamily="18" charset="0"/>
                        <a:cs typeface="Arial" panose="020B0604020202020204" pitchFamily="34" charset="0"/>
                      </a:rPr>
                      <m:t>𝑃</m:t>
                    </m:r>
                    <m:r>
                      <a:rPr lang="en-US" sz="1600" b="0" i="1" smtClean="0">
                        <a:latin typeface="Cambria Math" panose="02040503050406030204" pitchFamily="18" charset="0"/>
                        <a:cs typeface="Arial" panose="020B0604020202020204" pitchFamily="34" charset="0"/>
                      </a:rPr>
                      <m:t>−</m:t>
                    </m:r>
                    <m:r>
                      <a:rPr lang="en-US" sz="1600" b="0" i="1" smtClean="0">
                        <a:latin typeface="Cambria Math" panose="02040503050406030204" pitchFamily="18" charset="0"/>
                        <a:cs typeface="Arial" panose="020B0604020202020204" pitchFamily="34" charset="0"/>
                      </a:rPr>
                      <m:t>𝑍</m:t>
                    </m:r>
                  </m:oMath>
                </a14:m>
                <a:r>
                  <a:rPr lang="en-VN" sz="1600" dirty="0">
                    <a:latin typeface="Arial" panose="020B0604020202020204" pitchFamily="34" charset="0"/>
                    <a:cs typeface="Arial" panose="020B0604020202020204" pitchFamily="34" charset="0"/>
                  </a:rPr>
                  <a:t>, </a:t>
                </a:r>
                <a14:m>
                  <m:oMath xmlns:m="http://schemas.openxmlformats.org/officeDocument/2006/math">
                    <m:r>
                      <a:rPr lang="en-US" sz="1600" i="1">
                        <a:latin typeface="Cambria Math" panose="02040503050406030204" pitchFamily="18" charset="0"/>
                        <a:cs typeface="Arial" panose="020B0604020202020204" pitchFamily="34" charset="0"/>
                      </a:rPr>
                      <m:t>𝑁</m:t>
                    </m:r>
                  </m:oMath>
                </a14:m>
                <a:r>
                  <a:rPr lang="en-VN" sz="1600" dirty="0">
                    <a:latin typeface="Arial" panose="020B0604020202020204" pitchFamily="34" charset="0"/>
                    <a:cs typeface="Arial" panose="020B0604020202020204" pitchFamily="34" charset="0"/>
                  </a:rPr>
                  <a:t>: số vòng chu tuyến B chứa gốc toạ độ ngược chiều kim đồng hồ, </a:t>
                </a:r>
                <a14:m>
                  <m:oMath xmlns:m="http://schemas.openxmlformats.org/officeDocument/2006/math">
                    <m:r>
                      <a:rPr lang="en-US" sz="1600" i="1">
                        <a:latin typeface="Cambria Math" panose="02040503050406030204" pitchFamily="18" charset="0"/>
                        <a:cs typeface="Arial" panose="020B0604020202020204" pitchFamily="34" charset="0"/>
                      </a:rPr>
                      <m:t>𝑃</m:t>
                    </m:r>
                  </m:oMath>
                </a14:m>
                <a:r>
                  <a:rPr lang="en-VN" sz="1600" dirty="0">
                    <a:latin typeface="Arial" panose="020B0604020202020204" pitchFamily="34" charset="0"/>
                    <a:cs typeface="Arial" panose="020B0604020202020204" pitchFamily="34" charset="0"/>
                  </a:rPr>
                  <a:t>: số điểm cực của </a:t>
                </a:r>
                <a14:m>
                  <m:oMath xmlns:m="http://schemas.openxmlformats.org/officeDocument/2006/math">
                    <m:r>
                      <a:rPr lang="en-US" sz="1600" i="1">
                        <a:latin typeface="Cambria Math" panose="02040503050406030204" pitchFamily="18" charset="0"/>
                      </a:rPr>
                      <m:t>𝐹</m:t>
                    </m:r>
                    <m:r>
                      <a:rPr lang="en-US" sz="1600" i="1">
                        <a:latin typeface="Cambria Math" panose="02040503050406030204" pitchFamily="18" charset="0"/>
                      </a:rPr>
                      <m:t>(</m:t>
                    </m:r>
                    <m:r>
                      <a:rPr lang="en-US" sz="1600" i="1">
                        <a:latin typeface="Cambria Math" panose="02040503050406030204" pitchFamily="18" charset="0"/>
                      </a:rPr>
                      <m:t>𝑠</m:t>
                    </m:r>
                    <m:r>
                      <a:rPr lang="en-US" sz="1600" i="1">
                        <a:latin typeface="Cambria Math" panose="02040503050406030204" pitchFamily="18" charset="0"/>
                      </a:rPr>
                      <m:t>)</m:t>
                    </m:r>
                  </m:oMath>
                </a14:m>
                <a:r>
                  <a:rPr lang="en-VN" sz="1600" dirty="0">
                    <a:latin typeface="Arial" panose="020B0604020202020204" pitchFamily="34" charset="0"/>
                    <a:cs typeface="Arial" panose="020B0604020202020204" pitchFamily="34" charset="0"/>
                  </a:rPr>
                  <a:t> nằm trong chu tuyến A, </a:t>
                </a:r>
                <a14:m>
                  <m:oMath xmlns:m="http://schemas.openxmlformats.org/officeDocument/2006/math">
                    <m:r>
                      <a:rPr lang="en-US" sz="1600" i="1">
                        <a:latin typeface="Cambria Math" panose="02040503050406030204" pitchFamily="18" charset="0"/>
                        <a:cs typeface="Arial" panose="020B0604020202020204" pitchFamily="34" charset="0"/>
                      </a:rPr>
                      <m:t>𝑍</m:t>
                    </m:r>
                  </m:oMath>
                </a14:m>
                <a:r>
                  <a:rPr lang="en-VN" sz="1600" dirty="0">
                    <a:latin typeface="Arial" panose="020B0604020202020204" pitchFamily="34" charset="0"/>
                    <a:cs typeface="Arial" panose="020B0604020202020204" pitchFamily="34" charset="0"/>
                  </a:rPr>
                  <a:t>: số điểm zero của </a:t>
                </a:r>
                <a14:m>
                  <m:oMath xmlns:m="http://schemas.openxmlformats.org/officeDocument/2006/math">
                    <m:r>
                      <a:rPr lang="en-US" sz="1600" i="1">
                        <a:latin typeface="Cambria Math" panose="02040503050406030204" pitchFamily="18" charset="0"/>
                      </a:rPr>
                      <m:t>𝐹</m:t>
                    </m:r>
                    <m:r>
                      <a:rPr lang="en-US" sz="1600" i="1">
                        <a:latin typeface="Cambria Math" panose="02040503050406030204" pitchFamily="18" charset="0"/>
                      </a:rPr>
                      <m:t>(</m:t>
                    </m:r>
                    <m:r>
                      <a:rPr lang="en-US" sz="1600" i="1">
                        <a:latin typeface="Cambria Math" panose="02040503050406030204" pitchFamily="18" charset="0"/>
                      </a:rPr>
                      <m:t>𝑠</m:t>
                    </m:r>
                    <m:r>
                      <a:rPr lang="en-US" sz="1600" i="1">
                        <a:latin typeface="Cambria Math" panose="02040503050406030204" pitchFamily="18" charset="0"/>
                      </a:rPr>
                      <m:t>)</m:t>
                    </m:r>
                  </m:oMath>
                </a14:m>
                <a:r>
                  <a:rPr lang="en-VN" sz="1600" dirty="0">
                    <a:latin typeface="Arial" panose="020B0604020202020204" pitchFamily="34" charset="0"/>
                    <a:cs typeface="Arial" panose="020B0604020202020204" pitchFamily="34" charset="0"/>
                  </a:rPr>
                  <a:t> nằm trong chu tuyến A.</a:t>
                </a:r>
              </a:p>
            </p:txBody>
          </p:sp>
        </mc:Choice>
        <mc:Fallback>
          <p:sp>
            <p:nvSpPr>
              <p:cNvPr id="13" name="Rectangle 12">
                <a:extLst>
                  <a:ext uri="{FF2B5EF4-FFF2-40B4-BE49-F238E27FC236}">
                    <a16:creationId xmlns:a16="http://schemas.microsoft.com/office/drawing/2014/main" id="{CD07BD5C-4C7F-8AD9-0D5C-34401D641F1A}"/>
                  </a:ext>
                </a:extLst>
              </p:cNvPr>
              <p:cNvSpPr>
                <a:spLocks noRot="1" noChangeAspect="1" noMove="1" noResize="1" noEditPoints="1" noAdjustHandles="1" noChangeArrowheads="1" noChangeShapeType="1" noTextEdit="1"/>
              </p:cNvSpPr>
              <p:nvPr/>
            </p:nvSpPr>
            <p:spPr>
              <a:xfrm>
                <a:off x="1031488" y="5658373"/>
                <a:ext cx="10129024" cy="1163325"/>
              </a:xfrm>
              <a:prstGeom prst="rect">
                <a:avLst/>
              </a:prstGeom>
              <a:blipFill>
                <a:blip r:embed="rId4"/>
                <a:stretch>
                  <a:fillRect b="-1053"/>
                </a:stretch>
              </a:blipFill>
            </p:spPr>
            <p:txBody>
              <a:bodyPr/>
              <a:lstStyle/>
              <a:p>
                <a:r>
                  <a:rPr lang="en-VN">
                    <a:noFill/>
                  </a:rPr>
                  <a:t> </a:t>
                </a:r>
              </a:p>
            </p:txBody>
          </p:sp>
        </mc:Fallback>
      </mc:AlternateContent>
      <p:pic>
        <p:nvPicPr>
          <p:cNvPr id="15" name="Picture 14">
            <a:extLst>
              <a:ext uri="{FF2B5EF4-FFF2-40B4-BE49-F238E27FC236}">
                <a16:creationId xmlns:a16="http://schemas.microsoft.com/office/drawing/2014/main" id="{290BBCB6-FDF2-3353-D54A-1C6E3F367B4E}"/>
              </a:ext>
            </a:extLst>
          </p:cNvPr>
          <p:cNvPicPr>
            <a:picLocks noChangeAspect="1"/>
          </p:cNvPicPr>
          <p:nvPr/>
        </p:nvPicPr>
        <p:blipFill>
          <a:blip r:embed="rId5"/>
          <a:stretch>
            <a:fillRect/>
          </a:stretch>
        </p:blipFill>
        <p:spPr>
          <a:xfrm>
            <a:off x="6096000" y="1082616"/>
            <a:ext cx="4431030" cy="2533670"/>
          </a:xfrm>
          <a:prstGeom prst="rect">
            <a:avLst/>
          </a:prstGeom>
        </p:spPr>
      </p:pic>
      <p:sp>
        <p:nvSpPr>
          <p:cNvPr id="16" name="Rectangle 15">
            <a:extLst>
              <a:ext uri="{FF2B5EF4-FFF2-40B4-BE49-F238E27FC236}">
                <a16:creationId xmlns:a16="http://schemas.microsoft.com/office/drawing/2014/main" id="{0397EB1A-7E5D-C5A6-5911-0D38B513FD50}"/>
              </a:ext>
            </a:extLst>
          </p:cNvPr>
          <p:cNvSpPr/>
          <p:nvPr/>
        </p:nvSpPr>
        <p:spPr>
          <a:xfrm>
            <a:off x="289932" y="4159405"/>
            <a:ext cx="4796419" cy="1405054"/>
          </a:xfrm>
          <a:prstGeom prst="rect">
            <a:avLst/>
          </a:prstGeom>
          <a:noFill/>
          <a:ln>
            <a:solidFill>
              <a:srgbClr val="C00000"/>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VN"/>
          </a:p>
        </p:txBody>
      </p:sp>
      <p:sp>
        <p:nvSpPr>
          <p:cNvPr id="17" name="Rectangle 16">
            <a:extLst>
              <a:ext uri="{FF2B5EF4-FFF2-40B4-BE49-F238E27FC236}">
                <a16:creationId xmlns:a16="http://schemas.microsoft.com/office/drawing/2014/main" id="{0B62FECF-C7D2-AC2D-AC75-0F4DE8F1845E}"/>
              </a:ext>
            </a:extLst>
          </p:cNvPr>
          <p:cNvSpPr/>
          <p:nvPr/>
        </p:nvSpPr>
        <p:spPr>
          <a:xfrm>
            <a:off x="6096000" y="1082615"/>
            <a:ext cx="4352694" cy="1194719"/>
          </a:xfrm>
          <a:prstGeom prst="rect">
            <a:avLst/>
          </a:prstGeom>
          <a:noFill/>
          <a:ln>
            <a:solidFill>
              <a:srgbClr val="C00000"/>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VN"/>
          </a:p>
        </p:txBody>
      </p:sp>
    </p:spTree>
    <p:extLst>
      <p:ext uri="{BB962C8B-B14F-4D97-AF65-F5344CB8AC3E}">
        <p14:creationId xmlns:p14="http://schemas.microsoft.com/office/powerpoint/2010/main" val="54305694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94BB6E-5041-5842-EC84-7EC627596AF8}"/>
              </a:ext>
            </a:extLst>
          </p:cNvPr>
          <p:cNvSpPr>
            <a:spLocks noGrp="1"/>
          </p:cNvSpPr>
          <p:nvPr>
            <p:ph type="title"/>
          </p:nvPr>
        </p:nvSpPr>
        <p:spPr/>
        <p:txBody>
          <a:bodyPr/>
          <a:lstStyle/>
          <a:p>
            <a:r>
              <a:rPr lang="en-VN" dirty="0"/>
              <a:t>ÁNH XẠ CỦA CHU TUYẾN TRONG MẶT PHẲNG S</a:t>
            </a:r>
          </a:p>
        </p:txBody>
      </p:sp>
      <p:sp>
        <p:nvSpPr>
          <p:cNvPr id="3" name="Content Placeholder 2">
            <a:extLst>
              <a:ext uri="{FF2B5EF4-FFF2-40B4-BE49-F238E27FC236}">
                <a16:creationId xmlns:a16="http://schemas.microsoft.com/office/drawing/2014/main" id="{9B5166EB-ACA4-6140-5C1A-FAF668B7A324}"/>
              </a:ext>
            </a:extLst>
          </p:cNvPr>
          <p:cNvSpPr>
            <a:spLocks noGrp="1"/>
          </p:cNvSpPr>
          <p:nvPr>
            <p:ph idx="1"/>
          </p:nvPr>
        </p:nvSpPr>
        <p:spPr/>
        <p:txBody>
          <a:bodyPr>
            <a:normAutofit/>
          </a:bodyPr>
          <a:lstStyle/>
          <a:p>
            <a:pPr algn="just"/>
            <a:r>
              <a:rPr lang="en-US" sz="1400" b="1" dirty="0" err="1">
                <a:effectLst/>
                <a:ea typeface="Times New Roman" panose="02020603050405020304" pitchFamily="18" charset="0"/>
              </a:rPr>
              <a:t>Định</a:t>
            </a:r>
            <a:r>
              <a:rPr lang="en-US" sz="1400" b="1" dirty="0">
                <a:effectLst/>
                <a:ea typeface="Times New Roman" panose="02020603050405020304" pitchFamily="18" charset="0"/>
              </a:rPr>
              <a:t> </a:t>
            </a:r>
            <a:r>
              <a:rPr lang="en-US" sz="1400" b="1" dirty="0" err="1">
                <a:effectLst/>
                <a:ea typeface="Times New Roman" panose="02020603050405020304" pitchFamily="18" charset="0"/>
              </a:rPr>
              <a:t>lý</a:t>
            </a:r>
            <a:r>
              <a:rPr lang="en-US" sz="1400" b="1" dirty="0">
                <a:effectLst/>
                <a:ea typeface="Times New Roman" panose="02020603050405020304" pitchFamily="18" charset="0"/>
              </a:rPr>
              <a:t> </a:t>
            </a:r>
            <a:r>
              <a:rPr lang="en-US" sz="1400" b="1" dirty="0" err="1">
                <a:effectLst/>
                <a:ea typeface="Times New Roman" panose="02020603050405020304" pitchFamily="18" charset="0"/>
              </a:rPr>
              <a:t>của</a:t>
            </a:r>
            <a:r>
              <a:rPr lang="en-US" sz="1400" b="1" dirty="0">
                <a:effectLst/>
                <a:ea typeface="Times New Roman" panose="02020603050405020304" pitchFamily="18" charset="0"/>
              </a:rPr>
              <a:t> Cauchy</a:t>
            </a:r>
            <a:r>
              <a:rPr lang="en-US" sz="1400" dirty="0">
                <a:effectLst/>
                <a:ea typeface="Times New Roman" panose="02020603050405020304" pitchFamily="18" charset="0"/>
              </a:rPr>
              <a:t>, </a:t>
            </a:r>
            <a:r>
              <a:rPr lang="en-US" sz="1400" dirty="0" err="1">
                <a:effectLst/>
                <a:ea typeface="Times New Roman" panose="02020603050405020304" pitchFamily="18" charset="0"/>
              </a:rPr>
              <a:t>thường</a:t>
            </a:r>
            <a:r>
              <a:rPr lang="en-US" sz="1400" dirty="0">
                <a:effectLst/>
                <a:ea typeface="Times New Roman" panose="02020603050405020304" pitchFamily="18" charset="0"/>
              </a:rPr>
              <a:t> </a:t>
            </a:r>
            <a:r>
              <a:rPr lang="en-US" sz="1400" dirty="0" err="1">
                <a:effectLst/>
                <a:ea typeface="Times New Roman" panose="02020603050405020304" pitchFamily="18" charset="0"/>
              </a:rPr>
              <a:t>được</a:t>
            </a:r>
            <a:r>
              <a:rPr lang="en-US" sz="1400" dirty="0">
                <a:effectLst/>
                <a:ea typeface="Times New Roman" panose="02020603050405020304" pitchFamily="18" charset="0"/>
              </a:rPr>
              <a:t> </a:t>
            </a:r>
            <a:r>
              <a:rPr lang="en-US" sz="1400" dirty="0" err="1">
                <a:effectLst/>
                <a:ea typeface="Times New Roman" panose="02020603050405020304" pitchFamily="18" charset="0"/>
              </a:rPr>
              <a:t>gọi</a:t>
            </a:r>
            <a:r>
              <a:rPr lang="en-US" sz="1400" dirty="0">
                <a:effectLst/>
                <a:ea typeface="Times New Roman" panose="02020603050405020304" pitchFamily="18" charset="0"/>
              </a:rPr>
              <a:t> </a:t>
            </a:r>
            <a:r>
              <a:rPr lang="en-US" sz="1400" dirty="0" err="1">
                <a:effectLst/>
                <a:ea typeface="Times New Roman" panose="02020603050405020304" pitchFamily="18" charset="0"/>
              </a:rPr>
              <a:t>là</a:t>
            </a:r>
            <a:r>
              <a:rPr lang="en-US" sz="1400" dirty="0">
                <a:effectLst/>
                <a:ea typeface="Times New Roman" panose="02020603050405020304" pitchFamily="18" charset="0"/>
              </a:rPr>
              <a:t> </a:t>
            </a:r>
            <a:r>
              <a:rPr lang="en-US" sz="1400" i="1" dirty="0" err="1">
                <a:effectLst/>
                <a:ea typeface="Times New Roman" panose="02020603050405020304" pitchFamily="18" charset="0"/>
              </a:rPr>
              <a:t>nguyên</a:t>
            </a:r>
            <a:r>
              <a:rPr lang="en-US" sz="1400" i="1" dirty="0">
                <a:effectLst/>
                <a:ea typeface="Times New Roman" panose="02020603050405020304" pitchFamily="18" charset="0"/>
              </a:rPr>
              <a:t> </a:t>
            </a:r>
            <a:r>
              <a:rPr lang="en-US" sz="1400" i="1" dirty="0" err="1">
                <a:effectLst/>
                <a:ea typeface="Times New Roman" panose="02020603050405020304" pitchFamily="18" charset="0"/>
              </a:rPr>
              <a:t>lý</a:t>
            </a:r>
            <a:r>
              <a:rPr lang="en-US" sz="1400" i="1" dirty="0">
                <a:effectLst/>
                <a:ea typeface="Times New Roman" panose="02020603050405020304" pitchFamily="18" charset="0"/>
              </a:rPr>
              <a:t> </a:t>
            </a:r>
            <a:r>
              <a:rPr lang="en-US" sz="1400" i="1" dirty="0" err="1">
                <a:effectLst/>
                <a:ea typeface="Times New Roman" panose="02020603050405020304" pitchFamily="18" charset="0"/>
              </a:rPr>
              <a:t>góc</a:t>
            </a:r>
            <a:r>
              <a:rPr lang="en-US" sz="1400" i="1" dirty="0">
                <a:effectLst/>
                <a:ea typeface="Times New Roman" panose="02020603050405020304" pitchFamily="18" charset="0"/>
              </a:rPr>
              <a:t> </a:t>
            </a:r>
            <a:r>
              <a:rPr lang="en-US" sz="1400" i="1" dirty="0" err="1">
                <a:effectLst/>
                <a:ea typeface="Times New Roman" panose="02020603050405020304" pitchFamily="18" charset="0"/>
              </a:rPr>
              <a:t>cực</a:t>
            </a:r>
            <a:r>
              <a:rPr lang="en-US" sz="1400" dirty="0">
                <a:effectLst/>
                <a:ea typeface="Times New Roman" panose="02020603050405020304" pitchFamily="18" charset="0"/>
              </a:rPr>
              <a:t> (</a:t>
            </a:r>
            <a:r>
              <a:rPr lang="en-US" sz="1400" i="1" dirty="0">
                <a:effectLst/>
                <a:ea typeface="Times New Roman" panose="02020603050405020304" pitchFamily="18" charset="0"/>
              </a:rPr>
              <a:t>principle of the argument</a:t>
            </a:r>
            <a:r>
              <a:rPr lang="en-US" sz="1400" dirty="0">
                <a:effectLst/>
                <a:ea typeface="Times New Roman" panose="02020603050405020304" pitchFamily="18" charset="0"/>
              </a:rPr>
              <a:t>), </a:t>
            </a:r>
            <a:r>
              <a:rPr lang="en-US" sz="1400" dirty="0" err="1">
                <a:effectLst/>
                <a:ea typeface="Times New Roman" panose="02020603050405020304" pitchFamily="18" charset="0"/>
              </a:rPr>
              <a:t>được</a:t>
            </a:r>
            <a:r>
              <a:rPr lang="en-US" sz="1400" dirty="0">
                <a:effectLst/>
                <a:ea typeface="Times New Roman" panose="02020603050405020304" pitchFamily="18" charset="0"/>
              </a:rPr>
              <a:t> </a:t>
            </a:r>
            <a:r>
              <a:rPr lang="en-US" sz="1400" dirty="0" err="1">
                <a:effectLst/>
                <a:ea typeface="Times New Roman" panose="02020603050405020304" pitchFamily="18" charset="0"/>
              </a:rPr>
              <a:t>phát</a:t>
            </a:r>
            <a:r>
              <a:rPr lang="en-US" sz="1400" dirty="0">
                <a:effectLst/>
                <a:ea typeface="Times New Roman" panose="02020603050405020304" pitchFamily="18" charset="0"/>
              </a:rPr>
              <a:t> </a:t>
            </a:r>
            <a:r>
              <a:rPr lang="en-US" sz="1400" dirty="0" err="1">
                <a:effectLst/>
                <a:ea typeface="Times New Roman" panose="02020603050405020304" pitchFamily="18" charset="0"/>
              </a:rPr>
              <a:t>biểu</a:t>
            </a:r>
            <a:r>
              <a:rPr lang="en-US" sz="1400" dirty="0">
                <a:effectLst/>
                <a:ea typeface="Times New Roman" panose="02020603050405020304" pitchFamily="18" charset="0"/>
              </a:rPr>
              <a:t> </a:t>
            </a:r>
            <a:r>
              <a:rPr lang="en-US" sz="1400" dirty="0" err="1">
                <a:effectLst/>
                <a:ea typeface="Times New Roman" panose="02020603050405020304" pitchFamily="18" charset="0"/>
              </a:rPr>
              <a:t>như</a:t>
            </a:r>
            <a:r>
              <a:rPr lang="en-US" sz="1400" dirty="0">
                <a:effectLst/>
                <a:ea typeface="Times New Roman" panose="02020603050405020304" pitchFamily="18" charset="0"/>
              </a:rPr>
              <a:t> </a:t>
            </a:r>
            <a:r>
              <a:rPr lang="en-US" sz="1400" dirty="0" err="1">
                <a:effectLst/>
                <a:ea typeface="Times New Roman" panose="02020603050405020304" pitchFamily="18" charset="0"/>
              </a:rPr>
              <a:t>sau</a:t>
            </a:r>
            <a:r>
              <a:rPr lang="en-US" sz="1400" dirty="0">
                <a:effectLst/>
                <a:ea typeface="Times New Roman" panose="02020603050405020304" pitchFamily="18" charset="0"/>
              </a:rPr>
              <a:t>: </a:t>
            </a:r>
            <a:r>
              <a:rPr lang="en-US" sz="1400" dirty="0" err="1">
                <a:effectLst/>
                <a:ea typeface="Times New Roman" panose="02020603050405020304" pitchFamily="18" charset="0"/>
              </a:rPr>
              <a:t>Nếu</a:t>
            </a:r>
            <a:r>
              <a:rPr lang="en-US" sz="1400" dirty="0">
                <a:effectLst/>
                <a:ea typeface="Times New Roman" panose="02020603050405020304" pitchFamily="18" charset="0"/>
              </a:rPr>
              <a:t> </a:t>
            </a:r>
            <a:r>
              <a:rPr lang="en-US" sz="1400" dirty="0" err="1">
                <a:effectLst/>
                <a:ea typeface="Times New Roman" panose="02020603050405020304" pitchFamily="18" charset="0"/>
              </a:rPr>
              <a:t>một</a:t>
            </a:r>
            <a:r>
              <a:rPr lang="en-US" sz="1400" dirty="0">
                <a:effectLst/>
                <a:ea typeface="Times New Roman" panose="02020603050405020304" pitchFamily="18" charset="0"/>
              </a:rPr>
              <a:t> chu </a:t>
            </a:r>
            <a:r>
              <a:rPr lang="en-US" sz="1400" dirty="0" err="1">
                <a:effectLst/>
                <a:ea typeface="Times New Roman" panose="02020603050405020304" pitchFamily="18" charset="0"/>
              </a:rPr>
              <a:t>tuyến</a:t>
            </a:r>
            <a:r>
              <a:rPr lang="en-US" sz="1400" dirty="0">
                <a:effectLst/>
                <a:ea typeface="Times New Roman" panose="02020603050405020304" pitchFamily="18" charset="0"/>
              </a:rPr>
              <a:t> </a:t>
            </a:r>
            <a:r>
              <a:rPr lang="en-US" sz="1400" dirty="0" err="1">
                <a:effectLst/>
                <a:ea typeface="Times New Roman" panose="02020603050405020304" pitchFamily="18" charset="0"/>
              </a:rPr>
              <a:t>đơn</a:t>
            </a:r>
            <a:r>
              <a:rPr lang="en-US" sz="1400" dirty="0">
                <a:effectLst/>
                <a:ea typeface="Times New Roman" panose="02020603050405020304" pitchFamily="18" charset="0"/>
              </a:rPr>
              <a:t> </a:t>
            </a:r>
            <a:r>
              <a:rPr lang="en-US" sz="1400" dirty="0" err="1">
                <a:effectLst/>
                <a:ea typeface="Times New Roman" panose="02020603050405020304" pitchFamily="18" charset="0"/>
              </a:rPr>
              <a:t>giản</a:t>
            </a:r>
            <a:r>
              <a:rPr lang="en-US" sz="1400" dirty="0">
                <a:effectLst/>
                <a:ea typeface="Times New Roman" panose="02020603050405020304" pitchFamily="18" charset="0"/>
              </a:rPr>
              <a:t> </a:t>
            </a:r>
            <a:r>
              <a:rPr lang="en-US" sz="1400" dirty="0">
                <a:effectLst/>
                <a:ea typeface="Times New Roman" panose="02020603050405020304" pitchFamily="18" charset="0"/>
                <a:sym typeface="Symbol" pitchFamily="2" charset="2"/>
              </a:rPr>
              <a:t></a:t>
            </a:r>
            <a:r>
              <a:rPr lang="en-US" sz="1400" i="1" baseline="-25000" dirty="0">
                <a:effectLst/>
                <a:ea typeface="Times New Roman" panose="02020603050405020304" pitchFamily="18" charset="0"/>
              </a:rPr>
              <a:t>s</a:t>
            </a:r>
            <a:r>
              <a:rPr lang="en-US" sz="1400" dirty="0">
                <a:effectLst/>
                <a:ea typeface="Times New Roman" panose="02020603050405020304" pitchFamily="18" charset="0"/>
              </a:rPr>
              <a:t> </a:t>
            </a:r>
            <a:r>
              <a:rPr lang="en-US" sz="1400" dirty="0" err="1">
                <a:effectLst/>
                <a:ea typeface="Times New Roman" panose="02020603050405020304" pitchFamily="18" charset="0"/>
              </a:rPr>
              <a:t>trong</a:t>
            </a:r>
            <a:r>
              <a:rPr lang="en-US" sz="1400" dirty="0">
                <a:effectLst/>
                <a:ea typeface="Times New Roman" panose="02020603050405020304" pitchFamily="18" charset="0"/>
              </a:rPr>
              <a:t> </a:t>
            </a:r>
            <a:r>
              <a:rPr lang="en-US" sz="1400" dirty="0" err="1">
                <a:effectLst/>
                <a:ea typeface="Times New Roman" panose="02020603050405020304" pitchFamily="18" charset="0"/>
              </a:rPr>
              <a:t>mặt</a:t>
            </a:r>
            <a:r>
              <a:rPr lang="en-US" sz="1400" dirty="0">
                <a:effectLst/>
                <a:ea typeface="Times New Roman" panose="02020603050405020304" pitchFamily="18" charset="0"/>
              </a:rPr>
              <a:t> </a:t>
            </a:r>
            <a:r>
              <a:rPr lang="en-US" sz="1400" dirty="0" err="1">
                <a:effectLst/>
                <a:ea typeface="Times New Roman" panose="02020603050405020304" pitchFamily="18" charset="0"/>
              </a:rPr>
              <a:t>phẳng</a:t>
            </a:r>
            <a:r>
              <a:rPr lang="en-US" sz="1400" dirty="0">
                <a:effectLst/>
                <a:ea typeface="Times New Roman" panose="02020603050405020304" pitchFamily="18" charset="0"/>
              </a:rPr>
              <a:t> </a:t>
            </a:r>
            <a:r>
              <a:rPr lang="en-US" sz="1400" i="1" dirty="0">
                <a:effectLst/>
                <a:ea typeface="Times New Roman" panose="02020603050405020304" pitchFamily="18" charset="0"/>
              </a:rPr>
              <a:t>s</a:t>
            </a:r>
            <a:r>
              <a:rPr lang="en-US" sz="1400" dirty="0">
                <a:effectLst/>
                <a:ea typeface="Times New Roman" panose="02020603050405020304" pitchFamily="18" charset="0"/>
              </a:rPr>
              <a:t> bao </a:t>
            </a:r>
            <a:r>
              <a:rPr lang="en-US" sz="1400" dirty="0" err="1">
                <a:effectLst/>
                <a:ea typeface="Times New Roman" panose="02020603050405020304" pitchFamily="18" charset="0"/>
              </a:rPr>
              <a:t>quanh</a:t>
            </a:r>
            <a:r>
              <a:rPr lang="en-US" sz="1400" dirty="0">
                <a:effectLst/>
                <a:ea typeface="Times New Roman" panose="02020603050405020304" pitchFamily="18" charset="0"/>
              </a:rPr>
              <a:t> </a:t>
            </a:r>
            <a:r>
              <a:rPr lang="en-US" sz="1400" i="1" dirty="0">
                <a:effectLst/>
                <a:ea typeface="Times New Roman" panose="02020603050405020304" pitchFamily="18" charset="0"/>
              </a:rPr>
              <a:t>Z</a:t>
            </a:r>
            <a:r>
              <a:rPr lang="en-US" sz="1400" dirty="0">
                <a:effectLst/>
                <a:ea typeface="Times New Roman" panose="02020603050405020304" pitchFamily="18" charset="0"/>
              </a:rPr>
              <a:t> </a:t>
            </a:r>
            <a:r>
              <a:rPr lang="en-US" sz="1400" dirty="0" err="1">
                <a:effectLst/>
                <a:ea typeface="Times New Roman" panose="02020603050405020304" pitchFamily="18" charset="0"/>
              </a:rPr>
              <a:t>điểm</a:t>
            </a:r>
            <a:r>
              <a:rPr lang="en-US" sz="1400" dirty="0">
                <a:effectLst/>
                <a:ea typeface="Times New Roman" panose="02020603050405020304" pitchFamily="18" charset="0"/>
              </a:rPr>
              <a:t> </a:t>
            </a:r>
            <a:r>
              <a:rPr lang="en-US" sz="1400" dirty="0" err="1">
                <a:effectLst/>
                <a:ea typeface="Times New Roman" panose="02020603050405020304" pitchFamily="18" charset="0"/>
              </a:rPr>
              <a:t>không</a:t>
            </a:r>
            <a:r>
              <a:rPr lang="en-US" sz="1400" dirty="0">
                <a:effectLst/>
                <a:ea typeface="Times New Roman" panose="02020603050405020304" pitchFamily="18" charset="0"/>
              </a:rPr>
              <a:t> </a:t>
            </a:r>
            <a:r>
              <a:rPr lang="en-US" sz="1400" dirty="0" err="1">
                <a:effectLst/>
                <a:ea typeface="Times New Roman" panose="02020603050405020304" pitchFamily="18" charset="0"/>
              </a:rPr>
              <a:t>và</a:t>
            </a:r>
            <a:r>
              <a:rPr lang="en-US" sz="1400" dirty="0">
                <a:effectLst/>
                <a:ea typeface="Times New Roman" panose="02020603050405020304" pitchFamily="18" charset="0"/>
              </a:rPr>
              <a:t> </a:t>
            </a:r>
            <a:r>
              <a:rPr lang="en-US" sz="1400" i="1" dirty="0">
                <a:effectLst/>
                <a:ea typeface="Times New Roman" panose="02020603050405020304" pitchFamily="18" charset="0"/>
              </a:rPr>
              <a:t>P</a:t>
            </a:r>
            <a:r>
              <a:rPr lang="en-US" sz="1400" dirty="0">
                <a:effectLst/>
                <a:ea typeface="Times New Roman" panose="02020603050405020304" pitchFamily="18" charset="0"/>
              </a:rPr>
              <a:t> </a:t>
            </a:r>
            <a:r>
              <a:rPr lang="en-US" sz="1400" dirty="0" err="1">
                <a:effectLst/>
                <a:ea typeface="Times New Roman" panose="02020603050405020304" pitchFamily="18" charset="0"/>
              </a:rPr>
              <a:t>điểm</a:t>
            </a:r>
            <a:r>
              <a:rPr lang="en-US" sz="1400" dirty="0">
                <a:effectLst/>
                <a:ea typeface="Times New Roman" panose="02020603050405020304" pitchFamily="18" charset="0"/>
              </a:rPr>
              <a:t> </a:t>
            </a:r>
            <a:r>
              <a:rPr lang="en-US" sz="1400" dirty="0" err="1">
                <a:effectLst/>
                <a:ea typeface="Times New Roman" panose="02020603050405020304" pitchFamily="18" charset="0"/>
              </a:rPr>
              <a:t>cực</a:t>
            </a:r>
            <a:r>
              <a:rPr lang="en-US" sz="1400" dirty="0">
                <a:effectLst/>
                <a:ea typeface="Times New Roman" panose="02020603050405020304" pitchFamily="18" charset="0"/>
              </a:rPr>
              <a:t> </a:t>
            </a:r>
            <a:r>
              <a:rPr lang="en-US" sz="1400" dirty="0" err="1">
                <a:effectLst/>
                <a:ea typeface="Times New Roman" panose="02020603050405020304" pitchFamily="18" charset="0"/>
              </a:rPr>
              <a:t>của</a:t>
            </a:r>
            <a:r>
              <a:rPr lang="en-US" sz="1400" dirty="0">
                <a:effectLst/>
                <a:ea typeface="Times New Roman" panose="02020603050405020304" pitchFamily="18" charset="0"/>
              </a:rPr>
              <a:t> </a:t>
            </a:r>
            <a:r>
              <a:rPr lang="en-US" sz="1400" dirty="0" err="1">
                <a:effectLst/>
                <a:ea typeface="Times New Roman" panose="02020603050405020304" pitchFamily="18" charset="0"/>
              </a:rPr>
              <a:t>hàm</a:t>
            </a:r>
            <a:r>
              <a:rPr lang="en-US" sz="1400" dirty="0">
                <a:effectLst/>
                <a:ea typeface="Times New Roman" panose="02020603050405020304" pitchFamily="18" charset="0"/>
              </a:rPr>
              <a:t> </a:t>
            </a:r>
            <a:r>
              <a:rPr lang="en-US" sz="1400" i="1" dirty="0">
                <a:effectLst/>
                <a:ea typeface="Times New Roman" panose="02020603050405020304" pitchFamily="18" charset="0"/>
              </a:rPr>
              <a:t>F</a:t>
            </a:r>
            <a:r>
              <a:rPr lang="en-US" sz="1400" dirty="0">
                <a:effectLst/>
                <a:ea typeface="Times New Roman" panose="02020603050405020304" pitchFamily="18" charset="0"/>
              </a:rPr>
              <a:t>(</a:t>
            </a:r>
            <a:r>
              <a:rPr lang="en-US" sz="1400" i="1" dirty="0">
                <a:effectLst/>
                <a:ea typeface="Times New Roman" panose="02020603050405020304" pitchFamily="18" charset="0"/>
              </a:rPr>
              <a:t>s</a:t>
            </a:r>
            <a:r>
              <a:rPr lang="en-US" sz="1400" dirty="0">
                <a:effectLst/>
                <a:ea typeface="Times New Roman" panose="02020603050405020304" pitchFamily="18" charset="0"/>
              </a:rPr>
              <a:t>) </a:t>
            </a:r>
            <a:r>
              <a:rPr lang="en-US" sz="1400" dirty="0" err="1">
                <a:effectLst/>
                <a:ea typeface="Times New Roman" panose="02020603050405020304" pitchFamily="18" charset="0"/>
              </a:rPr>
              <a:t>khi</a:t>
            </a:r>
            <a:r>
              <a:rPr lang="en-US" sz="1400" dirty="0">
                <a:effectLst/>
                <a:ea typeface="Times New Roman" panose="02020603050405020304" pitchFamily="18" charset="0"/>
              </a:rPr>
              <a:t> </a:t>
            </a:r>
            <a:r>
              <a:rPr lang="en-US" sz="1400" dirty="0" err="1">
                <a:effectLst/>
                <a:ea typeface="Times New Roman" panose="02020603050405020304" pitchFamily="18" charset="0"/>
              </a:rPr>
              <a:t>đi</a:t>
            </a:r>
            <a:r>
              <a:rPr lang="en-US" sz="1400" dirty="0">
                <a:effectLst/>
                <a:ea typeface="Times New Roman" panose="02020603050405020304" pitchFamily="18" charset="0"/>
              </a:rPr>
              <a:t> </a:t>
            </a:r>
            <a:r>
              <a:rPr lang="en-US" sz="1400" dirty="0" err="1">
                <a:effectLst/>
                <a:ea typeface="Times New Roman" panose="02020603050405020304" pitchFamily="18" charset="0"/>
              </a:rPr>
              <a:t>theo</a:t>
            </a:r>
            <a:r>
              <a:rPr lang="en-US" sz="1400" dirty="0">
                <a:effectLst/>
                <a:ea typeface="Times New Roman" panose="02020603050405020304" pitchFamily="18" charset="0"/>
              </a:rPr>
              <a:t> </a:t>
            </a:r>
            <a:r>
              <a:rPr lang="en-US" sz="1400" dirty="0" err="1">
                <a:effectLst/>
                <a:ea typeface="Times New Roman" panose="02020603050405020304" pitchFamily="18" charset="0"/>
              </a:rPr>
              <a:t>chiều</a:t>
            </a:r>
            <a:r>
              <a:rPr lang="en-US" sz="1400" dirty="0">
                <a:effectLst/>
                <a:ea typeface="Times New Roman" panose="02020603050405020304" pitchFamily="18" charset="0"/>
              </a:rPr>
              <a:t> quay </a:t>
            </a:r>
            <a:r>
              <a:rPr lang="en-US" sz="1400" dirty="0" err="1">
                <a:effectLst/>
                <a:ea typeface="Times New Roman" panose="02020603050405020304" pitchFamily="18" charset="0"/>
              </a:rPr>
              <a:t>của</a:t>
            </a:r>
            <a:r>
              <a:rPr lang="en-US" sz="1400" dirty="0">
                <a:effectLst/>
                <a:ea typeface="Times New Roman" panose="02020603050405020304" pitchFamily="18" charset="0"/>
              </a:rPr>
              <a:t> </a:t>
            </a:r>
            <a:r>
              <a:rPr lang="en-US" sz="1400" dirty="0" err="1">
                <a:effectLst/>
                <a:ea typeface="Times New Roman" panose="02020603050405020304" pitchFamily="18" charset="0"/>
              </a:rPr>
              <a:t>kim</a:t>
            </a:r>
            <a:r>
              <a:rPr lang="en-US" sz="1400" dirty="0">
                <a:effectLst/>
                <a:ea typeface="Times New Roman" panose="02020603050405020304" pitchFamily="18" charset="0"/>
              </a:rPr>
              <a:t> </a:t>
            </a:r>
            <a:r>
              <a:rPr lang="en-US" sz="1400" dirty="0" err="1">
                <a:effectLst/>
                <a:ea typeface="Times New Roman" panose="02020603050405020304" pitchFamily="18" charset="0"/>
              </a:rPr>
              <a:t>đồng</a:t>
            </a:r>
            <a:r>
              <a:rPr lang="en-US" sz="1400" dirty="0">
                <a:effectLst/>
                <a:ea typeface="Times New Roman" panose="02020603050405020304" pitchFamily="18" charset="0"/>
              </a:rPr>
              <a:t> </a:t>
            </a:r>
            <a:r>
              <a:rPr lang="en-US" sz="1400" dirty="0" err="1">
                <a:effectLst/>
                <a:ea typeface="Times New Roman" panose="02020603050405020304" pitchFamily="18" charset="0"/>
              </a:rPr>
              <a:t>hồ</a:t>
            </a:r>
            <a:r>
              <a:rPr lang="en-US" sz="1400" dirty="0">
                <a:effectLst/>
                <a:ea typeface="Times New Roman" panose="02020603050405020304" pitchFamily="18" charset="0"/>
              </a:rPr>
              <a:t> </a:t>
            </a:r>
            <a:r>
              <a:rPr lang="en-US" sz="1400" dirty="0" err="1">
                <a:effectLst/>
                <a:ea typeface="Times New Roman" panose="02020603050405020304" pitchFamily="18" charset="0"/>
              </a:rPr>
              <a:t>dọc</a:t>
            </a:r>
            <a:r>
              <a:rPr lang="en-US" sz="1400" dirty="0">
                <a:effectLst/>
                <a:ea typeface="Times New Roman" panose="02020603050405020304" pitchFamily="18" charset="0"/>
              </a:rPr>
              <a:t> </a:t>
            </a:r>
            <a:r>
              <a:rPr lang="en-US" sz="1400" dirty="0" err="1">
                <a:effectLst/>
                <a:ea typeface="Times New Roman" panose="02020603050405020304" pitchFamily="18" charset="0"/>
              </a:rPr>
              <a:t>theo</a:t>
            </a:r>
            <a:r>
              <a:rPr lang="en-US" sz="1400" dirty="0">
                <a:effectLst/>
                <a:ea typeface="Times New Roman" panose="02020603050405020304" pitchFamily="18" charset="0"/>
              </a:rPr>
              <a:t> chu </a:t>
            </a:r>
            <a:r>
              <a:rPr lang="en-US" sz="1400" dirty="0" err="1">
                <a:effectLst/>
                <a:ea typeface="Times New Roman" panose="02020603050405020304" pitchFamily="18" charset="0"/>
              </a:rPr>
              <a:t>tuyến</a:t>
            </a:r>
            <a:r>
              <a:rPr lang="en-US" sz="1400" dirty="0">
                <a:effectLst/>
                <a:ea typeface="Times New Roman" panose="02020603050405020304" pitchFamily="18" charset="0"/>
              </a:rPr>
              <a:t>, </a:t>
            </a:r>
            <a:r>
              <a:rPr lang="en-US" sz="1400" dirty="0" err="1">
                <a:effectLst/>
                <a:ea typeface="Times New Roman" panose="02020603050405020304" pitchFamily="18" charset="0"/>
              </a:rPr>
              <a:t>ánh</a:t>
            </a:r>
            <a:r>
              <a:rPr lang="en-US" sz="1400" dirty="0">
                <a:effectLst/>
                <a:ea typeface="Times New Roman" panose="02020603050405020304" pitchFamily="18" charset="0"/>
              </a:rPr>
              <a:t> </a:t>
            </a:r>
            <a:r>
              <a:rPr lang="en-US" sz="1400" dirty="0" err="1">
                <a:effectLst/>
                <a:ea typeface="Times New Roman" panose="02020603050405020304" pitchFamily="18" charset="0"/>
              </a:rPr>
              <a:t>xạ</a:t>
            </a:r>
            <a:r>
              <a:rPr lang="en-US" sz="1400" dirty="0">
                <a:effectLst/>
                <a:ea typeface="Times New Roman" panose="02020603050405020304" pitchFamily="18" charset="0"/>
              </a:rPr>
              <a:t> </a:t>
            </a:r>
            <a:r>
              <a:rPr lang="en-US" sz="1400" dirty="0" err="1">
                <a:effectLst/>
                <a:ea typeface="Times New Roman" panose="02020603050405020304" pitchFamily="18" charset="0"/>
              </a:rPr>
              <a:t>của</a:t>
            </a:r>
            <a:r>
              <a:rPr lang="en-US" sz="1400" dirty="0">
                <a:effectLst/>
                <a:ea typeface="Times New Roman" panose="02020603050405020304" pitchFamily="18" charset="0"/>
              </a:rPr>
              <a:t> </a:t>
            </a:r>
            <a:r>
              <a:rPr lang="en-US" sz="1400" dirty="0">
                <a:effectLst/>
                <a:ea typeface="Times New Roman" panose="02020603050405020304" pitchFamily="18" charset="0"/>
                <a:sym typeface="Symbol" pitchFamily="2" charset="2"/>
              </a:rPr>
              <a:t></a:t>
            </a:r>
            <a:r>
              <a:rPr lang="en-US" sz="1400" i="1" baseline="-25000" dirty="0">
                <a:effectLst/>
                <a:ea typeface="Times New Roman" panose="02020603050405020304" pitchFamily="18" charset="0"/>
              </a:rPr>
              <a:t>s</a:t>
            </a:r>
            <a:r>
              <a:rPr lang="en-US" sz="1400" dirty="0">
                <a:effectLst/>
                <a:ea typeface="Times New Roman" panose="02020603050405020304" pitchFamily="18" charset="0"/>
              </a:rPr>
              <a:t> </a:t>
            </a:r>
            <a:r>
              <a:rPr lang="en-US" sz="1400" dirty="0" err="1">
                <a:effectLst/>
                <a:ea typeface="Times New Roman" panose="02020603050405020304" pitchFamily="18" charset="0"/>
              </a:rPr>
              <a:t>trong</a:t>
            </a:r>
            <a:r>
              <a:rPr lang="en-US" sz="1400" dirty="0">
                <a:effectLst/>
                <a:ea typeface="Times New Roman" panose="02020603050405020304" pitchFamily="18" charset="0"/>
              </a:rPr>
              <a:t> </a:t>
            </a:r>
            <a:r>
              <a:rPr lang="en-US" sz="1400" dirty="0" err="1">
                <a:effectLst/>
                <a:ea typeface="Times New Roman" panose="02020603050405020304" pitchFamily="18" charset="0"/>
              </a:rPr>
              <a:t>mặt</a:t>
            </a:r>
            <a:r>
              <a:rPr lang="en-US" sz="1400" dirty="0">
                <a:effectLst/>
                <a:ea typeface="Times New Roman" panose="02020603050405020304" pitchFamily="18" charset="0"/>
              </a:rPr>
              <a:t> </a:t>
            </a:r>
            <a:r>
              <a:rPr lang="en-US" sz="1400" dirty="0" err="1">
                <a:effectLst/>
                <a:ea typeface="Times New Roman" panose="02020603050405020304" pitchFamily="18" charset="0"/>
              </a:rPr>
              <a:t>phẳng</a:t>
            </a:r>
            <a:r>
              <a:rPr lang="en-US" sz="1400" dirty="0">
                <a:effectLst/>
                <a:ea typeface="Times New Roman" panose="02020603050405020304" pitchFamily="18" charset="0"/>
              </a:rPr>
              <a:t> </a:t>
            </a:r>
            <a:r>
              <a:rPr lang="en-US" sz="1400" i="1" dirty="0">
                <a:effectLst/>
                <a:ea typeface="Times New Roman" panose="02020603050405020304" pitchFamily="18" charset="0"/>
              </a:rPr>
              <a:t>F</a:t>
            </a:r>
            <a:r>
              <a:rPr lang="en-US" sz="1400" dirty="0">
                <a:effectLst/>
                <a:ea typeface="Times New Roman" panose="02020603050405020304" pitchFamily="18" charset="0"/>
              </a:rPr>
              <a:t>(</a:t>
            </a:r>
            <a:r>
              <a:rPr lang="en-US" sz="1400" i="1" dirty="0">
                <a:effectLst/>
                <a:ea typeface="Times New Roman" panose="02020603050405020304" pitchFamily="18" charset="0"/>
              </a:rPr>
              <a:t>s</a:t>
            </a:r>
            <a:r>
              <a:rPr lang="en-US" sz="1400" dirty="0">
                <a:effectLst/>
                <a:ea typeface="Times New Roman" panose="02020603050405020304" pitchFamily="18" charset="0"/>
              </a:rPr>
              <a:t>) </a:t>
            </a:r>
            <a:r>
              <a:rPr lang="en-US" sz="1400" dirty="0" err="1">
                <a:effectLst/>
                <a:ea typeface="Times New Roman" panose="02020603050405020304" pitchFamily="18" charset="0"/>
              </a:rPr>
              <a:t>là</a:t>
            </a:r>
            <a:r>
              <a:rPr lang="en-US" sz="1400" dirty="0">
                <a:effectLst/>
                <a:ea typeface="Times New Roman" panose="02020603050405020304" pitchFamily="18" charset="0"/>
              </a:rPr>
              <a:t> chu </a:t>
            </a:r>
            <a:r>
              <a:rPr lang="en-US" sz="1400" dirty="0" err="1">
                <a:effectLst/>
                <a:ea typeface="Times New Roman" panose="02020603050405020304" pitchFamily="18" charset="0"/>
              </a:rPr>
              <a:t>tuyến</a:t>
            </a:r>
            <a:r>
              <a:rPr lang="en-US" sz="1400" dirty="0">
                <a:effectLst/>
                <a:ea typeface="Times New Roman" panose="02020603050405020304" pitchFamily="18" charset="0"/>
              </a:rPr>
              <a:t> </a:t>
            </a:r>
            <a:r>
              <a:rPr lang="en-US" sz="1400" dirty="0">
                <a:effectLst/>
                <a:ea typeface="Times New Roman" panose="02020603050405020304" pitchFamily="18" charset="0"/>
                <a:sym typeface="Symbol" pitchFamily="2" charset="2"/>
              </a:rPr>
              <a:t></a:t>
            </a:r>
            <a:r>
              <a:rPr lang="en-US" sz="1400" i="1" baseline="-25000" dirty="0">
                <a:effectLst/>
                <a:ea typeface="Times New Roman" panose="02020603050405020304" pitchFamily="18" charset="0"/>
              </a:rPr>
              <a:t>F</a:t>
            </a:r>
            <a:r>
              <a:rPr lang="en-US" sz="1400" dirty="0">
                <a:effectLst/>
                <a:ea typeface="Times New Roman" panose="02020603050405020304" pitchFamily="18" charset="0"/>
              </a:rPr>
              <a:t> </a:t>
            </a:r>
            <a:r>
              <a:rPr lang="en-US" sz="1400" dirty="0" err="1">
                <a:effectLst/>
                <a:ea typeface="Times New Roman" panose="02020603050405020304" pitchFamily="18" charset="0"/>
              </a:rPr>
              <a:t>sẽ</a:t>
            </a:r>
            <a:r>
              <a:rPr lang="en-US" sz="1400" dirty="0">
                <a:effectLst/>
                <a:ea typeface="Times New Roman" panose="02020603050405020304" pitchFamily="18" charset="0"/>
              </a:rPr>
              <a:t> </a:t>
            </a:r>
            <a:r>
              <a:rPr lang="en-US" sz="1400" b="1" dirty="0">
                <a:solidFill>
                  <a:srgbClr val="C00000"/>
                </a:solidFill>
                <a:effectLst/>
                <a:ea typeface="Times New Roman" panose="02020603050405020304" pitchFamily="18" charset="0"/>
              </a:rPr>
              <a:t>bao </a:t>
            </a:r>
            <a:r>
              <a:rPr lang="en-US" sz="1400" b="1" dirty="0" err="1">
                <a:solidFill>
                  <a:srgbClr val="C00000"/>
                </a:solidFill>
                <a:effectLst/>
                <a:ea typeface="Times New Roman" panose="02020603050405020304" pitchFamily="18" charset="0"/>
              </a:rPr>
              <a:t>quanh</a:t>
            </a:r>
            <a:r>
              <a:rPr lang="en-US" sz="1400" b="1" dirty="0">
                <a:solidFill>
                  <a:srgbClr val="C00000"/>
                </a:solidFill>
                <a:effectLst/>
                <a:ea typeface="Times New Roman" panose="02020603050405020304" pitchFamily="18" charset="0"/>
              </a:rPr>
              <a:t> </a:t>
            </a:r>
            <a:r>
              <a:rPr lang="en-US" sz="1400" b="1" dirty="0" err="1">
                <a:solidFill>
                  <a:srgbClr val="C00000"/>
                </a:solidFill>
                <a:effectLst/>
                <a:ea typeface="Times New Roman" panose="02020603050405020304" pitchFamily="18" charset="0"/>
              </a:rPr>
              <a:t>gốc</a:t>
            </a:r>
            <a:r>
              <a:rPr lang="en-US" sz="1400" b="1" dirty="0">
                <a:solidFill>
                  <a:srgbClr val="C00000"/>
                </a:solidFill>
                <a:effectLst/>
                <a:ea typeface="Times New Roman" panose="02020603050405020304" pitchFamily="18" charset="0"/>
              </a:rPr>
              <a:t> </a:t>
            </a:r>
            <a:r>
              <a:rPr lang="en-US" sz="1400" b="1" dirty="0" err="1">
                <a:solidFill>
                  <a:srgbClr val="C00000"/>
                </a:solidFill>
                <a:effectLst/>
                <a:ea typeface="Times New Roman" panose="02020603050405020304" pitchFamily="18" charset="0"/>
              </a:rPr>
              <a:t>tọa</a:t>
            </a:r>
            <a:r>
              <a:rPr lang="en-US" sz="1400" b="1" dirty="0">
                <a:solidFill>
                  <a:srgbClr val="C00000"/>
                </a:solidFill>
                <a:effectLst/>
                <a:ea typeface="Times New Roman" panose="02020603050405020304" pitchFamily="18" charset="0"/>
              </a:rPr>
              <a:t> </a:t>
            </a:r>
            <a:r>
              <a:rPr lang="en-US" sz="1400" b="1" dirty="0" err="1">
                <a:solidFill>
                  <a:srgbClr val="C00000"/>
                </a:solidFill>
                <a:effectLst/>
                <a:ea typeface="Times New Roman" panose="02020603050405020304" pitchFamily="18" charset="0"/>
              </a:rPr>
              <a:t>độ</a:t>
            </a:r>
            <a:r>
              <a:rPr lang="en-US" sz="1400" b="1" dirty="0">
                <a:solidFill>
                  <a:srgbClr val="C00000"/>
                </a:solidFill>
                <a:effectLst/>
                <a:ea typeface="Times New Roman" panose="02020603050405020304" pitchFamily="18" charset="0"/>
              </a:rPr>
              <a:t> </a:t>
            </a:r>
            <a:r>
              <a:rPr lang="en-US" sz="1400" dirty="0" err="1">
                <a:effectLst/>
                <a:ea typeface="Times New Roman" panose="02020603050405020304" pitchFamily="18" charset="0"/>
              </a:rPr>
              <a:t>của</a:t>
            </a:r>
            <a:r>
              <a:rPr lang="en-US" sz="1400" dirty="0">
                <a:effectLst/>
                <a:ea typeface="Times New Roman" panose="02020603050405020304" pitchFamily="18" charset="0"/>
              </a:rPr>
              <a:t> </a:t>
            </a:r>
            <a:r>
              <a:rPr lang="en-US" sz="1400" dirty="0" err="1">
                <a:effectLst/>
                <a:ea typeface="Times New Roman" panose="02020603050405020304" pitchFamily="18" charset="0"/>
              </a:rPr>
              <a:t>mặt</a:t>
            </a:r>
            <a:r>
              <a:rPr lang="en-US" sz="1400" dirty="0">
                <a:effectLst/>
                <a:ea typeface="Times New Roman" panose="02020603050405020304" pitchFamily="18" charset="0"/>
              </a:rPr>
              <a:t> </a:t>
            </a:r>
            <a:r>
              <a:rPr lang="en-US" sz="1400" dirty="0" err="1">
                <a:effectLst/>
                <a:ea typeface="Times New Roman" panose="02020603050405020304" pitchFamily="18" charset="0"/>
              </a:rPr>
              <a:t>phẳng</a:t>
            </a:r>
            <a:r>
              <a:rPr lang="en-US" sz="1400" dirty="0">
                <a:effectLst/>
                <a:ea typeface="Times New Roman" panose="02020603050405020304" pitchFamily="18" charset="0"/>
              </a:rPr>
              <a:t> </a:t>
            </a:r>
            <a:r>
              <a:rPr lang="en-US" sz="1400" i="1" dirty="0">
                <a:effectLst/>
                <a:ea typeface="Times New Roman" panose="02020603050405020304" pitchFamily="18" charset="0"/>
              </a:rPr>
              <a:t>F</a:t>
            </a:r>
            <a:r>
              <a:rPr lang="en-US" sz="1400" dirty="0">
                <a:effectLst/>
                <a:ea typeface="Times New Roman" panose="02020603050405020304" pitchFamily="18" charset="0"/>
              </a:rPr>
              <a:t>(</a:t>
            </a:r>
            <a:r>
              <a:rPr lang="en-US" sz="1400" i="1" dirty="0">
                <a:effectLst/>
                <a:ea typeface="Times New Roman" panose="02020603050405020304" pitchFamily="18" charset="0"/>
              </a:rPr>
              <a:t>s</a:t>
            </a:r>
            <a:r>
              <a:rPr lang="en-US" sz="1400" dirty="0">
                <a:effectLst/>
                <a:ea typeface="Times New Roman" panose="02020603050405020304" pitchFamily="18" charset="0"/>
              </a:rPr>
              <a:t>) </a:t>
            </a:r>
            <a:r>
              <a:rPr lang="en-US" sz="1400" dirty="0" err="1">
                <a:effectLst/>
                <a:ea typeface="Times New Roman" panose="02020603050405020304" pitchFamily="18" charset="0"/>
              </a:rPr>
              <a:t>tất</a:t>
            </a:r>
            <a:r>
              <a:rPr lang="en-US" sz="1400" dirty="0">
                <a:effectLst/>
                <a:ea typeface="Times New Roman" panose="02020603050405020304" pitchFamily="18" charset="0"/>
              </a:rPr>
              <a:t> </a:t>
            </a:r>
            <a:r>
              <a:rPr lang="en-US" sz="1400" dirty="0" err="1">
                <a:effectLst/>
                <a:ea typeface="Times New Roman" panose="02020603050405020304" pitchFamily="18" charset="0"/>
              </a:rPr>
              <a:t>cả</a:t>
            </a:r>
            <a:r>
              <a:rPr lang="en-US" sz="1400" dirty="0">
                <a:effectLst/>
                <a:ea typeface="Times New Roman" panose="02020603050405020304" pitchFamily="18" charset="0"/>
              </a:rPr>
              <a:t> </a:t>
            </a:r>
            <a:r>
              <a:rPr lang="en-US" sz="1400" dirty="0" err="1">
                <a:effectLst/>
                <a:ea typeface="Times New Roman" panose="02020603050405020304" pitchFamily="18" charset="0"/>
              </a:rPr>
              <a:t>là</a:t>
            </a:r>
            <a:r>
              <a:rPr lang="en-US" sz="1400" dirty="0">
                <a:effectLst/>
                <a:ea typeface="Times New Roman" panose="02020603050405020304" pitchFamily="18" charset="0"/>
              </a:rPr>
              <a:t> </a:t>
            </a:r>
            <a:r>
              <a:rPr lang="en-US" sz="1400" i="1" dirty="0">
                <a:effectLst/>
                <a:ea typeface="Times New Roman" panose="02020603050405020304" pitchFamily="18" charset="0"/>
              </a:rPr>
              <a:t>Z </a:t>
            </a:r>
            <a:r>
              <a:rPr lang="en-US" sz="1400" i="1" dirty="0">
                <a:effectLst/>
                <a:ea typeface="Times New Roman" panose="02020603050405020304" pitchFamily="18" charset="0"/>
                <a:sym typeface="Symbol" pitchFamily="2" charset="2"/>
              </a:rPr>
              <a:t></a:t>
            </a:r>
            <a:r>
              <a:rPr lang="en-US" sz="1400" i="1" dirty="0">
                <a:effectLst/>
                <a:ea typeface="Times New Roman" panose="02020603050405020304" pitchFamily="18" charset="0"/>
              </a:rPr>
              <a:t> P</a:t>
            </a:r>
            <a:r>
              <a:rPr lang="en-US" sz="1400" dirty="0">
                <a:effectLst/>
                <a:ea typeface="Times New Roman" panose="02020603050405020304" pitchFamily="18" charset="0"/>
              </a:rPr>
              <a:t> </a:t>
            </a:r>
            <a:r>
              <a:rPr lang="en-US" sz="1400" dirty="0" err="1">
                <a:effectLst/>
                <a:ea typeface="Times New Roman" panose="02020603050405020304" pitchFamily="18" charset="0"/>
              </a:rPr>
              <a:t>lần</a:t>
            </a:r>
            <a:r>
              <a:rPr lang="en-US" sz="1400" dirty="0">
                <a:effectLst/>
                <a:ea typeface="Times New Roman" panose="02020603050405020304" pitchFamily="18" charset="0"/>
              </a:rPr>
              <a:t> </a:t>
            </a:r>
            <a:r>
              <a:rPr lang="en-US" sz="1400" b="1" dirty="0" err="1">
                <a:solidFill>
                  <a:srgbClr val="C00000"/>
                </a:solidFill>
                <a:effectLst/>
                <a:ea typeface="Times New Roman" panose="02020603050405020304" pitchFamily="18" charset="0"/>
              </a:rPr>
              <a:t>theo</a:t>
            </a:r>
            <a:r>
              <a:rPr lang="en-US" sz="1400" b="1" dirty="0">
                <a:solidFill>
                  <a:srgbClr val="C00000"/>
                </a:solidFill>
                <a:effectLst/>
                <a:ea typeface="Times New Roman" panose="02020603050405020304" pitchFamily="18" charset="0"/>
              </a:rPr>
              <a:t> </a:t>
            </a:r>
            <a:r>
              <a:rPr lang="en-US" sz="1400" b="1" dirty="0" err="1">
                <a:solidFill>
                  <a:srgbClr val="C00000"/>
                </a:solidFill>
                <a:effectLst/>
                <a:ea typeface="Times New Roman" panose="02020603050405020304" pitchFamily="18" charset="0"/>
              </a:rPr>
              <a:t>chiều</a:t>
            </a:r>
            <a:r>
              <a:rPr lang="en-US" sz="1400" b="1" dirty="0">
                <a:solidFill>
                  <a:srgbClr val="C00000"/>
                </a:solidFill>
                <a:effectLst/>
                <a:ea typeface="Times New Roman" panose="02020603050405020304" pitchFamily="18" charset="0"/>
              </a:rPr>
              <a:t> quay </a:t>
            </a:r>
            <a:r>
              <a:rPr lang="en-US" sz="1400" b="1" dirty="0" err="1">
                <a:solidFill>
                  <a:srgbClr val="C00000"/>
                </a:solidFill>
                <a:effectLst/>
                <a:ea typeface="Times New Roman" panose="02020603050405020304" pitchFamily="18" charset="0"/>
              </a:rPr>
              <a:t>của</a:t>
            </a:r>
            <a:r>
              <a:rPr lang="en-US" sz="1400" b="1" dirty="0">
                <a:solidFill>
                  <a:srgbClr val="C00000"/>
                </a:solidFill>
                <a:effectLst/>
                <a:ea typeface="Times New Roman" panose="02020603050405020304" pitchFamily="18" charset="0"/>
              </a:rPr>
              <a:t> </a:t>
            </a:r>
            <a:r>
              <a:rPr lang="en-US" sz="1400" b="1" dirty="0" err="1">
                <a:solidFill>
                  <a:srgbClr val="C00000"/>
                </a:solidFill>
                <a:effectLst/>
                <a:ea typeface="Times New Roman" panose="02020603050405020304" pitchFamily="18" charset="0"/>
              </a:rPr>
              <a:t>kim</a:t>
            </a:r>
            <a:r>
              <a:rPr lang="en-US" sz="1400" b="1" dirty="0">
                <a:solidFill>
                  <a:srgbClr val="C00000"/>
                </a:solidFill>
                <a:effectLst/>
                <a:ea typeface="Times New Roman" panose="02020603050405020304" pitchFamily="18" charset="0"/>
              </a:rPr>
              <a:t> </a:t>
            </a:r>
            <a:r>
              <a:rPr lang="en-US" sz="1400" b="1" dirty="0" err="1">
                <a:solidFill>
                  <a:srgbClr val="C00000"/>
                </a:solidFill>
                <a:effectLst/>
                <a:ea typeface="Times New Roman" panose="02020603050405020304" pitchFamily="18" charset="0"/>
              </a:rPr>
              <a:t>đồng</a:t>
            </a:r>
            <a:r>
              <a:rPr lang="en-US" sz="1400" b="1" dirty="0">
                <a:solidFill>
                  <a:srgbClr val="C00000"/>
                </a:solidFill>
                <a:effectLst/>
                <a:ea typeface="Times New Roman" panose="02020603050405020304" pitchFamily="18" charset="0"/>
              </a:rPr>
              <a:t> </a:t>
            </a:r>
            <a:r>
              <a:rPr lang="en-US" sz="1400" b="1" dirty="0" err="1">
                <a:solidFill>
                  <a:srgbClr val="C00000"/>
                </a:solidFill>
                <a:effectLst/>
                <a:ea typeface="Times New Roman" panose="02020603050405020304" pitchFamily="18" charset="0"/>
              </a:rPr>
              <a:t>hồ</a:t>
            </a:r>
            <a:r>
              <a:rPr lang="en-US" sz="1400" dirty="0">
                <a:effectLst/>
                <a:ea typeface="Times New Roman" panose="02020603050405020304" pitchFamily="18" charset="0"/>
              </a:rPr>
              <a:t>. </a:t>
            </a:r>
            <a:r>
              <a:rPr lang="en-US" sz="1400" dirty="0" err="1">
                <a:effectLst/>
                <a:ea typeface="Times New Roman" panose="02020603050405020304" pitchFamily="18" charset="0"/>
              </a:rPr>
              <a:t>Chú</a:t>
            </a:r>
            <a:r>
              <a:rPr lang="en-US" sz="1400" dirty="0">
                <a:effectLst/>
                <a:ea typeface="Times New Roman" panose="02020603050405020304" pitchFamily="18" charset="0"/>
              </a:rPr>
              <a:t> </a:t>
            </a:r>
            <a:r>
              <a:rPr lang="en-US" sz="1400" dirty="0" err="1">
                <a:effectLst/>
                <a:ea typeface="Times New Roman" panose="02020603050405020304" pitchFamily="18" charset="0"/>
              </a:rPr>
              <a:t>ý</a:t>
            </a:r>
            <a:r>
              <a:rPr lang="en-US" sz="1400" dirty="0">
                <a:effectLst/>
                <a:ea typeface="Times New Roman" panose="02020603050405020304" pitchFamily="18" charset="0"/>
              </a:rPr>
              <a:t> </a:t>
            </a:r>
            <a:r>
              <a:rPr lang="en-US" sz="1400" dirty="0" err="1">
                <a:effectLst/>
                <a:ea typeface="Times New Roman" panose="02020603050405020304" pitchFamily="18" charset="0"/>
              </a:rPr>
              <a:t>rằng</a:t>
            </a:r>
            <a:r>
              <a:rPr lang="en-US" sz="1400" dirty="0">
                <a:effectLst/>
                <a:ea typeface="Times New Roman" panose="02020603050405020304" pitchFamily="18" charset="0"/>
              </a:rPr>
              <a:t>, </a:t>
            </a:r>
            <a:r>
              <a:rPr lang="en-US" sz="1400" dirty="0" err="1">
                <a:effectLst/>
                <a:ea typeface="Times New Roman" panose="02020603050405020304" pitchFamily="18" charset="0"/>
              </a:rPr>
              <a:t>định</a:t>
            </a:r>
            <a:r>
              <a:rPr lang="en-US" sz="1400" dirty="0">
                <a:effectLst/>
                <a:ea typeface="Times New Roman" panose="02020603050405020304" pitchFamily="18" charset="0"/>
              </a:rPr>
              <a:t> </a:t>
            </a:r>
            <a:r>
              <a:rPr lang="en-US" sz="1400" dirty="0" err="1">
                <a:effectLst/>
                <a:ea typeface="Times New Roman" panose="02020603050405020304" pitchFamily="18" charset="0"/>
              </a:rPr>
              <a:t>lý</a:t>
            </a:r>
            <a:r>
              <a:rPr lang="en-US" sz="1400" dirty="0">
                <a:effectLst/>
                <a:ea typeface="Times New Roman" panose="02020603050405020304" pitchFamily="18" charset="0"/>
              </a:rPr>
              <a:t> </a:t>
            </a:r>
            <a:r>
              <a:rPr lang="en-US" sz="1400" dirty="0" err="1">
                <a:effectLst/>
                <a:ea typeface="Times New Roman" panose="02020603050405020304" pitchFamily="18" charset="0"/>
              </a:rPr>
              <a:t>này</a:t>
            </a:r>
            <a:r>
              <a:rPr lang="en-US" sz="1400" dirty="0">
                <a:effectLst/>
                <a:ea typeface="Times New Roman" panose="02020603050405020304" pitchFamily="18" charset="0"/>
              </a:rPr>
              <a:t> </a:t>
            </a:r>
            <a:r>
              <a:rPr lang="en-US" sz="1400" dirty="0" err="1">
                <a:effectLst/>
                <a:ea typeface="Times New Roman" panose="02020603050405020304" pitchFamily="18" charset="0"/>
              </a:rPr>
              <a:t>chỉ</a:t>
            </a:r>
            <a:r>
              <a:rPr lang="en-US" sz="1400" dirty="0">
                <a:effectLst/>
                <a:ea typeface="Times New Roman" panose="02020603050405020304" pitchFamily="18" charset="0"/>
              </a:rPr>
              <a:t> </a:t>
            </a:r>
            <a:r>
              <a:rPr lang="en-US" sz="1400" dirty="0" err="1">
                <a:effectLst/>
                <a:ea typeface="Times New Roman" panose="02020603050405020304" pitchFamily="18" charset="0"/>
              </a:rPr>
              <a:t>có</a:t>
            </a:r>
            <a:r>
              <a:rPr lang="en-US" sz="1400" dirty="0">
                <a:effectLst/>
                <a:ea typeface="Times New Roman" panose="02020603050405020304" pitchFamily="18" charset="0"/>
              </a:rPr>
              <a:t> </a:t>
            </a:r>
            <a:r>
              <a:rPr lang="en-US" sz="1400" dirty="0" err="1">
                <a:effectLst/>
                <a:ea typeface="Times New Roman" panose="02020603050405020304" pitchFamily="18" charset="0"/>
              </a:rPr>
              <a:t>thể</a:t>
            </a:r>
            <a:r>
              <a:rPr lang="en-US" sz="1400" dirty="0">
                <a:effectLst/>
                <a:ea typeface="Times New Roman" panose="02020603050405020304" pitchFamily="18" charset="0"/>
              </a:rPr>
              <a:t> </a:t>
            </a:r>
            <a:r>
              <a:rPr lang="en-US" sz="1400" dirty="0" err="1">
                <a:effectLst/>
                <a:ea typeface="Times New Roman" panose="02020603050405020304" pitchFamily="18" charset="0"/>
              </a:rPr>
              <a:t>áp</a:t>
            </a:r>
            <a:r>
              <a:rPr lang="en-US" sz="1400" dirty="0">
                <a:effectLst/>
                <a:ea typeface="Times New Roman" panose="02020603050405020304" pitchFamily="18" charset="0"/>
              </a:rPr>
              <a:t> </a:t>
            </a:r>
            <a:r>
              <a:rPr lang="en-US" sz="1400" dirty="0" err="1">
                <a:effectLst/>
                <a:ea typeface="Times New Roman" panose="02020603050405020304" pitchFamily="18" charset="0"/>
              </a:rPr>
              <a:t>dụng</a:t>
            </a:r>
            <a:r>
              <a:rPr lang="en-US" sz="1400" dirty="0">
                <a:effectLst/>
                <a:ea typeface="Times New Roman" panose="02020603050405020304" pitchFamily="18" charset="0"/>
              </a:rPr>
              <a:t> </a:t>
            </a:r>
            <a:r>
              <a:rPr lang="en-US" sz="1400" dirty="0" err="1">
                <a:effectLst/>
                <a:ea typeface="Times New Roman" panose="02020603050405020304" pitchFamily="18" charset="0"/>
              </a:rPr>
              <a:t>nếu</a:t>
            </a:r>
            <a:r>
              <a:rPr lang="en-US" sz="1400" dirty="0">
                <a:effectLst/>
                <a:ea typeface="Times New Roman" panose="02020603050405020304" pitchFamily="18" charset="0"/>
              </a:rPr>
              <a:t> </a:t>
            </a:r>
            <a:r>
              <a:rPr lang="en-US" sz="1400" dirty="0" err="1">
                <a:effectLst/>
                <a:ea typeface="Times New Roman" panose="02020603050405020304" pitchFamily="18" charset="0"/>
              </a:rPr>
              <a:t>không</a:t>
            </a:r>
            <a:r>
              <a:rPr lang="en-US" sz="1400" dirty="0">
                <a:effectLst/>
                <a:ea typeface="Times New Roman" panose="02020603050405020304" pitchFamily="18" charset="0"/>
              </a:rPr>
              <a:t> </a:t>
            </a:r>
            <a:r>
              <a:rPr lang="en-US" sz="1400" dirty="0" err="1">
                <a:effectLst/>
                <a:ea typeface="Times New Roman" panose="02020603050405020304" pitchFamily="18" charset="0"/>
              </a:rPr>
              <a:t>có</a:t>
            </a:r>
            <a:r>
              <a:rPr lang="en-US" sz="1400" dirty="0">
                <a:effectLst/>
                <a:ea typeface="Times New Roman" panose="02020603050405020304" pitchFamily="18" charset="0"/>
              </a:rPr>
              <a:t> </a:t>
            </a:r>
            <a:r>
              <a:rPr lang="en-US" sz="1400" dirty="0" err="1">
                <a:effectLst/>
                <a:ea typeface="Times New Roman" panose="02020603050405020304" pitchFamily="18" charset="0"/>
              </a:rPr>
              <a:t>điểm</a:t>
            </a:r>
            <a:r>
              <a:rPr lang="en-US" sz="1400" dirty="0">
                <a:effectLst/>
                <a:ea typeface="Times New Roman" panose="02020603050405020304" pitchFamily="18" charset="0"/>
              </a:rPr>
              <a:t> </a:t>
            </a:r>
            <a:r>
              <a:rPr lang="en-US" sz="1400" dirty="0" err="1">
                <a:effectLst/>
                <a:ea typeface="Times New Roman" panose="02020603050405020304" pitchFamily="18" charset="0"/>
              </a:rPr>
              <a:t>cực</a:t>
            </a:r>
            <a:r>
              <a:rPr lang="en-US" sz="1400" dirty="0">
                <a:effectLst/>
                <a:ea typeface="Times New Roman" panose="02020603050405020304" pitchFamily="18" charset="0"/>
              </a:rPr>
              <a:t> </a:t>
            </a:r>
            <a:r>
              <a:rPr lang="en-US" sz="1400" dirty="0" err="1">
                <a:effectLst/>
                <a:ea typeface="Times New Roman" panose="02020603050405020304" pitchFamily="18" charset="0"/>
              </a:rPr>
              <a:t>nào</a:t>
            </a:r>
            <a:r>
              <a:rPr lang="en-US" sz="1400" dirty="0">
                <a:effectLst/>
                <a:ea typeface="Times New Roman" panose="02020603050405020304" pitchFamily="18" charset="0"/>
              </a:rPr>
              <a:t> </a:t>
            </a:r>
            <a:r>
              <a:rPr lang="en-US" sz="1400" dirty="0" err="1">
                <a:effectLst/>
                <a:ea typeface="Times New Roman" panose="02020603050405020304" pitchFamily="18" charset="0"/>
              </a:rPr>
              <a:t>của</a:t>
            </a:r>
            <a:r>
              <a:rPr lang="en-US" sz="1400" dirty="0">
                <a:effectLst/>
                <a:ea typeface="Times New Roman" panose="02020603050405020304" pitchFamily="18" charset="0"/>
              </a:rPr>
              <a:t> </a:t>
            </a:r>
            <a:r>
              <a:rPr lang="en-US" sz="1400" i="1" dirty="0">
                <a:effectLst/>
                <a:ea typeface="Times New Roman" panose="02020603050405020304" pitchFamily="18" charset="0"/>
              </a:rPr>
              <a:t>F</a:t>
            </a:r>
            <a:r>
              <a:rPr lang="en-US" sz="1400" dirty="0">
                <a:effectLst/>
                <a:ea typeface="Times New Roman" panose="02020603050405020304" pitchFamily="18" charset="0"/>
              </a:rPr>
              <a:t>(</a:t>
            </a:r>
            <a:r>
              <a:rPr lang="en-US" sz="1400" i="1" dirty="0">
                <a:effectLst/>
                <a:ea typeface="Times New Roman" panose="02020603050405020304" pitchFamily="18" charset="0"/>
              </a:rPr>
              <a:t>s</a:t>
            </a:r>
            <a:r>
              <a:rPr lang="en-US" sz="1400" dirty="0">
                <a:effectLst/>
                <a:ea typeface="Times New Roman" panose="02020603050405020304" pitchFamily="18" charset="0"/>
              </a:rPr>
              <a:t>) </a:t>
            </a:r>
            <a:r>
              <a:rPr lang="en-US" sz="1400" dirty="0" err="1">
                <a:effectLst/>
                <a:ea typeface="Times New Roman" panose="02020603050405020304" pitchFamily="18" charset="0"/>
              </a:rPr>
              <a:t>nằm</a:t>
            </a:r>
            <a:r>
              <a:rPr lang="en-US" sz="1400" dirty="0">
                <a:effectLst/>
                <a:ea typeface="Times New Roman" panose="02020603050405020304" pitchFamily="18" charset="0"/>
              </a:rPr>
              <a:t> </a:t>
            </a:r>
            <a:r>
              <a:rPr lang="en-US" sz="1400" dirty="0" err="1">
                <a:effectLst/>
                <a:ea typeface="Times New Roman" panose="02020603050405020304" pitchFamily="18" charset="0"/>
              </a:rPr>
              <a:t>trên</a:t>
            </a:r>
            <a:r>
              <a:rPr lang="en-US" sz="1400" dirty="0">
                <a:effectLst/>
                <a:ea typeface="Times New Roman" panose="02020603050405020304" pitchFamily="18" charset="0"/>
              </a:rPr>
              <a:t> chu </a:t>
            </a:r>
            <a:r>
              <a:rPr lang="en-US" sz="1400" dirty="0" err="1">
                <a:effectLst/>
                <a:ea typeface="Times New Roman" panose="02020603050405020304" pitchFamily="18" charset="0"/>
              </a:rPr>
              <a:t>tuyến</a:t>
            </a:r>
            <a:r>
              <a:rPr lang="en-US" sz="1400" dirty="0">
                <a:effectLst/>
                <a:ea typeface="Times New Roman" panose="02020603050405020304" pitchFamily="18" charset="0"/>
              </a:rPr>
              <a:t> </a:t>
            </a:r>
            <a:r>
              <a:rPr lang="en-US" sz="1400" dirty="0">
                <a:effectLst/>
                <a:ea typeface="Times New Roman" panose="02020603050405020304" pitchFamily="18" charset="0"/>
                <a:sym typeface="Symbol" pitchFamily="2" charset="2"/>
              </a:rPr>
              <a:t></a:t>
            </a:r>
            <a:r>
              <a:rPr lang="en-US" sz="1400" i="1" baseline="-25000" dirty="0">
                <a:effectLst/>
                <a:ea typeface="Times New Roman" panose="02020603050405020304" pitchFamily="18" charset="0"/>
              </a:rPr>
              <a:t>s</a:t>
            </a:r>
            <a:r>
              <a:rPr lang="en-US" sz="1400" dirty="0">
                <a:effectLst/>
                <a:ea typeface="Times New Roman" panose="02020603050405020304" pitchFamily="18" charset="0"/>
              </a:rPr>
              <a:t>, </a:t>
            </a:r>
            <a:r>
              <a:rPr lang="en-US" sz="1400" dirty="0" err="1">
                <a:effectLst/>
                <a:ea typeface="Times New Roman" panose="02020603050405020304" pitchFamily="18" charset="0"/>
              </a:rPr>
              <a:t>vì</a:t>
            </a:r>
            <a:r>
              <a:rPr lang="en-US" sz="1400" dirty="0">
                <a:effectLst/>
                <a:ea typeface="Times New Roman" panose="02020603050405020304" pitchFamily="18" charset="0"/>
              </a:rPr>
              <a:t> </a:t>
            </a:r>
            <a:r>
              <a:rPr lang="en-US" sz="1400" dirty="0" err="1">
                <a:effectLst/>
                <a:ea typeface="Times New Roman" panose="02020603050405020304" pitchFamily="18" charset="0"/>
              </a:rPr>
              <a:t>tại</a:t>
            </a:r>
            <a:r>
              <a:rPr lang="en-US" sz="1400" dirty="0">
                <a:effectLst/>
                <a:ea typeface="Times New Roman" panose="02020603050405020304" pitchFamily="18" charset="0"/>
              </a:rPr>
              <a:t> </a:t>
            </a:r>
            <a:r>
              <a:rPr lang="en-US" sz="1400" dirty="0" err="1">
                <a:effectLst/>
                <a:ea typeface="Times New Roman" panose="02020603050405020304" pitchFamily="18" charset="0"/>
              </a:rPr>
              <a:t>các</a:t>
            </a:r>
            <a:r>
              <a:rPr lang="en-US" sz="1400" dirty="0">
                <a:effectLst/>
                <a:ea typeface="Times New Roman" panose="02020603050405020304" pitchFamily="18" charset="0"/>
              </a:rPr>
              <a:t> </a:t>
            </a:r>
            <a:r>
              <a:rPr lang="en-US" sz="1400" dirty="0" err="1">
                <a:effectLst/>
                <a:ea typeface="Times New Roman" panose="02020603050405020304" pitchFamily="18" charset="0"/>
              </a:rPr>
              <a:t>điểm</a:t>
            </a:r>
            <a:r>
              <a:rPr lang="en-US" sz="1400" dirty="0">
                <a:effectLst/>
                <a:ea typeface="Times New Roman" panose="02020603050405020304" pitchFamily="18" charset="0"/>
              </a:rPr>
              <a:t> </a:t>
            </a:r>
            <a:r>
              <a:rPr lang="en-US" sz="1400" dirty="0" err="1">
                <a:effectLst/>
                <a:ea typeface="Times New Roman" panose="02020603050405020304" pitchFamily="18" charset="0"/>
              </a:rPr>
              <a:t>cực</a:t>
            </a:r>
            <a:r>
              <a:rPr lang="en-US" sz="1400" dirty="0">
                <a:effectLst/>
                <a:ea typeface="Times New Roman" panose="02020603050405020304" pitchFamily="18" charset="0"/>
              </a:rPr>
              <a:t> </a:t>
            </a:r>
            <a:r>
              <a:rPr lang="en-US" sz="1400" dirty="0" err="1">
                <a:effectLst/>
                <a:ea typeface="Times New Roman" panose="02020603050405020304" pitchFamily="18" charset="0"/>
              </a:rPr>
              <a:t>của</a:t>
            </a:r>
            <a:r>
              <a:rPr lang="en-US" sz="1400" dirty="0">
                <a:effectLst/>
                <a:ea typeface="Times New Roman" panose="02020603050405020304" pitchFamily="18" charset="0"/>
              </a:rPr>
              <a:t> </a:t>
            </a:r>
            <a:r>
              <a:rPr lang="en-US" sz="1400" i="1" dirty="0">
                <a:effectLst/>
                <a:ea typeface="Times New Roman" panose="02020603050405020304" pitchFamily="18" charset="0"/>
              </a:rPr>
              <a:t>F</a:t>
            </a:r>
            <a:r>
              <a:rPr lang="en-US" sz="1400" dirty="0">
                <a:effectLst/>
                <a:ea typeface="Times New Roman" panose="02020603050405020304" pitchFamily="18" charset="0"/>
              </a:rPr>
              <a:t>(</a:t>
            </a:r>
            <a:r>
              <a:rPr lang="en-US" sz="1400" i="1" dirty="0">
                <a:effectLst/>
                <a:ea typeface="Times New Roman" panose="02020603050405020304" pitchFamily="18" charset="0"/>
              </a:rPr>
              <a:t>s</a:t>
            </a:r>
            <a:r>
              <a:rPr lang="en-US" sz="1400" dirty="0">
                <a:effectLst/>
                <a:ea typeface="Times New Roman" panose="02020603050405020304" pitchFamily="18" charset="0"/>
              </a:rPr>
              <a:t>) </a:t>
            </a:r>
            <a:r>
              <a:rPr lang="en-US" sz="1400" dirty="0" err="1">
                <a:effectLst/>
                <a:ea typeface="Times New Roman" panose="02020603050405020304" pitchFamily="18" charset="0"/>
              </a:rPr>
              <a:t>ánh</a:t>
            </a:r>
            <a:r>
              <a:rPr lang="en-US" sz="1400" dirty="0">
                <a:effectLst/>
                <a:ea typeface="Times New Roman" panose="02020603050405020304" pitchFamily="18" charset="0"/>
              </a:rPr>
              <a:t> </a:t>
            </a:r>
            <a:r>
              <a:rPr lang="en-US" sz="1400" dirty="0" err="1">
                <a:effectLst/>
                <a:ea typeface="Times New Roman" panose="02020603050405020304" pitchFamily="18" charset="0"/>
              </a:rPr>
              <a:t>xạ</a:t>
            </a:r>
            <a:r>
              <a:rPr lang="en-US" sz="1400" dirty="0">
                <a:effectLst/>
                <a:ea typeface="Times New Roman" panose="02020603050405020304" pitchFamily="18" charset="0"/>
              </a:rPr>
              <a:t> </a:t>
            </a:r>
            <a:r>
              <a:rPr lang="en-US" sz="1400" dirty="0" err="1">
                <a:effectLst/>
                <a:ea typeface="Times New Roman" panose="02020603050405020304" pitchFamily="18" charset="0"/>
              </a:rPr>
              <a:t>là</a:t>
            </a:r>
            <a:r>
              <a:rPr lang="en-US" sz="1400" dirty="0">
                <a:effectLst/>
                <a:ea typeface="Times New Roman" panose="02020603050405020304" pitchFamily="18" charset="0"/>
              </a:rPr>
              <a:t> </a:t>
            </a:r>
            <a:r>
              <a:rPr lang="en-US" sz="1400" dirty="0" err="1">
                <a:effectLst/>
                <a:ea typeface="Times New Roman" panose="02020603050405020304" pitchFamily="18" charset="0"/>
              </a:rPr>
              <a:t>không</a:t>
            </a:r>
            <a:r>
              <a:rPr lang="en-US" sz="1400" dirty="0">
                <a:effectLst/>
                <a:ea typeface="Times New Roman" panose="02020603050405020304" pitchFamily="18" charset="0"/>
              </a:rPr>
              <a:t> </a:t>
            </a:r>
            <a:r>
              <a:rPr lang="en-US" sz="1400" dirty="0" err="1">
                <a:effectLst/>
                <a:ea typeface="Times New Roman" panose="02020603050405020304" pitchFamily="18" charset="0"/>
              </a:rPr>
              <a:t>xác</a:t>
            </a:r>
            <a:r>
              <a:rPr lang="en-US" sz="1400" dirty="0">
                <a:effectLst/>
                <a:ea typeface="Times New Roman" panose="02020603050405020304" pitchFamily="18" charset="0"/>
              </a:rPr>
              <a:t> </a:t>
            </a:r>
            <a:r>
              <a:rPr lang="en-US" sz="1400" dirty="0" err="1">
                <a:effectLst/>
                <a:ea typeface="Times New Roman" panose="02020603050405020304" pitchFamily="18" charset="0"/>
              </a:rPr>
              <a:t>định</a:t>
            </a:r>
            <a:r>
              <a:rPr lang="en-US" sz="1400" dirty="0">
                <a:effectLst/>
                <a:ea typeface="Times New Roman" panose="02020603050405020304" pitchFamily="18" charset="0"/>
              </a:rPr>
              <a:t>.</a:t>
            </a:r>
            <a:endParaRPr lang="en-VN" sz="1400" dirty="0">
              <a:effectLst/>
              <a:ea typeface="Times New Roman" panose="02020603050405020304" pitchFamily="18" charset="0"/>
            </a:endParaRPr>
          </a:p>
          <a:p>
            <a:pPr algn="just"/>
            <a:endParaRPr lang="en-VN" sz="1600" dirty="0"/>
          </a:p>
        </p:txBody>
      </p:sp>
      <p:graphicFrame>
        <p:nvGraphicFramePr>
          <p:cNvPr id="5" name="Object 4">
            <a:extLst>
              <a:ext uri="{FF2B5EF4-FFF2-40B4-BE49-F238E27FC236}">
                <a16:creationId xmlns:a16="http://schemas.microsoft.com/office/drawing/2014/main" id="{A15F7C2A-DB38-907F-4EF1-EC90953A1565}"/>
              </a:ext>
            </a:extLst>
          </p:cNvPr>
          <p:cNvGraphicFramePr>
            <a:graphicFrameLocks noChangeAspect="1"/>
          </p:cNvGraphicFramePr>
          <p:nvPr>
            <p:extLst>
              <p:ext uri="{D42A27DB-BD31-4B8C-83A1-F6EECF244321}">
                <p14:modId xmlns:p14="http://schemas.microsoft.com/office/powerpoint/2010/main" val="1487888374"/>
              </p:ext>
            </p:extLst>
          </p:nvPr>
        </p:nvGraphicFramePr>
        <p:xfrm>
          <a:off x="365760" y="2558464"/>
          <a:ext cx="5143500" cy="2628900"/>
        </p:xfrm>
        <a:graphic>
          <a:graphicData uri="http://schemas.openxmlformats.org/presentationml/2006/ole">
            <mc:AlternateContent xmlns:mc="http://schemas.openxmlformats.org/markup-compatibility/2006">
              <mc:Choice xmlns:v="urn:schemas-microsoft-com:vml" Requires="v">
                <p:oleObj name="Picture" r:id="rId2" imgW="5156200" imgH="2628900" progId="Word.Picture.8">
                  <p:embed/>
                </p:oleObj>
              </mc:Choice>
              <mc:Fallback>
                <p:oleObj name="Picture" r:id="rId2" imgW="5156200" imgH="2628900" progId="Word.Picture.8">
                  <p:embed/>
                  <p:pic>
                    <p:nvPicPr>
                      <p:cNvPr id="0" name="Object 1"/>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65760" y="2558464"/>
                        <a:ext cx="5143500" cy="26289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6" name="Rectangle 4">
            <a:extLst>
              <a:ext uri="{FF2B5EF4-FFF2-40B4-BE49-F238E27FC236}">
                <a16:creationId xmlns:a16="http://schemas.microsoft.com/office/drawing/2014/main" id="{4AF6E964-A10D-4729-003E-0A2395ACE9C2}"/>
              </a:ext>
            </a:extLst>
          </p:cNvPr>
          <p:cNvSpPr>
            <a:spLocks noChangeArrowheads="1"/>
          </p:cNvSpPr>
          <p:nvPr/>
        </p:nvSpPr>
        <p:spPr bwMode="auto">
          <a:xfrm>
            <a:off x="5166360" y="2985086"/>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VN"/>
          </a:p>
        </p:txBody>
      </p:sp>
      <p:graphicFrame>
        <p:nvGraphicFramePr>
          <p:cNvPr id="7" name="Object 6">
            <a:extLst>
              <a:ext uri="{FF2B5EF4-FFF2-40B4-BE49-F238E27FC236}">
                <a16:creationId xmlns:a16="http://schemas.microsoft.com/office/drawing/2014/main" id="{C7AAFA55-22D1-C158-6283-2220D0F830A3}"/>
              </a:ext>
            </a:extLst>
          </p:cNvPr>
          <p:cNvGraphicFramePr>
            <a:graphicFrameLocks noChangeAspect="1"/>
          </p:cNvGraphicFramePr>
          <p:nvPr>
            <p:extLst>
              <p:ext uri="{D42A27DB-BD31-4B8C-83A1-F6EECF244321}">
                <p14:modId xmlns:p14="http://schemas.microsoft.com/office/powerpoint/2010/main" val="1848271937"/>
              </p:ext>
            </p:extLst>
          </p:nvPr>
        </p:nvGraphicFramePr>
        <p:xfrm>
          <a:off x="6057869" y="2558464"/>
          <a:ext cx="5143500" cy="2628900"/>
        </p:xfrm>
        <a:graphic>
          <a:graphicData uri="http://schemas.openxmlformats.org/presentationml/2006/ole">
            <mc:AlternateContent xmlns:mc="http://schemas.openxmlformats.org/markup-compatibility/2006">
              <mc:Choice xmlns:v="urn:schemas-microsoft-com:vml" Requires="v">
                <p:oleObj name="Picture" r:id="rId4" imgW="5156200" imgH="2628900" progId="Word.Picture.8">
                  <p:embed/>
                </p:oleObj>
              </mc:Choice>
              <mc:Fallback>
                <p:oleObj name="Picture" r:id="rId4" imgW="5156200" imgH="2628900" progId="Word.Picture.8">
                  <p:embed/>
                  <p:pic>
                    <p:nvPicPr>
                      <p:cNvPr id="0" name="Object 3"/>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6057869" y="2558464"/>
                        <a:ext cx="5143500" cy="26289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9" name="TextBox 8">
            <a:extLst>
              <a:ext uri="{FF2B5EF4-FFF2-40B4-BE49-F238E27FC236}">
                <a16:creationId xmlns:a16="http://schemas.microsoft.com/office/drawing/2014/main" id="{6AFC222A-44D4-BA3D-5CAF-8E24148C51CF}"/>
              </a:ext>
            </a:extLst>
          </p:cNvPr>
          <p:cNvSpPr txBox="1"/>
          <p:nvPr/>
        </p:nvSpPr>
        <p:spPr>
          <a:xfrm>
            <a:off x="1378321" y="5063942"/>
            <a:ext cx="9749790" cy="1107996"/>
          </a:xfrm>
          <a:prstGeom prst="rect">
            <a:avLst/>
          </a:prstGeom>
          <a:noFill/>
        </p:spPr>
        <p:txBody>
          <a:bodyPr wrap="square">
            <a:spAutoFit/>
          </a:bodyPr>
          <a:lstStyle/>
          <a:p>
            <a:pPr algn="just">
              <a:spcBef>
                <a:spcPts val="600"/>
              </a:spcBef>
              <a:spcAft>
                <a:spcPts val="600"/>
              </a:spcAft>
              <a:tabLst>
                <a:tab pos="228600" algn="l"/>
              </a:tabLst>
            </a:pPr>
            <a:r>
              <a:rPr lang="en-US" sz="1400" dirty="0" err="1">
                <a:effectLst/>
                <a:latin typeface="Arial" panose="020B0604020202020204" pitchFamily="34" charset="0"/>
                <a:ea typeface="Times New Roman" panose="02020603050405020304" pitchFamily="18" charset="0"/>
                <a:cs typeface="Arial" panose="020B0604020202020204" pitchFamily="34" charset="0"/>
              </a:rPr>
              <a:t>Hình</a:t>
            </a:r>
            <a:r>
              <a:rPr lang="en-US" sz="1400" dirty="0">
                <a:effectLst/>
                <a:latin typeface="Arial" panose="020B0604020202020204" pitchFamily="34" charset="0"/>
                <a:ea typeface="Times New Roman" panose="02020603050405020304" pitchFamily="18" charset="0"/>
                <a:cs typeface="Arial" panose="020B0604020202020204" pitchFamily="34" charset="0"/>
              </a:rPr>
              <a:t> 9.3, </a:t>
            </a:r>
            <a:r>
              <a:rPr lang="en-US" sz="1400" i="1" dirty="0">
                <a:effectLst/>
                <a:latin typeface="Arial" panose="020B0604020202020204" pitchFamily="34" charset="0"/>
                <a:ea typeface="Times New Roman" panose="02020603050405020304" pitchFamily="18" charset="0"/>
                <a:cs typeface="Arial" panose="020B0604020202020204" pitchFamily="34" charset="0"/>
              </a:rPr>
              <a:t>F</a:t>
            </a:r>
            <a:r>
              <a:rPr lang="en-US" sz="1400" dirty="0">
                <a:effectLst/>
                <a:latin typeface="Arial" panose="020B0604020202020204" pitchFamily="34" charset="0"/>
                <a:ea typeface="Times New Roman" panose="02020603050405020304" pitchFamily="18" charset="0"/>
                <a:cs typeface="Arial" panose="020B0604020202020204" pitchFamily="34" charset="0"/>
              </a:rPr>
              <a:t>(</a:t>
            </a:r>
            <a:r>
              <a:rPr lang="en-US" sz="1400" i="1" dirty="0">
                <a:effectLst/>
                <a:latin typeface="Arial" panose="020B0604020202020204" pitchFamily="34" charset="0"/>
                <a:ea typeface="Times New Roman" panose="02020603050405020304" pitchFamily="18" charset="0"/>
                <a:cs typeface="Arial" panose="020B0604020202020204" pitchFamily="34" charset="0"/>
              </a:rPr>
              <a:t>s</a:t>
            </a:r>
            <a:r>
              <a:rPr lang="en-US" sz="1400" dirty="0">
                <a:effectLst/>
                <a:latin typeface="Arial" panose="020B0604020202020204" pitchFamily="34" charset="0"/>
                <a:ea typeface="Times New Roman" panose="02020603050405020304" pitchFamily="18" charset="0"/>
                <a:cs typeface="Arial" panose="020B0604020202020204" pitchFamily="34" charset="0"/>
              </a:rPr>
              <a:t>) </a:t>
            </a:r>
            <a:r>
              <a:rPr lang="en-US" sz="1400" dirty="0" err="1">
                <a:effectLst/>
                <a:latin typeface="Arial" panose="020B0604020202020204" pitchFamily="34" charset="0"/>
                <a:ea typeface="Times New Roman" panose="02020603050405020304" pitchFamily="18" charset="0"/>
                <a:cs typeface="Arial" panose="020B0604020202020204" pitchFamily="34" charset="0"/>
              </a:rPr>
              <a:t>có</a:t>
            </a:r>
            <a:r>
              <a:rPr lang="en-US" sz="1400" dirty="0">
                <a:effectLst/>
                <a:latin typeface="Arial" panose="020B0604020202020204" pitchFamily="34" charset="0"/>
                <a:ea typeface="Times New Roman" panose="02020603050405020304" pitchFamily="18" charset="0"/>
                <a:cs typeface="Arial" panose="020B0604020202020204" pitchFamily="34" charset="0"/>
              </a:rPr>
              <a:t> </a:t>
            </a:r>
            <a:r>
              <a:rPr lang="en-US" sz="1400" dirty="0" err="1">
                <a:effectLst/>
                <a:latin typeface="Arial" panose="020B0604020202020204" pitchFamily="34" charset="0"/>
                <a:ea typeface="Times New Roman" panose="02020603050405020304" pitchFamily="18" charset="0"/>
                <a:cs typeface="Arial" panose="020B0604020202020204" pitchFamily="34" charset="0"/>
              </a:rPr>
              <a:t>ba</a:t>
            </a:r>
            <a:r>
              <a:rPr lang="en-US" sz="1400" dirty="0">
                <a:effectLst/>
                <a:latin typeface="Arial" panose="020B0604020202020204" pitchFamily="34" charset="0"/>
                <a:ea typeface="Times New Roman" panose="02020603050405020304" pitchFamily="18" charset="0"/>
                <a:cs typeface="Arial" panose="020B0604020202020204" pitchFamily="34" charset="0"/>
              </a:rPr>
              <a:t> </a:t>
            </a:r>
            <a:r>
              <a:rPr lang="en-US" sz="1400" dirty="0" err="1">
                <a:effectLst/>
                <a:latin typeface="Arial" panose="020B0604020202020204" pitchFamily="34" charset="0"/>
                <a:ea typeface="Times New Roman" panose="02020603050405020304" pitchFamily="18" charset="0"/>
                <a:cs typeface="Arial" panose="020B0604020202020204" pitchFamily="34" charset="0"/>
              </a:rPr>
              <a:t>điểm</a:t>
            </a:r>
            <a:r>
              <a:rPr lang="en-US" sz="1400" dirty="0">
                <a:effectLst/>
                <a:latin typeface="Arial" panose="020B0604020202020204" pitchFamily="34" charset="0"/>
                <a:ea typeface="Times New Roman" panose="02020603050405020304" pitchFamily="18" charset="0"/>
                <a:cs typeface="Arial" panose="020B0604020202020204" pitchFamily="34" charset="0"/>
              </a:rPr>
              <a:t> </a:t>
            </a:r>
            <a:r>
              <a:rPr lang="en-US" sz="1400" dirty="0" err="1">
                <a:effectLst/>
                <a:latin typeface="Arial" panose="020B0604020202020204" pitchFamily="34" charset="0"/>
                <a:ea typeface="Times New Roman" panose="02020603050405020304" pitchFamily="18" charset="0"/>
                <a:cs typeface="Arial" panose="020B0604020202020204" pitchFamily="34" charset="0"/>
              </a:rPr>
              <a:t>không</a:t>
            </a:r>
            <a:r>
              <a:rPr lang="en-US" sz="1400" dirty="0">
                <a:effectLst/>
                <a:latin typeface="Arial" panose="020B0604020202020204" pitchFamily="34" charset="0"/>
                <a:ea typeface="Times New Roman" panose="02020603050405020304" pitchFamily="18" charset="0"/>
                <a:cs typeface="Arial" panose="020B0604020202020204" pitchFamily="34" charset="0"/>
              </a:rPr>
              <a:t> </a:t>
            </a:r>
            <a:r>
              <a:rPr lang="en-US" sz="1400" dirty="0" err="1">
                <a:effectLst/>
                <a:latin typeface="Arial" panose="020B0604020202020204" pitchFamily="34" charset="0"/>
                <a:ea typeface="Times New Roman" panose="02020603050405020304" pitchFamily="18" charset="0"/>
                <a:cs typeface="Arial" panose="020B0604020202020204" pitchFamily="34" charset="0"/>
              </a:rPr>
              <a:t>và</a:t>
            </a:r>
            <a:r>
              <a:rPr lang="en-US" sz="1400" dirty="0">
                <a:effectLst/>
                <a:latin typeface="Arial" panose="020B0604020202020204" pitchFamily="34" charset="0"/>
                <a:ea typeface="Times New Roman" panose="02020603050405020304" pitchFamily="18" charset="0"/>
                <a:cs typeface="Arial" panose="020B0604020202020204" pitchFamily="34" charset="0"/>
              </a:rPr>
              <a:t> </a:t>
            </a:r>
            <a:r>
              <a:rPr lang="en-US" sz="1400" dirty="0" err="1">
                <a:effectLst/>
                <a:latin typeface="Arial" panose="020B0604020202020204" pitchFamily="34" charset="0"/>
                <a:ea typeface="Times New Roman" panose="02020603050405020304" pitchFamily="18" charset="0"/>
                <a:cs typeface="Arial" panose="020B0604020202020204" pitchFamily="34" charset="0"/>
              </a:rPr>
              <a:t>một</a:t>
            </a:r>
            <a:r>
              <a:rPr lang="en-US" sz="1400" dirty="0">
                <a:effectLst/>
                <a:latin typeface="Arial" panose="020B0604020202020204" pitchFamily="34" charset="0"/>
                <a:ea typeface="Times New Roman" panose="02020603050405020304" pitchFamily="18" charset="0"/>
                <a:cs typeface="Arial" panose="020B0604020202020204" pitchFamily="34" charset="0"/>
              </a:rPr>
              <a:t> </a:t>
            </a:r>
            <a:r>
              <a:rPr lang="en-US" sz="1400" dirty="0" err="1">
                <a:effectLst/>
                <a:latin typeface="Arial" panose="020B0604020202020204" pitchFamily="34" charset="0"/>
                <a:ea typeface="Times New Roman" panose="02020603050405020304" pitchFamily="18" charset="0"/>
                <a:cs typeface="Arial" panose="020B0604020202020204" pitchFamily="34" charset="0"/>
              </a:rPr>
              <a:t>điểm</a:t>
            </a:r>
            <a:r>
              <a:rPr lang="en-US" sz="1400" dirty="0">
                <a:effectLst/>
                <a:latin typeface="Arial" panose="020B0604020202020204" pitchFamily="34" charset="0"/>
                <a:ea typeface="Times New Roman" panose="02020603050405020304" pitchFamily="18" charset="0"/>
                <a:cs typeface="Arial" panose="020B0604020202020204" pitchFamily="34" charset="0"/>
              </a:rPr>
              <a:t> </a:t>
            </a:r>
            <a:r>
              <a:rPr lang="en-US" sz="1400" dirty="0" err="1">
                <a:effectLst/>
                <a:latin typeface="Arial" panose="020B0604020202020204" pitchFamily="34" charset="0"/>
                <a:ea typeface="Times New Roman" panose="02020603050405020304" pitchFamily="18" charset="0"/>
                <a:cs typeface="Arial" panose="020B0604020202020204" pitchFamily="34" charset="0"/>
              </a:rPr>
              <a:t>cực</a:t>
            </a:r>
            <a:r>
              <a:rPr lang="en-US" sz="1400" dirty="0">
                <a:effectLst/>
                <a:latin typeface="Arial" panose="020B0604020202020204" pitchFamily="34" charset="0"/>
                <a:ea typeface="Times New Roman" panose="02020603050405020304" pitchFamily="18" charset="0"/>
                <a:cs typeface="Arial" panose="020B0604020202020204" pitchFamily="34" charset="0"/>
              </a:rPr>
              <a:t> </a:t>
            </a:r>
            <a:r>
              <a:rPr lang="en-US" sz="1400" dirty="0" err="1">
                <a:effectLst/>
                <a:latin typeface="Arial" panose="020B0604020202020204" pitchFamily="34" charset="0"/>
                <a:ea typeface="Times New Roman" panose="02020603050405020304" pitchFamily="18" charset="0"/>
                <a:cs typeface="Arial" panose="020B0604020202020204" pitchFamily="34" charset="0"/>
              </a:rPr>
              <a:t>nằm</a:t>
            </a:r>
            <a:r>
              <a:rPr lang="en-US" sz="1400" dirty="0">
                <a:effectLst/>
                <a:latin typeface="Arial" panose="020B0604020202020204" pitchFamily="34" charset="0"/>
                <a:ea typeface="Times New Roman" panose="02020603050405020304" pitchFamily="18" charset="0"/>
                <a:cs typeface="Arial" panose="020B0604020202020204" pitchFamily="34" charset="0"/>
              </a:rPr>
              <a:t> </a:t>
            </a:r>
            <a:r>
              <a:rPr lang="en-US" sz="1400" dirty="0" err="1">
                <a:effectLst/>
                <a:latin typeface="Arial" panose="020B0604020202020204" pitchFamily="34" charset="0"/>
                <a:ea typeface="Times New Roman" panose="02020603050405020304" pitchFamily="18" charset="0"/>
                <a:cs typeface="Arial" panose="020B0604020202020204" pitchFamily="34" charset="0"/>
              </a:rPr>
              <a:t>bên</a:t>
            </a:r>
            <a:r>
              <a:rPr lang="en-US" sz="1400" dirty="0">
                <a:effectLst/>
                <a:latin typeface="Arial" panose="020B0604020202020204" pitchFamily="34" charset="0"/>
                <a:ea typeface="Times New Roman" panose="02020603050405020304" pitchFamily="18" charset="0"/>
                <a:cs typeface="Arial" panose="020B0604020202020204" pitchFamily="34" charset="0"/>
              </a:rPr>
              <a:t> </a:t>
            </a:r>
            <a:r>
              <a:rPr lang="en-US" sz="1400" dirty="0" err="1">
                <a:effectLst/>
                <a:latin typeface="Arial" panose="020B0604020202020204" pitchFamily="34" charset="0"/>
                <a:ea typeface="Times New Roman" panose="02020603050405020304" pitchFamily="18" charset="0"/>
                <a:cs typeface="Arial" panose="020B0604020202020204" pitchFamily="34" charset="0"/>
              </a:rPr>
              <a:t>trong</a:t>
            </a:r>
            <a:r>
              <a:rPr lang="en-US" sz="1400" dirty="0">
                <a:effectLst/>
                <a:latin typeface="Arial" panose="020B0604020202020204" pitchFamily="34" charset="0"/>
                <a:ea typeface="Times New Roman" panose="02020603050405020304" pitchFamily="18" charset="0"/>
                <a:cs typeface="Arial" panose="020B0604020202020204" pitchFamily="34" charset="0"/>
              </a:rPr>
              <a:t> </a:t>
            </a:r>
            <a:r>
              <a:rPr lang="en-US" sz="1400" dirty="0" err="1">
                <a:effectLst/>
                <a:latin typeface="Arial" panose="020B0604020202020204" pitchFamily="34" charset="0"/>
                <a:ea typeface="Times New Roman" panose="02020603050405020304" pitchFamily="18" charset="0"/>
                <a:cs typeface="Arial" panose="020B0604020202020204" pitchFamily="34" charset="0"/>
              </a:rPr>
              <a:t>vùng</a:t>
            </a:r>
            <a:r>
              <a:rPr lang="en-US" sz="1400" dirty="0">
                <a:effectLst/>
                <a:latin typeface="Arial" panose="020B0604020202020204" pitchFamily="34" charset="0"/>
                <a:ea typeface="Times New Roman" panose="02020603050405020304" pitchFamily="18" charset="0"/>
                <a:cs typeface="Arial" panose="020B0604020202020204" pitchFamily="34" charset="0"/>
              </a:rPr>
              <a:t> </a:t>
            </a:r>
            <a:r>
              <a:rPr lang="en-US" sz="1400" dirty="0" err="1">
                <a:effectLst/>
                <a:latin typeface="Arial" panose="020B0604020202020204" pitchFamily="34" charset="0"/>
                <a:ea typeface="Times New Roman" panose="02020603050405020304" pitchFamily="18" charset="0"/>
                <a:cs typeface="Arial" panose="020B0604020202020204" pitchFamily="34" charset="0"/>
              </a:rPr>
              <a:t>đóng</a:t>
            </a:r>
            <a:r>
              <a:rPr lang="en-US" sz="1400" dirty="0">
                <a:effectLst/>
                <a:latin typeface="Arial" panose="020B0604020202020204" pitchFamily="34" charset="0"/>
                <a:ea typeface="Times New Roman" panose="02020603050405020304" pitchFamily="18" charset="0"/>
                <a:cs typeface="Arial" panose="020B0604020202020204" pitchFamily="34" charset="0"/>
              </a:rPr>
              <a:t> </a:t>
            </a:r>
            <a:r>
              <a:rPr lang="en-US" sz="1400" dirty="0" err="1">
                <a:effectLst/>
                <a:latin typeface="Arial" panose="020B0604020202020204" pitchFamily="34" charset="0"/>
                <a:ea typeface="Times New Roman" panose="02020603050405020304" pitchFamily="18" charset="0"/>
                <a:cs typeface="Arial" panose="020B0604020202020204" pitchFamily="34" charset="0"/>
              </a:rPr>
              <a:t>kín</a:t>
            </a:r>
            <a:r>
              <a:rPr lang="en-US" sz="1400" dirty="0">
                <a:effectLst/>
                <a:latin typeface="Arial" panose="020B0604020202020204" pitchFamily="34" charset="0"/>
                <a:ea typeface="Times New Roman" panose="02020603050405020304" pitchFamily="18" charset="0"/>
                <a:cs typeface="Arial" panose="020B0604020202020204" pitchFamily="34" charset="0"/>
              </a:rPr>
              <a:t> </a:t>
            </a:r>
            <a:r>
              <a:rPr lang="en-US" sz="1400" dirty="0" err="1">
                <a:effectLst/>
                <a:latin typeface="Arial" panose="020B0604020202020204" pitchFamily="34" charset="0"/>
                <a:ea typeface="Times New Roman" panose="02020603050405020304" pitchFamily="18" charset="0"/>
                <a:cs typeface="Arial" panose="020B0604020202020204" pitchFamily="34" charset="0"/>
              </a:rPr>
              <a:t>bởi</a:t>
            </a:r>
            <a:r>
              <a:rPr lang="en-US" sz="1400" dirty="0">
                <a:effectLst/>
                <a:latin typeface="Arial" panose="020B0604020202020204" pitchFamily="34" charset="0"/>
                <a:ea typeface="Times New Roman" panose="02020603050405020304" pitchFamily="18" charset="0"/>
                <a:cs typeface="Arial" panose="020B0604020202020204" pitchFamily="34" charset="0"/>
              </a:rPr>
              <a:t> chu </a:t>
            </a:r>
            <a:r>
              <a:rPr lang="en-US" sz="1400" dirty="0" err="1">
                <a:effectLst/>
                <a:latin typeface="Arial" panose="020B0604020202020204" pitchFamily="34" charset="0"/>
                <a:ea typeface="Times New Roman" panose="02020603050405020304" pitchFamily="18" charset="0"/>
                <a:cs typeface="Arial" panose="020B0604020202020204" pitchFamily="34" charset="0"/>
              </a:rPr>
              <a:t>tuyến</a:t>
            </a:r>
            <a:r>
              <a:rPr lang="en-US" sz="1400" dirty="0">
                <a:effectLst/>
                <a:latin typeface="Arial" panose="020B0604020202020204" pitchFamily="34" charset="0"/>
                <a:ea typeface="Times New Roman" panose="02020603050405020304" pitchFamily="18" charset="0"/>
                <a:cs typeface="Arial" panose="020B0604020202020204" pitchFamily="34" charset="0"/>
              </a:rPr>
              <a:t> </a:t>
            </a:r>
            <a:r>
              <a:rPr lang="en-US" sz="1400" dirty="0">
                <a:effectLst/>
                <a:latin typeface="Arial" panose="020B0604020202020204" pitchFamily="34" charset="0"/>
                <a:ea typeface="Times New Roman" panose="02020603050405020304" pitchFamily="18" charset="0"/>
                <a:cs typeface="Arial" panose="020B0604020202020204" pitchFamily="34" charset="0"/>
                <a:sym typeface="Symbol" pitchFamily="2" charset="2"/>
              </a:rPr>
              <a:t></a:t>
            </a:r>
            <a:r>
              <a:rPr lang="en-US" sz="1400" i="1" baseline="-25000" dirty="0">
                <a:effectLst/>
                <a:latin typeface="Arial" panose="020B0604020202020204" pitchFamily="34" charset="0"/>
                <a:ea typeface="Times New Roman" panose="02020603050405020304" pitchFamily="18" charset="0"/>
                <a:cs typeface="Arial" panose="020B0604020202020204" pitchFamily="34" charset="0"/>
              </a:rPr>
              <a:t>s</a:t>
            </a:r>
            <a:r>
              <a:rPr lang="en-US" sz="1400" dirty="0">
                <a:effectLst/>
                <a:latin typeface="Arial" panose="020B0604020202020204" pitchFamily="34" charset="0"/>
                <a:ea typeface="Times New Roman" panose="02020603050405020304" pitchFamily="18" charset="0"/>
                <a:cs typeface="Arial" panose="020B0604020202020204" pitchFamily="34" charset="0"/>
              </a:rPr>
              <a:t>, </a:t>
            </a:r>
            <a:r>
              <a:rPr lang="en-US" sz="1400" dirty="0" err="1">
                <a:effectLst/>
                <a:latin typeface="Arial" panose="020B0604020202020204" pitchFamily="34" charset="0"/>
                <a:ea typeface="Times New Roman" panose="02020603050405020304" pitchFamily="18" charset="0"/>
                <a:cs typeface="Arial" panose="020B0604020202020204" pitchFamily="34" charset="0"/>
              </a:rPr>
              <a:t>vì</a:t>
            </a:r>
            <a:r>
              <a:rPr lang="en-US" sz="1400" dirty="0">
                <a:effectLst/>
                <a:latin typeface="Arial" panose="020B0604020202020204" pitchFamily="34" charset="0"/>
                <a:ea typeface="Times New Roman" panose="02020603050405020304" pitchFamily="18" charset="0"/>
                <a:cs typeface="Arial" panose="020B0604020202020204" pitchFamily="34" charset="0"/>
              </a:rPr>
              <a:t> </a:t>
            </a:r>
            <a:r>
              <a:rPr lang="en-US" sz="1400" dirty="0" err="1">
                <a:effectLst/>
                <a:latin typeface="Arial" panose="020B0604020202020204" pitchFamily="34" charset="0"/>
                <a:ea typeface="Times New Roman" panose="02020603050405020304" pitchFamily="18" charset="0"/>
                <a:cs typeface="Arial" panose="020B0604020202020204" pitchFamily="34" charset="0"/>
              </a:rPr>
              <a:t>vậy</a:t>
            </a:r>
            <a:r>
              <a:rPr lang="en-US" sz="1400" dirty="0">
                <a:effectLst/>
                <a:latin typeface="Arial" panose="020B0604020202020204" pitchFamily="34" charset="0"/>
                <a:ea typeface="Times New Roman" panose="02020603050405020304" pitchFamily="18" charset="0"/>
                <a:cs typeface="Arial" panose="020B0604020202020204" pitchFamily="34" charset="0"/>
              </a:rPr>
              <a:t> chu </a:t>
            </a:r>
            <a:r>
              <a:rPr lang="en-US" sz="1400" dirty="0" err="1">
                <a:effectLst/>
                <a:latin typeface="Arial" panose="020B0604020202020204" pitchFamily="34" charset="0"/>
                <a:ea typeface="Times New Roman" panose="02020603050405020304" pitchFamily="18" charset="0"/>
                <a:cs typeface="Arial" panose="020B0604020202020204" pitchFamily="34" charset="0"/>
              </a:rPr>
              <a:t>tuyến</a:t>
            </a:r>
            <a:r>
              <a:rPr lang="en-US" sz="1400" dirty="0">
                <a:effectLst/>
                <a:latin typeface="Arial" panose="020B0604020202020204" pitchFamily="34" charset="0"/>
                <a:ea typeface="Times New Roman" panose="02020603050405020304" pitchFamily="18" charset="0"/>
                <a:cs typeface="Arial" panose="020B0604020202020204" pitchFamily="34" charset="0"/>
              </a:rPr>
              <a:t> </a:t>
            </a:r>
            <a:r>
              <a:rPr lang="en-US" sz="1400" dirty="0" err="1">
                <a:effectLst/>
                <a:latin typeface="Arial" panose="020B0604020202020204" pitchFamily="34" charset="0"/>
                <a:ea typeface="Times New Roman" panose="02020603050405020304" pitchFamily="18" charset="0"/>
                <a:cs typeface="Arial" panose="020B0604020202020204" pitchFamily="34" charset="0"/>
              </a:rPr>
              <a:t>ánh</a:t>
            </a:r>
            <a:r>
              <a:rPr lang="en-US" sz="1400" dirty="0">
                <a:effectLst/>
                <a:latin typeface="Arial" panose="020B0604020202020204" pitchFamily="34" charset="0"/>
                <a:ea typeface="Times New Roman" panose="02020603050405020304" pitchFamily="18" charset="0"/>
                <a:cs typeface="Arial" panose="020B0604020202020204" pitchFamily="34" charset="0"/>
              </a:rPr>
              <a:t> </a:t>
            </a:r>
            <a:r>
              <a:rPr lang="en-US" sz="1400" dirty="0" err="1">
                <a:effectLst/>
                <a:latin typeface="Arial" panose="020B0604020202020204" pitchFamily="34" charset="0"/>
                <a:ea typeface="Times New Roman" panose="02020603050405020304" pitchFamily="18" charset="0"/>
                <a:cs typeface="Arial" panose="020B0604020202020204" pitchFamily="34" charset="0"/>
              </a:rPr>
              <a:t>xạ</a:t>
            </a:r>
            <a:r>
              <a:rPr lang="en-US" sz="1400" dirty="0">
                <a:effectLst/>
                <a:latin typeface="Arial" panose="020B0604020202020204" pitchFamily="34" charset="0"/>
                <a:ea typeface="Times New Roman" panose="02020603050405020304" pitchFamily="18" charset="0"/>
                <a:cs typeface="Arial" panose="020B0604020202020204" pitchFamily="34" charset="0"/>
              </a:rPr>
              <a:t> </a:t>
            </a:r>
            <a:r>
              <a:rPr lang="en-US" sz="1400" dirty="0" err="1">
                <a:effectLst/>
                <a:latin typeface="Arial" panose="020B0604020202020204" pitchFamily="34" charset="0"/>
                <a:ea typeface="Times New Roman" panose="02020603050405020304" pitchFamily="18" charset="0"/>
                <a:cs typeface="Arial" panose="020B0604020202020204" pitchFamily="34" charset="0"/>
              </a:rPr>
              <a:t>của</a:t>
            </a:r>
            <a:r>
              <a:rPr lang="en-US" sz="1400" dirty="0">
                <a:effectLst/>
                <a:latin typeface="Arial" panose="020B0604020202020204" pitchFamily="34" charset="0"/>
                <a:ea typeface="Times New Roman" panose="02020603050405020304" pitchFamily="18" charset="0"/>
                <a:cs typeface="Arial" panose="020B0604020202020204" pitchFamily="34" charset="0"/>
              </a:rPr>
              <a:t> </a:t>
            </a:r>
            <a:r>
              <a:rPr lang="en-US" sz="1400" dirty="0">
                <a:effectLst/>
                <a:latin typeface="Arial" panose="020B0604020202020204" pitchFamily="34" charset="0"/>
                <a:ea typeface="Times New Roman" panose="02020603050405020304" pitchFamily="18" charset="0"/>
                <a:cs typeface="Arial" panose="020B0604020202020204" pitchFamily="34" charset="0"/>
                <a:sym typeface="Symbol" pitchFamily="2" charset="2"/>
              </a:rPr>
              <a:t></a:t>
            </a:r>
            <a:r>
              <a:rPr lang="en-US" sz="1400" i="1" baseline="-25000" dirty="0">
                <a:effectLst/>
                <a:latin typeface="Arial" panose="020B0604020202020204" pitchFamily="34" charset="0"/>
                <a:ea typeface="Times New Roman" panose="02020603050405020304" pitchFamily="18" charset="0"/>
                <a:cs typeface="Arial" panose="020B0604020202020204" pitchFamily="34" charset="0"/>
              </a:rPr>
              <a:t>s</a:t>
            </a:r>
            <a:r>
              <a:rPr lang="en-US" sz="1400" dirty="0">
                <a:effectLst/>
                <a:latin typeface="Arial" panose="020B0604020202020204" pitchFamily="34" charset="0"/>
                <a:ea typeface="Times New Roman" panose="02020603050405020304" pitchFamily="18" charset="0"/>
                <a:cs typeface="Arial" panose="020B0604020202020204" pitchFamily="34" charset="0"/>
              </a:rPr>
              <a:t> </a:t>
            </a:r>
            <a:r>
              <a:rPr lang="en-US" sz="1400" dirty="0" err="1">
                <a:effectLst/>
                <a:latin typeface="Arial" panose="020B0604020202020204" pitchFamily="34" charset="0"/>
                <a:ea typeface="Times New Roman" panose="02020603050405020304" pitchFamily="18" charset="0"/>
                <a:cs typeface="Arial" panose="020B0604020202020204" pitchFamily="34" charset="0"/>
              </a:rPr>
              <a:t>là</a:t>
            </a:r>
            <a:r>
              <a:rPr lang="en-US" sz="1400" dirty="0">
                <a:effectLst/>
                <a:latin typeface="Arial" panose="020B0604020202020204" pitchFamily="34" charset="0"/>
                <a:ea typeface="Times New Roman" panose="02020603050405020304" pitchFamily="18" charset="0"/>
                <a:cs typeface="Arial" panose="020B0604020202020204" pitchFamily="34" charset="0"/>
              </a:rPr>
              <a:t> chu </a:t>
            </a:r>
            <a:r>
              <a:rPr lang="en-US" sz="1400" dirty="0" err="1">
                <a:effectLst/>
                <a:latin typeface="Arial" panose="020B0604020202020204" pitchFamily="34" charset="0"/>
                <a:ea typeface="Times New Roman" panose="02020603050405020304" pitchFamily="18" charset="0"/>
                <a:cs typeface="Arial" panose="020B0604020202020204" pitchFamily="34" charset="0"/>
              </a:rPr>
              <a:t>tuyến</a:t>
            </a:r>
            <a:r>
              <a:rPr lang="en-US" sz="1400" dirty="0">
                <a:effectLst/>
                <a:latin typeface="Arial" panose="020B0604020202020204" pitchFamily="34" charset="0"/>
                <a:ea typeface="Times New Roman" panose="02020603050405020304" pitchFamily="18" charset="0"/>
                <a:cs typeface="Arial" panose="020B0604020202020204" pitchFamily="34" charset="0"/>
              </a:rPr>
              <a:t> </a:t>
            </a:r>
            <a:r>
              <a:rPr lang="en-US" sz="1400" dirty="0">
                <a:effectLst/>
                <a:latin typeface="Arial" panose="020B0604020202020204" pitchFamily="34" charset="0"/>
                <a:ea typeface="Times New Roman" panose="02020603050405020304" pitchFamily="18" charset="0"/>
                <a:cs typeface="Arial" panose="020B0604020202020204" pitchFamily="34" charset="0"/>
                <a:sym typeface="Symbol" pitchFamily="2" charset="2"/>
              </a:rPr>
              <a:t></a:t>
            </a:r>
            <a:r>
              <a:rPr lang="en-US" sz="1400" i="1" baseline="-25000" dirty="0">
                <a:effectLst/>
                <a:latin typeface="Arial" panose="020B0604020202020204" pitchFamily="34" charset="0"/>
                <a:ea typeface="Times New Roman" panose="02020603050405020304" pitchFamily="18" charset="0"/>
                <a:cs typeface="Arial" panose="020B0604020202020204" pitchFamily="34" charset="0"/>
              </a:rPr>
              <a:t>F</a:t>
            </a:r>
            <a:r>
              <a:rPr lang="en-US" sz="1400" dirty="0">
                <a:effectLst/>
                <a:latin typeface="Arial" panose="020B0604020202020204" pitchFamily="34" charset="0"/>
                <a:ea typeface="Times New Roman" panose="02020603050405020304" pitchFamily="18" charset="0"/>
                <a:cs typeface="Arial" panose="020B0604020202020204" pitchFamily="34" charset="0"/>
              </a:rPr>
              <a:t> </a:t>
            </a:r>
            <a:r>
              <a:rPr lang="en-US" sz="1400" dirty="0" err="1">
                <a:effectLst/>
                <a:latin typeface="Arial" panose="020B0604020202020204" pitchFamily="34" charset="0"/>
                <a:ea typeface="Times New Roman" panose="02020603050405020304" pitchFamily="18" charset="0"/>
                <a:cs typeface="Arial" panose="020B0604020202020204" pitchFamily="34" charset="0"/>
              </a:rPr>
              <a:t>có</a:t>
            </a:r>
            <a:r>
              <a:rPr lang="en-US" sz="1400" dirty="0">
                <a:effectLst/>
                <a:latin typeface="Arial" panose="020B0604020202020204" pitchFamily="34" charset="0"/>
                <a:ea typeface="Times New Roman" panose="02020603050405020304" pitchFamily="18" charset="0"/>
                <a:cs typeface="Arial" panose="020B0604020202020204" pitchFamily="34" charset="0"/>
              </a:rPr>
              <a:t> </a:t>
            </a:r>
            <a:r>
              <a:rPr lang="en-US" sz="1400" dirty="0" err="1">
                <a:effectLst/>
                <a:latin typeface="Arial" panose="020B0604020202020204" pitchFamily="34" charset="0"/>
                <a:ea typeface="Times New Roman" panose="02020603050405020304" pitchFamily="18" charset="0"/>
                <a:cs typeface="Arial" panose="020B0604020202020204" pitchFamily="34" charset="0"/>
              </a:rPr>
              <a:t>số</a:t>
            </a:r>
            <a:r>
              <a:rPr lang="en-US" sz="1400" dirty="0">
                <a:effectLst/>
                <a:latin typeface="Arial" panose="020B0604020202020204" pitchFamily="34" charset="0"/>
                <a:ea typeface="Times New Roman" panose="02020603050405020304" pitchFamily="18" charset="0"/>
                <a:cs typeface="Arial" panose="020B0604020202020204" pitchFamily="34" charset="0"/>
              </a:rPr>
              <a:t> </a:t>
            </a:r>
            <a:r>
              <a:rPr lang="en-US" sz="1400" dirty="0" err="1">
                <a:effectLst/>
                <a:latin typeface="Arial" panose="020B0604020202020204" pitchFamily="34" charset="0"/>
                <a:ea typeface="Times New Roman" panose="02020603050405020304" pitchFamily="18" charset="0"/>
                <a:cs typeface="Arial" panose="020B0604020202020204" pitchFamily="34" charset="0"/>
              </a:rPr>
              <a:t>lần</a:t>
            </a:r>
            <a:r>
              <a:rPr lang="en-US" sz="1400" dirty="0">
                <a:effectLst/>
                <a:latin typeface="Arial" panose="020B0604020202020204" pitchFamily="34" charset="0"/>
                <a:ea typeface="Times New Roman" panose="02020603050405020304" pitchFamily="18" charset="0"/>
                <a:cs typeface="Arial" panose="020B0604020202020204" pitchFamily="34" charset="0"/>
              </a:rPr>
              <a:t> bao </a:t>
            </a:r>
            <a:r>
              <a:rPr lang="en-US" sz="1400" dirty="0" err="1">
                <a:effectLst/>
                <a:latin typeface="Arial" panose="020B0604020202020204" pitchFamily="34" charset="0"/>
                <a:ea typeface="Times New Roman" panose="02020603050405020304" pitchFamily="18" charset="0"/>
                <a:cs typeface="Arial" panose="020B0604020202020204" pitchFamily="34" charset="0"/>
              </a:rPr>
              <a:t>quanh</a:t>
            </a:r>
            <a:r>
              <a:rPr lang="en-US" sz="1400" dirty="0">
                <a:effectLst/>
                <a:latin typeface="Arial" panose="020B0604020202020204" pitchFamily="34" charset="0"/>
                <a:ea typeface="Times New Roman" panose="02020603050405020304" pitchFamily="18" charset="0"/>
                <a:cs typeface="Arial" panose="020B0604020202020204" pitchFamily="34" charset="0"/>
              </a:rPr>
              <a:t> </a:t>
            </a:r>
            <a:r>
              <a:rPr lang="en-US" sz="1400" dirty="0" err="1">
                <a:effectLst/>
                <a:latin typeface="Arial" panose="020B0604020202020204" pitchFamily="34" charset="0"/>
                <a:ea typeface="Times New Roman" panose="02020603050405020304" pitchFamily="18" charset="0"/>
                <a:cs typeface="Arial" panose="020B0604020202020204" pitchFamily="34" charset="0"/>
              </a:rPr>
              <a:t>gốc</a:t>
            </a:r>
            <a:r>
              <a:rPr lang="en-US" sz="1400" dirty="0">
                <a:effectLst/>
                <a:latin typeface="Arial" panose="020B0604020202020204" pitchFamily="34" charset="0"/>
                <a:ea typeface="Times New Roman" panose="02020603050405020304" pitchFamily="18" charset="0"/>
                <a:cs typeface="Arial" panose="020B0604020202020204" pitchFamily="34" charset="0"/>
              </a:rPr>
              <a:t> </a:t>
            </a:r>
            <a:r>
              <a:rPr lang="en-US" sz="1400" dirty="0" err="1">
                <a:effectLst/>
                <a:latin typeface="Arial" panose="020B0604020202020204" pitchFamily="34" charset="0"/>
                <a:ea typeface="Times New Roman" panose="02020603050405020304" pitchFamily="18" charset="0"/>
                <a:cs typeface="Arial" panose="020B0604020202020204" pitchFamily="34" charset="0"/>
              </a:rPr>
              <a:t>tọa</a:t>
            </a:r>
            <a:r>
              <a:rPr lang="en-US" sz="1400" dirty="0">
                <a:effectLst/>
                <a:latin typeface="Arial" panose="020B0604020202020204" pitchFamily="34" charset="0"/>
                <a:ea typeface="Times New Roman" panose="02020603050405020304" pitchFamily="18" charset="0"/>
                <a:cs typeface="Arial" panose="020B0604020202020204" pitchFamily="34" charset="0"/>
              </a:rPr>
              <a:t> </a:t>
            </a:r>
            <a:r>
              <a:rPr lang="en-US" sz="1400" dirty="0" err="1">
                <a:effectLst/>
                <a:latin typeface="Arial" panose="020B0604020202020204" pitchFamily="34" charset="0"/>
                <a:ea typeface="Times New Roman" panose="02020603050405020304" pitchFamily="18" charset="0"/>
                <a:cs typeface="Arial" panose="020B0604020202020204" pitchFamily="34" charset="0"/>
              </a:rPr>
              <a:t>độ</a:t>
            </a:r>
            <a:r>
              <a:rPr lang="en-US" sz="1400" dirty="0">
                <a:effectLst/>
                <a:latin typeface="Arial" panose="020B0604020202020204" pitchFamily="34" charset="0"/>
                <a:ea typeface="Times New Roman" panose="02020603050405020304" pitchFamily="18" charset="0"/>
                <a:cs typeface="Arial" panose="020B0604020202020204" pitchFamily="34" charset="0"/>
              </a:rPr>
              <a:t> </a:t>
            </a:r>
            <a:r>
              <a:rPr lang="en-US" sz="1400" dirty="0" err="1">
                <a:effectLst/>
                <a:latin typeface="Arial" panose="020B0604020202020204" pitchFamily="34" charset="0"/>
                <a:ea typeface="Times New Roman" panose="02020603050405020304" pitchFamily="18" charset="0"/>
                <a:cs typeface="Arial" panose="020B0604020202020204" pitchFamily="34" charset="0"/>
              </a:rPr>
              <a:t>của</a:t>
            </a:r>
            <a:r>
              <a:rPr lang="en-US" sz="1400" dirty="0">
                <a:effectLst/>
                <a:latin typeface="Arial" panose="020B0604020202020204" pitchFamily="34" charset="0"/>
                <a:ea typeface="Times New Roman" panose="02020603050405020304" pitchFamily="18" charset="0"/>
                <a:cs typeface="Arial" panose="020B0604020202020204" pitchFamily="34" charset="0"/>
              </a:rPr>
              <a:t> </a:t>
            </a:r>
            <a:r>
              <a:rPr lang="en-US" sz="1400" dirty="0" err="1">
                <a:effectLst/>
                <a:latin typeface="Arial" panose="020B0604020202020204" pitchFamily="34" charset="0"/>
                <a:ea typeface="Times New Roman" panose="02020603050405020304" pitchFamily="18" charset="0"/>
                <a:cs typeface="Arial" panose="020B0604020202020204" pitchFamily="34" charset="0"/>
              </a:rPr>
              <a:t>mặt</a:t>
            </a:r>
            <a:r>
              <a:rPr lang="en-US" sz="1400" dirty="0">
                <a:effectLst/>
                <a:latin typeface="Arial" panose="020B0604020202020204" pitchFamily="34" charset="0"/>
                <a:ea typeface="Times New Roman" panose="02020603050405020304" pitchFamily="18" charset="0"/>
                <a:cs typeface="Arial" panose="020B0604020202020204" pitchFamily="34" charset="0"/>
              </a:rPr>
              <a:t> </a:t>
            </a:r>
            <a:r>
              <a:rPr lang="en-US" sz="1400" dirty="0" err="1">
                <a:effectLst/>
                <a:latin typeface="Arial" panose="020B0604020202020204" pitchFamily="34" charset="0"/>
                <a:ea typeface="Times New Roman" panose="02020603050405020304" pitchFamily="18" charset="0"/>
                <a:cs typeface="Arial" panose="020B0604020202020204" pitchFamily="34" charset="0"/>
              </a:rPr>
              <a:t>phẳng</a:t>
            </a:r>
            <a:r>
              <a:rPr lang="en-US" sz="1400" dirty="0">
                <a:effectLst/>
                <a:latin typeface="Arial" panose="020B0604020202020204" pitchFamily="34" charset="0"/>
                <a:ea typeface="Times New Roman" panose="02020603050405020304" pitchFamily="18" charset="0"/>
                <a:cs typeface="Arial" panose="020B0604020202020204" pitchFamily="34" charset="0"/>
              </a:rPr>
              <a:t> </a:t>
            </a:r>
            <a:r>
              <a:rPr lang="en-US" sz="1400" i="1" dirty="0">
                <a:effectLst/>
                <a:latin typeface="Arial" panose="020B0604020202020204" pitchFamily="34" charset="0"/>
                <a:ea typeface="Times New Roman" panose="02020603050405020304" pitchFamily="18" charset="0"/>
                <a:cs typeface="Arial" panose="020B0604020202020204" pitchFamily="34" charset="0"/>
              </a:rPr>
              <a:t>F</a:t>
            </a:r>
            <a:r>
              <a:rPr lang="en-US" sz="1400" dirty="0">
                <a:effectLst/>
                <a:latin typeface="Arial" panose="020B0604020202020204" pitchFamily="34" charset="0"/>
                <a:ea typeface="Times New Roman" panose="02020603050405020304" pitchFamily="18" charset="0"/>
                <a:cs typeface="Arial" panose="020B0604020202020204" pitchFamily="34" charset="0"/>
              </a:rPr>
              <a:t>(</a:t>
            </a:r>
            <a:r>
              <a:rPr lang="en-US" sz="1400" i="1" dirty="0">
                <a:effectLst/>
                <a:latin typeface="Arial" panose="020B0604020202020204" pitchFamily="34" charset="0"/>
                <a:ea typeface="Times New Roman" panose="02020603050405020304" pitchFamily="18" charset="0"/>
                <a:cs typeface="Arial" panose="020B0604020202020204" pitchFamily="34" charset="0"/>
              </a:rPr>
              <a:t>s</a:t>
            </a:r>
            <a:r>
              <a:rPr lang="en-US" sz="1400" dirty="0">
                <a:effectLst/>
                <a:latin typeface="Arial" panose="020B0604020202020204" pitchFamily="34" charset="0"/>
                <a:ea typeface="Times New Roman" panose="02020603050405020304" pitchFamily="18" charset="0"/>
                <a:cs typeface="Arial" panose="020B0604020202020204" pitchFamily="34" charset="0"/>
              </a:rPr>
              <a:t>) </a:t>
            </a:r>
            <a:r>
              <a:rPr lang="en-US" sz="1400" dirty="0" err="1">
                <a:effectLst/>
                <a:latin typeface="Arial" panose="020B0604020202020204" pitchFamily="34" charset="0"/>
                <a:ea typeface="Times New Roman" panose="02020603050405020304" pitchFamily="18" charset="0"/>
                <a:cs typeface="Arial" panose="020B0604020202020204" pitchFamily="34" charset="0"/>
              </a:rPr>
              <a:t>là</a:t>
            </a:r>
            <a:r>
              <a:rPr lang="en-US" sz="1400" dirty="0">
                <a:effectLst/>
                <a:latin typeface="Arial" panose="020B0604020202020204" pitchFamily="34" charset="0"/>
                <a:ea typeface="Times New Roman" panose="02020603050405020304" pitchFamily="18" charset="0"/>
                <a:cs typeface="Arial" panose="020B0604020202020204" pitchFamily="34" charset="0"/>
              </a:rPr>
              <a:t> 3 </a:t>
            </a:r>
            <a:r>
              <a:rPr lang="en-US" sz="1400" dirty="0">
                <a:effectLst/>
                <a:latin typeface="Arial" panose="020B0604020202020204" pitchFamily="34" charset="0"/>
                <a:ea typeface="Times New Roman" panose="02020603050405020304" pitchFamily="18" charset="0"/>
                <a:cs typeface="Arial" panose="020B0604020202020204" pitchFamily="34" charset="0"/>
                <a:sym typeface="Symbol" pitchFamily="2" charset="2"/>
              </a:rPr>
              <a:t></a:t>
            </a:r>
            <a:r>
              <a:rPr lang="en-US" sz="1400" dirty="0">
                <a:effectLst/>
                <a:latin typeface="Arial" panose="020B0604020202020204" pitchFamily="34" charset="0"/>
                <a:ea typeface="Times New Roman" panose="02020603050405020304" pitchFamily="18" charset="0"/>
                <a:cs typeface="Arial" panose="020B0604020202020204" pitchFamily="34" charset="0"/>
              </a:rPr>
              <a:t> 1 = 2. </a:t>
            </a:r>
          </a:p>
          <a:p>
            <a:pPr algn="just">
              <a:spcBef>
                <a:spcPts val="600"/>
              </a:spcBef>
              <a:spcAft>
                <a:spcPts val="600"/>
              </a:spcAft>
              <a:tabLst>
                <a:tab pos="228600" algn="l"/>
              </a:tabLst>
            </a:pPr>
            <a:r>
              <a:rPr lang="en-US" sz="1400" dirty="0" err="1">
                <a:effectLst/>
                <a:latin typeface="Arial" panose="020B0604020202020204" pitchFamily="34" charset="0"/>
                <a:ea typeface="Times New Roman" panose="02020603050405020304" pitchFamily="18" charset="0"/>
                <a:cs typeface="Arial" panose="020B0604020202020204" pitchFamily="34" charset="0"/>
              </a:rPr>
              <a:t>Hình</a:t>
            </a:r>
            <a:r>
              <a:rPr lang="en-US" sz="1400" dirty="0">
                <a:effectLst/>
                <a:latin typeface="Arial" panose="020B0604020202020204" pitchFamily="34" charset="0"/>
                <a:ea typeface="Times New Roman" panose="02020603050405020304" pitchFamily="18" charset="0"/>
                <a:cs typeface="Arial" panose="020B0604020202020204" pitchFamily="34" charset="0"/>
              </a:rPr>
              <a:t> 9.4, </a:t>
            </a:r>
            <a:r>
              <a:rPr lang="en-US" sz="1400" dirty="0" err="1">
                <a:effectLst/>
                <a:latin typeface="Arial" panose="020B0604020202020204" pitchFamily="34" charset="0"/>
                <a:ea typeface="Times New Roman" panose="02020603050405020304" pitchFamily="18" charset="0"/>
                <a:cs typeface="Arial" panose="020B0604020202020204" pitchFamily="34" charset="0"/>
              </a:rPr>
              <a:t>chỉ</a:t>
            </a:r>
            <a:r>
              <a:rPr lang="en-US" sz="1400" dirty="0">
                <a:effectLst/>
                <a:latin typeface="Arial" panose="020B0604020202020204" pitchFamily="34" charset="0"/>
                <a:ea typeface="Times New Roman" panose="02020603050405020304" pitchFamily="18" charset="0"/>
                <a:cs typeface="Arial" panose="020B0604020202020204" pitchFamily="34" charset="0"/>
              </a:rPr>
              <a:t> </a:t>
            </a:r>
            <a:r>
              <a:rPr lang="en-US" sz="1400" dirty="0" err="1">
                <a:effectLst/>
                <a:latin typeface="Arial" panose="020B0604020202020204" pitchFamily="34" charset="0"/>
                <a:ea typeface="Times New Roman" panose="02020603050405020304" pitchFamily="18" charset="0"/>
                <a:cs typeface="Arial" panose="020B0604020202020204" pitchFamily="34" charset="0"/>
              </a:rPr>
              <a:t>có</a:t>
            </a:r>
            <a:r>
              <a:rPr lang="en-US" sz="1400" dirty="0">
                <a:effectLst/>
                <a:latin typeface="Arial" panose="020B0604020202020204" pitchFamily="34" charset="0"/>
                <a:ea typeface="Times New Roman" panose="02020603050405020304" pitchFamily="18" charset="0"/>
                <a:cs typeface="Arial" panose="020B0604020202020204" pitchFamily="34" charset="0"/>
              </a:rPr>
              <a:t> </a:t>
            </a:r>
            <a:r>
              <a:rPr lang="en-US" sz="1400" dirty="0" err="1">
                <a:effectLst/>
                <a:latin typeface="Arial" panose="020B0604020202020204" pitchFamily="34" charset="0"/>
                <a:ea typeface="Times New Roman" panose="02020603050405020304" pitchFamily="18" charset="0"/>
                <a:cs typeface="Arial" panose="020B0604020202020204" pitchFamily="34" charset="0"/>
              </a:rPr>
              <a:t>một</a:t>
            </a:r>
            <a:r>
              <a:rPr lang="en-US" sz="1400" dirty="0">
                <a:effectLst/>
                <a:latin typeface="Arial" panose="020B0604020202020204" pitchFamily="34" charset="0"/>
                <a:ea typeface="Times New Roman" panose="02020603050405020304" pitchFamily="18" charset="0"/>
                <a:cs typeface="Arial" panose="020B0604020202020204" pitchFamily="34" charset="0"/>
              </a:rPr>
              <a:t> </a:t>
            </a:r>
            <a:r>
              <a:rPr lang="en-US" sz="1400" dirty="0" err="1">
                <a:effectLst/>
                <a:latin typeface="Arial" panose="020B0604020202020204" pitchFamily="34" charset="0"/>
                <a:ea typeface="Times New Roman" panose="02020603050405020304" pitchFamily="18" charset="0"/>
                <a:cs typeface="Arial" panose="020B0604020202020204" pitchFamily="34" charset="0"/>
              </a:rPr>
              <a:t>điểm</a:t>
            </a:r>
            <a:r>
              <a:rPr lang="en-US" sz="1400" dirty="0">
                <a:effectLst/>
                <a:latin typeface="Arial" panose="020B0604020202020204" pitchFamily="34" charset="0"/>
                <a:ea typeface="Times New Roman" panose="02020603050405020304" pitchFamily="18" charset="0"/>
                <a:cs typeface="Arial" panose="020B0604020202020204" pitchFamily="34" charset="0"/>
              </a:rPr>
              <a:t> </a:t>
            </a:r>
            <a:r>
              <a:rPr lang="en-US" sz="1400" dirty="0" err="1">
                <a:effectLst/>
                <a:latin typeface="Arial" panose="020B0604020202020204" pitchFamily="34" charset="0"/>
                <a:ea typeface="Times New Roman" panose="02020603050405020304" pitchFamily="18" charset="0"/>
                <a:cs typeface="Arial" panose="020B0604020202020204" pitchFamily="34" charset="0"/>
              </a:rPr>
              <a:t>cực</a:t>
            </a:r>
            <a:r>
              <a:rPr lang="en-US" sz="1400" dirty="0">
                <a:effectLst/>
                <a:latin typeface="Arial" panose="020B0604020202020204" pitchFamily="34" charset="0"/>
                <a:ea typeface="Times New Roman" panose="02020603050405020304" pitchFamily="18" charset="0"/>
                <a:cs typeface="Arial" panose="020B0604020202020204" pitchFamily="34" charset="0"/>
              </a:rPr>
              <a:t> </a:t>
            </a:r>
            <a:r>
              <a:rPr lang="en-US" sz="1400" dirty="0" err="1">
                <a:effectLst/>
                <a:latin typeface="Arial" panose="020B0604020202020204" pitchFamily="34" charset="0"/>
                <a:ea typeface="Times New Roman" panose="02020603050405020304" pitchFamily="18" charset="0"/>
                <a:cs typeface="Arial" panose="020B0604020202020204" pitchFamily="34" charset="0"/>
              </a:rPr>
              <a:t>của</a:t>
            </a:r>
            <a:r>
              <a:rPr lang="en-US" sz="1400" dirty="0">
                <a:effectLst/>
                <a:latin typeface="Arial" panose="020B0604020202020204" pitchFamily="34" charset="0"/>
                <a:ea typeface="Times New Roman" panose="02020603050405020304" pitchFamily="18" charset="0"/>
                <a:cs typeface="Arial" panose="020B0604020202020204" pitchFamily="34" charset="0"/>
              </a:rPr>
              <a:t> </a:t>
            </a:r>
            <a:r>
              <a:rPr lang="en-US" sz="1400" i="1" dirty="0">
                <a:effectLst/>
                <a:latin typeface="Arial" panose="020B0604020202020204" pitchFamily="34" charset="0"/>
                <a:ea typeface="Times New Roman" panose="02020603050405020304" pitchFamily="18" charset="0"/>
                <a:cs typeface="Arial" panose="020B0604020202020204" pitchFamily="34" charset="0"/>
              </a:rPr>
              <a:t>F</a:t>
            </a:r>
            <a:r>
              <a:rPr lang="en-US" sz="1400" dirty="0">
                <a:effectLst/>
                <a:latin typeface="Arial" panose="020B0604020202020204" pitchFamily="34" charset="0"/>
                <a:ea typeface="Times New Roman" panose="02020603050405020304" pitchFamily="18" charset="0"/>
                <a:cs typeface="Arial" panose="020B0604020202020204" pitchFamily="34" charset="0"/>
              </a:rPr>
              <a:t>(</a:t>
            </a:r>
            <a:r>
              <a:rPr lang="en-US" sz="1400" i="1" dirty="0">
                <a:effectLst/>
                <a:latin typeface="Arial" panose="020B0604020202020204" pitchFamily="34" charset="0"/>
                <a:ea typeface="Times New Roman" panose="02020603050405020304" pitchFamily="18" charset="0"/>
                <a:cs typeface="Arial" panose="020B0604020202020204" pitchFamily="34" charset="0"/>
              </a:rPr>
              <a:t>s</a:t>
            </a:r>
            <a:r>
              <a:rPr lang="en-US" sz="1400" dirty="0">
                <a:effectLst/>
                <a:latin typeface="Arial" panose="020B0604020202020204" pitchFamily="34" charset="0"/>
                <a:ea typeface="Times New Roman" panose="02020603050405020304" pitchFamily="18" charset="0"/>
                <a:cs typeface="Arial" panose="020B0604020202020204" pitchFamily="34" charset="0"/>
              </a:rPr>
              <a:t>) </a:t>
            </a:r>
            <a:r>
              <a:rPr lang="en-US" sz="1400" dirty="0" err="1">
                <a:effectLst/>
                <a:latin typeface="Arial" panose="020B0604020202020204" pitchFamily="34" charset="0"/>
                <a:ea typeface="Times New Roman" panose="02020603050405020304" pitchFamily="18" charset="0"/>
                <a:cs typeface="Arial" panose="020B0604020202020204" pitchFamily="34" charset="0"/>
              </a:rPr>
              <a:t>nằm</a:t>
            </a:r>
            <a:r>
              <a:rPr lang="en-US" sz="1400" dirty="0">
                <a:effectLst/>
                <a:latin typeface="Arial" panose="020B0604020202020204" pitchFamily="34" charset="0"/>
                <a:ea typeface="Times New Roman" panose="02020603050405020304" pitchFamily="18" charset="0"/>
                <a:cs typeface="Arial" panose="020B0604020202020204" pitchFamily="34" charset="0"/>
              </a:rPr>
              <a:t> </a:t>
            </a:r>
            <a:r>
              <a:rPr lang="en-US" sz="1400" dirty="0" err="1">
                <a:effectLst/>
                <a:latin typeface="Arial" panose="020B0604020202020204" pitchFamily="34" charset="0"/>
                <a:ea typeface="Times New Roman" panose="02020603050405020304" pitchFamily="18" charset="0"/>
                <a:cs typeface="Arial" panose="020B0604020202020204" pitchFamily="34" charset="0"/>
              </a:rPr>
              <a:t>bên</a:t>
            </a:r>
            <a:r>
              <a:rPr lang="en-US" sz="1400" dirty="0">
                <a:effectLst/>
                <a:latin typeface="Arial" panose="020B0604020202020204" pitchFamily="34" charset="0"/>
                <a:ea typeface="Times New Roman" panose="02020603050405020304" pitchFamily="18" charset="0"/>
                <a:cs typeface="Arial" panose="020B0604020202020204" pitchFamily="34" charset="0"/>
              </a:rPr>
              <a:t> </a:t>
            </a:r>
            <a:r>
              <a:rPr lang="en-US" sz="1400" dirty="0" err="1">
                <a:effectLst/>
                <a:latin typeface="Arial" panose="020B0604020202020204" pitchFamily="34" charset="0"/>
                <a:ea typeface="Times New Roman" panose="02020603050405020304" pitchFamily="18" charset="0"/>
                <a:cs typeface="Arial" panose="020B0604020202020204" pitchFamily="34" charset="0"/>
              </a:rPr>
              <a:t>trong</a:t>
            </a:r>
            <a:r>
              <a:rPr lang="en-US" sz="1400" dirty="0">
                <a:effectLst/>
                <a:latin typeface="Arial" panose="020B0604020202020204" pitchFamily="34" charset="0"/>
                <a:ea typeface="Times New Roman" panose="02020603050405020304" pitchFamily="18" charset="0"/>
                <a:cs typeface="Arial" panose="020B0604020202020204" pitchFamily="34" charset="0"/>
              </a:rPr>
              <a:t> </a:t>
            </a:r>
            <a:r>
              <a:rPr lang="en-US" sz="1400" dirty="0" err="1">
                <a:effectLst/>
                <a:latin typeface="Arial" panose="020B0604020202020204" pitchFamily="34" charset="0"/>
                <a:ea typeface="Times New Roman" panose="02020603050405020304" pitchFamily="18" charset="0"/>
                <a:cs typeface="Arial" panose="020B0604020202020204" pitchFamily="34" charset="0"/>
              </a:rPr>
              <a:t>vùng</a:t>
            </a:r>
            <a:r>
              <a:rPr lang="en-US" sz="1400" dirty="0">
                <a:effectLst/>
                <a:latin typeface="Arial" panose="020B0604020202020204" pitchFamily="34" charset="0"/>
                <a:ea typeface="Times New Roman" panose="02020603050405020304" pitchFamily="18" charset="0"/>
                <a:cs typeface="Arial" panose="020B0604020202020204" pitchFamily="34" charset="0"/>
              </a:rPr>
              <a:t> </a:t>
            </a:r>
            <a:r>
              <a:rPr lang="en-US" sz="1400" dirty="0" err="1">
                <a:effectLst/>
                <a:latin typeface="Arial" panose="020B0604020202020204" pitchFamily="34" charset="0"/>
                <a:ea typeface="Times New Roman" panose="02020603050405020304" pitchFamily="18" charset="0"/>
                <a:cs typeface="Arial" panose="020B0604020202020204" pitchFamily="34" charset="0"/>
              </a:rPr>
              <a:t>đóng</a:t>
            </a:r>
            <a:r>
              <a:rPr lang="en-US" sz="1400" dirty="0">
                <a:effectLst/>
                <a:latin typeface="Arial" panose="020B0604020202020204" pitchFamily="34" charset="0"/>
                <a:ea typeface="Times New Roman" panose="02020603050405020304" pitchFamily="18" charset="0"/>
                <a:cs typeface="Arial" panose="020B0604020202020204" pitchFamily="34" charset="0"/>
              </a:rPr>
              <a:t> </a:t>
            </a:r>
            <a:r>
              <a:rPr lang="en-US" sz="1400" dirty="0" err="1">
                <a:effectLst/>
                <a:latin typeface="Arial" panose="020B0604020202020204" pitchFamily="34" charset="0"/>
                <a:ea typeface="Times New Roman" panose="02020603050405020304" pitchFamily="18" charset="0"/>
                <a:cs typeface="Arial" panose="020B0604020202020204" pitchFamily="34" charset="0"/>
              </a:rPr>
              <a:t>kín</a:t>
            </a:r>
            <a:r>
              <a:rPr lang="en-US" sz="1400" dirty="0">
                <a:effectLst/>
                <a:latin typeface="Arial" panose="020B0604020202020204" pitchFamily="34" charset="0"/>
                <a:ea typeface="Times New Roman" panose="02020603050405020304" pitchFamily="18" charset="0"/>
                <a:cs typeface="Arial" panose="020B0604020202020204" pitchFamily="34" charset="0"/>
              </a:rPr>
              <a:t> </a:t>
            </a:r>
            <a:r>
              <a:rPr lang="en-US" sz="1400" dirty="0" err="1">
                <a:effectLst/>
                <a:latin typeface="Arial" panose="020B0604020202020204" pitchFamily="34" charset="0"/>
                <a:ea typeface="Times New Roman" panose="02020603050405020304" pitchFamily="18" charset="0"/>
                <a:cs typeface="Arial" panose="020B0604020202020204" pitchFamily="34" charset="0"/>
              </a:rPr>
              <a:t>bởi</a:t>
            </a:r>
            <a:r>
              <a:rPr lang="en-US" sz="1400" dirty="0">
                <a:effectLst/>
                <a:latin typeface="Arial" panose="020B0604020202020204" pitchFamily="34" charset="0"/>
                <a:ea typeface="Times New Roman" panose="02020603050405020304" pitchFamily="18" charset="0"/>
                <a:cs typeface="Arial" panose="020B0604020202020204" pitchFamily="34" charset="0"/>
              </a:rPr>
              <a:t> chu </a:t>
            </a:r>
            <a:r>
              <a:rPr lang="en-US" sz="1400" dirty="0" err="1">
                <a:effectLst/>
                <a:latin typeface="Arial" panose="020B0604020202020204" pitchFamily="34" charset="0"/>
                <a:ea typeface="Times New Roman" panose="02020603050405020304" pitchFamily="18" charset="0"/>
                <a:cs typeface="Arial" panose="020B0604020202020204" pitchFamily="34" charset="0"/>
              </a:rPr>
              <a:t>tuyến</a:t>
            </a:r>
            <a:r>
              <a:rPr lang="en-US" sz="1400" dirty="0">
                <a:effectLst/>
                <a:latin typeface="Arial" panose="020B0604020202020204" pitchFamily="34" charset="0"/>
                <a:ea typeface="Times New Roman" panose="02020603050405020304" pitchFamily="18" charset="0"/>
                <a:cs typeface="Arial" panose="020B0604020202020204" pitchFamily="34" charset="0"/>
              </a:rPr>
              <a:t> </a:t>
            </a:r>
            <a:r>
              <a:rPr lang="en-US" sz="1400" dirty="0">
                <a:effectLst/>
                <a:latin typeface="Arial" panose="020B0604020202020204" pitchFamily="34" charset="0"/>
                <a:ea typeface="Times New Roman" panose="02020603050405020304" pitchFamily="18" charset="0"/>
                <a:cs typeface="Arial" panose="020B0604020202020204" pitchFamily="34" charset="0"/>
                <a:sym typeface="Symbol" pitchFamily="2" charset="2"/>
              </a:rPr>
              <a:t></a:t>
            </a:r>
            <a:r>
              <a:rPr lang="en-US" sz="1400" i="1" baseline="-25000" dirty="0">
                <a:effectLst/>
                <a:latin typeface="Arial" panose="020B0604020202020204" pitchFamily="34" charset="0"/>
                <a:ea typeface="Times New Roman" panose="02020603050405020304" pitchFamily="18" charset="0"/>
                <a:cs typeface="Arial" panose="020B0604020202020204" pitchFamily="34" charset="0"/>
              </a:rPr>
              <a:t>s</a:t>
            </a:r>
            <a:r>
              <a:rPr lang="en-US" sz="1400" dirty="0">
                <a:effectLst/>
                <a:latin typeface="Arial" panose="020B0604020202020204" pitchFamily="34" charset="0"/>
                <a:ea typeface="Times New Roman" panose="02020603050405020304" pitchFamily="18" charset="0"/>
                <a:cs typeface="Arial" panose="020B0604020202020204" pitchFamily="34" charset="0"/>
              </a:rPr>
              <a:t>, </a:t>
            </a:r>
            <a:r>
              <a:rPr lang="en-US" sz="1400" dirty="0" err="1">
                <a:effectLst/>
                <a:latin typeface="Arial" panose="020B0604020202020204" pitchFamily="34" charset="0"/>
                <a:ea typeface="Times New Roman" panose="02020603050405020304" pitchFamily="18" charset="0"/>
                <a:cs typeface="Arial" panose="020B0604020202020204" pitchFamily="34" charset="0"/>
              </a:rPr>
              <a:t>vì</a:t>
            </a:r>
            <a:r>
              <a:rPr lang="en-US" sz="1400" dirty="0">
                <a:effectLst/>
                <a:latin typeface="Arial" panose="020B0604020202020204" pitchFamily="34" charset="0"/>
                <a:ea typeface="Times New Roman" panose="02020603050405020304" pitchFamily="18" charset="0"/>
                <a:cs typeface="Arial" panose="020B0604020202020204" pitchFamily="34" charset="0"/>
              </a:rPr>
              <a:t> </a:t>
            </a:r>
            <a:r>
              <a:rPr lang="en-US" sz="1400" dirty="0" err="1">
                <a:effectLst/>
                <a:latin typeface="Arial" panose="020B0604020202020204" pitchFamily="34" charset="0"/>
                <a:ea typeface="Times New Roman" panose="02020603050405020304" pitchFamily="18" charset="0"/>
                <a:cs typeface="Arial" panose="020B0604020202020204" pitchFamily="34" charset="0"/>
              </a:rPr>
              <a:t>vậy</a:t>
            </a:r>
            <a:r>
              <a:rPr lang="en-US" sz="1400" dirty="0">
                <a:effectLst/>
                <a:latin typeface="Arial" panose="020B0604020202020204" pitchFamily="34" charset="0"/>
                <a:ea typeface="Times New Roman" panose="02020603050405020304" pitchFamily="18" charset="0"/>
                <a:cs typeface="Arial" panose="020B0604020202020204" pitchFamily="34" charset="0"/>
              </a:rPr>
              <a:t> chu </a:t>
            </a:r>
            <a:r>
              <a:rPr lang="en-US" sz="1400" dirty="0" err="1">
                <a:effectLst/>
                <a:latin typeface="Arial" panose="020B0604020202020204" pitchFamily="34" charset="0"/>
                <a:ea typeface="Times New Roman" panose="02020603050405020304" pitchFamily="18" charset="0"/>
                <a:cs typeface="Arial" panose="020B0604020202020204" pitchFamily="34" charset="0"/>
              </a:rPr>
              <a:t>tuyến</a:t>
            </a:r>
            <a:r>
              <a:rPr lang="en-US" sz="1400" dirty="0">
                <a:effectLst/>
                <a:latin typeface="Arial" panose="020B0604020202020204" pitchFamily="34" charset="0"/>
                <a:ea typeface="Times New Roman" panose="02020603050405020304" pitchFamily="18" charset="0"/>
                <a:cs typeface="Arial" panose="020B0604020202020204" pitchFamily="34" charset="0"/>
              </a:rPr>
              <a:t> </a:t>
            </a:r>
            <a:r>
              <a:rPr lang="en-US" sz="1400" dirty="0">
                <a:effectLst/>
                <a:latin typeface="Arial" panose="020B0604020202020204" pitchFamily="34" charset="0"/>
                <a:ea typeface="Times New Roman" panose="02020603050405020304" pitchFamily="18" charset="0"/>
                <a:cs typeface="Arial" panose="020B0604020202020204" pitchFamily="34" charset="0"/>
                <a:sym typeface="Symbol" pitchFamily="2" charset="2"/>
              </a:rPr>
              <a:t></a:t>
            </a:r>
            <a:r>
              <a:rPr lang="en-US" sz="1400" i="1" baseline="-25000" dirty="0">
                <a:effectLst/>
                <a:latin typeface="Arial" panose="020B0604020202020204" pitchFamily="34" charset="0"/>
                <a:ea typeface="Times New Roman" panose="02020603050405020304" pitchFamily="18" charset="0"/>
                <a:cs typeface="Arial" panose="020B0604020202020204" pitchFamily="34" charset="0"/>
              </a:rPr>
              <a:t>F</a:t>
            </a:r>
            <a:r>
              <a:rPr lang="en-US" sz="1400" dirty="0">
                <a:effectLst/>
                <a:latin typeface="Arial" panose="020B0604020202020204" pitchFamily="34" charset="0"/>
                <a:ea typeface="Times New Roman" panose="02020603050405020304" pitchFamily="18" charset="0"/>
                <a:cs typeface="Arial" panose="020B0604020202020204" pitchFamily="34" charset="0"/>
              </a:rPr>
              <a:t> </a:t>
            </a:r>
            <a:r>
              <a:rPr lang="en-US" sz="1400" dirty="0" err="1">
                <a:effectLst/>
                <a:latin typeface="Arial" panose="020B0604020202020204" pitchFamily="34" charset="0"/>
                <a:ea typeface="Times New Roman" panose="02020603050405020304" pitchFamily="18" charset="0"/>
                <a:cs typeface="Arial" panose="020B0604020202020204" pitchFamily="34" charset="0"/>
              </a:rPr>
              <a:t>chỉ</a:t>
            </a:r>
            <a:r>
              <a:rPr lang="en-US" sz="1400" dirty="0">
                <a:effectLst/>
                <a:latin typeface="Arial" panose="020B0604020202020204" pitchFamily="34" charset="0"/>
                <a:ea typeface="Times New Roman" panose="02020603050405020304" pitchFamily="18" charset="0"/>
                <a:cs typeface="Arial" panose="020B0604020202020204" pitchFamily="34" charset="0"/>
              </a:rPr>
              <a:t> bao </a:t>
            </a:r>
            <a:r>
              <a:rPr lang="en-US" sz="1400" dirty="0" err="1">
                <a:effectLst/>
                <a:latin typeface="Arial" panose="020B0604020202020204" pitchFamily="34" charset="0"/>
                <a:ea typeface="Times New Roman" panose="02020603050405020304" pitchFamily="18" charset="0"/>
                <a:cs typeface="Arial" panose="020B0604020202020204" pitchFamily="34" charset="0"/>
              </a:rPr>
              <a:t>quanh</a:t>
            </a:r>
            <a:r>
              <a:rPr lang="en-US" sz="1400" dirty="0">
                <a:effectLst/>
                <a:latin typeface="Arial" panose="020B0604020202020204" pitchFamily="34" charset="0"/>
                <a:ea typeface="Times New Roman" panose="02020603050405020304" pitchFamily="18" charset="0"/>
                <a:cs typeface="Arial" panose="020B0604020202020204" pitchFamily="34" charset="0"/>
              </a:rPr>
              <a:t> </a:t>
            </a:r>
            <a:r>
              <a:rPr lang="en-US" sz="1400" dirty="0" err="1">
                <a:effectLst/>
                <a:latin typeface="Arial" panose="020B0604020202020204" pitchFamily="34" charset="0"/>
                <a:ea typeface="Times New Roman" panose="02020603050405020304" pitchFamily="18" charset="0"/>
                <a:cs typeface="Arial" panose="020B0604020202020204" pitchFamily="34" charset="0"/>
              </a:rPr>
              <a:t>gốc</a:t>
            </a:r>
            <a:r>
              <a:rPr lang="en-US" sz="1400" dirty="0">
                <a:effectLst/>
                <a:latin typeface="Arial" panose="020B0604020202020204" pitchFamily="34" charset="0"/>
                <a:ea typeface="Times New Roman" panose="02020603050405020304" pitchFamily="18" charset="0"/>
                <a:cs typeface="Arial" panose="020B0604020202020204" pitchFamily="34" charset="0"/>
              </a:rPr>
              <a:t> </a:t>
            </a:r>
            <a:r>
              <a:rPr lang="en-US" sz="1400" dirty="0" err="1">
                <a:effectLst/>
                <a:latin typeface="Arial" panose="020B0604020202020204" pitchFamily="34" charset="0"/>
                <a:ea typeface="Times New Roman" panose="02020603050405020304" pitchFamily="18" charset="0"/>
                <a:cs typeface="Arial" panose="020B0604020202020204" pitchFamily="34" charset="0"/>
              </a:rPr>
              <a:t>tọa</a:t>
            </a:r>
            <a:r>
              <a:rPr lang="en-US" sz="1400" dirty="0">
                <a:effectLst/>
                <a:latin typeface="Arial" panose="020B0604020202020204" pitchFamily="34" charset="0"/>
                <a:ea typeface="Times New Roman" panose="02020603050405020304" pitchFamily="18" charset="0"/>
                <a:cs typeface="Arial" panose="020B0604020202020204" pitchFamily="34" charset="0"/>
              </a:rPr>
              <a:t> </a:t>
            </a:r>
            <a:r>
              <a:rPr lang="en-US" sz="1400" dirty="0" err="1">
                <a:effectLst/>
                <a:latin typeface="Arial" panose="020B0604020202020204" pitchFamily="34" charset="0"/>
                <a:ea typeface="Times New Roman" panose="02020603050405020304" pitchFamily="18" charset="0"/>
                <a:cs typeface="Arial" panose="020B0604020202020204" pitchFamily="34" charset="0"/>
              </a:rPr>
              <a:t>độ</a:t>
            </a:r>
            <a:r>
              <a:rPr lang="en-US" sz="1400" dirty="0">
                <a:effectLst/>
                <a:latin typeface="Arial" panose="020B0604020202020204" pitchFamily="34" charset="0"/>
                <a:ea typeface="Times New Roman" panose="02020603050405020304" pitchFamily="18" charset="0"/>
                <a:cs typeface="Arial" panose="020B0604020202020204" pitchFamily="34" charset="0"/>
              </a:rPr>
              <a:t> </a:t>
            </a:r>
            <a:r>
              <a:rPr lang="en-US" sz="1400" dirty="0" err="1">
                <a:effectLst/>
                <a:latin typeface="Arial" panose="020B0604020202020204" pitchFamily="34" charset="0"/>
                <a:ea typeface="Times New Roman" panose="02020603050405020304" pitchFamily="18" charset="0"/>
                <a:cs typeface="Arial" panose="020B0604020202020204" pitchFamily="34" charset="0"/>
              </a:rPr>
              <a:t>trong</a:t>
            </a:r>
            <a:r>
              <a:rPr lang="en-US" sz="1400" dirty="0">
                <a:effectLst/>
                <a:latin typeface="Arial" panose="020B0604020202020204" pitchFamily="34" charset="0"/>
                <a:ea typeface="Times New Roman" panose="02020603050405020304" pitchFamily="18" charset="0"/>
                <a:cs typeface="Arial" panose="020B0604020202020204" pitchFamily="34" charset="0"/>
              </a:rPr>
              <a:t> </a:t>
            </a:r>
            <a:r>
              <a:rPr lang="en-US" sz="1400" dirty="0" err="1">
                <a:effectLst/>
                <a:latin typeface="Arial" panose="020B0604020202020204" pitchFamily="34" charset="0"/>
                <a:ea typeface="Times New Roman" panose="02020603050405020304" pitchFamily="18" charset="0"/>
                <a:cs typeface="Arial" panose="020B0604020202020204" pitchFamily="34" charset="0"/>
              </a:rPr>
              <a:t>mặt</a:t>
            </a:r>
            <a:r>
              <a:rPr lang="en-US" sz="1400" dirty="0">
                <a:effectLst/>
                <a:latin typeface="Arial" panose="020B0604020202020204" pitchFamily="34" charset="0"/>
                <a:ea typeface="Times New Roman" panose="02020603050405020304" pitchFamily="18" charset="0"/>
                <a:cs typeface="Arial" panose="020B0604020202020204" pitchFamily="34" charset="0"/>
              </a:rPr>
              <a:t> </a:t>
            </a:r>
            <a:r>
              <a:rPr lang="en-US" sz="1400" dirty="0" err="1">
                <a:effectLst/>
                <a:latin typeface="Arial" panose="020B0604020202020204" pitchFamily="34" charset="0"/>
                <a:ea typeface="Times New Roman" panose="02020603050405020304" pitchFamily="18" charset="0"/>
                <a:cs typeface="Arial" panose="020B0604020202020204" pitchFamily="34" charset="0"/>
              </a:rPr>
              <a:t>phẳng</a:t>
            </a:r>
            <a:r>
              <a:rPr lang="en-US" sz="1400" dirty="0">
                <a:effectLst/>
                <a:latin typeface="Arial" panose="020B0604020202020204" pitchFamily="34" charset="0"/>
                <a:ea typeface="Times New Roman" panose="02020603050405020304" pitchFamily="18" charset="0"/>
                <a:cs typeface="Arial" panose="020B0604020202020204" pitchFamily="34" charset="0"/>
              </a:rPr>
              <a:t> </a:t>
            </a:r>
            <a:r>
              <a:rPr lang="en-US" sz="1400" i="1" dirty="0">
                <a:effectLst/>
                <a:latin typeface="Arial" panose="020B0604020202020204" pitchFamily="34" charset="0"/>
                <a:ea typeface="Times New Roman" panose="02020603050405020304" pitchFamily="18" charset="0"/>
                <a:cs typeface="Arial" panose="020B0604020202020204" pitchFamily="34" charset="0"/>
              </a:rPr>
              <a:t>F</a:t>
            </a:r>
            <a:r>
              <a:rPr lang="en-US" sz="1400" dirty="0">
                <a:effectLst/>
                <a:latin typeface="Arial" panose="020B0604020202020204" pitchFamily="34" charset="0"/>
                <a:ea typeface="Times New Roman" panose="02020603050405020304" pitchFamily="18" charset="0"/>
                <a:cs typeface="Arial" panose="020B0604020202020204" pitchFamily="34" charset="0"/>
              </a:rPr>
              <a:t>(</a:t>
            </a:r>
            <a:r>
              <a:rPr lang="en-US" sz="1400" i="1" dirty="0">
                <a:effectLst/>
                <a:latin typeface="Arial" panose="020B0604020202020204" pitchFamily="34" charset="0"/>
                <a:ea typeface="Times New Roman" panose="02020603050405020304" pitchFamily="18" charset="0"/>
                <a:cs typeface="Arial" panose="020B0604020202020204" pitchFamily="34" charset="0"/>
              </a:rPr>
              <a:t>s</a:t>
            </a:r>
            <a:r>
              <a:rPr lang="en-US" sz="1400" dirty="0">
                <a:effectLst/>
                <a:latin typeface="Arial" panose="020B0604020202020204" pitchFamily="34" charset="0"/>
                <a:ea typeface="Times New Roman" panose="02020603050405020304" pitchFamily="18" charset="0"/>
                <a:cs typeface="Arial" panose="020B0604020202020204" pitchFamily="34" charset="0"/>
              </a:rPr>
              <a:t>) </a:t>
            </a:r>
            <a:r>
              <a:rPr lang="en-US" sz="1400" dirty="0" err="1">
                <a:effectLst/>
                <a:latin typeface="Arial" panose="020B0604020202020204" pitchFamily="34" charset="0"/>
                <a:ea typeface="Times New Roman" panose="02020603050405020304" pitchFamily="18" charset="0"/>
                <a:cs typeface="Arial" panose="020B0604020202020204" pitchFamily="34" charset="0"/>
              </a:rPr>
              <a:t>một</a:t>
            </a:r>
            <a:r>
              <a:rPr lang="en-US" sz="1400" dirty="0">
                <a:effectLst/>
                <a:latin typeface="Arial" panose="020B0604020202020204" pitchFamily="34" charset="0"/>
                <a:ea typeface="Times New Roman" panose="02020603050405020304" pitchFamily="18" charset="0"/>
                <a:cs typeface="Arial" panose="020B0604020202020204" pitchFamily="34" charset="0"/>
              </a:rPr>
              <a:t> </a:t>
            </a:r>
            <a:r>
              <a:rPr lang="en-US" sz="1400" dirty="0" err="1">
                <a:effectLst/>
                <a:latin typeface="Arial" panose="020B0604020202020204" pitchFamily="34" charset="0"/>
                <a:ea typeface="Times New Roman" panose="02020603050405020304" pitchFamily="18" charset="0"/>
                <a:cs typeface="Arial" panose="020B0604020202020204" pitchFamily="34" charset="0"/>
              </a:rPr>
              <a:t>vòng</a:t>
            </a:r>
            <a:r>
              <a:rPr lang="en-US" sz="1400" dirty="0">
                <a:effectLst/>
                <a:latin typeface="Arial" panose="020B0604020202020204" pitchFamily="34" charset="0"/>
                <a:ea typeface="Times New Roman" panose="02020603050405020304" pitchFamily="18" charset="0"/>
                <a:cs typeface="Arial" panose="020B0604020202020204" pitchFamily="34" charset="0"/>
              </a:rPr>
              <a:t> </a:t>
            </a:r>
            <a:r>
              <a:rPr lang="en-US" sz="1400" dirty="0" err="1">
                <a:effectLst/>
                <a:latin typeface="Arial" panose="020B0604020202020204" pitchFamily="34" charset="0"/>
                <a:ea typeface="Times New Roman" panose="02020603050405020304" pitchFamily="18" charset="0"/>
                <a:cs typeface="Arial" panose="020B0604020202020204" pitchFamily="34" charset="0"/>
              </a:rPr>
              <a:t>và</a:t>
            </a:r>
            <a:r>
              <a:rPr lang="en-US" sz="1400" dirty="0">
                <a:effectLst/>
                <a:latin typeface="Arial" panose="020B0604020202020204" pitchFamily="34" charset="0"/>
                <a:ea typeface="Times New Roman" panose="02020603050405020304" pitchFamily="18" charset="0"/>
                <a:cs typeface="Arial" panose="020B0604020202020204" pitchFamily="34" charset="0"/>
              </a:rPr>
              <a:t> </a:t>
            </a:r>
            <a:r>
              <a:rPr lang="en-US" sz="1400" dirty="0" err="1">
                <a:effectLst/>
                <a:latin typeface="Arial" panose="020B0604020202020204" pitchFamily="34" charset="0"/>
                <a:ea typeface="Times New Roman" panose="02020603050405020304" pitchFamily="18" charset="0"/>
                <a:cs typeface="Arial" panose="020B0604020202020204" pitchFamily="34" charset="0"/>
              </a:rPr>
              <a:t>chiều</a:t>
            </a:r>
            <a:r>
              <a:rPr lang="en-US" sz="1400" dirty="0">
                <a:effectLst/>
                <a:latin typeface="Arial" panose="020B0604020202020204" pitchFamily="34" charset="0"/>
                <a:ea typeface="Times New Roman" panose="02020603050405020304" pitchFamily="18" charset="0"/>
                <a:cs typeface="Arial" panose="020B0604020202020204" pitchFamily="34" charset="0"/>
              </a:rPr>
              <a:t> </a:t>
            </a:r>
            <a:r>
              <a:rPr lang="en-US" sz="1400" dirty="0" err="1">
                <a:effectLst/>
                <a:latin typeface="Arial" panose="020B0604020202020204" pitchFamily="34" charset="0"/>
                <a:ea typeface="Times New Roman" panose="02020603050405020304" pitchFamily="18" charset="0"/>
                <a:cs typeface="Arial" panose="020B0604020202020204" pitchFamily="34" charset="0"/>
              </a:rPr>
              <a:t>của</a:t>
            </a:r>
            <a:r>
              <a:rPr lang="en-US" sz="1400" dirty="0">
                <a:effectLst/>
                <a:latin typeface="Arial" panose="020B0604020202020204" pitchFamily="34" charset="0"/>
                <a:ea typeface="Times New Roman" panose="02020603050405020304" pitchFamily="18" charset="0"/>
                <a:cs typeface="Arial" panose="020B0604020202020204" pitchFamily="34" charset="0"/>
              </a:rPr>
              <a:t> </a:t>
            </a:r>
            <a:r>
              <a:rPr lang="en-US" sz="1400" dirty="0">
                <a:effectLst/>
                <a:latin typeface="Arial" panose="020B0604020202020204" pitchFamily="34" charset="0"/>
                <a:ea typeface="Times New Roman" panose="02020603050405020304" pitchFamily="18" charset="0"/>
                <a:cs typeface="Arial" panose="020B0604020202020204" pitchFamily="34" charset="0"/>
                <a:sym typeface="Symbol" pitchFamily="2" charset="2"/>
              </a:rPr>
              <a:t></a:t>
            </a:r>
            <a:r>
              <a:rPr lang="en-US" sz="1400" i="1" baseline="-25000" dirty="0">
                <a:effectLst/>
                <a:latin typeface="Arial" panose="020B0604020202020204" pitchFamily="34" charset="0"/>
                <a:ea typeface="Times New Roman" panose="02020603050405020304" pitchFamily="18" charset="0"/>
                <a:cs typeface="Arial" panose="020B0604020202020204" pitchFamily="34" charset="0"/>
              </a:rPr>
              <a:t>F</a:t>
            </a:r>
            <a:r>
              <a:rPr lang="en-US" sz="1400" dirty="0">
                <a:effectLst/>
                <a:latin typeface="Arial" panose="020B0604020202020204" pitchFamily="34" charset="0"/>
                <a:ea typeface="Times New Roman" panose="02020603050405020304" pitchFamily="18" charset="0"/>
                <a:cs typeface="Arial" panose="020B0604020202020204" pitchFamily="34" charset="0"/>
              </a:rPr>
              <a:t> </a:t>
            </a:r>
            <a:r>
              <a:rPr lang="en-US" sz="1400" dirty="0" err="1">
                <a:effectLst/>
                <a:latin typeface="Arial" panose="020B0604020202020204" pitchFamily="34" charset="0"/>
                <a:ea typeface="Times New Roman" panose="02020603050405020304" pitchFamily="18" charset="0"/>
                <a:cs typeface="Arial" panose="020B0604020202020204" pitchFamily="34" charset="0"/>
              </a:rPr>
              <a:t>là</a:t>
            </a:r>
            <a:r>
              <a:rPr lang="en-US" sz="1400" dirty="0">
                <a:effectLst/>
                <a:latin typeface="Arial" panose="020B0604020202020204" pitchFamily="34" charset="0"/>
                <a:ea typeface="Times New Roman" panose="02020603050405020304" pitchFamily="18" charset="0"/>
                <a:cs typeface="Arial" panose="020B0604020202020204" pitchFamily="34" charset="0"/>
              </a:rPr>
              <a:t> </a:t>
            </a:r>
            <a:r>
              <a:rPr lang="en-US" sz="1400" dirty="0" err="1">
                <a:effectLst/>
                <a:latin typeface="Arial" panose="020B0604020202020204" pitchFamily="34" charset="0"/>
                <a:ea typeface="Times New Roman" panose="02020603050405020304" pitchFamily="18" charset="0"/>
                <a:cs typeface="Arial" panose="020B0604020202020204" pitchFamily="34" charset="0"/>
              </a:rPr>
              <a:t>chiều</a:t>
            </a:r>
            <a:r>
              <a:rPr lang="en-US" sz="1400" dirty="0">
                <a:effectLst/>
                <a:latin typeface="Arial" panose="020B0604020202020204" pitchFamily="34" charset="0"/>
                <a:ea typeface="Times New Roman" panose="02020603050405020304" pitchFamily="18" charset="0"/>
                <a:cs typeface="Arial" panose="020B0604020202020204" pitchFamily="34" charset="0"/>
              </a:rPr>
              <a:t> </a:t>
            </a:r>
            <a:r>
              <a:rPr lang="en-US" sz="1400" dirty="0" err="1">
                <a:effectLst/>
                <a:latin typeface="Arial" panose="020B0604020202020204" pitchFamily="34" charset="0"/>
                <a:ea typeface="Times New Roman" panose="02020603050405020304" pitchFamily="18" charset="0"/>
                <a:cs typeface="Arial" panose="020B0604020202020204" pitchFamily="34" charset="0"/>
              </a:rPr>
              <a:t>âm</a:t>
            </a:r>
            <a:r>
              <a:rPr lang="en-US" sz="1400" dirty="0">
                <a:effectLst/>
                <a:latin typeface="Arial" panose="020B0604020202020204" pitchFamily="34" charset="0"/>
                <a:ea typeface="Times New Roman" panose="02020603050405020304" pitchFamily="18" charset="0"/>
                <a:cs typeface="Arial" panose="020B0604020202020204" pitchFamily="34" charset="0"/>
              </a:rPr>
              <a:t>.</a:t>
            </a:r>
            <a:endParaRPr lang="en-VN" sz="1200" dirty="0">
              <a:effectLst/>
              <a:latin typeface="Arial" panose="020B0604020202020204" pitchFamily="34" charset="0"/>
              <a:ea typeface="Times New Roman" panose="02020603050405020304" pitchFamily="18" charset="0"/>
              <a:cs typeface="Arial" panose="020B0604020202020204" pitchFamily="34" charset="0"/>
            </a:endParaRPr>
          </a:p>
        </p:txBody>
      </p:sp>
    </p:spTree>
    <p:extLst>
      <p:ext uri="{BB962C8B-B14F-4D97-AF65-F5344CB8AC3E}">
        <p14:creationId xmlns:p14="http://schemas.microsoft.com/office/powerpoint/2010/main" val="143032288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D945F89-0A49-F0A0-D102-3BE2FA0DF5B7}"/>
              </a:ext>
            </a:extLst>
          </p:cNvPr>
          <p:cNvSpPr>
            <a:spLocks noGrp="1"/>
          </p:cNvSpPr>
          <p:nvPr>
            <p:ph type="title"/>
          </p:nvPr>
        </p:nvSpPr>
        <p:spPr/>
        <p:txBody>
          <a:bodyPr/>
          <a:lstStyle/>
          <a:p>
            <a:r>
              <a:rPr lang="en-VN" dirty="0"/>
              <a:t>ÁNH XẠ CỦA CHU TUYẾN TRONG MẶT PHẲNG S</a:t>
            </a:r>
          </a:p>
        </p:txBody>
      </p:sp>
      <mc:AlternateContent xmlns:mc="http://schemas.openxmlformats.org/markup-compatibility/2006">
        <mc:Choice xmlns:a14="http://schemas.microsoft.com/office/drawing/2010/main" Requires="a14">
          <p:sp>
            <p:nvSpPr>
              <p:cNvPr id="3" name="Content Placeholder 2">
                <a:extLst>
                  <a:ext uri="{FF2B5EF4-FFF2-40B4-BE49-F238E27FC236}">
                    <a16:creationId xmlns:a16="http://schemas.microsoft.com/office/drawing/2014/main" id="{B1E524C1-2C27-0930-F672-EB47C0CF7F75}"/>
                  </a:ext>
                </a:extLst>
              </p:cNvPr>
              <p:cNvSpPr>
                <a:spLocks noGrp="1"/>
              </p:cNvSpPr>
              <p:nvPr>
                <p:ph idx="1"/>
              </p:nvPr>
            </p:nvSpPr>
            <p:spPr/>
            <p:txBody>
              <a:bodyPr>
                <a:normAutofit/>
              </a:bodyPr>
              <a:lstStyle/>
              <a:p>
                <a:pPr marL="342900" indent="-342900">
                  <a:buAutoNum type="arabicParenBoth"/>
                </a:pPr>
                <a:r>
                  <a:rPr lang="en-VN" sz="1800" dirty="0"/>
                  <a:t>Mối quan hệ giữa điểm cực của </a:t>
                </a:r>
                <a14:m>
                  <m:oMath xmlns:m="http://schemas.openxmlformats.org/officeDocument/2006/math">
                    <m:r>
                      <a:rPr lang="en-US" sz="1800" b="0" i="1" smtClean="0">
                        <a:solidFill>
                          <a:srgbClr val="C00000"/>
                        </a:solidFill>
                        <a:latin typeface="Cambria Math" panose="02040503050406030204" pitchFamily="18" charset="0"/>
                      </a:rPr>
                      <m:t>1+</m:t>
                    </m:r>
                    <m:r>
                      <a:rPr lang="en-US" sz="1800" b="0" i="1" smtClean="0">
                        <a:solidFill>
                          <a:srgbClr val="C00000"/>
                        </a:solidFill>
                        <a:latin typeface="Cambria Math" panose="02040503050406030204" pitchFamily="18" charset="0"/>
                      </a:rPr>
                      <m:t>𝐺</m:t>
                    </m:r>
                    <m:d>
                      <m:dPr>
                        <m:ctrlPr>
                          <a:rPr lang="en-US" sz="1800" b="0" i="1" smtClean="0">
                            <a:solidFill>
                              <a:srgbClr val="C00000"/>
                            </a:solidFill>
                            <a:latin typeface="Cambria Math" panose="02040503050406030204" pitchFamily="18" charset="0"/>
                          </a:rPr>
                        </m:ctrlPr>
                      </m:dPr>
                      <m:e>
                        <m:r>
                          <a:rPr lang="en-US" sz="1800" b="0" i="1" smtClean="0">
                            <a:solidFill>
                              <a:srgbClr val="C00000"/>
                            </a:solidFill>
                            <a:latin typeface="Cambria Math" panose="02040503050406030204" pitchFamily="18" charset="0"/>
                          </a:rPr>
                          <m:t>𝑠</m:t>
                        </m:r>
                      </m:e>
                    </m:d>
                    <m:r>
                      <a:rPr lang="en-US" sz="1800" b="0" i="1" smtClean="0">
                        <a:solidFill>
                          <a:srgbClr val="C00000"/>
                        </a:solidFill>
                        <a:latin typeface="Cambria Math" panose="02040503050406030204" pitchFamily="18" charset="0"/>
                      </a:rPr>
                      <m:t>𝐻</m:t>
                    </m:r>
                    <m:r>
                      <a:rPr lang="en-US" sz="1800" b="0" i="1" smtClean="0">
                        <a:solidFill>
                          <a:srgbClr val="C00000"/>
                        </a:solidFill>
                        <a:latin typeface="Cambria Math" panose="02040503050406030204" pitchFamily="18" charset="0"/>
                      </a:rPr>
                      <m:t>(</m:t>
                    </m:r>
                    <m:r>
                      <a:rPr lang="en-US" sz="1800" b="0" i="1" smtClean="0">
                        <a:solidFill>
                          <a:srgbClr val="C00000"/>
                        </a:solidFill>
                        <a:latin typeface="Cambria Math" panose="02040503050406030204" pitchFamily="18" charset="0"/>
                      </a:rPr>
                      <m:t>𝑠</m:t>
                    </m:r>
                    <m:r>
                      <a:rPr lang="en-US" sz="1800" b="0" i="1" smtClean="0">
                        <a:solidFill>
                          <a:srgbClr val="C00000"/>
                        </a:solidFill>
                        <a:latin typeface="Cambria Math" panose="02040503050406030204" pitchFamily="18" charset="0"/>
                      </a:rPr>
                      <m:t>)</m:t>
                    </m:r>
                  </m:oMath>
                </a14:m>
                <a:r>
                  <a:rPr lang="vi-VN" sz="1800" dirty="0">
                    <a:solidFill>
                      <a:srgbClr val="C00000"/>
                    </a:solidFill>
                  </a:rPr>
                  <a:t> </a:t>
                </a:r>
                <a:r>
                  <a:rPr lang="vi-VN" sz="1800" dirty="0"/>
                  <a:t>và điểm cực của </a:t>
                </a:r>
                <a14:m>
                  <m:oMath xmlns:m="http://schemas.openxmlformats.org/officeDocument/2006/math">
                    <m:r>
                      <a:rPr lang="en-US" sz="1800" b="0" i="1" smtClean="0">
                        <a:solidFill>
                          <a:srgbClr val="C00000"/>
                        </a:solidFill>
                        <a:latin typeface="Cambria Math" panose="02040503050406030204" pitchFamily="18" charset="0"/>
                      </a:rPr>
                      <m:t>𝐺</m:t>
                    </m:r>
                    <m:d>
                      <m:dPr>
                        <m:ctrlPr>
                          <a:rPr lang="en-US" sz="1800" b="0" i="1" smtClean="0">
                            <a:solidFill>
                              <a:srgbClr val="C00000"/>
                            </a:solidFill>
                            <a:latin typeface="Cambria Math" panose="02040503050406030204" pitchFamily="18" charset="0"/>
                          </a:rPr>
                        </m:ctrlPr>
                      </m:dPr>
                      <m:e>
                        <m:r>
                          <a:rPr lang="en-US" sz="1800" b="0" i="1" smtClean="0">
                            <a:solidFill>
                              <a:srgbClr val="C00000"/>
                            </a:solidFill>
                            <a:latin typeface="Cambria Math" panose="02040503050406030204" pitchFamily="18" charset="0"/>
                          </a:rPr>
                          <m:t>𝑠</m:t>
                        </m:r>
                      </m:e>
                    </m:d>
                    <m:r>
                      <a:rPr lang="en-US" sz="1800" b="0" i="1" smtClean="0">
                        <a:solidFill>
                          <a:srgbClr val="C00000"/>
                        </a:solidFill>
                        <a:latin typeface="Cambria Math" panose="02040503050406030204" pitchFamily="18" charset="0"/>
                      </a:rPr>
                      <m:t>𝐻</m:t>
                    </m:r>
                    <m:r>
                      <a:rPr lang="en-US" sz="1800" b="0" i="1" smtClean="0">
                        <a:solidFill>
                          <a:srgbClr val="C00000"/>
                        </a:solidFill>
                        <a:latin typeface="Cambria Math" panose="02040503050406030204" pitchFamily="18" charset="0"/>
                      </a:rPr>
                      <m:t>(</m:t>
                    </m:r>
                    <m:r>
                      <a:rPr lang="en-US" sz="1800" b="0" i="1" smtClean="0">
                        <a:solidFill>
                          <a:srgbClr val="C00000"/>
                        </a:solidFill>
                        <a:latin typeface="Cambria Math" panose="02040503050406030204" pitchFamily="18" charset="0"/>
                      </a:rPr>
                      <m:t>𝑠</m:t>
                    </m:r>
                    <m:r>
                      <a:rPr lang="en-US" sz="1800" b="0" i="1" smtClean="0">
                        <a:solidFill>
                          <a:srgbClr val="C00000"/>
                        </a:solidFill>
                        <a:latin typeface="Cambria Math" panose="02040503050406030204" pitchFamily="18" charset="0"/>
                      </a:rPr>
                      <m:t>)</m:t>
                    </m:r>
                  </m:oMath>
                </a14:m>
                <a:r>
                  <a:rPr lang="vi-VN" sz="1800" dirty="0"/>
                  <a:t>; </a:t>
                </a:r>
              </a:p>
              <a:p>
                <a:pPr marL="342900" indent="-342900">
                  <a:buAutoNum type="arabicParenBoth"/>
                </a:pPr>
                <a:r>
                  <a:rPr lang="vi-VN" sz="1800" dirty="0"/>
                  <a:t>Mối quan hệ giữa điểm zero của </a:t>
                </a:r>
                <a14:m>
                  <m:oMath xmlns:m="http://schemas.openxmlformats.org/officeDocument/2006/math">
                    <m:r>
                      <a:rPr lang="en-US" sz="1800" b="0" i="1" smtClean="0">
                        <a:solidFill>
                          <a:srgbClr val="C00000"/>
                        </a:solidFill>
                        <a:latin typeface="Cambria Math" panose="02040503050406030204" pitchFamily="18" charset="0"/>
                      </a:rPr>
                      <m:t>1+</m:t>
                    </m:r>
                    <m:r>
                      <a:rPr lang="en-US" sz="1800" b="0" i="1" smtClean="0">
                        <a:solidFill>
                          <a:srgbClr val="C00000"/>
                        </a:solidFill>
                        <a:latin typeface="Cambria Math" panose="02040503050406030204" pitchFamily="18" charset="0"/>
                      </a:rPr>
                      <m:t>𝐺</m:t>
                    </m:r>
                    <m:d>
                      <m:dPr>
                        <m:ctrlPr>
                          <a:rPr lang="en-US" sz="1800" b="0" i="1" smtClean="0">
                            <a:solidFill>
                              <a:srgbClr val="C00000"/>
                            </a:solidFill>
                            <a:latin typeface="Cambria Math" panose="02040503050406030204" pitchFamily="18" charset="0"/>
                          </a:rPr>
                        </m:ctrlPr>
                      </m:dPr>
                      <m:e>
                        <m:r>
                          <a:rPr lang="en-US" sz="1800" b="0" i="1" smtClean="0">
                            <a:solidFill>
                              <a:srgbClr val="C00000"/>
                            </a:solidFill>
                            <a:latin typeface="Cambria Math" panose="02040503050406030204" pitchFamily="18" charset="0"/>
                          </a:rPr>
                          <m:t>𝑠</m:t>
                        </m:r>
                      </m:e>
                    </m:d>
                    <m:r>
                      <a:rPr lang="en-US" sz="1800" b="0" i="1" smtClean="0">
                        <a:solidFill>
                          <a:srgbClr val="C00000"/>
                        </a:solidFill>
                        <a:latin typeface="Cambria Math" panose="02040503050406030204" pitchFamily="18" charset="0"/>
                      </a:rPr>
                      <m:t>𝐻</m:t>
                    </m:r>
                    <m:r>
                      <a:rPr lang="en-US" sz="1800" b="0" i="1" smtClean="0">
                        <a:solidFill>
                          <a:srgbClr val="C00000"/>
                        </a:solidFill>
                        <a:latin typeface="Cambria Math" panose="02040503050406030204" pitchFamily="18" charset="0"/>
                      </a:rPr>
                      <m:t>(</m:t>
                    </m:r>
                    <m:r>
                      <a:rPr lang="en-US" sz="1800" b="0" i="1" smtClean="0">
                        <a:solidFill>
                          <a:srgbClr val="C00000"/>
                        </a:solidFill>
                        <a:latin typeface="Cambria Math" panose="02040503050406030204" pitchFamily="18" charset="0"/>
                      </a:rPr>
                      <m:t>𝑠</m:t>
                    </m:r>
                    <m:r>
                      <a:rPr lang="en-US" sz="1800" b="0" i="1" smtClean="0">
                        <a:solidFill>
                          <a:srgbClr val="C00000"/>
                        </a:solidFill>
                        <a:latin typeface="Cambria Math" panose="02040503050406030204" pitchFamily="18" charset="0"/>
                      </a:rPr>
                      <m:t>)</m:t>
                    </m:r>
                  </m:oMath>
                </a14:m>
                <a:r>
                  <a:rPr lang="vi-VN" sz="1800" dirty="0">
                    <a:solidFill>
                      <a:srgbClr val="C00000"/>
                    </a:solidFill>
                  </a:rPr>
                  <a:t> </a:t>
                </a:r>
                <a:r>
                  <a:rPr lang="vi-VN" sz="1800" dirty="0"/>
                  <a:t>và điểm cực của hệ thống vòng kín </a:t>
                </a:r>
                <a14:m>
                  <m:oMath xmlns:m="http://schemas.openxmlformats.org/officeDocument/2006/math">
                    <m:r>
                      <a:rPr lang="en-US" sz="1800" b="0" i="1" smtClean="0">
                        <a:solidFill>
                          <a:srgbClr val="C00000"/>
                        </a:solidFill>
                        <a:latin typeface="Cambria Math" panose="02040503050406030204" pitchFamily="18" charset="0"/>
                      </a:rPr>
                      <m:t>𝑇</m:t>
                    </m:r>
                    <m:r>
                      <a:rPr lang="en-US" sz="1800" b="0" i="1" smtClean="0">
                        <a:solidFill>
                          <a:srgbClr val="C00000"/>
                        </a:solidFill>
                        <a:latin typeface="Cambria Math" panose="02040503050406030204" pitchFamily="18" charset="0"/>
                      </a:rPr>
                      <m:t>(</m:t>
                    </m:r>
                    <m:r>
                      <a:rPr lang="en-US" sz="1800" b="0" i="1" smtClean="0">
                        <a:solidFill>
                          <a:srgbClr val="C00000"/>
                        </a:solidFill>
                        <a:latin typeface="Cambria Math" panose="02040503050406030204" pitchFamily="18" charset="0"/>
                      </a:rPr>
                      <m:t>𝑠</m:t>
                    </m:r>
                    <m:r>
                      <a:rPr lang="en-US" sz="1800" b="0" i="1" smtClean="0">
                        <a:solidFill>
                          <a:srgbClr val="C00000"/>
                        </a:solidFill>
                        <a:latin typeface="Cambria Math" panose="02040503050406030204" pitchFamily="18" charset="0"/>
                      </a:rPr>
                      <m:t>)</m:t>
                    </m:r>
                  </m:oMath>
                </a14:m>
                <a:r>
                  <a:rPr lang="vi-VN" sz="1800" dirty="0"/>
                  <a:t>.</a:t>
                </a:r>
              </a:p>
              <a:p>
                <a:pPr marL="0" indent="0">
                  <a:buNone/>
                </a:pPr>
                <a:endParaRPr lang="en-VN" sz="1800" dirty="0"/>
              </a:p>
            </p:txBody>
          </p:sp>
        </mc:Choice>
        <mc:Fallback>
          <p:sp>
            <p:nvSpPr>
              <p:cNvPr id="3" name="Content Placeholder 2">
                <a:extLst>
                  <a:ext uri="{FF2B5EF4-FFF2-40B4-BE49-F238E27FC236}">
                    <a16:creationId xmlns:a16="http://schemas.microsoft.com/office/drawing/2014/main" id="{B1E524C1-2C27-0930-F672-EB47C0CF7F75}"/>
                  </a:ext>
                </a:extLst>
              </p:cNvPr>
              <p:cNvSpPr>
                <a:spLocks noGrp="1" noRot="1" noChangeAspect="1" noMove="1" noResize="1" noEditPoints="1" noAdjustHandles="1" noChangeArrowheads="1" noChangeShapeType="1" noTextEdit="1"/>
              </p:cNvSpPr>
              <p:nvPr>
                <p:ph idx="1"/>
              </p:nvPr>
            </p:nvSpPr>
            <p:spPr>
              <a:blipFill>
                <a:blip r:embed="rId2"/>
                <a:stretch>
                  <a:fillRect l="-396" t="-285"/>
                </a:stretch>
              </a:blipFill>
            </p:spPr>
            <p:txBody>
              <a:bodyPr/>
              <a:lstStyle/>
              <a:p>
                <a:r>
                  <a:rPr lang="en-VN">
                    <a:noFill/>
                  </a:rPr>
                  <a:t> </a:t>
                </a:r>
              </a:p>
            </p:txBody>
          </p:sp>
        </mc:Fallback>
      </mc:AlternateContent>
      <p:pic>
        <p:nvPicPr>
          <p:cNvPr id="5" name="Picture 4">
            <a:extLst>
              <a:ext uri="{FF2B5EF4-FFF2-40B4-BE49-F238E27FC236}">
                <a16:creationId xmlns:a16="http://schemas.microsoft.com/office/drawing/2014/main" id="{7167F916-3405-4922-E966-DE25F31B64F3}"/>
              </a:ext>
            </a:extLst>
          </p:cNvPr>
          <p:cNvPicPr>
            <a:picLocks noChangeAspect="1"/>
          </p:cNvPicPr>
          <p:nvPr/>
        </p:nvPicPr>
        <p:blipFill>
          <a:blip r:embed="rId3"/>
          <a:stretch>
            <a:fillRect/>
          </a:stretch>
        </p:blipFill>
        <p:spPr>
          <a:xfrm>
            <a:off x="297180" y="2584026"/>
            <a:ext cx="3120390" cy="2135733"/>
          </a:xfrm>
          <a:prstGeom prst="rect">
            <a:avLst/>
          </a:prstGeom>
        </p:spPr>
      </p:pic>
      <mc:AlternateContent xmlns:mc="http://schemas.openxmlformats.org/markup-compatibility/2006">
        <mc:Choice xmlns:a14="http://schemas.microsoft.com/office/drawing/2010/main" Requires="a14">
          <p:sp>
            <p:nvSpPr>
              <p:cNvPr id="6" name="TextBox 5">
                <a:extLst>
                  <a:ext uri="{FF2B5EF4-FFF2-40B4-BE49-F238E27FC236}">
                    <a16:creationId xmlns:a16="http://schemas.microsoft.com/office/drawing/2014/main" id="{5EED2A31-7B42-1B56-B94F-4183C32CC09E}"/>
                  </a:ext>
                </a:extLst>
              </p:cNvPr>
              <p:cNvSpPr txBox="1"/>
              <p:nvPr/>
            </p:nvSpPr>
            <p:spPr>
              <a:xfrm>
                <a:off x="4076731" y="2160270"/>
                <a:ext cx="6663690" cy="3768852"/>
              </a:xfrm>
              <a:prstGeom prst="rect">
                <a:avLst/>
              </a:prstGeom>
              <a:noFill/>
            </p:spPr>
            <p:txBody>
              <a:bodyPr wrap="square" rtlCol="0">
                <a:spAutoFit/>
              </a:bodyPr>
              <a:lstStyle/>
              <a:p>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𝐺</m:t>
                      </m:r>
                      <m:d>
                        <m:dPr>
                          <m:ctrlPr>
                            <a:rPr lang="en-US" b="0" i="1" smtClean="0">
                              <a:latin typeface="Cambria Math" panose="02040503050406030204" pitchFamily="18" charset="0"/>
                            </a:rPr>
                          </m:ctrlPr>
                        </m:dPr>
                        <m:e>
                          <m:r>
                            <a:rPr lang="en-US" b="0" i="1" smtClean="0">
                              <a:latin typeface="Cambria Math" panose="02040503050406030204" pitchFamily="18" charset="0"/>
                            </a:rPr>
                            <m:t>𝑠</m:t>
                          </m:r>
                        </m:e>
                      </m:d>
                      <m:r>
                        <a:rPr lang="en-US" b="0" i="1" smtClean="0">
                          <a:latin typeface="Cambria Math" panose="02040503050406030204" pitchFamily="18" charset="0"/>
                        </a:rPr>
                        <m:t>=</m:t>
                      </m:r>
                      <m:f>
                        <m:fPr>
                          <m:ctrlPr>
                            <a:rPr lang="en-US" b="0" i="1" smtClean="0">
                              <a:latin typeface="Cambria Math" panose="02040503050406030204" pitchFamily="18" charset="0"/>
                            </a:rPr>
                          </m:ctrlPr>
                        </m:fPr>
                        <m:num>
                          <m:sSub>
                            <m:sSubPr>
                              <m:ctrlPr>
                                <a:rPr lang="en-US" b="0" i="1" smtClean="0">
                                  <a:latin typeface="Cambria Math" panose="02040503050406030204" pitchFamily="18" charset="0"/>
                                </a:rPr>
                              </m:ctrlPr>
                            </m:sSubPr>
                            <m:e>
                              <m:r>
                                <a:rPr lang="en-US" b="0" i="1" smtClean="0">
                                  <a:latin typeface="Cambria Math" panose="02040503050406030204" pitchFamily="18" charset="0"/>
                                </a:rPr>
                                <m:t>𝑁</m:t>
                              </m:r>
                            </m:e>
                            <m:sub>
                              <m:r>
                                <a:rPr lang="en-US" b="0" i="1" smtClean="0">
                                  <a:latin typeface="Cambria Math" panose="02040503050406030204" pitchFamily="18" charset="0"/>
                                </a:rPr>
                                <m:t>𝐺</m:t>
                              </m:r>
                            </m:sub>
                          </m:sSub>
                        </m:num>
                        <m:den>
                          <m:sSub>
                            <m:sSubPr>
                              <m:ctrlPr>
                                <a:rPr lang="en-US" b="0" i="1" smtClean="0">
                                  <a:latin typeface="Cambria Math" panose="02040503050406030204" pitchFamily="18" charset="0"/>
                                </a:rPr>
                              </m:ctrlPr>
                            </m:sSubPr>
                            <m:e>
                              <m:r>
                                <a:rPr lang="en-US" b="0" i="1" smtClean="0">
                                  <a:latin typeface="Cambria Math" panose="02040503050406030204" pitchFamily="18" charset="0"/>
                                </a:rPr>
                                <m:t>𝐷</m:t>
                              </m:r>
                            </m:e>
                            <m:sub>
                              <m:r>
                                <a:rPr lang="en-US" b="0" i="1" smtClean="0">
                                  <a:latin typeface="Cambria Math" panose="02040503050406030204" pitchFamily="18" charset="0"/>
                                </a:rPr>
                                <m:t>𝐺</m:t>
                              </m:r>
                            </m:sub>
                          </m:sSub>
                        </m:den>
                      </m:f>
                    </m:oMath>
                  </m:oMathPara>
                </a14:m>
                <a:endParaRPr lang="en-VN" dirty="0"/>
              </a:p>
              <a:p>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𝐻</m:t>
                      </m:r>
                      <m:d>
                        <m:dPr>
                          <m:ctrlPr>
                            <a:rPr lang="en-US" b="0" i="1" smtClean="0">
                              <a:latin typeface="Cambria Math" panose="02040503050406030204" pitchFamily="18" charset="0"/>
                            </a:rPr>
                          </m:ctrlPr>
                        </m:dPr>
                        <m:e>
                          <m:r>
                            <a:rPr lang="en-US" b="0" i="1" smtClean="0">
                              <a:latin typeface="Cambria Math" panose="02040503050406030204" pitchFamily="18" charset="0"/>
                            </a:rPr>
                            <m:t>𝑠</m:t>
                          </m:r>
                        </m:e>
                      </m:d>
                      <m:r>
                        <a:rPr lang="en-US" b="0" i="1" smtClean="0">
                          <a:latin typeface="Cambria Math" panose="02040503050406030204" pitchFamily="18" charset="0"/>
                        </a:rPr>
                        <m:t>=</m:t>
                      </m:r>
                      <m:f>
                        <m:fPr>
                          <m:ctrlPr>
                            <a:rPr lang="en-US" b="0" i="1" smtClean="0">
                              <a:latin typeface="Cambria Math" panose="02040503050406030204" pitchFamily="18" charset="0"/>
                            </a:rPr>
                          </m:ctrlPr>
                        </m:fPr>
                        <m:num>
                          <m:sSub>
                            <m:sSubPr>
                              <m:ctrlPr>
                                <a:rPr lang="en-US" b="0" i="1" smtClean="0">
                                  <a:latin typeface="Cambria Math" panose="02040503050406030204" pitchFamily="18" charset="0"/>
                                </a:rPr>
                              </m:ctrlPr>
                            </m:sSubPr>
                            <m:e>
                              <m:r>
                                <a:rPr lang="en-US" b="0" i="1" smtClean="0">
                                  <a:latin typeface="Cambria Math" panose="02040503050406030204" pitchFamily="18" charset="0"/>
                                </a:rPr>
                                <m:t>𝑁</m:t>
                              </m:r>
                            </m:e>
                            <m:sub>
                              <m:r>
                                <a:rPr lang="en-US" b="0" i="1" smtClean="0">
                                  <a:latin typeface="Cambria Math" panose="02040503050406030204" pitchFamily="18" charset="0"/>
                                </a:rPr>
                                <m:t>𝐻</m:t>
                              </m:r>
                            </m:sub>
                          </m:sSub>
                        </m:num>
                        <m:den>
                          <m:sSub>
                            <m:sSubPr>
                              <m:ctrlPr>
                                <a:rPr lang="en-US" b="0" i="1" smtClean="0">
                                  <a:latin typeface="Cambria Math" panose="02040503050406030204" pitchFamily="18" charset="0"/>
                                </a:rPr>
                              </m:ctrlPr>
                            </m:sSubPr>
                            <m:e>
                              <m:r>
                                <a:rPr lang="en-US" b="0" i="1" smtClean="0">
                                  <a:latin typeface="Cambria Math" panose="02040503050406030204" pitchFamily="18" charset="0"/>
                                </a:rPr>
                                <m:t>𝐷</m:t>
                              </m:r>
                            </m:e>
                            <m:sub>
                              <m:r>
                                <a:rPr lang="en-US" b="0" i="1" smtClean="0">
                                  <a:latin typeface="Cambria Math" panose="02040503050406030204" pitchFamily="18" charset="0"/>
                                </a:rPr>
                                <m:t>𝐻</m:t>
                              </m:r>
                            </m:sub>
                          </m:sSub>
                        </m:den>
                      </m:f>
                    </m:oMath>
                  </m:oMathPara>
                </a14:m>
                <a:endParaRPr lang="en-VN" dirty="0"/>
              </a:p>
              <a:p>
                <a:endParaRPr lang="en-VN" dirty="0"/>
              </a:p>
              <a:p>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𝐺</m:t>
                      </m:r>
                      <m:d>
                        <m:dPr>
                          <m:ctrlPr>
                            <a:rPr lang="en-US" b="0" i="1" smtClean="0">
                              <a:latin typeface="Cambria Math" panose="02040503050406030204" pitchFamily="18" charset="0"/>
                            </a:rPr>
                          </m:ctrlPr>
                        </m:dPr>
                        <m:e>
                          <m:r>
                            <a:rPr lang="en-US" b="0" i="1" smtClean="0">
                              <a:latin typeface="Cambria Math" panose="02040503050406030204" pitchFamily="18" charset="0"/>
                            </a:rPr>
                            <m:t>𝑠</m:t>
                          </m:r>
                        </m:e>
                      </m:d>
                      <m:r>
                        <a:rPr lang="en-US" b="0" i="1" smtClean="0">
                          <a:latin typeface="Cambria Math" panose="02040503050406030204" pitchFamily="18" charset="0"/>
                        </a:rPr>
                        <m:t>𝐻</m:t>
                      </m:r>
                      <m:d>
                        <m:dPr>
                          <m:ctrlPr>
                            <a:rPr lang="en-US" b="0" i="1" smtClean="0">
                              <a:latin typeface="Cambria Math" panose="02040503050406030204" pitchFamily="18" charset="0"/>
                            </a:rPr>
                          </m:ctrlPr>
                        </m:dPr>
                        <m:e>
                          <m:r>
                            <a:rPr lang="en-US" b="0" i="1" smtClean="0">
                              <a:latin typeface="Cambria Math" panose="02040503050406030204" pitchFamily="18" charset="0"/>
                            </a:rPr>
                            <m:t>𝑠</m:t>
                          </m:r>
                        </m:e>
                      </m:d>
                      <m:r>
                        <a:rPr lang="en-US" b="0" i="1" smtClean="0">
                          <a:latin typeface="Cambria Math" panose="02040503050406030204" pitchFamily="18" charset="0"/>
                        </a:rPr>
                        <m:t>=</m:t>
                      </m:r>
                      <m:f>
                        <m:fPr>
                          <m:ctrlPr>
                            <a:rPr lang="en-US" b="0" i="1" smtClean="0">
                              <a:latin typeface="Cambria Math" panose="02040503050406030204" pitchFamily="18" charset="0"/>
                            </a:rPr>
                          </m:ctrlPr>
                        </m:fPr>
                        <m:num>
                          <m:sSub>
                            <m:sSubPr>
                              <m:ctrlPr>
                                <a:rPr lang="en-US" b="0" i="1" smtClean="0">
                                  <a:latin typeface="Cambria Math" panose="02040503050406030204" pitchFamily="18" charset="0"/>
                                </a:rPr>
                              </m:ctrlPr>
                            </m:sSubPr>
                            <m:e>
                              <m:r>
                                <a:rPr lang="en-US" b="0" i="1" smtClean="0">
                                  <a:latin typeface="Cambria Math" panose="02040503050406030204" pitchFamily="18" charset="0"/>
                                </a:rPr>
                                <m:t>𝑁</m:t>
                              </m:r>
                            </m:e>
                            <m:sub>
                              <m:r>
                                <a:rPr lang="en-US" b="0" i="1" smtClean="0">
                                  <a:latin typeface="Cambria Math" panose="02040503050406030204" pitchFamily="18" charset="0"/>
                                </a:rPr>
                                <m:t>𝐺</m:t>
                              </m:r>
                            </m:sub>
                          </m:sSub>
                          <m:sSub>
                            <m:sSubPr>
                              <m:ctrlPr>
                                <a:rPr lang="en-US" b="0" i="1" smtClean="0">
                                  <a:latin typeface="Cambria Math" panose="02040503050406030204" pitchFamily="18" charset="0"/>
                                </a:rPr>
                              </m:ctrlPr>
                            </m:sSubPr>
                            <m:e>
                              <m:r>
                                <a:rPr lang="en-US" b="0" i="1" smtClean="0">
                                  <a:latin typeface="Cambria Math" panose="02040503050406030204" pitchFamily="18" charset="0"/>
                                </a:rPr>
                                <m:t>𝑁</m:t>
                              </m:r>
                            </m:e>
                            <m:sub>
                              <m:r>
                                <a:rPr lang="en-US" b="0" i="1" smtClean="0">
                                  <a:latin typeface="Cambria Math" panose="02040503050406030204" pitchFamily="18" charset="0"/>
                                </a:rPr>
                                <m:t>𝐻</m:t>
                              </m:r>
                            </m:sub>
                          </m:sSub>
                        </m:num>
                        <m:den>
                          <m:sSub>
                            <m:sSubPr>
                              <m:ctrlPr>
                                <a:rPr lang="en-US" b="0" i="1" smtClean="0">
                                  <a:latin typeface="Cambria Math" panose="02040503050406030204" pitchFamily="18" charset="0"/>
                                </a:rPr>
                              </m:ctrlPr>
                            </m:sSubPr>
                            <m:e>
                              <m:r>
                                <a:rPr lang="en-US" b="0" i="1" smtClean="0">
                                  <a:latin typeface="Cambria Math" panose="02040503050406030204" pitchFamily="18" charset="0"/>
                                </a:rPr>
                                <m:t>𝐷</m:t>
                              </m:r>
                            </m:e>
                            <m:sub>
                              <m:r>
                                <a:rPr lang="en-US" b="0" i="1" smtClean="0">
                                  <a:latin typeface="Cambria Math" panose="02040503050406030204" pitchFamily="18" charset="0"/>
                                </a:rPr>
                                <m:t>𝐺</m:t>
                              </m:r>
                            </m:sub>
                          </m:sSub>
                          <m:sSub>
                            <m:sSubPr>
                              <m:ctrlPr>
                                <a:rPr lang="en-US" b="0" i="1" smtClean="0">
                                  <a:latin typeface="Cambria Math" panose="02040503050406030204" pitchFamily="18" charset="0"/>
                                </a:rPr>
                              </m:ctrlPr>
                            </m:sSubPr>
                            <m:e>
                              <m:r>
                                <a:rPr lang="en-US" b="0" i="1" smtClean="0">
                                  <a:latin typeface="Cambria Math" panose="02040503050406030204" pitchFamily="18" charset="0"/>
                                </a:rPr>
                                <m:t>𝐷</m:t>
                              </m:r>
                            </m:e>
                            <m:sub>
                              <m:r>
                                <a:rPr lang="en-US" b="0" i="1" smtClean="0">
                                  <a:latin typeface="Cambria Math" panose="02040503050406030204" pitchFamily="18" charset="0"/>
                                </a:rPr>
                                <m:t>𝐻</m:t>
                              </m:r>
                            </m:sub>
                          </m:sSub>
                        </m:den>
                      </m:f>
                    </m:oMath>
                  </m:oMathPara>
                </a14:m>
                <a:endParaRPr lang="en-US" b="0" dirty="0"/>
              </a:p>
              <a:p>
                <a:endParaRPr lang="en-US" b="0" dirty="0"/>
              </a:p>
              <a:p>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1+</m:t>
                      </m:r>
                      <m:r>
                        <a:rPr lang="en-US" b="0" i="1" smtClean="0">
                          <a:latin typeface="Cambria Math" panose="02040503050406030204" pitchFamily="18" charset="0"/>
                        </a:rPr>
                        <m:t>𝐺</m:t>
                      </m:r>
                      <m:d>
                        <m:dPr>
                          <m:ctrlPr>
                            <a:rPr lang="en-US" b="0" i="1" smtClean="0">
                              <a:latin typeface="Cambria Math" panose="02040503050406030204" pitchFamily="18" charset="0"/>
                            </a:rPr>
                          </m:ctrlPr>
                        </m:dPr>
                        <m:e>
                          <m:r>
                            <a:rPr lang="en-US" b="0" i="1" smtClean="0">
                              <a:latin typeface="Cambria Math" panose="02040503050406030204" pitchFamily="18" charset="0"/>
                            </a:rPr>
                            <m:t>𝑠</m:t>
                          </m:r>
                        </m:e>
                      </m:d>
                      <m:r>
                        <a:rPr lang="en-US" b="0" i="1" smtClean="0">
                          <a:latin typeface="Cambria Math" panose="02040503050406030204" pitchFamily="18" charset="0"/>
                        </a:rPr>
                        <m:t>𝐻</m:t>
                      </m:r>
                      <m:d>
                        <m:dPr>
                          <m:ctrlPr>
                            <a:rPr lang="en-US" b="0" i="1" smtClean="0">
                              <a:latin typeface="Cambria Math" panose="02040503050406030204" pitchFamily="18" charset="0"/>
                            </a:rPr>
                          </m:ctrlPr>
                        </m:dPr>
                        <m:e>
                          <m:r>
                            <a:rPr lang="en-US" b="0" i="1" smtClean="0">
                              <a:latin typeface="Cambria Math" panose="02040503050406030204" pitchFamily="18" charset="0"/>
                            </a:rPr>
                            <m:t>𝑠</m:t>
                          </m:r>
                        </m:e>
                      </m:d>
                      <m:r>
                        <a:rPr lang="en-US" b="0" i="1" smtClean="0">
                          <a:latin typeface="Cambria Math" panose="02040503050406030204" pitchFamily="18" charset="0"/>
                        </a:rPr>
                        <m:t>=1+</m:t>
                      </m:r>
                      <m:f>
                        <m:fPr>
                          <m:ctrlPr>
                            <a:rPr lang="en-US" i="1">
                              <a:latin typeface="Cambria Math" panose="02040503050406030204" pitchFamily="18" charset="0"/>
                            </a:rPr>
                          </m:ctrlPr>
                        </m:fPr>
                        <m:num>
                          <m:sSub>
                            <m:sSubPr>
                              <m:ctrlPr>
                                <a:rPr lang="en-US" i="1">
                                  <a:latin typeface="Cambria Math" panose="02040503050406030204" pitchFamily="18" charset="0"/>
                                </a:rPr>
                              </m:ctrlPr>
                            </m:sSubPr>
                            <m:e>
                              <m:r>
                                <a:rPr lang="en-US" i="1">
                                  <a:latin typeface="Cambria Math" panose="02040503050406030204" pitchFamily="18" charset="0"/>
                                </a:rPr>
                                <m:t>𝑁</m:t>
                              </m:r>
                            </m:e>
                            <m:sub>
                              <m:r>
                                <a:rPr lang="en-US" i="1">
                                  <a:latin typeface="Cambria Math" panose="02040503050406030204" pitchFamily="18" charset="0"/>
                                </a:rPr>
                                <m:t>𝐺</m:t>
                              </m:r>
                            </m:sub>
                          </m:sSub>
                          <m:sSub>
                            <m:sSubPr>
                              <m:ctrlPr>
                                <a:rPr lang="en-US" i="1">
                                  <a:latin typeface="Cambria Math" panose="02040503050406030204" pitchFamily="18" charset="0"/>
                                </a:rPr>
                              </m:ctrlPr>
                            </m:sSubPr>
                            <m:e>
                              <m:r>
                                <a:rPr lang="en-US" i="1">
                                  <a:latin typeface="Cambria Math" panose="02040503050406030204" pitchFamily="18" charset="0"/>
                                </a:rPr>
                                <m:t>𝑁</m:t>
                              </m:r>
                            </m:e>
                            <m:sub>
                              <m:r>
                                <a:rPr lang="en-US" i="1">
                                  <a:latin typeface="Cambria Math" panose="02040503050406030204" pitchFamily="18" charset="0"/>
                                </a:rPr>
                                <m:t>𝐻</m:t>
                              </m:r>
                            </m:sub>
                          </m:sSub>
                        </m:num>
                        <m:den>
                          <m:sSub>
                            <m:sSubPr>
                              <m:ctrlPr>
                                <a:rPr lang="en-US" i="1">
                                  <a:latin typeface="Cambria Math" panose="02040503050406030204" pitchFamily="18" charset="0"/>
                                </a:rPr>
                              </m:ctrlPr>
                            </m:sSubPr>
                            <m:e>
                              <m:r>
                                <a:rPr lang="en-US" i="1">
                                  <a:latin typeface="Cambria Math" panose="02040503050406030204" pitchFamily="18" charset="0"/>
                                </a:rPr>
                                <m:t>𝐷</m:t>
                              </m:r>
                            </m:e>
                            <m:sub>
                              <m:r>
                                <a:rPr lang="en-US" i="1">
                                  <a:latin typeface="Cambria Math" panose="02040503050406030204" pitchFamily="18" charset="0"/>
                                </a:rPr>
                                <m:t>𝐺</m:t>
                              </m:r>
                            </m:sub>
                          </m:sSub>
                          <m:sSub>
                            <m:sSubPr>
                              <m:ctrlPr>
                                <a:rPr lang="en-US" i="1">
                                  <a:latin typeface="Cambria Math" panose="02040503050406030204" pitchFamily="18" charset="0"/>
                                </a:rPr>
                              </m:ctrlPr>
                            </m:sSubPr>
                            <m:e>
                              <m:r>
                                <a:rPr lang="en-US" i="1">
                                  <a:latin typeface="Cambria Math" panose="02040503050406030204" pitchFamily="18" charset="0"/>
                                </a:rPr>
                                <m:t>𝐷</m:t>
                              </m:r>
                            </m:e>
                            <m:sub>
                              <m:r>
                                <a:rPr lang="en-US" i="1">
                                  <a:latin typeface="Cambria Math" panose="02040503050406030204" pitchFamily="18" charset="0"/>
                                </a:rPr>
                                <m:t>𝐻</m:t>
                              </m:r>
                            </m:sub>
                          </m:sSub>
                        </m:den>
                      </m:f>
                      <m:r>
                        <a:rPr lang="en-US" b="0" i="1" smtClean="0">
                          <a:latin typeface="Cambria Math" panose="02040503050406030204" pitchFamily="18" charset="0"/>
                        </a:rPr>
                        <m:t>=</m:t>
                      </m:r>
                      <m:f>
                        <m:fPr>
                          <m:ctrlPr>
                            <a:rPr lang="en-US" b="0" i="1" smtClean="0">
                              <a:latin typeface="Cambria Math" panose="02040503050406030204" pitchFamily="18" charset="0"/>
                            </a:rPr>
                          </m:ctrlPr>
                        </m:fPr>
                        <m:num>
                          <m:sSub>
                            <m:sSubPr>
                              <m:ctrlPr>
                                <a:rPr lang="en-US" i="1">
                                  <a:latin typeface="Cambria Math" panose="02040503050406030204" pitchFamily="18" charset="0"/>
                                </a:rPr>
                              </m:ctrlPr>
                            </m:sSubPr>
                            <m:e>
                              <m:r>
                                <a:rPr lang="en-US" i="1">
                                  <a:latin typeface="Cambria Math" panose="02040503050406030204" pitchFamily="18" charset="0"/>
                                </a:rPr>
                                <m:t>𝐷</m:t>
                              </m:r>
                            </m:e>
                            <m:sub>
                              <m:r>
                                <a:rPr lang="en-US" i="1">
                                  <a:latin typeface="Cambria Math" panose="02040503050406030204" pitchFamily="18" charset="0"/>
                                </a:rPr>
                                <m:t>𝐺</m:t>
                              </m:r>
                            </m:sub>
                          </m:sSub>
                          <m:sSub>
                            <m:sSubPr>
                              <m:ctrlPr>
                                <a:rPr lang="en-US" i="1">
                                  <a:latin typeface="Cambria Math" panose="02040503050406030204" pitchFamily="18" charset="0"/>
                                </a:rPr>
                              </m:ctrlPr>
                            </m:sSubPr>
                            <m:e>
                              <m:r>
                                <a:rPr lang="en-US" i="1">
                                  <a:latin typeface="Cambria Math" panose="02040503050406030204" pitchFamily="18" charset="0"/>
                                </a:rPr>
                                <m:t>𝐷</m:t>
                              </m:r>
                            </m:e>
                            <m:sub>
                              <m:r>
                                <a:rPr lang="en-US" i="1">
                                  <a:latin typeface="Cambria Math" panose="02040503050406030204" pitchFamily="18" charset="0"/>
                                </a:rPr>
                                <m:t>𝐻</m:t>
                              </m:r>
                            </m:sub>
                          </m:sSub>
                          <m:r>
                            <a:rPr lang="en-US" b="0" i="0" smtClean="0">
                              <a:latin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rPr>
                                <m:t>𝑁</m:t>
                              </m:r>
                            </m:e>
                            <m:sub>
                              <m:r>
                                <a:rPr lang="en-US" i="1">
                                  <a:latin typeface="Cambria Math" panose="02040503050406030204" pitchFamily="18" charset="0"/>
                                </a:rPr>
                                <m:t>𝐺</m:t>
                              </m:r>
                            </m:sub>
                          </m:sSub>
                          <m:sSub>
                            <m:sSubPr>
                              <m:ctrlPr>
                                <a:rPr lang="en-US" i="1">
                                  <a:latin typeface="Cambria Math" panose="02040503050406030204" pitchFamily="18" charset="0"/>
                                </a:rPr>
                              </m:ctrlPr>
                            </m:sSubPr>
                            <m:e>
                              <m:r>
                                <a:rPr lang="en-US" i="1">
                                  <a:latin typeface="Cambria Math" panose="02040503050406030204" pitchFamily="18" charset="0"/>
                                </a:rPr>
                                <m:t>𝑁</m:t>
                              </m:r>
                            </m:e>
                            <m:sub>
                              <m:r>
                                <a:rPr lang="en-US" i="1">
                                  <a:latin typeface="Cambria Math" panose="02040503050406030204" pitchFamily="18" charset="0"/>
                                </a:rPr>
                                <m:t>𝐻</m:t>
                              </m:r>
                            </m:sub>
                          </m:sSub>
                        </m:num>
                        <m:den>
                          <m:sSub>
                            <m:sSubPr>
                              <m:ctrlPr>
                                <a:rPr lang="en-US" i="1">
                                  <a:latin typeface="Cambria Math" panose="02040503050406030204" pitchFamily="18" charset="0"/>
                                </a:rPr>
                              </m:ctrlPr>
                            </m:sSubPr>
                            <m:e>
                              <m:r>
                                <a:rPr lang="en-US" i="1">
                                  <a:latin typeface="Cambria Math" panose="02040503050406030204" pitchFamily="18" charset="0"/>
                                </a:rPr>
                                <m:t>𝐷</m:t>
                              </m:r>
                            </m:e>
                            <m:sub>
                              <m:r>
                                <a:rPr lang="en-US" i="1">
                                  <a:latin typeface="Cambria Math" panose="02040503050406030204" pitchFamily="18" charset="0"/>
                                </a:rPr>
                                <m:t>𝐺</m:t>
                              </m:r>
                            </m:sub>
                          </m:sSub>
                          <m:sSub>
                            <m:sSubPr>
                              <m:ctrlPr>
                                <a:rPr lang="en-US" i="1">
                                  <a:latin typeface="Cambria Math" panose="02040503050406030204" pitchFamily="18" charset="0"/>
                                </a:rPr>
                              </m:ctrlPr>
                            </m:sSubPr>
                            <m:e>
                              <m:r>
                                <a:rPr lang="en-US" i="1">
                                  <a:latin typeface="Cambria Math" panose="02040503050406030204" pitchFamily="18" charset="0"/>
                                </a:rPr>
                                <m:t>𝐷</m:t>
                              </m:r>
                            </m:e>
                            <m:sub>
                              <m:r>
                                <a:rPr lang="en-US" i="1">
                                  <a:latin typeface="Cambria Math" panose="02040503050406030204" pitchFamily="18" charset="0"/>
                                </a:rPr>
                                <m:t>𝐻</m:t>
                              </m:r>
                            </m:sub>
                          </m:sSub>
                        </m:den>
                      </m:f>
                    </m:oMath>
                  </m:oMathPara>
                </a14:m>
                <a:endParaRPr lang="en-US" b="0" dirty="0"/>
              </a:p>
              <a:p>
                <a:endParaRPr lang="en-VN" dirty="0"/>
              </a:p>
              <a:p>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𝑇</m:t>
                      </m:r>
                      <m:d>
                        <m:dPr>
                          <m:ctrlPr>
                            <a:rPr lang="en-US" b="0" i="1" smtClean="0">
                              <a:latin typeface="Cambria Math" panose="02040503050406030204" pitchFamily="18" charset="0"/>
                            </a:rPr>
                          </m:ctrlPr>
                        </m:dPr>
                        <m:e>
                          <m:r>
                            <a:rPr lang="en-US" b="0" i="1" smtClean="0">
                              <a:latin typeface="Cambria Math" panose="02040503050406030204" pitchFamily="18" charset="0"/>
                            </a:rPr>
                            <m:t>𝑠</m:t>
                          </m:r>
                        </m:e>
                      </m:d>
                      <m:r>
                        <a:rPr lang="en-US" b="0" i="1" smtClean="0">
                          <a:latin typeface="Cambria Math" panose="02040503050406030204" pitchFamily="18" charset="0"/>
                        </a:rPr>
                        <m:t>=</m:t>
                      </m:r>
                      <m:f>
                        <m:fPr>
                          <m:ctrlPr>
                            <a:rPr lang="en-US" b="0" i="1" smtClean="0">
                              <a:latin typeface="Cambria Math" panose="02040503050406030204" pitchFamily="18" charset="0"/>
                            </a:rPr>
                          </m:ctrlPr>
                        </m:fPr>
                        <m:num>
                          <m:r>
                            <a:rPr lang="en-US" b="0" i="1" smtClean="0">
                              <a:latin typeface="Cambria Math" panose="02040503050406030204" pitchFamily="18" charset="0"/>
                            </a:rPr>
                            <m:t>𝐺</m:t>
                          </m:r>
                          <m:d>
                            <m:dPr>
                              <m:ctrlPr>
                                <a:rPr lang="en-US" b="0" i="1" smtClean="0">
                                  <a:latin typeface="Cambria Math" panose="02040503050406030204" pitchFamily="18" charset="0"/>
                                </a:rPr>
                              </m:ctrlPr>
                            </m:dPr>
                            <m:e>
                              <m:r>
                                <a:rPr lang="en-US" b="0" i="1" smtClean="0">
                                  <a:latin typeface="Cambria Math" panose="02040503050406030204" pitchFamily="18" charset="0"/>
                                </a:rPr>
                                <m:t>𝑠</m:t>
                              </m:r>
                            </m:e>
                          </m:d>
                        </m:num>
                        <m:den>
                          <m:r>
                            <a:rPr lang="en-US" b="0" i="1" smtClean="0">
                              <a:latin typeface="Cambria Math" panose="02040503050406030204" pitchFamily="18" charset="0"/>
                            </a:rPr>
                            <m:t>1+</m:t>
                          </m:r>
                          <m:r>
                            <a:rPr lang="en-US" b="0" i="1" smtClean="0">
                              <a:latin typeface="Cambria Math" panose="02040503050406030204" pitchFamily="18" charset="0"/>
                            </a:rPr>
                            <m:t>𝐺</m:t>
                          </m:r>
                          <m:d>
                            <m:dPr>
                              <m:ctrlPr>
                                <a:rPr lang="en-US" b="0" i="1" smtClean="0">
                                  <a:latin typeface="Cambria Math" panose="02040503050406030204" pitchFamily="18" charset="0"/>
                                </a:rPr>
                              </m:ctrlPr>
                            </m:dPr>
                            <m:e>
                              <m:r>
                                <a:rPr lang="en-US" b="0" i="1" smtClean="0">
                                  <a:latin typeface="Cambria Math" panose="02040503050406030204" pitchFamily="18" charset="0"/>
                                </a:rPr>
                                <m:t>𝑠</m:t>
                              </m:r>
                            </m:e>
                          </m:d>
                          <m:r>
                            <a:rPr lang="en-US" b="0" i="1" smtClean="0">
                              <a:latin typeface="Cambria Math" panose="02040503050406030204" pitchFamily="18" charset="0"/>
                            </a:rPr>
                            <m:t>𝐻</m:t>
                          </m:r>
                          <m:d>
                            <m:dPr>
                              <m:ctrlPr>
                                <a:rPr lang="en-US" b="0" i="1" smtClean="0">
                                  <a:latin typeface="Cambria Math" panose="02040503050406030204" pitchFamily="18" charset="0"/>
                                </a:rPr>
                              </m:ctrlPr>
                            </m:dPr>
                            <m:e>
                              <m:r>
                                <a:rPr lang="en-US" b="0" i="1" smtClean="0">
                                  <a:latin typeface="Cambria Math" panose="02040503050406030204" pitchFamily="18" charset="0"/>
                                </a:rPr>
                                <m:t>𝑠</m:t>
                              </m:r>
                            </m:e>
                          </m:d>
                        </m:den>
                      </m:f>
                      <m:r>
                        <a:rPr lang="en-US" b="0" i="1" smtClean="0">
                          <a:latin typeface="Cambria Math" panose="02040503050406030204" pitchFamily="18" charset="0"/>
                        </a:rPr>
                        <m:t>=</m:t>
                      </m:r>
                      <m:f>
                        <m:fPr>
                          <m:ctrlPr>
                            <a:rPr lang="en-US" b="0" i="1" smtClean="0">
                              <a:latin typeface="Cambria Math" panose="02040503050406030204" pitchFamily="18" charset="0"/>
                            </a:rPr>
                          </m:ctrlPr>
                        </m:fPr>
                        <m:num>
                          <m:sSub>
                            <m:sSubPr>
                              <m:ctrlPr>
                                <a:rPr lang="en-US" b="0" i="1" smtClean="0">
                                  <a:latin typeface="Cambria Math" panose="02040503050406030204" pitchFamily="18" charset="0"/>
                                </a:rPr>
                              </m:ctrlPr>
                            </m:sSubPr>
                            <m:e>
                              <m:r>
                                <a:rPr lang="en-US" b="0" i="1" smtClean="0">
                                  <a:latin typeface="Cambria Math" panose="02040503050406030204" pitchFamily="18" charset="0"/>
                                </a:rPr>
                                <m:t>𝑁</m:t>
                              </m:r>
                            </m:e>
                            <m:sub>
                              <m:r>
                                <a:rPr lang="en-US" b="0" i="1" smtClean="0">
                                  <a:latin typeface="Cambria Math" panose="02040503050406030204" pitchFamily="18" charset="0"/>
                                </a:rPr>
                                <m:t>𝐺</m:t>
                              </m:r>
                            </m:sub>
                          </m:sSub>
                          <m:sSub>
                            <m:sSubPr>
                              <m:ctrlPr>
                                <a:rPr lang="en-US" b="0" i="1" smtClean="0">
                                  <a:latin typeface="Cambria Math" panose="02040503050406030204" pitchFamily="18" charset="0"/>
                                </a:rPr>
                              </m:ctrlPr>
                            </m:sSubPr>
                            <m:e>
                              <m:r>
                                <a:rPr lang="en-US" b="0" i="1" smtClean="0">
                                  <a:latin typeface="Cambria Math" panose="02040503050406030204" pitchFamily="18" charset="0"/>
                                </a:rPr>
                                <m:t>𝐷</m:t>
                              </m:r>
                            </m:e>
                            <m:sub>
                              <m:r>
                                <a:rPr lang="en-US" b="0" i="1" smtClean="0">
                                  <a:latin typeface="Cambria Math" panose="02040503050406030204" pitchFamily="18" charset="0"/>
                                </a:rPr>
                                <m:t>𝐻</m:t>
                              </m:r>
                            </m:sub>
                          </m:sSub>
                        </m:num>
                        <m:den>
                          <m:sSub>
                            <m:sSubPr>
                              <m:ctrlPr>
                                <a:rPr lang="en-US" b="0" i="1" smtClean="0">
                                  <a:latin typeface="Cambria Math" panose="02040503050406030204" pitchFamily="18" charset="0"/>
                                </a:rPr>
                              </m:ctrlPr>
                            </m:sSubPr>
                            <m:e>
                              <m:r>
                                <a:rPr lang="en-US" b="0" i="1" smtClean="0">
                                  <a:latin typeface="Cambria Math" panose="02040503050406030204" pitchFamily="18" charset="0"/>
                                </a:rPr>
                                <m:t>𝐷</m:t>
                              </m:r>
                            </m:e>
                            <m:sub>
                              <m:r>
                                <a:rPr lang="en-US" b="0" i="1" smtClean="0">
                                  <a:latin typeface="Cambria Math" panose="02040503050406030204" pitchFamily="18" charset="0"/>
                                </a:rPr>
                                <m:t>𝐺</m:t>
                              </m:r>
                            </m:sub>
                          </m:sSub>
                          <m:sSub>
                            <m:sSubPr>
                              <m:ctrlPr>
                                <a:rPr lang="en-US" b="0" i="1" smtClean="0">
                                  <a:latin typeface="Cambria Math" panose="02040503050406030204" pitchFamily="18" charset="0"/>
                                </a:rPr>
                              </m:ctrlPr>
                            </m:sSubPr>
                            <m:e>
                              <m:r>
                                <a:rPr lang="en-US" b="0" i="1" smtClean="0">
                                  <a:latin typeface="Cambria Math" panose="02040503050406030204" pitchFamily="18" charset="0"/>
                                </a:rPr>
                                <m:t>𝐷</m:t>
                              </m:r>
                            </m:e>
                            <m:sub>
                              <m:r>
                                <a:rPr lang="en-US" b="0" i="1" smtClean="0">
                                  <a:latin typeface="Cambria Math" panose="02040503050406030204" pitchFamily="18" charset="0"/>
                                </a:rPr>
                                <m:t>𝐻</m:t>
                              </m:r>
                            </m:sub>
                          </m:sSub>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𝑁</m:t>
                              </m:r>
                            </m:e>
                            <m:sub>
                              <m:r>
                                <a:rPr lang="en-US" b="0" i="1" smtClean="0">
                                  <a:latin typeface="Cambria Math" panose="02040503050406030204" pitchFamily="18" charset="0"/>
                                </a:rPr>
                                <m:t>𝐺</m:t>
                              </m:r>
                            </m:sub>
                          </m:sSub>
                          <m:sSub>
                            <m:sSubPr>
                              <m:ctrlPr>
                                <a:rPr lang="en-US" b="0" i="1" smtClean="0">
                                  <a:latin typeface="Cambria Math" panose="02040503050406030204" pitchFamily="18" charset="0"/>
                                </a:rPr>
                              </m:ctrlPr>
                            </m:sSubPr>
                            <m:e>
                              <m:r>
                                <a:rPr lang="en-US" b="0" i="1" smtClean="0">
                                  <a:latin typeface="Cambria Math" panose="02040503050406030204" pitchFamily="18" charset="0"/>
                                </a:rPr>
                                <m:t>𝑁</m:t>
                              </m:r>
                            </m:e>
                            <m:sub>
                              <m:r>
                                <a:rPr lang="en-US" b="0" i="1" smtClean="0">
                                  <a:latin typeface="Cambria Math" panose="02040503050406030204" pitchFamily="18" charset="0"/>
                                </a:rPr>
                                <m:t>𝐻</m:t>
                              </m:r>
                            </m:sub>
                          </m:sSub>
                        </m:den>
                      </m:f>
                    </m:oMath>
                  </m:oMathPara>
                </a14:m>
                <a:endParaRPr lang="en-VN" dirty="0"/>
              </a:p>
            </p:txBody>
          </p:sp>
        </mc:Choice>
        <mc:Fallback>
          <p:sp>
            <p:nvSpPr>
              <p:cNvPr id="6" name="TextBox 5">
                <a:extLst>
                  <a:ext uri="{FF2B5EF4-FFF2-40B4-BE49-F238E27FC236}">
                    <a16:creationId xmlns:a16="http://schemas.microsoft.com/office/drawing/2014/main" id="{5EED2A31-7B42-1B56-B94F-4183C32CC09E}"/>
                  </a:ext>
                </a:extLst>
              </p:cNvPr>
              <p:cNvSpPr txBox="1">
                <a:spLocks noRot="1" noChangeAspect="1" noMove="1" noResize="1" noEditPoints="1" noAdjustHandles="1" noChangeArrowheads="1" noChangeShapeType="1" noTextEdit="1"/>
              </p:cNvSpPr>
              <p:nvPr/>
            </p:nvSpPr>
            <p:spPr>
              <a:xfrm>
                <a:off x="4076731" y="2160270"/>
                <a:ext cx="6663690" cy="3768852"/>
              </a:xfrm>
              <a:prstGeom prst="rect">
                <a:avLst/>
              </a:prstGeom>
              <a:blipFill>
                <a:blip r:embed="rId4"/>
                <a:stretch>
                  <a:fillRect/>
                </a:stretch>
              </a:blipFill>
            </p:spPr>
            <p:txBody>
              <a:bodyPr/>
              <a:lstStyle/>
              <a:p>
                <a:r>
                  <a:rPr lang="en-VN">
                    <a:noFill/>
                  </a:rPr>
                  <a:t> </a:t>
                </a:r>
              </a:p>
            </p:txBody>
          </p:sp>
        </mc:Fallback>
      </mc:AlternateContent>
      <p:sp>
        <p:nvSpPr>
          <p:cNvPr id="13" name="Right Arrow 12">
            <a:extLst>
              <a:ext uri="{FF2B5EF4-FFF2-40B4-BE49-F238E27FC236}">
                <a16:creationId xmlns:a16="http://schemas.microsoft.com/office/drawing/2014/main" id="{9BDA19DB-7D2B-6FC7-5CF4-20981A8E7971}"/>
              </a:ext>
            </a:extLst>
          </p:cNvPr>
          <p:cNvSpPr/>
          <p:nvPr/>
        </p:nvSpPr>
        <p:spPr>
          <a:xfrm rot="12102017">
            <a:off x="9259743" y="5085059"/>
            <a:ext cx="374051" cy="116806"/>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VN"/>
          </a:p>
        </p:txBody>
      </p:sp>
      <p:sp>
        <p:nvSpPr>
          <p:cNvPr id="14" name="Right Arrow 13">
            <a:extLst>
              <a:ext uri="{FF2B5EF4-FFF2-40B4-BE49-F238E27FC236}">
                <a16:creationId xmlns:a16="http://schemas.microsoft.com/office/drawing/2014/main" id="{0031F79D-3B32-8DE2-32D9-F09B2A2910AD}"/>
              </a:ext>
            </a:extLst>
          </p:cNvPr>
          <p:cNvSpPr/>
          <p:nvPr/>
        </p:nvSpPr>
        <p:spPr>
          <a:xfrm rot="20357046">
            <a:off x="7204622" y="4216162"/>
            <a:ext cx="374051" cy="116806"/>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VN"/>
          </a:p>
        </p:txBody>
      </p:sp>
      <p:sp>
        <p:nvSpPr>
          <p:cNvPr id="15" name="Right Arrow 14">
            <a:extLst>
              <a:ext uri="{FF2B5EF4-FFF2-40B4-BE49-F238E27FC236}">
                <a16:creationId xmlns:a16="http://schemas.microsoft.com/office/drawing/2014/main" id="{6BB592CA-A576-DEC0-5FB7-E0F2F7A0648A}"/>
              </a:ext>
            </a:extLst>
          </p:cNvPr>
          <p:cNvSpPr/>
          <p:nvPr/>
        </p:nvSpPr>
        <p:spPr>
          <a:xfrm rot="8013624">
            <a:off x="8820497" y="4096606"/>
            <a:ext cx="374051" cy="116806"/>
          </a:xfrm>
          <a:prstGeom prst="rightArrow">
            <a:avLst/>
          </a:prstGeom>
        </p:spPr>
        <p:style>
          <a:lnRef idx="2">
            <a:schemeClr val="accent5">
              <a:shade val="15000"/>
            </a:schemeClr>
          </a:lnRef>
          <a:fillRef idx="1">
            <a:schemeClr val="accent5"/>
          </a:fillRef>
          <a:effectRef idx="0">
            <a:schemeClr val="accent5"/>
          </a:effectRef>
          <a:fontRef idx="minor">
            <a:schemeClr val="lt1"/>
          </a:fontRef>
        </p:style>
        <p:txBody>
          <a:bodyPr rtlCol="0" anchor="ctr"/>
          <a:lstStyle/>
          <a:p>
            <a:pPr algn="ctr"/>
            <a:endParaRPr lang="en-VN"/>
          </a:p>
        </p:txBody>
      </p:sp>
      <p:sp>
        <p:nvSpPr>
          <p:cNvPr id="16" name="Right Arrow 15">
            <a:extLst>
              <a:ext uri="{FF2B5EF4-FFF2-40B4-BE49-F238E27FC236}">
                <a16:creationId xmlns:a16="http://schemas.microsoft.com/office/drawing/2014/main" id="{0640ECD2-CD67-35F8-E8A7-6A3A8896089F}"/>
              </a:ext>
            </a:extLst>
          </p:cNvPr>
          <p:cNvSpPr/>
          <p:nvPr/>
        </p:nvSpPr>
        <p:spPr>
          <a:xfrm rot="13109174">
            <a:off x="8581672" y="6079432"/>
            <a:ext cx="374051" cy="116806"/>
          </a:xfrm>
          <a:prstGeom prst="rightArrow">
            <a:avLst/>
          </a:prstGeom>
        </p:spPr>
        <p:style>
          <a:lnRef idx="2">
            <a:schemeClr val="accent5">
              <a:shade val="15000"/>
            </a:schemeClr>
          </a:lnRef>
          <a:fillRef idx="1">
            <a:schemeClr val="accent5"/>
          </a:fillRef>
          <a:effectRef idx="0">
            <a:schemeClr val="accent5"/>
          </a:effectRef>
          <a:fontRef idx="minor">
            <a:schemeClr val="lt1"/>
          </a:fontRef>
        </p:style>
        <p:txBody>
          <a:bodyPr rtlCol="0" anchor="ctr"/>
          <a:lstStyle/>
          <a:p>
            <a:pPr algn="ctr"/>
            <a:endParaRPr lang="en-VN"/>
          </a:p>
        </p:txBody>
      </p:sp>
      <p:sp>
        <p:nvSpPr>
          <p:cNvPr id="17" name="Oval 16">
            <a:extLst>
              <a:ext uri="{FF2B5EF4-FFF2-40B4-BE49-F238E27FC236}">
                <a16:creationId xmlns:a16="http://schemas.microsoft.com/office/drawing/2014/main" id="{2AE51B91-5F0F-B011-9988-5F677DE64E55}"/>
              </a:ext>
            </a:extLst>
          </p:cNvPr>
          <p:cNvSpPr/>
          <p:nvPr/>
        </p:nvSpPr>
        <p:spPr>
          <a:xfrm>
            <a:off x="8030504" y="4371408"/>
            <a:ext cx="1611630" cy="396570"/>
          </a:xfrm>
          <a:prstGeom prst="ellipse">
            <a:avLst/>
          </a:prstGeom>
          <a:noFill/>
          <a:ln>
            <a:solidFill>
              <a:schemeClr val="accent5">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VN"/>
          </a:p>
        </p:txBody>
      </p:sp>
      <p:sp>
        <p:nvSpPr>
          <p:cNvPr id="18" name="Oval 17">
            <a:extLst>
              <a:ext uri="{FF2B5EF4-FFF2-40B4-BE49-F238E27FC236}">
                <a16:creationId xmlns:a16="http://schemas.microsoft.com/office/drawing/2014/main" id="{5964C344-856C-97B2-035A-B3B9F0B7E4BF}"/>
              </a:ext>
            </a:extLst>
          </p:cNvPr>
          <p:cNvSpPr/>
          <p:nvPr/>
        </p:nvSpPr>
        <p:spPr>
          <a:xfrm>
            <a:off x="7783733" y="5537178"/>
            <a:ext cx="1611630" cy="396570"/>
          </a:xfrm>
          <a:prstGeom prst="ellipse">
            <a:avLst/>
          </a:prstGeom>
          <a:noFill/>
          <a:ln>
            <a:solidFill>
              <a:schemeClr val="accent5">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VN"/>
          </a:p>
        </p:txBody>
      </p:sp>
      <p:sp>
        <p:nvSpPr>
          <p:cNvPr id="19" name="Oval 18">
            <a:extLst>
              <a:ext uri="{FF2B5EF4-FFF2-40B4-BE49-F238E27FC236}">
                <a16:creationId xmlns:a16="http://schemas.microsoft.com/office/drawing/2014/main" id="{2706230B-9C61-180C-56D8-1C84178129DF}"/>
              </a:ext>
            </a:extLst>
          </p:cNvPr>
          <p:cNvSpPr/>
          <p:nvPr/>
        </p:nvSpPr>
        <p:spPr>
          <a:xfrm>
            <a:off x="8355330" y="4708329"/>
            <a:ext cx="1040033" cy="396570"/>
          </a:xfrm>
          <a:prstGeom prst="ellipse">
            <a:avLst/>
          </a:prstGeom>
          <a:noFill/>
          <a:ln>
            <a:solidFill>
              <a:schemeClr val="accent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VN"/>
          </a:p>
        </p:txBody>
      </p:sp>
      <p:sp>
        <p:nvSpPr>
          <p:cNvPr id="20" name="Oval 19">
            <a:extLst>
              <a:ext uri="{FF2B5EF4-FFF2-40B4-BE49-F238E27FC236}">
                <a16:creationId xmlns:a16="http://schemas.microsoft.com/office/drawing/2014/main" id="{8F7A6BF3-5B3A-BE71-4D3F-980DA93A5083}"/>
              </a:ext>
            </a:extLst>
          </p:cNvPr>
          <p:cNvSpPr/>
          <p:nvPr/>
        </p:nvSpPr>
        <p:spPr>
          <a:xfrm>
            <a:off x="7510487" y="3863022"/>
            <a:ext cx="1040033" cy="396570"/>
          </a:xfrm>
          <a:prstGeom prst="ellipse">
            <a:avLst/>
          </a:prstGeom>
          <a:noFill/>
          <a:ln>
            <a:solidFill>
              <a:schemeClr val="accent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VN"/>
          </a:p>
        </p:txBody>
      </p:sp>
    </p:spTree>
    <p:extLst>
      <p:ext uri="{BB962C8B-B14F-4D97-AF65-F5344CB8AC3E}">
        <p14:creationId xmlns:p14="http://schemas.microsoft.com/office/powerpoint/2010/main" val="306859620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19"/>
                                        </p:tgtEl>
                                        <p:attrNameLst>
                                          <p:attrName>style.visibility</p:attrName>
                                        </p:attrNameLst>
                                      </p:cBhvr>
                                      <p:to>
                                        <p:strVal val="visible"/>
                                      </p:to>
                                    </p:set>
                                    <p:animEffect transition="in" filter="blinds(horizontal)">
                                      <p:cBhvr>
                                        <p:cTn id="7" dur="500"/>
                                        <p:tgtEl>
                                          <p:spTgt spid="19"/>
                                        </p:tgtEl>
                                      </p:cBhvr>
                                    </p:animEffect>
                                  </p:childTnLst>
                                </p:cTn>
                              </p:par>
                              <p:par>
                                <p:cTn id="8" presetID="3" presetClass="entr" presetSubtype="10" fill="hold" grpId="0" nodeType="withEffect">
                                  <p:stCondLst>
                                    <p:cond delay="0"/>
                                  </p:stCondLst>
                                  <p:childTnLst>
                                    <p:set>
                                      <p:cBhvr>
                                        <p:cTn id="9" dur="1" fill="hold">
                                          <p:stCondLst>
                                            <p:cond delay="0"/>
                                          </p:stCondLst>
                                        </p:cTn>
                                        <p:tgtEl>
                                          <p:spTgt spid="13"/>
                                        </p:tgtEl>
                                        <p:attrNameLst>
                                          <p:attrName>style.visibility</p:attrName>
                                        </p:attrNameLst>
                                      </p:cBhvr>
                                      <p:to>
                                        <p:strVal val="visible"/>
                                      </p:to>
                                    </p:set>
                                    <p:animEffect transition="in" filter="blinds(horizontal)">
                                      <p:cBhvr>
                                        <p:cTn id="10" dur="500"/>
                                        <p:tgtEl>
                                          <p:spTgt spid="13"/>
                                        </p:tgtEl>
                                      </p:cBhvr>
                                    </p:animEffect>
                                  </p:childTnLst>
                                </p:cTn>
                              </p:par>
                              <p:par>
                                <p:cTn id="11" presetID="3" presetClass="entr" presetSubtype="10" fill="hold" grpId="0" nodeType="withEffect">
                                  <p:stCondLst>
                                    <p:cond delay="0"/>
                                  </p:stCondLst>
                                  <p:childTnLst>
                                    <p:set>
                                      <p:cBhvr>
                                        <p:cTn id="12" dur="1" fill="hold">
                                          <p:stCondLst>
                                            <p:cond delay="0"/>
                                          </p:stCondLst>
                                        </p:cTn>
                                        <p:tgtEl>
                                          <p:spTgt spid="20"/>
                                        </p:tgtEl>
                                        <p:attrNameLst>
                                          <p:attrName>style.visibility</p:attrName>
                                        </p:attrNameLst>
                                      </p:cBhvr>
                                      <p:to>
                                        <p:strVal val="visible"/>
                                      </p:to>
                                    </p:set>
                                    <p:animEffect transition="in" filter="blinds(horizontal)">
                                      <p:cBhvr>
                                        <p:cTn id="13" dur="500"/>
                                        <p:tgtEl>
                                          <p:spTgt spid="20"/>
                                        </p:tgtEl>
                                      </p:cBhvr>
                                    </p:animEffect>
                                  </p:childTnLst>
                                </p:cTn>
                              </p:par>
                              <p:par>
                                <p:cTn id="14" presetID="3" presetClass="entr" presetSubtype="10" fill="hold" grpId="0" nodeType="withEffect">
                                  <p:stCondLst>
                                    <p:cond delay="0"/>
                                  </p:stCondLst>
                                  <p:childTnLst>
                                    <p:set>
                                      <p:cBhvr>
                                        <p:cTn id="15" dur="1" fill="hold">
                                          <p:stCondLst>
                                            <p:cond delay="0"/>
                                          </p:stCondLst>
                                        </p:cTn>
                                        <p:tgtEl>
                                          <p:spTgt spid="14"/>
                                        </p:tgtEl>
                                        <p:attrNameLst>
                                          <p:attrName>style.visibility</p:attrName>
                                        </p:attrNameLst>
                                      </p:cBhvr>
                                      <p:to>
                                        <p:strVal val="visible"/>
                                      </p:to>
                                    </p:set>
                                    <p:animEffect transition="in" filter="blinds(horizontal)">
                                      <p:cBhvr>
                                        <p:cTn id="16" dur="500"/>
                                        <p:tgtEl>
                                          <p:spTgt spid="14"/>
                                        </p:tgtEl>
                                      </p:cBhvr>
                                    </p:animEffect>
                                  </p:childTnLst>
                                </p:cTn>
                              </p:par>
                            </p:childTnLst>
                          </p:cTn>
                        </p:par>
                      </p:childTnLst>
                    </p:cTn>
                  </p:par>
                  <p:par>
                    <p:cTn id="17" fill="hold">
                      <p:stCondLst>
                        <p:cond delay="indefinite"/>
                      </p:stCondLst>
                      <p:childTnLst>
                        <p:par>
                          <p:cTn id="18" fill="hold">
                            <p:stCondLst>
                              <p:cond delay="0"/>
                            </p:stCondLst>
                            <p:childTnLst>
                              <p:par>
                                <p:cTn id="19" presetID="3" presetClass="entr" presetSubtype="10" fill="hold" grpId="0" nodeType="clickEffect">
                                  <p:stCondLst>
                                    <p:cond delay="0"/>
                                  </p:stCondLst>
                                  <p:childTnLst>
                                    <p:set>
                                      <p:cBhvr>
                                        <p:cTn id="20" dur="1" fill="hold">
                                          <p:stCondLst>
                                            <p:cond delay="0"/>
                                          </p:stCondLst>
                                        </p:cTn>
                                        <p:tgtEl>
                                          <p:spTgt spid="15"/>
                                        </p:tgtEl>
                                        <p:attrNameLst>
                                          <p:attrName>style.visibility</p:attrName>
                                        </p:attrNameLst>
                                      </p:cBhvr>
                                      <p:to>
                                        <p:strVal val="visible"/>
                                      </p:to>
                                    </p:set>
                                    <p:animEffect transition="in" filter="blinds(horizontal)">
                                      <p:cBhvr>
                                        <p:cTn id="21" dur="500"/>
                                        <p:tgtEl>
                                          <p:spTgt spid="15"/>
                                        </p:tgtEl>
                                      </p:cBhvr>
                                    </p:animEffect>
                                  </p:childTnLst>
                                </p:cTn>
                              </p:par>
                              <p:par>
                                <p:cTn id="22" presetID="3" presetClass="entr" presetSubtype="10" fill="hold" grpId="0" nodeType="withEffect">
                                  <p:stCondLst>
                                    <p:cond delay="0"/>
                                  </p:stCondLst>
                                  <p:childTnLst>
                                    <p:set>
                                      <p:cBhvr>
                                        <p:cTn id="23" dur="1" fill="hold">
                                          <p:stCondLst>
                                            <p:cond delay="0"/>
                                          </p:stCondLst>
                                        </p:cTn>
                                        <p:tgtEl>
                                          <p:spTgt spid="17"/>
                                        </p:tgtEl>
                                        <p:attrNameLst>
                                          <p:attrName>style.visibility</p:attrName>
                                        </p:attrNameLst>
                                      </p:cBhvr>
                                      <p:to>
                                        <p:strVal val="visible"/>
                                      </p:to>
                                    </p:set>
                                    <p:animEffect transition="in" filter="blinds(horizontal)">
                                      <p:cBhvr>
                                        <p:cTn id="24" dur="500"/>
                                        <p:tgtEl>
                                          <p:spTgt spid="17"/>
                                        </p:tgtEl>
                                      </p:cBhvr>
                                    </p:animEffect>
                                  </p:childTnLst>
                                </p:cTn>
                              </p:par>
                              <p:par>
                                <p:cTn id="25" presetID="3" presetClass="entr" presetSubtype="10" fill="hold" grpId="0" nodeType="withEffect">
                                  <p:stCondLst>
                                    <p:cond delay="0"/>
                                  </p:stCondLst>
                                  <p:childTnLst>
                                    <p:set>
                                      <p:cBhvr>
                                        <p:cTn id="26" dur="1" fill="hold">
                                          <p:stCondLst>
                                            <p:cond delay="0"/>
                                          </p:stCondLst>
                                        </p:cTn>
                                        <p:tgtEl>
                                          <p:spTgt spid="16"/>
                                        </p:tgtEl>
                                        <p:attrNameLst>
                                          <p:attrName>style.visibility</p:attrName>
                                        </p:attrNameLst>
                                      </p:cBhvr>
                                      <p:to>
                                        <p:strVal val="visible"/>
                                      </p:to>
                                    </p:set>
                                    <p:animEffect transition="in" filter="blinds(horizontal)">
                                      <p:cBhvr>
                                        <p:cTn id="27" dur="500"/>
                                        <p:tgtEl>
                                          <p:spTgt spid="16"/>
                                        </p:tgtEl>
                                      </p:cBhvr>
                                    </p:animEffect>
                                  </p:childTnLst>
                                </p:cTn>
                              </p:par>
                              <p:par>
                                <p:cTn id="28" presetID="3" presetClass="entr" presetSubtype="10" fill="hold" grpId="0" nodeType="withEffect">
                                  <p:stCondLst>
                                    <p:cond delay="0"/>
                                  </p:stCondLst>
                                  <p:childTnLst>
                                    <p:set>
                                      <p:cBhvr>
                                        <p:cTn id="29" dur="1" fill="hold">
                                          <p:stCondLst>
                                            <p:cond delay="0"/>
                                          </p:stCondLst>
                                        </p:cTn>
                                        <p:tgtEl>
                                          <p:spTgt spid="18"/>
                                        </p:tgtEl>
                                        <p:attrNameLst>
                                          <p:attrName>style.visibility</p:attrName>
                                        </p:attrNameLst>
                                      </p:cBhvr>
                                      <p:to>
                                        <p:strVal val="visible"/>
                                      </p:to>
                                    </p:set>
                                    <p:animEffect transition="in" filter="blinds(horizontal)">
                                      <p:cBhvr>
                                        <p:cTn id="30" dur="500"/>
                                        <p:tgtEl>
                                          <p:spTgt spid="1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animBg="1"/>
      <p:bldP spid="14" grpId="0" animBg="1"/>
      <p:bldP spid="15" grpId="0" animBg="1"/>
      <p:bldP spid="16" grpId="0" animBg="1"/>
      <p:bldP spid="17" grpId="0" animBg="1"/>
      <p:bldP spid="18" grpId="0" animBg="1"/>
      <p:bldP spid="19" grpId="0" animBg="1"/>
      <p:bldP spid="20" grpId="0" animBg="1"/>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758DE73-76DB-F9D1-AA14-3612D6D22415}"/>
              </a:ext>
            </a:extLst>
          </p:cNvPr>
          <p:cNvSpPr>
            <a:spLocks noGrp="1"/>
          </p:cNvSpPr>
          <p:nvPr>
            <p:ph type="title"/>
          </p:nvPr>
        </p:nvSpPr>
        <p:spPr/>
        <p:txBody>
          <a:bodyPr/>
          <a:lstStyle/>
          <a:p>
            <a:r>
              <a:rPr lang="en-VN" dirty="0"/>
              <a:t>ÁNH XẠ CỦA CHU TUYẾN TRONG MẶT PHẲNG S</a:t>
            </a:r>
          </a:p>
        </p:txBody>
      </p:sp>
      <mc:AlternateContent xmlns:mc="http://schemas.openxmlformats.org/markup-compatibility/2006">
        <mc:Choice xmlns:a14="http://schemas.microsoft.com/office/drawing/2010/main" Requires="a14">
          <p:sp>
            <p:nvSpPr>
              <p:cNvPr id="3" name="Content Placeholder 2">
                <a:extLst>
                  <a:ext uri="{FF2B5EF4-FFF2-40B4-BE49-F238E27FC236}">
                    <a16:creationId xmlns:a16="http://schemas.microsoft.com/office/drawing/2014/main" id="{E965EE0E-2D2E-3E9D-2DAC-A04D0A810B85}"/>
                  </a:ext>
                </a:extLst>
              </p:cNvPr>
              <p:cNvSpPr>
                <a:spLocks noGrp="1"/>
              </p:cNvSpPr>
              <p:nvPr>
                <p:ph idx="1"/>
              </p:nvPr>
            </p:nvSpPr>
            <p:spPr/>
            <p:txBody>
              <a:bodyPr/>
              <a:lstStyle/>
              <a:p>
                <a:r>
                  <a:rPr lang="en-VN" dirty="0"/>
                  <a:t>Xét </a:t>
                </a:r>
                <a14:m>
                  <m:oMath xmlns:m="http://schemas.openxmlformats.org/officeDocument/2006/math">
                    <m:r>
                      <a:rPr lang="en-US" b="0" i="1" smtClean="0">
                        <a:latin typeface="Cambria Math" panose="02040503050406030204" pitchFamily="18" charset="0"/>
                      </a:rPr>
                      <m:t>𝐹</m:t>
                    </m:r>
                    <m:d>
                      <m:dPr>
                        <m:ctrlPr>
                          <a:rPr lang="en-US" b="0" i="1" smtClean="0">
                            <a:latin typeface="Cambria Math" panose="02040503050406030204" pitchFamily="18" charset="0"/>
                          </a:rPr>
                        </m:ctrlPr>
                      </m:dPr>
                      <m:e>
                        <m:r>
                          <a:rPr lang="en-US" b="0" i="1" smtClean="0">
                            <a:latin typeface="Cambria Math" panose="02040503050406030204" pitchFamily="18" charset="0"/>
                          </a:rPr>
                          <m:t>𝑠</m:t>
                        </m:r>
                      </m:e>
                    </m:d>
                    <m:r>
                      <a:rPr lang="en-US" b="0" i="1" smtClean="0">
                        <a:latin typeface="Cambria Math" panose="02040503050406030204" pitchFamily="18" charset="0"/>
                      </a:rPr>
                      <m:t>=1+</m:t>
                    </m:r>
                    <m:r>
                      <a:rPr lang="en-US" b="0" i="1" smtClean="0">
                        <a:latin typeface="Cambria Math" panose="02040503050406030204" pitchFamily="18" charset="0"/>
                      </a:rPr>
                      <m:t>𝐺</m:t>
                    </m:r>
                    <m:d>
                      <m:dPr>
                        <m:ctrlPr>
                          <a:rPr lang="en-US" b="0" i="1" smtClean="0">
                            <a:latin typeface="Cambria Math" panose="02040503050406030204" pitchFamily="18" charset="0"/>
                          </a:rPr>
                        </m:ctrlPr>
                      </m:dPr>
                      <m:e>
                        <m:r>
                          <a:rPr lang="en-US" b="0" i="1" smtClean="0">
                            <a:latin typeface="Cambria Math" panose="02040503050406030204" pitchFamily="18" charset="0"/>
                          </a:rPr>
                          <m:t>𝑠</m:t>
                        </m:r>
                      </m:e>
                    </m:d>
                    <m:r>
                      <a:rPr lang="en-US" b="0" i="1" smtClean="0">
                        <a:latin typeface="Cambria Math" panose="02040503050406030204" pitchFamily="18" charset="0"/>
                      </a:rPr>
                      <m:t>𝐻</m:t>
                    </m:r>
                    <m:r>
                      <a:rPr lang="en-US" b="0" i="1" smtClean="0">
                        <a:latin typeface="Cambria Math" panose="02040503050406030204" pitchFamily="18" charset="0"/>
                      </a:rPr>
                      <m:t>(</m:t>
                    </m:r>
                    <m:r>
                      <a:rPr lang="en-US" b="0" i="1" smtClean="0">
                        <a:latin typeface="Cambria Math" panose="02040503050406030204" pitchFamily="18" charset="0"/>
                      </a:rPr>
                      <m:t>𝑠</m:t>
                    </m:r>
                    <m:r>
                      <a:rPr lang="en-US" b="0" i="1" smtClean="0">
                        <a:latin typeface="Cambria Math" panose="02040503050406030204" pitchFamily="18" charset="0"/>
                      </a:rPr>
                      <m:t>)</m:t>
                    </m:r>
                  </m:oMath>
                </a14:m>
                <a:endParaRPr lang="en-VN" dirty="0"/>
              </a:p>
            </p:txBody>
          </p:sp>
        </mc:Choice>
        <mc:Fallback>
          <p:sp>
            <p:nvSpPr>
              <p:cNvPr id="3" name="Content Placeholder 2">
                <a:extLst>
                  <a:ext uri="{FF2B5EF4-FFF2-40B4-BE49-F238E27FC236}">
                    <a16:creationId xmlns:a16="http://schemas.microsoft.com/office/drawing/2014/main" id="{E965EE0E-2D2E-3E9D-2DAC-A04D0A810B85}"/>
                  </a:ext>
                </a:extLst>
              </p:cNvPr>
              <p:cNvSpPr>
                <a:spLocks noGrp="1" noRot="1" noChangeAspect="1" noMove="1" noResize="1" noEditPoints="1" noAdjustHandles="1" noChangeArrowheads="1" noChangeShapeType="1" noTextEdit="1"/>
              </p:cNvSpPr>
              <p:nvPr>
                <p:ph idx="1"/>
              </p:nvPr>
            </p:nvSpPr>
            <p:spPr>
              <a:blipFill>
                <a:blip r:embed="rId2"/>
                <a:stretch>
                  <a:fillRect l="-528"/>
                </a:stretch>
              </a:blipFill>
            </p:spPr>
            <p:txBody>
              <a:bodyPr/>
              <a:lstStyle/>
              <a:p>
                <a:r>
                  <a:rPr lang="en-VN">
                    <a:noFill/>
                  </a:rPr>
                  <a:t> </a:t>
                </a:r>
              </a:p>
            </p:txBody>
          </p:sp>
        </mc:Fallback>
      </mc:AlternateContent>
      <p:pic>
        <p:nvPicPr>
          <p:cNvPr id="5" name="Picture 4">
            <a:extLst>
              <a:ext uri="{FF2B5EF4-FFF2-40B4-BE49-F238E27FC236}">
                <a16:creationId xmlns:a16="http://schemas.microsoft.com/office/drawing/2014/main" id="{700F365D-9A2D-EAD7-AD2C-4F889A70A554}"/>
              </a:ext>
            </a:extLst>
          </p:cNvPr>
          <p:cNvPicPr>
            <a:picLocks noChangeAspect="1"/>
          </p:cNvPicPr>
          <p:nvPr/>
        </p:nvPicPr>
        <p:blipFill>
          <a:blip r:embed="rId3"/>
          <a:stretch>
            <a:fillRect/>
          </a:stretch>
        </p:blipFill>
        <p:spPr>
          <a:xfrm>
            <a:off x="2209800" y="1825884"/>
            <a:ext cx="7772400" cy="2022087"/>
          </a:xfrm>
          <a:prstGeom prst="rect">
            <a:avLst/>
          </a:prstGeom>
        </p:spPr>
      </p:pic>
      <mc:AlternateContent xmlns:mc="http://schemas.openxmlformats.org/markup-compatibility/2006">
        <mc:Choice xmlns:a14="http://schemas.microsoft.com/office/drawing/2010/main" Requires="a14">
          <p:sp>
            <p:nvSpPr>
              <p:cNvPr id="7" name="TextBox 6">
                <a:extLst>
                  <a:ext uri="{FF2B5EF4-FFF2-40B4-BE49-F238E27FC236}">
                    <a16:creationId xmlns:a16="http://schemas.microsoft.com/office/drawing/2014/main" id="{599D0CF9-C7C2-D46B-9D8D-BC979918B4DB}"/>
                  </a:ext>
                </a:extLst>
              </p:cNvPr>
              <p:cNvSpPr txBox="1"/>
              <p:nvPr/>
            </p:nvSpPr>
            <p:spPr>
              <a:xfrm>
                <a:off x="-196215" y="3944233"/>
                <a:ext cx="12584430" cy="830997"/>
              </a:xfrm>
              <a:prstGeom prst="rect">
                <a:avLst/>
              </a:prstGeom>
              <a:noFill/>
            </p:spPr>
            <p:txBody>
              <a:bodyPr wrap="square">
                <a:spAutoFit/>
              </a:bodyPr>
              <a:lstStyle/>
              <a:p>
                <a:pPr algn="ctr"/>
                <a14:m>
                  <m:oMath xmlns:m="http://schemas.openxmlformats.org/officeDocument/2006/math">
                    <m:r>
                      <a:rPr lang="en-US" sz="1600" b="0" i="1" smtClean="0">
                        <a:latin typeface="Cambria Math" panose="02040503050406030204" pitchFamily="18" charset="0"/>
                        <a:cs typeface="Arial" panose="020B0604020202020204" pitchFamily="34" charset="0"/>
                      </a:rPr>
                      <m:t>𝑁</m:t>
                    </m:r>
                    <m:r>
                      <a:rPr lang="en-US" sz="1600" b="0" i="1" smtClean="0">
                        <a:latin typeface="Cambria Math" panose="02040503050406030204" pitchFamily="18" charset="0"/>
                        <a:cs typeface="Arial" panose="020B0604020202020204" pitchFamily="34" charset="0"/>
                      </a:rPr>
                      <m:t>=</m:t>
                    </m:r>
                    <m:r>
                      <a:rPr lang="en-US" sz="1600" b="0" i="1" smtClean="0">
                        <a:latin typeface="Cambria Math" panose="02040503050406030204" pitchFamily="18" charset="0"/>
                        <a:cs typeface="Arial" panose="020B0604020202020204" pitchFamily="34" charset="0"/>
                      </a:rPr>
                      <m:t>𝑃</m:t>
                    </m:r>
                    <m:r>
                      <a:rPr lang="en-US" sz="1600" b="0" i="1" smtClean="0">
                        <a:latin typeface="Cambria Math" panose="02040503050406030204" pitchFamily="18" charset="0"/>
                        <a:cs typeface="Arial" panose="020B0604020202020204" pitchFamily="34" charset="0"/>
                      </a:rPr>
                      <m:t>−</m:t>
                    </m:r>
                    <m:r>
                      <a:rPr lang="en-US" sz="1600" b="0" i="1" smtClean="0">
                        <a:latin typeface="Cambria Math" panose="02040503050406030204" pitchFamily="18" charset="0"/>
                        <a:cs typeface="Arial" panose="020B0604020202020204" pitchFamily="34" charset="0"/>
                      </a:rPr>
                      <m:t>𝑍</m:t>
                    </m:r>
                  </m:oMath>
                </a14:m>
                <a:r>
                  <a:rPr lang="en-VN" sz="1600" dirty="0">
                    <a:latin typeface="Arial" panose="020B0604020202020204" pitchFamily="34" charset="0"/>
                    <a:cs typeface="Arial" panose="020B0604020202020204" pitchFamily="34" charset="0"/>
                  </a:rPr>
                  <a:t>, </a:t>
                </a:r>
                <a14:m>
                  <m:oMath xmlns:m="http://schemas.openxmlformats.org/officeDocument/2006/math">
                    <m:r>
                      <a:rPr lang="en-US" sz="1600" i="1">
                        <a:latin typeface="Cambria Math" panose="02040503050406030204" pitchFamily="18" charset="0"/>
                        <a:cs typeface="Arial" panose="020B0604020202020204" pitchFamily="34" charset="0"/>
                      </a:rPr>
                      <m:t>𝑁</m:t>
                    </m:r>
                  </m:oMath>
                </a14:m>
                <a:r>
                  <a:rPr lang="en-VN" sz="1600" dirty="0">
                    <a:latin typeface="Arial" panose="020B0604020202020204" pitchFamily="34" charset="0"/>
                    <a:cs typeface="Arial" panose="020B0604020202020204" pitchFamily="34" charset="0"/>
                  </a:rPr>
                  <a:t>: số vòng chu tuyến B chứa gốc toạ độ ngược chiều kim đồng hồ, </a:t>
                </a:r>
              </a:p>
              <a:p>
                <a:pPr algn="ctr"/>
                <a14:m>
                  <m:oMath xmlns:m="http://schemas.openxmlformats.org/officeDocument/2006/math">
                    <m:r>
                      <a:rPr lang="en-US" sz="1600" i="1">
                        <a:latin typeface="Cambria Math" panose="02040503050406030204" pitchFamily="18" charset="0"/>
                        <a:cs typeface="Arial" panose="020B0604020202020204" pitchFamily="34" charset="0"/>
                      </a:rPr>
                      <m:t>𝑃</m:t>
                    </m:r>
                  </m:oMath>
                </a14:m>
                <a:r>
                  <a:rPr lang="en-VN" sz="1600" dirty="0">
                    <a:latin typeface="Arial" panose="020B0604020202020204" pitchFamily="34" charset="0"/>
                    <a:cs typeface="Arial" panose="020B0604020202020204" pitchFamily="34" charset="0"/>
                  </a:rPr>
                  <a:t>: số điểm cực của </a:t>
                </a:r>
                <a14:m>
                  <m:oMath xmlns:m="http://schemas.openxmlformats.org/officeDocument/2006/math">
                    <m:r>
                      <a:rPr lang="en-US" sz="1600" i="1">
                        <a:latin typeface="Cambria Math" panose="02040503050406030204" pitchFamily="18" charset="0"/>
                      </a:rPr>
                      <m:t>1+</m:t>
                    </m:r>
                    <m:r>
                      <a:rPr lang="en-US" sz="1600" i="1">
                        <a:latin typeface="Cambria Math" panose="02040503050406030204" pitchFamily="18" charset="0"/>
                      </a:rPr>
                      <m:t>𝐺</m:t>
                    </m:r>
                    <m:d>
                      <m:dPr>
                        <m:ctrlPr>
                          <a:rPr lang="en-US" sz="1600" i="1">
                            <a:latin typeface="Cambria Math" panose="02040503050406030204" pitchFamily="18" charset="0"/>
                          </a:rPr>
                        </m:ctrlPr>
                      </m:dPr>
                      <m:e>
                        <m:r>
                          <a:rPr lang="en-US" sz="1600" i="1">
                            <a:latin typeface="Cambria Math" panose="02040503050406030204" pitchFamily="18" charset="0"/>
                          </a:rPr>
                          <m:t>𝑠</m:t>
                        </m:r>
                      </m:e>
                    </m:d>
                    <m:r>
                      <a:rPr lang="en-US" sz="1600" i="1">
                        <a:latin typeface="Cambria Math" panose="02040503050406030204" pitchFamily="18" charset="0"/>
                      </a:rPr>
                      <m:t>𝐻</m:t>
                    </m:r>
                    <m:r>
                      <a:rPr lang="en-US" sz="1600" i="1">
                        <a:latin typeface="Cambria Math" panose="02040503050406030204" pitchFamily="18" charset="0"/>
                      </a:rPr>
                      <m:t>(</m:t>
                    </m:r>
                    <m:r>
                      <a:rPr lang="en-US" sz="1600" i="1">
                        <a:latin typeface="Cambria Math" panose="02040503050406030204" pitchFamily="18" charset="0"/>
                      </a:rPr>
                      <m:t>𝑠</m:t>
                    </m:r>
                    <m:r>
                      <a:rPr lang="en-US" sz="1600" i="1">
                        <a:latin typeface="Cambria Math" panose="02040503050406030204" pitchFamily="18" charset="0"/>
                      </a:rPr>
                      <m:t>)</m:t>
                    </m:r>
                  </m:oMath>
                </a14:m>
                <a:r>
                  <a:rPr lang="en-VN" sz="1600" dirty="0">
                    <a:latin typeface="Arial" panose="020B0604020202020204" pitchFamily="34" charset="0"/>
                    <a:cs typeface="Arial" panose="020B0604020202020204" pitchFamily="34" charset="0"/>
                  </a:rPr>
                  <a:t> nằm trong chu tuyến A ➔ số điểm cực của hàm truyền vòng hở </a:t>
                </a:r>
                <a14:m>
                  <m:oMath xmlns:m="http://schemas.openxmlformats.org/officeDocument/2006/math">
                    <m:r>
                      <a:rPr lang="en-US" sz="1600" i="1">
                        <a:latin typeface="Cambria Math" panose="02040503050406030204" pitchFamily="18" charset="0"/>
                      </a:rPr>
                      <m:t>𝐺</m:t>
                    </m:r>
                    <m:d>
                      <m:dPr>
                        <m:ctrlPr>
                          <a:rPr lang="en-US" sz="1600" i="1">
                            <a:latin typeface="Cambria Math" panose="02040503050406030204" pitchFamily="18" charset="0"/>
                          </a:rPr>
                        </m:ctrlPr>
                      </m:dPr>
                      <m:e>
                        <m:r>
                          <a:rPr lang="en-US" sz="1600" i="1">
                            <a:latin typeface="Cambria Math" panose="02040503050406030204" pitchFamily="18" charset="0"/>
                          </a:rPr>
                          <m:t>𝑠</m:t>
                        </m:r>
                      </m:e>
                    </m:d>
                    <m:r>
                      <a:rPr lang="en-US" sz="1600" i="1">
                        <a:latin typeface="Cambria Math" panose="02040503050406030204" pitchFamily="18" charset="0"/>
                      </a:rPr>
                      <m:t>𝐻</m:t>
                    </m:r>
                    <m:r>
                      <a:rPr lang="en-US" sz="1600" i="1">
                        <a:latin typeface="Cambria Math" panose="02040503050406030204" pitchFamily="18" charset="0"/>
                      </a:rPr>
                      <m:t>(</m:t>
                    </m:r>
                    <m:r>
                      <a:rPr lang="en-US" sz="1600" i="1">
                        <a:latin typeface="Cambria Math" panose="02040503050406030204" pitchFamily="18" charset="0"/>
                      </a:rPr>
                      <m:t>𝑠</m:t>
                    </m:r>
                    <m:r>
                      <a:rPr lang="en-US" sz="1600" i="1">
                        <a:latin typeface="Cambria Math" panose="02040503050406030204" pitchFamily="18" charset="0"/>
                      </a:rPr>
                      <m:t>)</m:t>
                    </m:r>
                  </m:oMath>
                </a14:m>
                <a:r>
                  <a:rPr lang="en-VN" sz="1600" dirty="0">
                    <a:latin typeface="Arial" panose="020B0604020202020204" pitchFamily="34" charset="0"/>
                    <a:cs typeface="Arial" panose="020B0604020202020204" pitchFamily="34" charset="0"/>
                  </a:rPr>
                  <a:t> trong chu tuyến A (đã biết), </a:t>
                </a:r>
              </a:p>
              <a:p>
                <a:pPr algn="ctr"/>
                <a14:m>
                  <m:oMath xmlns:m="http://schemas.openxmlformats.org/officeDocument/2006/math">
                    <m:r>
                      <a:rPr lang="en-US" sz="1600" i="1">
                        <a:latin typeface="Cambria Math" panose="02040503050406030204" pitchFamily="18" charset="0"/>
                        <a:cs typeface="Arial" panose="020B0604020202020204" pitchFamily="34" charset="0"/>
                      </a:rPr>
                      <m:t>𝑍</m:t>
                    </m:r>
                  </m:oMath>
                </a14:m>
                <a:r>
                  <a:rPr lang="en-VN" sz="1600" dirty="0">
                    <a:latin typeface="Arial" panose="020B0604020202020204" pitchFamily="34" charset="0"/>
                    <a:cs typeface="Arial" panose="020B0604020202020204" pitchFamily="34" charset="0"/>
                  </a:rPr>
                  <a:t>: số điểm zero của </a:t>
                </a:r>
                <a14:m>
                  <m:oMath xmlns:m="http://schemas.openxmlformats.org/officeDocument/2006/math">
                    <m:r>
                      <a:rPr lang="en-US" sz="1600" i="1">
                        <a:latin typeface="Cambria Math" panose="02040503050406030204" pitchFamily="18" charset="0"/>
                      </a:rPr>
                      <m:t>1+</m:t>
                    </m:r>
                    <m:r>
                      <a:rPr lang="en-US" sz="1600" i="1">
                        <a:latin typeface="Cambria Math" panose="02040503050406030204" pitchFamily="18" charset="0"/>
                      </a:rPr>
                      <m:t>𝐺</m:t>
                    </m:r>
                    <m:d>
                      <m:dPr>
                        <m:ctrlPr>
                          <a:rPr lang="en-US" sz="1600" i="1">
                            <a:latin typeface="Cambria Math" panose="02040503050406030204" pitchFamily="18" charset="0"/>
                          </a:rPr>
                        </m:ctrlPr>
                      </m:dPr>
                      <m:e>
                        <m:r>
                          <a:rPr lang="en-US" sz="1600" i="1">
                            <a:latin typeface="Cambria Math" panose="02040503050406030204" pitchFamily="18" charset="0"/>
                          </a:rPr>
                          <m:t>𝑠</m:t>
                        </m:r>
                      </m:e>
                    </m:d>
                    <m:r>
                      <a:rPr lang="en-US" sz="1600" i="1">
                        <a:latin typeface="Cambria Math" panose="02040503050406030204" pitchFamily="18" charset="0"/>
                      </a:rPr>
                      <m:t>𝐻</m:t>
                    </m:r>
                    <m:r>
                      <a:rPr lang="en-US" sz="1600" i="1">
                        <a:latin typeface="Cambria Math" panose="02040503050406030204" pitchFamily="18" charset="0"/>
                      </a:rPr>
                      <m:t>(</m:t>
                    </m:r>
                    <m:r>
                      <a:rPr lang="en-US" sz="1600" i="1">
                        <a:latin typeface="Cambria Math" panose="02040503050406030204" pitchFamily="18" charset="0"/>
                      </a:rPr>
                      <m:t>𝑠</m:t>
                    </m:r>
                    <m:r>
                      <a:rPr lang="en-US" sz="1600" i="1">
                        <a:latin typeface="Cambria Math" panose="02040503050406030204" pitchFamily="18" charset="0"/>
                      </a:rPr>
                      <m:t>)</m:t>
                    </m:r>
                  </m:oMath>
                </a14:m>
                <a:r>
                  <a:rPr lang="en-VN" sz="1600" dirty="0">
                    <a:latin typeface="Arial" panose="020B0604020202020204" pitchFamily="34" charset="0"/>
                    <a:cs typeface="Arial" panose="020B0604020202020204" pitchFamily="34" charset="0"/>
                  </a:rPr>
                  <a:t> nằm trong chu tuyến A ➔ </a:t>
                </a:r>
                <a:r>
                  <a:rPr lang="en-VN" sz="1600" b="1" dirty="0">
                    <a:solidFill>
                      <a:srgbClr val="C00000"/>
                    </a:solidFill>
                    <a:latin typeface="Arial" panose="020B0604020202020204" pitchFamily="34" charset="0"/>
                    <a:cs typeface="Arial" panose="020B0604020202020204" pitchFamily="34" charset="0"/>
                  </a:rPr>
                  <a:t>số điểm cực của hệ thống vòng kín trong chu tuyến A </a:t>
                </a:r>
                <a:r>
                  <a:rPr lang="en-VN" sz="1600" dirty="0">
                    <a:solidFill>
                      <a:srgbClr val="C00000"/>
                    </a:solidFill>
                    <a:latin typeface="Arial" panose="020B0604020202020204" pitchFamily="34" charset="0"/>
                    <a:cs typeface="Arial" panose="020B0604020202020204" pitchFamily="34" charset="0"/>
                  </a:rPr>
                  <a:t>(cần tìm)</a:t>
                </a:r>
                <a:r>
                  <a:rPr lang="en-VN" sz="1600" dirty="0">
                    <a:latin typeface="Arial" panose="020B0604020202020204" pitchFamily="34" charset="0"/>
                    <a:cs typeface="Arial" panose="020B0604020202020204" pitchFamily="34" charset="0"/>
                  </a:rPr>
                  <a:t>.</a:t>
                </a:r>
              </a:p>
            </p:txBody>
          </p:sp>
        </mc:Choice>
        <mc:Fallback>
          <p:sp>
            <p:nvSpPr>
              <p:cNvPr id="7" name="TextBox 6">
                <a:extLst>
                  <a:ext uri="{FF2B5EF4-FFF2-40B4-BE49-F238E27FC236}">
                    <a16:creationId xmlns:a16="http://schemas.microsoft.com/office/drawing/2014/main" id="{599D0CF9-C7C2-D46B-9D8D-BC979918B4DB}"/>
                  </a:ext>
                </a:extLst>
              </p:cNvPr>
              <p:cNvSpPr txBox="1">
                <a:spLocks noRot="1" noChangeAspect="1" noMove="1" noResize="1" noEditPoints="1" noAdjustHandles="1" noChangeArrowheads="1" noChangeShapeType="1" noTextEdit="1"/>
              </p:cNvSpPr>
              <p:nvPr/>
            </p:nvSpPr>
            <p:spPr>
              <a:xfrm>
                <a:off x="-196215" y="3944233"/>
                <a:ext cx="12584430" cy="830997"/>
              </a:xfrm>
              <a:prstGeom prst="rect">
                <a:avLst/>
              </a:prstGeom>
              <a:blipFill>
                <a:blip r:embed="rId4"/>
                <a:stretch>
                  <a:fillRect t="-1515" b="-10606"/>
                </a:stretch>
              </a:blipFill>
            </p:spPr>
            <p:txBody>
              <a:bodyPr/>
              <a:lstStyle/>
              <a:p>
                <a:r>
                  <a:rPr lang="en-VN">
                    <a:noFill/>
                  </a:rPr>
                  <a:t> </a:t>
                </a:r>
              </a:p>
            </p:txBody>
          </p:sp>
        </mc:Fallback>
      </mc:AlternateContent>
      <mc:AlternateContent xmlns:mc="http://schemas.openxmlformats.org/markup-compatibility/2006">
        <mc:Choice xmlns:a14="http://schemas.microsoft.com/office/drawing/2010/main" Requires="a14">
          <p:sp>
            <p:nvSpPr>
              <p:cNvPr id="8" name="Rectangle 7">
                <a:extLst>
                  <a:ext uri="{FF2B5EF4-FFF2-40B4-BE49-F238E27FC236}">
                    <a16:creationId xmlns:a16="http://schemas.microsoft.com/office/drawing/2014/main" id="{9DFB7A5A-CA5E-4CE3-691A-4133127F3C25}"/>
                  </a:ext>
                </a:extLst>
              </p:cNvPr>
              <p:cNvSpPr/>
              <p:nvPr/>
            </p:nvSpPr>
            <p:spPr>
              <a:xfrm>
                <a:off x="1866900" y="4871492"/>
                <a:ext cx="8458200" cy="114300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sz="1600" b="0" i="1" smtClean="0">
                          <a:latin typeface="Cambria Math" panose="02040503050406030204" pitchFamily="18" charset="0"/>
                          <a:cs typeface="Arial" panose="020B0604020202020204" pitchFamily="34" charset="0"/>
                        </a:rPr>
                        <m:t>𝑍</m:t>
                      </m:r>
                      <m:r>
                        <a:rPr lang="en-US" sz="1600" b="0" i="1" smtClean="0">
                          <a:latin typeface="Cambria Math" panose="02040503050406030204" pitchFamily="18" charset="0"/>
                          <a:cs typeface="Arial" panose="020B0604020202020204" pitchFamily="34" charset="0"/>
                        </a:rPr>
                        <m:t>=</m:t>
                      </m:r>
                      <m:r>
                        <a:rPr lang="en-US" sz="1600" b="0" i="1" smtClean="0">
                          <a:latin typeface="Cambria Math" panose="02040503050406030204" pitchFamily="18" charset="0"/>
                          <a:cs typeface="Arial" panose="020B0604020202020204" pitchFamily="34" charset="0"/>
                        </a:rPr>
                        <m:t>𝑃</m:t>
                      </m:r>
                      <m:r>
                        <a:rPr lang="en-US" sz="1600" b="0" i="1" smtClean="0">
                          <a:latin typeface="Cambria Math" panose="02040503050406030204" pitchFamily="18" charset="0"/>
                          <a:cs typeface="Arial" panose="020B0604020202020204" pitchFamily="34" charset="0"/>
                        </a:rPr>
                        <m:t>−</m:t>
                      </m:r>
                      <m:r>
                        <a:rPr lang="en-US" sz="1600" b="0" i="1" smtClean="0">
                          <a:latin typeface="Cambria Math" panose="02040503050406030204" pitchFamily="18" charset="0"/>
                          <a:cs typeface="Arial" panose="020B0604020202020204" pitchFamily="34" charset="0"/>
                        </a:rPr>
                        <m:t>𝑁</m:t>
                      </m:r>
                    </m:oMath>
                  </m:oMathPara>
                </a14:m>
                <a:endParaRPr lang="en-VN" sz="1600" dirty="0">
                  <a:latin typeface="Arial" panose="020B0604020202020204" pitchFamily="34" charset="0"/>
                  <a:cs typeface="Arial" panose="020B0604020202020204" pitchFamily="34" charset="0"/>
                </a:endParaRPr>
              </a:p>
              <a:p>
                <a:pPr algn="ctr"/>
                <a14:m>
                  <m:oMath xmlns:m="http://schemas.openxmlformats.org/officeDocument/2006/math">
                    <m:r>
                      <a:rPr lang="en-US" sz="1600" b="0" i="1" smtClean="0">
                        <a:latin typeface="Cambria Math" panose="02040503050406030204" pitchFamily="18" charset="0"/>
                        <a:cs typeface="Arial" panose="020B0604020202020204" pitchFamily="34" charset="0"/>
                      </a:rPr>
                      <m:t>𝑍</m:t>
                    </m:r>
                  </m:oMath>
                </a14:m>
                <a:r>
                  <a:rPr lang="en-VN" sz="1600" dirty="0">
                    <a:latin typeface="Arial" panose="020B0604020202020204" pitchFamily="34" charset="0"/>
                    <a:cs typeface="Arial" panose="020B0604020202020204" pitchFamily="34" charset="0"/>
                  </a:rPr>
                  <a:t>: số điểm cực của hệ thống vòng kín nằm trong chu tuyến A</a:t>
                </a:r>
              </a:p>
              <a:p>
                <a:pPr algn="ctr"/>
                <a14:m>
                  <m:oMath xmlns:m="http://schemas.openxmlformats.org/officeDocument/2006/math">
                    <m:r>
                      <a:rPr lang="en-US" sz="1600" b="0" i="1" smtClean="0">
                        <a:latin typeface="Cambria Math" panose="02040503050406030204" pitchFamily="18" charset="0"/>
                        <a:cs typeface="Arial" panose="020B0604020202020204" pitchFamily="34" charset="0"/>
                      </a:rPr>
                      <m:t>𝑃</m:t>
                    </m:r>
                  </m:oMath>
                </a14:m>
                <a:r>
                  <a:rPr lang="en-VN" sz="1600" dirty="0">
                    <a:latin typeface="Arial" panose="020B0604020202020204" pitchFamily="34" charset="0"/>
                    <a:cs typeface="Arial" panose="020B0604020202020204" pitchFamily="34" charset="0"/>
                  </a:rPr>
                  <a:t>: số điểm cực của </a:t>
                </a:r>
                <a14:m>
                  <m:oMath xmlns:m="http://schemas.openxmlformats.org/officeDocument/2006/math">
                    <m:r>
                      <a:rPr lang="en-US" sz="1600" i="1">
                        <a:latin typeface="Cambria Math" panose="02040503050406030204" pitchFamily="18" charset="0"/>
                      </a:rPr>
                      <m:t>𝐺</m:t>
                    </m:r>
                    <m:d>
                      <m:dPr>
                        <m:ctrlPr>
                          <a:rPr lang="en-US" sz="1600" i="1">
                            <a:latin typeface="Cambria Math" panose="02040503050406030204" pitchFamily="18" charset="0"/>
                          </a:rPr>
                        </m:ctrlPr>
                      </m:dPr>
                      <m:e>
                        <m:r>
                          <a:rPr lang="en-US" sz="1600" i="1">
                            <a:latin typeface="Cambria Math" panose="02040503050406030204" pitchFamily="18" charset="0"/>
                          </a:rPr>
                          <m:t>𝑠</m:t>
                        </m:r>
                      </m:e>
                    </m:d>
                    <m:r>
                      <a:rPr lang="en-US" sz="1600" i="1">
                        <a:latin typeface="Cambria Math" panose="02040503050406030204" pitchFamily="18" charset="0"/>
                      </a:rPr>
                      <m:t>𝐻</m:t>
                    </m:r>
                    <m:r>
                      <a:rPr lang="en-US" sz="1600" i="1">
                        <a:latin typeface="Cambria Math" panose="02040503050406030204" pitchFamily="18" charset="0"/>
                      </a:rPr>
                      <m:t>(</m:t>
                    </m:r>
                    <m:r>
                      <a:rPr lang="en-US" sz="1600" i="1">
                        <a:latin typeface="Cambria Math" panose="02040503050406030204" pitchFamily="18" charset="0"/>
                      </a:rPr>
                      <m:t>𝑠</m:t>
                    </m:r>
                    <m:r>
                      <a:rPr lang="en-US" sz="1600" b="0" i="0" smtClean="0">
                        <a:latin typeface="Cambria Math" panose="02040503050406030204" pitchFamily="18" charset="0"/>
                      </a:rPr>
                      <m:t>)</m:t>
                    </m:r>
                  </m:oMath>
                </a14:m>
                <a:r>
                  <a:rPr lang="en-VN" sz="1600" dirty="0">
                    <a:latin typeface="Arial" panose="020B0604020202020204" pitchFamily="34" charset="0"/>
                    <a:cs typeface="Arial" panose="020B0604020202020204" pitchFamily="34" charset="0"/>
                  </a:rPr>
                  <a:t> trong chu tuyến A</a:t>
                </a:r>
              </a:p>
              <a:p>
                <a:pPr algn="ctr"/>
                <a14:m>
                  <m:oMath xmlns:m="http://schemas.openxmlformats.org/officeDocument/2006/math">
                    <m:r>
                      <a:rPr lang="en-US" sz="1600" b="0" i="1" smtClean="0">
                        <a:latin typeface="Cambria Math" panose="02040503050406030204" pitchFamily="18" charset="0"/>
                        <a:cs typeface="Arial" panose="020B0604020202020204" pitchFamily="34" charset="0"/>
                      </a:rPr>
                      <m:t>𝑁</m:t>
                    </m:r>
                  </m:oMath>
                </a14:m>
                <a:r>
                  <a:rPr lang="en-VN" sz="1600" dirty="0">
                    <a:latin typeface="Arial" panose="020B0604020202020204" pitchFamily="34" charset="0"/>
                    <a:cs typeface="Arial" panose="020B0604020202020204" pitchFamily="34" charset="0"/>
                  </a:rPr>
                  <a:t>: </a:t>
                </a:r>
                <a:r>
                  <a:rPr lang="vi-VN" sz="1600" dirty="0">
                    <a:latin typeface="Arial" panose="020B0604020202020204" pitchFamily="34" charset="0"/>
                    <a:cs typeface="Arial" panose="020B0604020202020204" pitchFamily="34" charset="0"/>
                  </a:rPr>
                  <a:t>số vòng chu tuyến B chứa gốc toạ độ ngược chiều kim đồng hồ</a:t>
                </a:r>
                <a:endParaRPr lang="en-VN" sz="1600" dirty="0">
                  <a:latin typeface="Arial" panose="020B0604020202020204" pitchFamily="34" charset="0"/>
                  <a:cs typeface="Arial" panose="020B0604020202020204" pitchFamily="34" charset="0"/>
                </a:endParaRPr>
              </a:p>
            </p:txBody>
          </p:sp>
        </mc:Choice>
        <mc:Fallback>
          <p:sp>
            <p:nvSpPr>
              <p:cNvPr id="8" name="Rectangle 7">
                <a:extLst>
                  <a:ext uri="{FF2B5EF4-FFF2-40B4-BE49-F238E27FC236}">
                    <a16:creationId xmlns:a16="http://schemas.microsoft.com/office/drawing/2014/main" id="{9DFB7A5A-CA5E-4CE3-691A-4133127F3C25}"/>
                  </a:ext>
                </a:extLst>
              </p:cNvPr>
              <p:cNvSpPr>
                <a:spLocks noRot="1" noChangeAspect="1" noMove="1" noResize="1" noEditPoints="1" noAdjustHandles="1" noChangeArrowheads="1" noChangeShapeType="1" noTextEdit="1"/>
              </p:cNvSpPr>
              <p:nvPr/>
            </p:nvSpPr>
            <p:spPr>
              <a:xfrm>
                <a:off x="1866900" y="4871492"/>
                <a:ext cx="8458200" cy="1143000"/>
              </a:xfrm>
              <a:prstGeom prst="rect">
                <a:avLst/>
              </a:prstGeom>
              <a:blipFill>
                <a:blip r:embed="rId5"/>
                <a:stretch>
                  <a:fillRect b="-3261"/>
                </a:stretch>
              </a:blipFill>
            </p:spPr>
            <p:txBody>
              <a:bodyPr/>
              <a:lstStyle/>
              <a:p>
                <a:r>
                  <a:rPr lang="en-VN">
                    <a:noFill/>
                  </a:rPr>
                  <a:t> </a:t>
                </a:r>
              </a:p>
            </p:txBody>
          </p:sp>
        </mc:Fallback>
      </mc:AlternateContent>
    </p:spTree>
    <p:extLst>
      <p:ext uri="{BB962C8B-B14F-4D97-AF65-F5344CB8AC3E}">
        <p14:creationId xmlns:p14="http://schemas.microsoft.com/office/powerpoint/2010/main" val="2696332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DE774D3-622E-CAD2-AD9E-AD8BB4E9EBDE}"/>
              </a:ext>
            </a:extLst>
          </p:cNvPr>
          <p:cNvSpPr>
            <a:spLocks noGrp="1"/>
          </p:cNvSpPr>
          <p:nvPr>
            <p:ph type="title"/>
          </p:nvPr>
        </p:nvSpPr>
        <p:spPr/>
        <p:txBody>
          <a:bodyPr/>
          <a:lstStyle/>
          <a:p>
            <a:r>
              <a:rPr lang="en-VN" dirty="0"/>
              <a:t>ĐIỀU KIỆN ỔN ĐỊNH NYQUIST</a:t>
            </a:r>
          </a:p>
        </p:txBody>
      </p:sp>
      <p:pic>
        <p:nvPicPr>
          <p:cNvPr id="5" name="Content Placeholder 4">
            <a:extLst>
              <a:ext uri="{FF2B5EF4-FFF2-40B4-BE49-F238E27FC236}">
                <a16:creationId xmlns:a16="http://schemas.microsoft.com/office/drawing/2014/main" id="{BE47B965-DC3C-4018-186A-4B9947BAC28A}"/>
              </a:ext>
            </a:extLst>
          </p:cNvPr>
          <p:cNvPicPr>
            <a:picLocks noGrp="1" noChangeAspect="1"/>
          </p:cNvPicPr>
          <p:nvPr>
            <p:ph idx="1"/>
          </p:nvPr>
        </p:nvPicPr>
        <p:blipFill>
          <a:blip r:embed="rId2"/>
          <a:stretch>
            <a:fillRect/>
          </a:stretch>
        </p:blipFill>
        <p:spPr>
          <a:xfrm>
            <a:off x="213043" y="2057400"/>
            <a:ext cx="3330610" cy="3052286"/>
          </a:xfrm>
        </p:spPr>
      </p:pic>
      <p:pic>
        <p:nvPicPr>
          <p:cNvPr id="7" name="Picture 9" descr="j0134549[1]">
            <a:extLst>
              <a:ext uri="{FF2B5EF4-FFF2-40B4-BE49-F238E27FC236}">
                <a16:creationId xmlns:a16="http://schemas.microsoft.com/office/drawing/2014/main" id="{19194BEC-B407-9DE8-EB6B-C57AC371B5E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356069" y="1072679"/>
            <a:ext cx="577850" cy="1152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 name="Rectangle 7">
            <a:extLst>
              <a:ext uri="{FF2B5EF4-FFF2-40B4-BE49-F238E27FC236}">
                <a16:creationId xmlns:a16="http://schemas.microsoft.com/office/drawing/2014/main" id="{1E18B0D8-C826-BB88-A1E3-8DDFECDE9866}"/>
              </a:ext>
            </a:extLst>
          </p:cNvPr>
          <p:cNvSpPr/>
          <p:nvPr/>
        </p:nvSpPr>
        <p:spPr>
          <a:xfrm>
            <a:off x="5200650" y="1565910"/>
            <a:ext cx="3177540" cy="49149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VN" dirty="0">
                <a:latin typeface="Arial" panose="020B0604020202020204" pitchFamily="34" charset="0"/>
                <a:cs typeface="Arial" panose="020B0604020202020204" pitchFamily="34" charset="0"/>
              </a:rPr>
              <a:t>Tính ổn định?</a:t>
            </a:r>
          </a:p>
        </p:txBody>
      </p:sp>
      <p:sp>
        <p:nvSpPr>
          <p:cNvPr id="9" name="TextBox 8">
            <a:extLst>
              <a:ext uri="{FF2B5EF4-FFF2-40B4-BE49-F238E27FC236}">
                <a16:creationId xmlns:a16="http://schemas.microsoft.com/office/drawing/2014/main" id="{E766C07C-A4C4-8D03-1134-126500BC4993}"/>
              </a:ext>
            </a:extLst>
          </p:cNvPr>
          <p:cNvSpPr txBox="1"/>
          <p:nvPr/>
        </p:nvSpPr>
        <p:spPr>
          <a:xfrm>
            <a:off x="4091940" y="2189747"/>
            <a:ext cx="7555230" cy="1569660"/>
          </a:xfrm>
          <a:prstGeom prst="rect">
            <a:avLst/>
          </a:prstGeom>
          <a:noFill/>
        </p:spPr>
        <p:txBody>
          <a:bodyPr wrap="square" rtlCol="0">
            <a:spAutoFit/>
          </a:bodyPr>
          <a:lstStyle/>
          <a:p>
            <a:pPr marL="285750" indent="-285750" algn="just">
              <a:buFont typeface="Arial" panose="020B0604020202020204" pitchFamily="34" charset="0"/>
              <a:buChar char="•"/>
            </a:pPr>
            <a:r>
              <a:rPr lang="en-VN" sz="1600" dirty="0">
                <a:latin typeface="Arial" panose="020B0604020202020204" pitchFamily="34" charset="0"/>
                <a:cs typeface="Arial" panose="020B0604020202020204" pitchFamily="34" charset="0"/>
              </a:rPr>
              <a:t>Nếu như chu tuyến A chứa nửa bên phải của mặt phẳng s (</a:t>
            </a:r>
            <a:r>
              <a:rPr lang="en-US" sz="1600" dirty="0">
                <a:effectLst/>
                <a:latin typeface="Arial" panose="020B0604020202020204" pitchFamily="34" charset="0"/>
                <a:ea typeface="Times New Roman" panose="02020603050405020304" pitchFamily="18" charset="0"/>
                <a:cs typeface="Arial" panose="020B0604020202020204" pitchFamily="34" charset="0"/>
              </a:rPr>
              <a:t>Chu </a:t>
            </a:r>
            <a:r>
              <a:rPr lang="en-US" sz="1600" dirty="0" err="1">
                <a:effectLst/>
                <a:latin typeface="Arial" panose="020B0604020202020204" pitchFamily="34" charset="0"/>
                <a:ea typeface="Times New Roman" panose="02020603050405020304" pitchFamily="18" charset="0"/>
                <a:cs typeface="Arial" panose="020B0604020202020204" pitchFamily="34" charset="0"/>
              </a:rPr>
              <a:t>tuyến</a:t>
            </a:r>
            <a:r>
              <a:rPr lang="en-US" sz="1600" dirty="0">
                <a:effectLst/>
                <a:latin typeface="Arial" panose="020B0604020202020204" pitchFamily="34" charset="0"/>
                <a:ea typeface="Times New Roman" panose="02020603050405020304" pitchFamily="18" charset="0"/>
                <a:cs typeface="Arial" panose="020B0604020202020204" pitchFamily="34" charset="0"/>
              </a:rPr>
              <a:t> </a:t>
            </a:r>
            <a:r>
              <a:rPr lang="en-US" sz="1600" dirty="0" err="1">
                <a:effectLst/>
                <a:latin typeface="Arial" panose="020B0604020202020204" pitchFamily="34" charset="0"/>
                <a:ea typeface="Times New Roman" panose="02020603050405020304" pitchFamily="18" charset="0"/>
                <a:cs typeface="Arial" panose="020B0604020202020204" pitchFamily="34" charset="0"/>
              </a:rPr>
              <a:t>này</a:t>
            </a:r>
            <a:r>
              <a:rPr lang="en-US" sz="1600" dirty="0">
                <a:effectLst/>
                <a:latin typeface="Arial" panose="020B0604020202020204" pitchFamily="34" charset="0"/>
                <a:ea typeface="Times New Roman" panose="02020603050405020304" pitchFamily="18" charset="0"/>
                <a:cs typeface="Arial" panose="020B0604020202020204" pitchFamily="34" charset="0"/>
              </a:rPr>
              <a:t> </a:t>
            </a:r>
            <a:r>
              <a:rPr lang="en-US" sz="1600" dirty="0" err="1">
                <a:effectLst/>
                <a:latin typeface="Arial" panose="020B0604020202020204" pitchFamily="34" charset="0"/>
                <a:ea typeface="Times New Roman" panose="02020603050405020304" pitchFamily="18" charset="0"/>
                <a:cs typeface="Arial" panose="020B0604020202020204" pitchFamily="34" charset="0"/>
              </a:rPr>
              <a:t>được</a:t>
            </a:r>
            <a:r>
              <a:rPr lang="en-US" sz="1600" dirty="0">
                <a:effectLst/>
                <a:latin typeface="Arial" panose="020B0604020202020204" pitchFamily="34" charset="0"/>
                <a:ea typeface="Times New Roman" panose="02020603050405020304" pitchFamily="18" charset="0"/>
                <a:cs typeface="Arial" panose="020B0604020202020204" pitchFamily="34" charset="0"/>
              </a:rPr>
              <a:t> </a:t>
            </a:r>
            <a:r>
              <a:rPr lang="en-US" sz="1600" dirty="0" err="1">
                <a:effectLst/>
                <a:latin typeface="Arial" panose="020B0604020202020204" pitchFamily="34" charset="0"/>
                <a:ea typeface="Times New Roman" panose="02020603050405020304" pitchFamily="18" charset="0"/>
                <a:cs typeface="Arial" panose="020B0604020202020204" pitchFamily="34" charset="0"/>
              </a:rPr>
              <a:t>tạo</a:t>
            </a:r>
            <a:r>
              <a:rPr lang="en-US" sz="1600" dirty="0">
                <a:effectLst/>
                <a:latin typeface="Arial" panose="020B0604020202020204" pitchFamily="34" charset="0"/>
                <a:ea typeface="Times New Roman" panose="02020603050405020304" pitchFamily="18" charset="0"/>
                <a:cs typeface="Arial" panose="020B0604020202020204" pitchFamily="34" charset="0"/>
              </a:rPr>
              <a:t> </a:t>
            </a:r>
            <a:r>
              <a:rPr lang="en-US" sz="1600" dirty="0" err="1">
                <a:effectLst/>
                <a:latin typeface="Arial" panose="020B0604020202020204" pitchFamily="34" charset="0"/>
                <a:ea typeface="Times New Roman" panose="02020603050405020304" pitchFamily="18" charset="0"/>
                <a:cs typeface="Arial" panose="020B0604020202020204" pitchFamily="34" charset="0"/>
              </a:rPr>
              <a:t>thành</a:t>
            </a:r>
            <a:r>
              <a:rPr lang="en-US" sz="1600" dirty="0">
                <a:effectLst/>
                <a:latin typeface="Arial" panose="020B0604020202020204" pitchFamily="34" charset="0"/>
                <a:ea typeface="Times New Roman" panose="02020603050405020304" pitchFamily="18" charset="0"/>
                <a:cs typeface="Arial" panose="020B0604020202020204" pitchFamily="34" charset="0"/>
              </a:rPr>
              <a:t> </a:t>
            </a:r>
            <a:r>
              <a:rPr lang="en-US" sz="1600" dirty="0" err="1">
                <a:effectLst/>
                <a:latin typeface="Arial" panose="020B0604020202020204" pitchFamily="34" charset="0"/>
                <a:ea typeface="Times New Roman" panose="02020603050405020304" pitchFamily="18" charset="0"/>
                <a:cs typeface="Arial" panose="020B0604020202020204" pitchFamily="34" charset="0"/>
              </a:rPr>
              <a:t>bởi</a:t>
            </a:r>
            <a:r>
              <a:rPr lang="en-US" sz="1600" dirty="0">
                <a:effectLst/>
                <a:latin typeface="Arial" panose="020B0604020202020204" pitchFamily="34" charset="0"/>
                <a:ea typeface="Times New Roman" panose="02020603050405020304" pitchFamily="18" charset="0"/>
                <a:cs typeface="Arial" panose="020B0604020202020204" pitchFamily="34" charset="0"/>
              </a:rPr>
              <a:t> </a:t>
            </a:r>
            <a:r>
              <a:rPr lang="en-US" sz="1600" dirty="0" err="1">
                <a:effectLst/>
                <a:latin typeface="Arial" panose="020B0604020202020204" pitchFamily="34" charset="0"/>
                <a:ea typeface="Times New Roman" panose="02020603050405020304" pitchFamily="18" charset="0"/>
                <a:cs typeface="Arial" panose="020B0604020202020204" pitchFamily="34" charset="0"/>
              </a:rPr>
              <a:t>trục</a:t>
            </a:r>
            <a:r>
              <a:rPr lang="en-US" sz="1600" dirty="0">
                <a:effectLst/>
                <a:latin typeface="Arial" panose="020B0604020202020204" pitchFamily="34" charset="0"/>
                <a:ea typeface="Times New Roman" panose="02020603050405020304" pitchFamily="18" charset="0"/>
                <a:cs typeface="Arial" panose="020B0604020202020204" pitchFamily="34" charset="0"/>
              </a:rPr>
              <a:t> </a:t>
            </a:r>
            <a:r>
              <a:rPr lang="en-US" sz="1600" dirty="0" err="1">
                <a:effectLst/>
                <a:latin typeface="Arial" panose="020B0604020202020204" pitchFamily="34" charset="0"/>
                <a:ea typeface="Times New Roman" panose="02020603050405020304" pitchFamily="18" charset="0"/>
                <a:cs typeface="Arial" panose="020B0604020202020204" pitchFamily="34" charset="0"/>
              </a:rPr>
              <a:t>ảo</a:t>
            </a:r>
            <a:r>
              <a:rPr lang="en-US" sz="1600" dirty="0">
                <a:effectLst/>
                <a:latin typeface="Arial" panose="020B0604020202020204" pitchFamily="34" charset="0"/>
                <a:ea typeface="Times New Roman" panose="02020603050405020304" pitchFamily="18" charset="0"/>
                <a:cs typeface="Arial" panose="020B0604020202020204" pitchFamily="34" charset="0"/>
              </a:rPr>
              <a:t> </a:t>
            </a:r>
            <a:r>
              <a:rPr lang="en-US" sz="1600" dirty="0" err="1">
                <a:effectLst/>
                <a:latin typeface="Arial" panose="020B0604020202020204" pitchFamily="34" charset="0"/>
                <a:ea typeface="Times New Roman" panose="02020603050405020304" pitchFamily="18" charset="0"/>
                <a:cs typeface="Arial" panose="020B0604020202020204" pitchFamily="34" charset="0"/>
              </a:rPr>
              <a:t>của</a:t>
            </a:r>
            <a:r>
              <a:rPr lang="en-US" sz="1600" dirty="0">
                <a:effectLst/>
                <a:latin typeface="Arial" panose="020B0604020202020204" pitchFamily="34" charset="0"/>
                <a:ea typeface="Times New Roman" panose="02020603050405020304" pitchFamily="18" charset="0"/>
                <a:cs typeface="Arial" panose="020B0604020202020204" pitchFamily="34" charset="0"/>
              </a:rPr>
              <a:t> </a:t>
            </a:r>
            <a:r>
              <a:rPr lang="en-US" sz="1600" dirty="0" err="1">
                <a:effectLst/>
                <a:latin typeface="Arial" panose="020B0604020202020204" pitchFamily="34" charset="0"/>
                <a:ea typeface="Times New Roman" panose="02020603050405020304" pitchFamily="18" charset="0"/>
                <a:cs typeface="Arial" panose="020B0604020202020204" pitchFamily="34" charset="0"/>
              </a:rPr>
              <a:t>mặt</a:t>
            </a:r>
            <a:r>
              <a:rPr lang="en-US" sz="1600" dirty="0">
                <a:effectLst/>
                <a:latin typeface="Arial" panose="020B0604020202020204" pitchFamily="34" charset="0"/>
                <a:ea typeface="Times New Roman" panose="02020603050405020304" pitchFamily="18" charset="0"/>
                <a:cs typeface="Arial" panose="020B0604020202020204" pitchFamily="34" charset="0"/>
              </a:rPr>
              <a:t> </a:t>
            </a:r>
            <a:r>
              <a:rPr lang="en-US" sz="1600" dirty="0" err="1">
                <a:effectLst/>
                <a:latin typeface="Arial" panose="020B0604020202020204" pitchFamily="34" charset="0"/>
                <a:ea typeface="Times New Roman" panose="02020603050405020304" pitchFamily="18" charset="0"/>
                <a:cs typeface="Arial" panose="020B0604020202020204" pitchFamily="34" charset="0"/>
              </a:rPr>
              <a:t>phẳng</a:t>
            </a:r>
            <a:r>
              <a:rPr lang="en-US" sz="1600" dirty="0">
                <a:effectLst/>
                <a:latin typeface="Arial" panose="020B0604020202020204" pitchFamily="34" charset="0"/>
                <a:ea typeface="Times New Roman" panose="02020603050405020304" pitchFamily="18" charset="0"/>
                <a:cs typeface="Arial" panose="020B0604020202020204" pitchFamily="34" charset="0"/>
              </a:rPr>
              <a:t> </a:t>
            </a:r>
            <a:r>
              <a:rPr lang="en-US" sz="1600" i="1" dirty="0">
                <a:effectLst/>
                <a:latin typeface="Arial" panose="020B0604020202020204" pitchFamily="34" charset="0"/>
                <a:ea typeface="Times New Roman" panose="02020603050405020304" pitchFamily="18" charset="0"/>
                <a:cs typeface="Arial" panose="020B0604020202020204" pitchFamily="34" charset="0"/>
              </a:rPr>
              <a:t>s</a:t>
            </a:r>
            <a:r>
              <a:rPr lang="en-US" sz="1600" dirty="0">
                <a:effectLst/>
                <a:latin typeface="Arial" panose="020B0604020202020204" pitchFamily="34" charset="0"/>
                <a:ea typeface="Times New Roman" panose="02020603050405020304" pitchFamily="18" charset="0"/>
                <a:cs typeface="Arial" panose="020B0604020202020204" pitchFamily="34" charset="0"/>
              </a:rPr>
              <a:t> </a:t>
            </a:r>
            <a:r>
              <a:rPr lang="en-US" sz="1600" dirty="0" err="1">
                <a:effectLst/>
                <a:latin typeface="Arial" panose="020B0604020202020204" pitchFamily="34" charset="0"/>
                <a:ea typeface="Times New Roman" panose="02020603050405020304" pitchFamily="18" charset="0"/>
                <a:cs typeface="Arial" panose="020B0604020202020204" pitchFamily="34" charset="0"/>
              </a:rPr>
              <a:t>và</a:t>
            </a:r>
            <a:r>
              <a:rPr lang="en-US" sz="1600" dirty="0">
                <a:effectLst/>
                <a:latin typeface="Arial" panose="020B0604020202020204" pitchFamily="34" charset="0"/>
                <a:ea typeface="Times New Roman" panose="02020603050405020304" pitchFamily="18" charset="0"/>
                <a:cs typeface="Arial" panose="020B0604020202020204" pitchFamily="34" charset="0"/>
              </a:rPr>
              <a:t> </a:t>
            </a:r>
            <a:r>
              <a:rPr lang="en-US" sz="1600" dirty="0" err="1">
                <a:effectLst/>
                <a:latin typeface="Arial" panose="020B0604020202020204" pitchFamily="34" charset="0"/>
                <a:ea typeface="Times New Roman" panose="02020603050405020304" pitchFamily="18" charset="0"/>
                <a:cs typeface="Arial" panose="020B0604020202020204" pitchFamily="34" charset="0"/>
              </a:rPr>
              <a:t>một</a:t>
            </a:r>
            <a:r>
              <a:rPr lang="en-US" sz="1600" dirty="0">
                <a:effectLst/>
                <a:latin typeface="Arial" panose="020B0604020202020204" pitchFamily="34" charset="0"/>
                <a:ea typeface="Times New Roman" panose="02020603050405020304" pitchFamily="18" charset="0"/>
                <a:cs typeface="Arial" panose="020B0604020202020204" pitchFamily="34" charset="0"/>
              </a:rPr>
              <a:t> </a:t>
            </a:r>
            <a:r>
              <a:rPr lang="en-US" sz="1600" dirty="0" err="1">
                <a:effectLst/>
                <a:latin typeface="Arial" panose="020B0604020202020204" pitchFamily="34" charset="0"/>
                <a:ea typeface="Times New Roman" panose="02020603050405020304" pitchFamily="18" charset="0"/>
                <a:cs typeface="Arial" panose="020B0604020202020204" pitchFamily="34" charset="0"/>
              </a:rPr>
              <a:t>nửa</a:t>
            </a:r>
            <a:r>
              <a:rPr lang="en-US" sz="1600" dirty="0">
                <a:effectLst/>
                <a:latin typeface="Arial" panose="020B0604020202020204" pitchFamily="34" charset="0"/>
                <a:ea typeface="Times New Roman" panose="02020603050405020304" pitchFamily="18" charset="0"/>
                <a:cs typeface="Arial" panose="020B0604020202020204" pitchFamily="34" charset="0"/>
              </a:rPr>
              <a:t> </a:t>
            </a:r>
            <a:r>
              <a:rPr lang="en-US" sz="1600" dirty="0" err="1">
                <a:effectLst/>
                <a:latin typeface="Arial" panose="020B0604020202020204" pitchFamily="34" charset="0"/>
                <a:ea typeface="Times New Roman" panose="02020603050405020304" pitchFamily="18" charset="0"/>
                <a:cs typeface="Arial" panose="020B0604020202020204" pitchFamily="34" charset="0"/>
              </a:rPr>
              <a:t>đường</a:t>
            </a:r>
            <a:r>
              <a:rPr lang="en-US" sz="1600" dirty="0">
                <a:effectLst/>
                <a:latin typeface="Arial" panose="020B0604020202020204" pitchFamily="34" charset="0"/>
                <a:ea typeface="Times New Roman" panose="02020603050405020304" pitchFamily="18" charset="0"/>
                <a:cs typeface="Arial" panose="020B0604020202020204" pitchFamily="34" charset="0"/>
              </a:rPr>
              <a:t> </a:t>
            </a:r>
            <a:r>
              <a:rPr lang="en-US" sz="1600" dirty="0" err="1">
                <a:effectLst/>
                <a:latin typeface="Arial" panose="020B0604020202020204" pitchFamily="34" charset="0"/>
                <a:ea typeface="Times New Roman" panose="02020603050405020304" pitchFamily="18" charset="0"/>
                <a:cs typeface="Arial" panose="020B0604020202020204" pitchFamily="34" charset="0"/>
              </a:rPr>
              <a:t>tròn</a:t>
            </a:r>
            <a:r>
              <a:rPr lang="en-US" sz="1600" dirty="0">
                <a:effectLst/>
                <a:latin typeface="Arial" panose="020B0604020202020204" pitchFamily="34" charset="0"/>
                <a:ea typeface="Times New Roman" panose="02020603050405020304" pitchFamily="18" charset="0"/>
                <a:cs typeface="Arial" panose="020B0604020202020204" pitchFamily="34" charset="0"/>
              </a:rPr>
              <a:t> </a:t>
            </a:r>
            <a:r>
              <a:rPr lang="en-US" sz="1600" dirty="0" err="1">
                <a:effectLst/>
                <a:latin typeface="Arial" panose="020B0604020202020204" pitchFamily="34" charset="0"/>
                <a:ea typeface="Times New Roman" panose="02020603050405020304" pitchFamily="18" charset="0"/>
                <a:cs typeface="Arial" panose="020B0604020202020204" pitchFamily="34" charset="0"/>
              </a:rPr>
              <a:t>nằm</a:t>
            </a:r>
            <a:r>
              <a:rPr lang="en-US" sz="1600" dirty="0">
                <a:effectLst/>
                <a:latin typeface="Arial" panose="020B0604020202020204" pitchFamily="34" charset="0"/>
                <a:ea typeface="Times New Roman" panose="02020603050405020304" pitchFamily="18" charset="0"/>
                <a:cs typeface="Arial" panose="020B0604020202020204" pitchFamily="34" charset="0"/>
              </a:rPr>
              <a:t> </a:t>
            </a:r>
            <a:r>
              <a:rPr lang="en-US" sz="1600" dirty="0" err="1">
                <a:effectLst/>
                <a:latin typeface="Arial" panose="020B0604020202020204" pitchFamily="34" charset="0"/>
                <a:ea typeface="Times New Roman" panose="02020603050405020304" pitchFamily="18" charset="0"/>
                <a:cs typeface="Arial" panose="020B0604020202020204" pitchFamily="34" charset="0"/>
              </a:rPr>
              <a:t>bên</a:t>
            </a:r>
            <a:r>
              <a:rPr lang="en-US" sz="1600" dirty="0">
                <a:effectLst/>
                <a:latin typeface="Arial" panose="020B0604020202020204" pitchFamily="34" charset="0"/>
                <a:ea typeface="Times New Roman" panose="02020603050405020304" pitchFamily="18" charset="0"/>
                <a:cs typeface="Arial" panose="020B0604020202020204" pitchFamily="34" charset="0"/>
              </a:rPr>
              <a:t> </a:t>
            </a:r>
            <a:r>
              <a:rPr lang="en-US" sz="1600" dirty="0" err="1">
                <a:effectLst/>
                <a:latin typeface="Arial" panose="020B0604020202020204" pitchFamily="34" charset="0"/>
                <a:ea typeface="Times New Roman" panose="02020603050405020304" pitchFamily="18" charset="0"/>
                <a:cs typeface="Arial" panose="020B0604020202020204" pitchFamily="34" charset="0"/>
              </a:rPr>
              <a:t>phải</a:t>
            </a:r>
            <a:r>
              <a:rPr lang="en-US" sz="1600" dirty="0">
                <a:effectLst/>
                <a:latin typeface="Arial" panose="020B0604020202020204" pitchFamily="34" charset="0"/>
                <a:ea typeface="Times New Roman" panose="02020603050405020304" pitchFamily="18" charset="0"/>
                <a:cs typeface="Arial" panose="020B0604020202020204" pitchFamily="34" charset="0"/>
              </a:rPr>
              <a:t> </a:t>
            </a:r>
            <a:r>
              <a:rPr lang="en-US" sz="1600" dirty="0" err="1">
                <a:effectLst/>
                <a:latin typeface="Arial" panose="020B0604020202020204" pitchFamily="34" charset="0"/>
                <a:ea typeface="Times New Roman" panose="02020603050405020304" pitchFamily="18" charset="0"/>
                <a:cs typeface="Arial" panose="020B0604020202020204" pitchFamily="34" charset="0"/>
              </a:rPr>
              <a:t>trục</a:t>
            </a:r>
            <a:r>
              <a:rPr lang="en-US" sz="1600" dirty="0">
                <a:effectLst/>
                <a:latin typeface="Arial" panose="020B0604020202020204" pitchFamily="34" charset="0"/>
                <a:ea typeface="Times New Roman" panose="02020603050405020304" pitchFamily="18" charset="0"/>
                <a:cs typeface="Arial" panose="020B0604020202020204" pitchFamily="34" charset="0"/>
              </a:rPr>
              <a:t> </a:t>
            </a:r>
            <a:r>
              <a:rPr lang="en-US" sz="1600" dirty="0" err="1">
                <a:effectLst/>
                <a:latin typeface="Arial" panose="020B0604020202020204" pitchFamily="34" charset="0"/>
                <a:ea typeface="Times New Roman" panose="02020603050405020304" pitchFamily="18" charset="0"/>
                <a:cs typeface="Arial" panose="020B0604020202020204" pitchFamily="34" charset="0"/>
              </a:rPr>
              <a:t>ảo</a:t>
            </a:r>
            <a:r>
              <a:rPr lang="en-US" sz="1600" dirty="0">
                <a:effectLst/>
                <a:latin typeface="Arial" panose="020B0604020202020204" pitchFamily="34" charset="0"/>
                <a:ea typeface="Times New Roman" panose="02020603050405020304" pitchFamily="18" charset="0"/>
                <a:cs typeface="Arial" panose="020B0604020202020204" pitchFamily="34" charset="0"/>
              </a:rPr>
              <a:t>, </a:t>
            </a:r>
            <a:r>
              <a:rPr lang="en-US" sz="1600" dirty="0" err="1">
                <a:effectLst/>
                <a:latin typeface="Arial" panose="020B0604020202020204" pitchFamily="34" charset="0"/>
                <a:ea typeface="Times New Roman" panose="02020603050405020304" pitchFamily="18" charset="0"/>
                <a:cs typeface="Arial" panose="020B0604020202020204" pitchFamily="34" charset="0"/>
              </a:rPr>
              <a:t>có</a:t>
            </a:r>
            <a:r>
              <a:rPr lang="en-US" sz="1600" dirty="0">
                <a:effectLst/>
                <a:latin typeface="Arial" panose="020B0604020202020204" pitchFamily="34" charset="0"/>
                <a:ea typeface="Times New Roman" panose="02020603050405020304" pitchFamily="18" charset="0"/>
                <a:cs typeface="Arial" panose="020B0604020202020204" pitchFamily="34" charset="0"/>
              </a:rPr>
              <a:t> </a:t>
            </a:r>
            <a:r>
              <a:rPr lang="en-US" sz="1600" dirty="0" err="1">
                <a:effectLst/>
                <a:latin typeface="Arial" panose="020B0604020202020204" pitchFamily="34" charset="0"/>
                <a:ea typeface="Times New Roman" panose="02020603050405020304" pitchFamily="18" charset="0"/>
                <a:cs typeface="Arial" panose="020B0604020202020204" pitchFamily="34" charset="0"/>
              </a:rPr>
              <a:t>tâm</a:t>
            </a:r>
            <a:r>
              <a:rPr lang="en-US" sz="1600" dirty="0">
                <a:effectLst/>
                <a:latin typeface="Arial" panose="020B0604020202020204" pitchFamily="34" charset="0"/>
                <a:ea typeface="Times New Roman" panose="02020603050405020304" pitchFamily="18" charset="0"/>
                <a:cs typeface="Arial" panose="020B0604020202020204" pitchFamily="34" charset="0"/>
              </a:rPr>
              <a:t> </a:t>
            </a:r>
            <a:r>
              <a:rPr lang="en-US" sz="1600" dirty="0" err="1">
                <a:effectLst/>
                <a:latin typeface="Arial" panose="020B0604020202020204" pitchFamily="34" charset="0"/>
                <a:ea typeface="Times New Roman" panose="02020603050405020304" pitchFamily="18" charset="0"/>
                <a:cs typeface="Arial" panose="020B0604020202020204" pitchFamily="34" charset="0"/>
              </a:rPr>
              <a:t>tại</a:t>
            </a:r>
            <a:r>
              <a:rPr lang="en-US" sz="1600" dirty="0">
                <a:effectLst/>
                <a:latin typeface="Arial" panose="020B0604020202020204" pitchFamily="34" charset="0"/>
                <a:ea typeface="Times New Roman" panose="02020603050405020304" pitchFamily="18" charset="0"/>
                <a:cs typeface="Arial" panose="020B0604020202020204" pitchFamily="34" charset="0"/>
              </a:rPr>
              <a:t> </a:t>
            </a:r>
            <a:r>
              <a:rPr lang="en-US" sz="1600" dirty="0" err="1">
                <a:effectLst/>
                <a:latin typeface="Arial" panose="020B0604020202020204" pitchFamily="34" charset="0"/>
                <a:ea typeface="Times New Roman" panose="02020603050405020304" pitchFamily="18" charset="0"/>
                <a:cs typeface="Arial" panose="020B0604020202020204" pitchFamily="34" charset="0"/>
              </a:rPr>
              <a:t>gốc</a:t>
            </a:r>
            <a:r>
              <a:rPr lang="en-US" sz="1600" dirty="0">
                <a:effectLst/>
                <a:latin typeface="Arial" panose="020B0604020202020204" pitchFamily="34" charset="0"/>
                <a:ea typeface="Times New Roman" panose="02020603050405020304" pitchFamily="18" charset="0"/>
                <a:cs typeface="Arial" panose="020B0604020202020204" pitchFamily="34" charset="0"/>
              </a:rPr>
              <a:t> </a:t>
            </a:r>
            <a:r>
              <a:rPr lang="en-US" sz="1600" dirty="0" err="1">
                <a:effectLst/>
                <a:latin typeface="Arial" panose="020B0604020202020204" pitchFamily="34" charset="0"/>
                <a:ea typeface="Times New Roman" panose="02020603050405020304" pitchFamily="18" charset="0"/>
                <a:cs typeface="Arial" panose="020B0604020202020204" pitchFamily="34" charset="0"/>
              </a:rPr>
              <a:t>tọa</a:t>
            </a:r>
            <a:r>
              <a:rPr lang="en-US" sz="1600" dirty="0">
                <a:effectLst/>
                <a:latin typeface="Arial" panose="020B0604020202020204" pitchFamily="34" charset="0"/>
                <a:ea typeface="Times New Roman" panose="02020603050405020304" pitchFamily="18" charset="0"/>
                <a:cs typeface="Arial" panose="020B0604020202020204" pitchFamily="34" charset="0"/>
              </a:rPr>
              <a:t> </a:t>
            </a:r>
            <a:r>
              <a:rPr lang="en-US" sz="1600" dirty="0" err="1">
                <a:effectLst/>
                <a:latin typeface="Arial" panose="020B0604020202020204" pitchFamily="34" charset="0"/>
                <a:ea typeface="Times New Roman" panose="02020603050405020304" pitchFamily="18" charset="0"/>
                <a:cs typeface="Arial" panose="020B0604020202020204" pitchFamily="34" charset="0"/>
              </a:rPr>
              <a:t>độ</a:t>
            </a:r>
            <a:r>
              <a:rPr lang="en-US" sz="1600" dirty="0">
                <a:effectLst/>
                <a:latin typeface="Arial" panose="020B0604020202020204" pitchFamily="34" charset="0"/>
                <a:ea typeface="Times New Roman" panose="02020603050405020304" pitchFamily="18" charset="0"/>
                <a:cs typeface="Arial" panose="020B0604020202020204" pitchFamily="34" charset="0"/>
              </a:rPr>
              <a:t> </a:t>
            </a:r>
            <a:r>
              <a:rPr lang="en-US" sz="1600" dirty="0" err="1">
                <a:effectLst/>
                <a:latin typeface="Arial" panose="020B0604020202020204" pitchFamily="34" charset="0"/>
                <a:ea typeface="Times New Roman" panose="02020603050405020304" pitchFamily="18" charset="0"/>
                <a:cs typeface="Arial" panose="020B0604020202020204" pitchFamily="34" charset="0"/>
              </a:rPr>
              <a:t>và</a:t>
            </a:r>
            <a:r>
              <a:rPr lang="en-US" sz="1600" dirty="0">
                <a:effectLst/>
                <a:latin typeface="Arial" panose="020B0604020202020204" pitchFamily="34" charset="0"/>
                <a:ea typeface="Times New Roman" panose="02020603050405020304" pitchFamily="18" charset="0"/>
                <a:cs typeface="Arial" panose="020B0604020202020204" pitchFamily="34" charset="0"/>
              </a:rPr>
              <a:t> </a:t>
            </a:r>
            <a:r>
              <a:rPr lang="en-US" sz="1600" dirty="0" err="1">
                <a:effectLst/>
                <a:latin typeface="Arial" panose="020B0604020202020204" pitchFamily="34" charset="0"/>
                <a:ea typeface="Times New Roman" panose="02020603050405020304" pitchFamily="18" charset="0"/>
                <a:cs typeface="Arial" panose="020B0604020202020204" pitchFamily="34" charset="0"/>
              </a:rPr>
              <a:t>bán</a:t>
            </a:r>
            <a:r>
              <a:rPr lang="en-US" sz="1600" dirty="0">
                <a:effectLst/>
                <a:latin typeface="Arial" panose="020B0604020202020204" pitchFamily="34" charset="0"/>
                <a:ea typeface="Times New Roman" panose="02020603050405020304" pitchFamily="18" charset="0"/>
                <a:cs typeface="Arial" panose="020B0604020202020204" pitchFamily="34" charset="0"/>
              </a:rPr>
              <a:t> </a:t>
            </a:r>
            <a:r>
              <a:rPr lang="en-US" sz="1600" dirty="0" err="1">
                <a:effectLst/>
                <a:latin typeface="Arial" panose="020B0604020202020204" pitchFamily="34" charset="0"/>
                <a:ea typeface="Times New Roman" panose="02020603050405020304" pitchFamily="18" charset="0"/>
                <a:cs typeface="Arial" panose="020B0604020202020204" pitchFamily="34" charset="0"/>
              </a:rPr>
              <a:t>kính</a:t>
            </a:r>
            <a:r>
              <a:rPr lang="en-US" sz="1600" dirty="0">
                <a:effectLst/>
                <a:latin typeface="Arial" panose="020B0604020202020204" pitchFamily="34" charset="0"/>
                <a:ea typeface="Times New Roman" panose="02020603050405020304" pitchFamily="18" charset="0"/>
                <a:cs typeface="Arial" panose="020B0604020202020204" pitchFamily="34" charset="0"/>
              </a:rPr>
              <a:t> </a:t>
            </a:r>
            <a:r>
              <a:rPr lang="en-US" sz="1600" i="1" dirty="0">
                <a:effectLst/>
                <a:latin typeface="Arial" panose="020B0604020202020204" pitchFamily="34" charset="0"/>
                <a:ea typeface="Times New Roman" panose="02020603050405020304" pitchFamily="18" charset="0"/>
                <a:cs typeface="Arial" panose="020B0604020202020204" pitchFamily="34" charset="0"/>
              </a:rPr>
              <a:t>r</a:t>
            </a:r>
            <a:r>
              <a:rPr lang="en-US" sz="1600" dirty="0">
                <a:effectLst/>
                <a:latin typeface="Arial" panose="020B0604020202020204" pitchFamily="34" charset="0"/>
                <a:ea typeface="Times New Roman" panose="02020603050405020304" pitchFamily="18" charset="0"/>
                <a:cs typeface="Arial" panose="020B0604020202020204" pitchFamily="34" charset="0"/>
              </a:rPr>
              <a:t> </a:t>
            </a:r>
            <a:r>
              <a:rPr lang="en-US" sz="1600" dirty="0">
                <a:effectLst/>
                <a:latin typeface="Arial" panose="020B0604020202020204" pitchFamily="34" charset="0"/>
                <a:ea typeface="Times New Roman" panose="02020603050405020304" pitchFamily="18" charset="0"/>
                <a:cs typeface="Arial" panose="020B0604020202020204" pitchFamily="34" charset="0"/>
                <a:sym typeface="Symbol" pitchFamily="2" charset="2"/>
              </a:rPr>
              <a:t></a:t>
            </a:r>
            <a:r>
              <a:rPr lang="en-US" sz="1600" dirty="0">
                <a:effectLst/>
                <a:latin typeface="Arial" panose="020B0604020202020204" pitchFamily="34" charset="0"/>
                <a:ea typeface="Times New Roman" panose="02020603050405020304" pitchFamily="18" charset="0"/>
                <a:cs typeface="Arial" panose="020B0604020202020204" pitchFamily="34" charset="0"/>
              </a:rPr>
              <a:t> </a:t>
            </a:r>
            <a:r>
              <a:rPr lang="en-US" sz="1600" dirty="0">
                <a:effectLst/>
                <a:latin typeface="Arial" panose="020B0604020202020204" pitchFamily="34" charset="0"/>
                <a:ea typeface="Times New Roman" panose="02020603050405020304" pitchFamily="18" charset="0"/>
                <a:cs typeface="Arial" panose="020B0604020202020204" pitchFamily="34" charset="0"/>
                <a:sym typeface="Symbol" pitchFamily="2" charset="2"/>
              </a:rPr>
              <a:t>)</a:t>
            </a:r>
            <a:r>
              <a:rPr lang="en-VN" sz="1600" dirty="0">
                <a:effectLst/>
                <a:latin typeface="Arial" panose="020B0604020202020204" pitchFamily="34" charset="0"/>
                <a:cs typeface="Arial" panose="020B0604020202020204" pitchFamily="34" charset="0"/>
              </a:rPr>
              <a:t> </a:t>
            </a:r>
            <a:endParaRPr lang="en-VN" sz="1600" dirty="0">
              <a:latin typeface="Arial" panose="020B0604020202020204" pitchFamily="34" charset="0"/>
              <a:cs typeface="Arial" panose="020B0604020202020204" pitchFamily="34" charset="0"/>
            </a:endParaRPr>
          </a:p>
          <a:p>
            <a:pPr algn="just"/>
            <a:r>
              <a:rPr lang="en-VN" sz="1600" dirty="0">
                <a:latin typeface="Arial" panose="020B0604020202020204" pitchFamily="34" charset="0"/>
                <a:cs typeface="Arial" panose="020B0604020202020204" pitchFamily="34" charset="0"/>
              </a:rPr>
              <a:t>➔ Xác định được số điểm cực của hệ thống vòng kín nằm nửa bên phải của mặt phẳng s</a:t>
            </a:r>
          </a:p>
          <a:p>
            <a:pPr algn="just"/>
            <a:r>
              <a:rPr lang="en-VN" sz="1600" dirty="0">
                <a:latin typeface="Arial" panose="020B0604020202020204" pitchFamily="34" charset="0"/>
                <a:cs typeface="Arial" panose="020B0604020202020204" pitchFamily="34" charset="0"/>
              </a:rPr>
              <a:t> ➔ Kết luận về tính ổn định của hệ thống.</a:t>
            </a:r>
          </a:p>
        </p:txBody>
      </p:sp>
      <mc:AlternateContent xmlns:mc="http://schemas.openxmlformats.org/markup-compatibility/2006">
        <mc:Choice xmlns:a14="http://schemas.microsoft.com/office/drawing/2010/main" Requires="a14">
          <p:sp>
            <p:nvSpPr>
              <p:cNvPr id="10" name="Rectangle 9">
                <a:extLst>
                  <a:ext uri="{FF2B5EF4-FFF2-40B4-BE49-F238E27FC236}">
                    <a16:creationId xmlns:a16="http://schemas.microsoft.com/office/drawing/2014/main" id="{5526AF0B-0668-B394-96C2-DF87CC2DA5D1}"/>
                  </a:ext>
                </a:extLst>
              </p:cNvPr>
              <p:cNvSpPr/>
              <p:nvPr/>
            </p:nvSpPr>
            <p:spPr>
              <a:xfrm>
                <a:off x="4356069" y="3982703"/>
                <a:ext cx="6183630" cy="49149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VN" dirty="0">
                    <a:latin typeface="Arial" panose="020B0604020202020204" pitchFamily="34" charset="0"/>
                    <a:cs typeface="Arial" panose="020B0604020202020204" pitchFamily="34" charset="0"/>
                  </a:rPr>
                  <a:t>Làm sao để tìm được </a:t>
                </a:r>
                <a14:m>
                  <m:oMath xmlns:m="http://schemas.openxmlformats.org/officeDocument/2006/math">
                    <m:r>
                      <a:rPr lang="en-US" b="0" i="1" smtClean="0">
                        <a:latin typeface="Cambria Math" panose="02040503050406030204" pitchFamily="18" charset="0"/>
                        <a:cs typeface="Arial" panose="020B0604020202020204" pitchFamily="34" charset="0"/>
                      </a:rPr>
                      <m:t>𝑁</m:t>
                    </m:r>
                  </m:oMath>
                </a14:m>
                <a:r>
                  <a:rPr lang="en-VN" dirty="0">
                    <a:latin typeface="Arial" panose="020B0604020202020204" pitchFamily="34" charset="0"/>
                    <a:cs typeface="Arial" panose="020B0604020202020204" pitchFamily="34" charset="0"/>
                  </a:rPr>
                  <a:t>?</a:t>
                </a:r>
              </a:p>
            </p:txBody>
          </p:sp>
        </mc:Choice>
        <mc:Fallback>
          <p:sp>
            <p:nvSpPr>
              <p:cNvPr id="10" name="Rectangle 9">
                <a:extLst>
                  <a:ext uri="{FF2B5EF4-FFF2-40B4-BE49-F238E27FC236}">
                    <a16:creationId xmlns:a16="http://schemas.microsoft.com/office/drawing/2014/main" id="{5526AF0B-0668-B394-96C2-DF87CC2DA5D1}"/>
                  </a:ext>
                </a:extLst>
              </p:cNvPr>
              <p:cNvSpPr>
                <a:spLocks noRot="1" noChangeAspect="1" noMove="1" noResize="1" noEditPoints="1" noAdjustHandles="1" noChangeArrowheads="1" noChangeShapeType="1" noTextEdit="1"/>
              </p:cNvSpPr>
              <p:nvPr/>
            </p:nvSpPr>
            <p:spPr>
              <a:xfrm>
                <a:off x="4356069" y="3982703"/>
                <a:ext cx="6183630" cy="491490"/>
              </a:xfrm>
              <a:prstGeom prst="rect">
                <a:avLst/>
              </a:prstGeom>
              <a:blipFill>
                <a:blip r:embed="rId4"/>
                <a:stretch>
                  <a:fillRect b="-4762"/>
                </a:stretch>
              </a:blipFill>
            </p:spPr>
            <p:txBody>
              <a:bodyPr/>
              <a:lstStyle/>
              <a:p>
                <a:r>
                  <a:rPr lang="en-VN">
                    <a:noFill/>
                  </a:rPr>
                  <a:t> </a:t>
                </a:r>
              </a:p>
            </p:txBody>
          </p:sp>
        </mc:Fallback>
      </mc:AlternateContent>
      <mc:AlternateContent xmlns:mc="http://schemas.openxmlformats.org/markup-compatibility/2006">
        <mc:Choice xmlns:a14="http://schemas.microsoft.com/office/drawing/2010/main" Requires="a14">
          <p:sp>
            <p:nvSpPr>
              <p:cNvPr id="11" name="TextBox 10">
                <a:extLst>
                  <a:ext uri="{FF2B5EF4-FFF2-40B4-BE49-F238E27FC236}">
                    <a16:creationId xmlns:a16="http://schemas.microsoft.com/office/drawing/2014/main" id="{CF2FA01A-C8E9-AA18-20C4-BB4E778930D3}"/>
                  </a:ext>
                </a:extLst>
              </p:cNvPr>
              <p:cNvSpPr txBox="1"/>
              <p:nvPr/>
            </p:nvSpPr>
            <p:spPr>
              <a:xfrm>
                <a:off x="4091940" y="4532577"/>
                <a:ext cx="7555230" cy="1631216"/>
              </a:xfrm>
              <a:prstGeom prst="rect">
                <a:avLst/>
              </a:prstGeom>
              <a:noFill/>
            </p:spPr>
            <p:txBody>
              <a:bodyPr wrap="square" rtlCol="0">
                <a:spAutoFit/>
              </a:bodyPr>
              <a:lstStyle/>
              <a:p>
                <a:pPr algn="just"/>
                <a:r>
                  <a:rPr lang="en-VN" sz="1600" dirty="0">
                    <a:latin typeface="Arial" panose="020B0604020202020204" pitchFamily="34" charset="0"/>
                    <a:cs typeface="Arial" panose="020B0604020202020204" pitchFamily="34" charset="0"/>
                  </a:rPr>
                  <a:t>Thay vì ánh xạ chu tuyến A qua hàm </a:t>
                </a:r>
                <a14:m>
                  <m:oMath xmlns:m="http://schemas.openxmlformats.org/officeDocument/2006/math">
                    <m:r>
                      <a:rPr lang="en-US" sz="1600" b="0" i="1" smtClean="0">
                        <a:latin typeface="Cambria Math" panose="02040503050406030204" pitchFamily="18" charset="0"/>
                      </a:rPr>
                      <m:t>1+</m:t>
                    </m:r>
                    <m:r>
                      <a:rPr lang="en-US" sz="1600" b="0" i="1" smtClean="0">
                        <a:latin typeface="Cambria Math" panose="02040503050406030204" pitchFamily="18" charset="0"/>
                      </a:rPr>
                      <m:t>𝐺</m:t>
                    </m:r>
                    <m:d>
                      <m:dPr>
                        <m:ctrlPr>
                          <a:rPr lang="en-US" sz="1600" b="0" i="1" smtClean="0">
                            <a:latin typeface="Cambria Math" panose="02040503050406030204" pitchFamily="18" charset="0"/>
                          </a:rPr>
                        </m:ctrlPr>
                      </m:dPr>
                      <m:e>
                        <m:r>
                          <a:rPr lang="en-US" sz="1600" b="0" i="1" smtClean="0">
                            <a:latin typeface="Cambria Math" panose="02040503050406030204" pitchFamily="18" charset="0"/>
                          </a:rPr>
                          <m:t>𝑠</m:t>
                        </m:r>
                      </m:e>
                    </m:d>
                    <m:r>
                      <a:rPr lang="en-US" sz="1600" b="0" i="1" smtClean="0">
                        <a:latin typeface="Cambria Math" panose="02040503050406030204" pitchFamily="18" charset="0"/>
                      </a:rPr>
                      <m:t>𝐻</m:t>
                    </m:r>
                    <m:r>
                      <a:rPr lang="en-US" sz="1600" b="0" i="1" smtClean="0">
                        <a:latin typeface="Cambria Math" panose="02040503050406030204" pitchFamily="18" charset="0"/>
                      </a:rPr>
                      <m:t>(</m:t>
                    </m:r>
                    <m:r>
                      <a:rPr lang="en-US" sz="1600" b="0" i="1" smtClean="0">
                        <a:latin typeface="Cambria Math" panose="02040503050406030204" pitchFamily="18" charset="0"/>
                      </a:rPr>
                      <m:t>𝑠</m:t>
                    </m:r>
                    <m:r>
                      <a:rPr lang="en-US" sz="1600" b="0" i="1" smtClean="0">
                        <a:latin typeface="Cambria Math" panose="02040503050406030204" pitchFamily="18" charset="0"/>
                      </a:rPr>
                      <m:t>)</m:t>
                    </m:r>
                  </m:oMath>
                </a14:m>
                <a:r>
                  <a:rPr lang="en-VN" sz="1600" dirty="0">
                    <a:latin typeface="Arial" panose="020B0604020202020204" pitchFamily="34" charset="0"/>
                    <a:cs typeface="Arial" panose="020B0604020202020204" pitchFamily="34" charset="0"/>
                  </a:rPr>
                  <a:t>, có thể đơn giản hoá bằng hàm </a:t>
                </a:r>
                <a14:m>
                  <m:oMath xmlns:m="http://schemas.openxmlformats.org/officeDocument/2006/math">
                    <m:r>
                      <a:rPr lang="en-US" sz="1600" i="1">
                        <a:latin typeface="Cambria Math" panose="02040503050406030204" pitchFamily="18" charset="0"/>
                      </a:rPr>
                      <m:t>𝐺</m:t>
                    </m:r>
                    <m:d>
                      <m:dPr>
                        <m:ctrlPr>
                          <a:rPr lang="en-US" sz="1600" i="1">
                            <a:latin typeface="Cambria Math" panose="02040503050406030204" pitchFamily="18" charset="0"/>
                          </a:rPr>
                        </m:ctrlPr>
                      </m:dPr>
                      <m:e>
                        <m:r>
                          <a:rPr lang="en-US" sz="1600" i="1">
                            <a:latin typeface="Cambria Math" panose="02040503050406030204" pitchFamily="18" charset="0"/>
                          </a:rPr>
                          <m:t>𝑠</m:t>
                        </m:r>
                      </m:e>
                    </m:d>
                    <m:r>
                      <a:rPr lang="en-US" sz="1600" i="1">
                        <a:latin typeface="Cambria Math" panose="02040503050406030204" pitchFamily="18" charset="0"/>
                      </a:rPr>
                      <m:t>𝐻</m:t>
                    </m:r>
                    <m:r>
                      <a:rPr lang="en-US" sz="1600" i="1">
                        <a:latin typeface="Cambria Math" panose="02040503050406030204" pitchFamily="18" charset="0"/>
                      </a:rPr>
                      <m:t>(</m:t>
                    </m:r>
                    <m:r>
                      <a:rPr lang="en-US" sz="1600" i="1">
                        <a:latin typeface="Cambria Math" panose="02040503050406030204" pitchFamily="18" charset="0"/>
                      </a:rPr>
                      <m:t>𝑠</m:t>
                    </m:r>
                    <m:r>
                      <a:rPr lang="en-US" sz="1600" i="1" smtClean="0">
                        <a:latin typeface="Cambria Math" panose="02040503050406030204" pitchFamily="18" charset="0"/>
                      </a:rPr>
                      <m:t>)</m:t>
                    </m:r>
                  </m:oMath>
                </a14:m>
                <a:r>
                  <a:rPr lang="en-VN" sz="1600" dirty="0">
                    <a:latin typeface="Arial" panose="020B0604020202020204" pitchFamily="34" charset="0"/>
                    <a:cs typeface="Arial" panose="020B0604020202020204" pitchFamily="34" charset="0"/>
                  </a:rPr>
                  <a:t> ➔ giống nhau, chỉ dịch 1 đơn vị về bên trái</a:t>
                </a:r>
              </a:p>
              <a:p>
                <a:pPr algn="just"/>
                <a:r>
                  <a:rPr lang="en-VN" sz="1600" dirty="0">
                    <a:latin typeface="Arial" panose="020B0604020202020204" pitchFamily="34" charset="0"/>
                    <a:cs typeface="Arial" panose="020B0604020202020204" pitchFamily="34" charset="0"/>
                  </a:rPr>
                  <a:t> ➔ </a:t>
                </a:r>
                <a14:m>
                  <m:oMath xmlns:m="http://schemas.openxmlformats.org/officeDocument/2006/math">
                    <m:r>
                      <a:rPr lang="en-US" sz="1600" b="0" i="1" smtClean="0">
                        <a:latin typeface="Cambria Math" panose="02040503050406030204" pitchFamily="18" charset="0"/>
                        <a:cs typeface="Arial" panose="020B0604020202020204" pitchFamily="34" charset="0"/>
                      </a:rPr>
                      <m:t>𝑁</m:t>
                    </m:r>
                  </m:oMath>
                </a14:m>
                <a:r>
                  <a:rPr lang="en-VN" sz="1600" dirty="0">
                    <a:latin typeface="Arial" panose="020B0604020202020204" pitchFamily="34" charset="0"/>
                    <a:cs typeface="Arial" panose="020B0604020202020204" pitchFamily="34" charset="0"/>
                  </a:rPr>
                  <a:t>: đếm số </a:t>
                </a:r>
                <a:r>
                  <a:rPr lang="vi-VN" sz="1600" dirty="0">
                    <a:cs typeface="Arial" panose="020B0604020202020204" pitchFamily="34" charset="0"/>
                  </a:rPr>
                  <a:t>vòng chu tuyến B chứa điểm -1 ngược chiều kim đồng hồ</a:t>
                </a:r>
                <a:r>
                  <a:rPr lang="en-VN" sz="1600" dirty="0">
                    <a:latin typeface="Arial" panose="020B0604020202020204" pitchFamily="34" charset="0"/>
                    <a:cs typeface="Arial" panose="020B0604020202020204" pitchFamily="34" charset="0"/>
                  </a:rPr>
                  <a:t> (hàm </a:t>
                </a:r>
                <a14:m>
                  <m:oMath xmlns:m="http://schemas.openxmlformats.org/officeDocument/2006/math">
                    <m:r>
                      <a:rPr lang="en-US" sz="1600" i="1">
                        <a:latin typeface="Cambria Math" panose="02040503050406030204" pitchFamily="18" charset="0"/>
                      </a:rPr>
                      <m:t>𝐺</m:t>
                    </m:r>
                    <m:d>
                      <m:dPr>
                        <m:ctrlPr>
                          <a:rPr lang="en-US" sz="1600" i="1">
                            <a:latin typeface="Cambria Math" panose="02040503050406030204" pitchFamily="18" charset="0"/>
                          </a:rPr>
                        </m:ctrlPr>
                      </m:dPr>
                      <m:e>
                        <m:r>
                          <a:rPr lang="en-US" sz="1600" i="1">
                            <a:latin typeface="Cambria Math" panose="02040503050406030204" pitchFamily="18" charset="0"/>
                          </a:rPr>
                          <m:t>𝑠</m:t>
                        </m:r>
                      </m:e>
                    </m:d>
                    <m:r>
                      <a:rPr lang="en-US" sz="1600" i="1">
                        <a:latin typeface="Cambria Math" panose="02040503050406030204" pitchFamily="18" charset="0"/>
                      </a:rPr>
                      <m:t>𝐻</m:t>
                    </m:r>
                    <m:r>
                      <a:rPr lang="en-US" sz="1600" i="1">
                        <a:latin typeface="Cambria Math" panose="02040503050406030204" pitchFamily="18" charset="0"/>
                      </a:rPr>
                      <m:t>(</m:t>
                    </m:r>
                    <m:r>
                      <a:rPr lang="en-US" sz="1600" i="1">
                        <a:latin typeface="Cambria Math" panose="02040503050406030204" pitchFamily="18" charset="0"/>
                      </a:rPr>
                      <m:t>𝑠</m:t>
                    </m:r>
                    <m:r>
                      <a:rPr lang="en-US" sz="1600" i="1">
                        <a:latin typeface="Cambria Math" panose="02040503050406030204" pitchFamily="18" charset="0"/>
                      </a:rPr>
                      <m:t>)</m:t>
                    </m:r>
                  </m:oMath>
                </a14:m>
                <a:r>
                  <a:rPr lang="en-VN" sz="1600" dirty="0">
                    <a:latin typeface="Arial" panose="020B0604020202020204" pitchFamily="34" charset="0"/>
                    <a:cs typeface="Arial" panose="020B0604020202020204" pitchFamily="34" charset="0"/>
                  </a:rPr>
                  <a:t>) </a:t>
                </a:r>
              </a:p>
              <a:p>
                <a:pPr algn="just"/>
                <a:r>
                  <a:rPr lang="en-VN" sz="1600" dirty="0">
                    <a:latin typeface="Arial" panose="020B0604020202020204" pitchFamily="34" charset="0"/>
                    <a:cs typeface="Arial" panose="020B0604020202020204" pitchFamily="34" charset="0"/>
                  </a:rPr>
                  <a:t>Ánh xạ qua hàm </a:t>
                </a:r>
                <a14:m>
                  <m:oMath xmlns:m="http://schemas.openxmlformats.org/officeDocument/2006/math">
                    <m:r>
                      <a:rPr lang="en-US" sz="1600" i="1" smtClean="0">
                        <a:latin typeface="Cambria Math" panose="02040503050406030204" pitchFamily="18" charset="0"/>
                      </a:rPr>
                      <m:t>𝐺</m:t>
                    </m:r>
                    <m:d>
                      <m:dPr>
                        <m:ctrlPr>
                          <a:rPr lang="en-US" sz="1600" i="1">
                            <a:latin typeface="Cambria Math" panose="02040503050406030204" pitchFamily="18" charset="0"/>
                          </a:rPr>
                        </m:ctrlPr>
                      </m:dPr>
                      <m:e>
                        <m:r>
                          <a:rPr lang="en-US" sz="1600" i="1">
                            <a:latin typeface="Cambria Math" panose="02040503050406030204" pitchFamily="18" charset="0"/>
                          </a:rPr>
                          <m:t>𝑠</m:t>
                        </m:r>
                      </m:e>
                    </m:d>
                    <m:r>
                      <a:rPr lang="en-US" sz="1600" i="1">
                        <a:latin typeface="Cambria Math" panose="02040503050406030204" pitchFamily="18" charset="0"/>
                      </a:rPr>
                      <m:t>𝐻</m:t>
                    </m:r>
                    <m:r>
                      <a:rPr lang="en-US" sz="1600" i="1">
                        <a:latin typeface="Cambria Math" panose="02040503050406030204" pitchFamily="18" charset="0"/>
                      </a:rPr>
                      <m:t>(</m:t>
                    </m:r>
                    <m:r>
                      <a:rPr lang="en-US" sz="1600" i="1">
                        <a:latin typeface="Cambria Math" panose="02040503050406030204" pitchFamily="18" charset="0"/>
                      </a:rPr>
                      <m:t>𝑠</m:t>
                    </m:r>
                    <m:r>
                      <a:rPr lang="en-US" sz="1600" i="1" smtClean="0">
                        <a:latin typeface="Cambria Math" panose="02040503050406030204" pitchFamily="18" charset="0"/>
                      </a:rPr>
                      <m:t>)</m:t>
                    </m:r>
                  </m:oMath>
                </a14:m>
                <a:r>
                  <a:rPr lang="en-VN" sz="1600" dirty="0">
                    <a:latin typeface="Arial" panose="020B0604020202020204" pitchFamily="34" charset="0"/>
                    <a:cs typeface="Arial" panose="020B0604020202020204" pitchFamily="34" charset="0"/>
                  </a:rPr>
                  <a:t>: đồ thị Nyquist</a:t>
                </a:r>
              </a:p>
              <a:p>
                <a:pPr algn="just"/>
                <a:r>
                  <a:rPr lang="en-VN" sz="1600" dirty="0">
                    <a:latin typeface="Arial" panose="020B0604020202020204" pitchFamily="34" charset="0"/>
                    <a:cs typeface="Arial" panose="020B0604020202020204" pitchFamily="34" charset="0"/>
                  </a:rPr>
                  <a:t>Ánh xạ với những điểm trên trục ảo: thay </a:t>
                </a:r>
                <a14:m>
                  <m:oMath xmlns:m="http://schemas.openxmlformats.org/officeDocument/2006/math">
                    <m:r>
                      <a:rPr lang="en-US" sz="1600" b="0" i="1" smtClean="0">
                        <a:latin typeface="Cambria Math" panose="02040503050406030204" pitchFamily="18" charset="0"/>
                        <a:cs typeface="Arial" panose="020B0604020202020204" pitchFamily="34" charset="0"/>
                      </a:rPr>
                      <m:t>𝑠</m:t>
                    </m:r>
                    <m:r>
                      <a:rPr lang="en-US" sz="1600" b="0" i="1" smtClean="0">
                        <a:latin typeface="Cambria Math" panose="02040503050406030204" pitchFamily="18" charset="0"/>
                        <a:cs typeface="Arial" panose="020B0604020202020204" pitchFamily="34" charset="0"/>
                      </a:rPr>
                      <m:t>=</m:t>
                    </m:r>
                    <m:r>
                      <a:rPr lang="en-US" sz="1600" b="0" i="1" smtClean="0">
                        <a:latin typeface="Cambria Math" panose="02040503050406030204" pitchFamily="18" charset="0"/>
                        <a:cs typeface="Arial" panose="020B0604020202020204" pitchFamily="34" charset="0"/>
                      </a:rPr>
                      <m:t>𝑗</m:t>
                    </m:r>
                    <m:r>
                      <a:rPr lang="en-US" sz="1600" b="0" i="1" smtClean="0">
                        <a:latin typeface="Cambria Math" panose="02040503050406030204" pitchFamily="18" charset="0"/>
                        <a:cs typeface="Arial" panose="020B0604020202020204" pitchFamily="34" charset="0"/>
                      </a:rPr>
                      <m:t>𝜔</m:t>
                    </m:r>
                  </m:oMath>
                </a14:m>
                <a:r>
                  <a:rPr lang="en-VN" sz="1600" dirty="0">
                    <a:latin typeface="Arial" panose="020B0604020202020204" pitchFamily="34" charset="0"/>
                    <a:cs typeface="Arial" panose="020B0604020202020204" pitchFamily="34" charset="0"/>
                  </a:rPr>
                  <a:t> ➔ Đáp ứng tần số</a:t>
                </a:r>
              </a:p>
            </p:txBody>
          </p:sp>
        </mc:Choice>
        <mc:Fallback>
          <p:sp>
            <p:nvSpPr>
              <p:cNvPr id="11" name="TextBox 10">
                <a:extLst>
                  <a:ext uri="{FF2B5EF4-FFF2-40B4-BE49-F238E27FC236}">
                    <a16:creationId xmlns:a16="http://schemas.microsoft.com/office/drawing/2014/main" id="{CF2FA01A-C8E9-AA18-20C4-BB4E778930D3}"/>
                  </a:ext>
                </a:extLst>
              </p:cNvPr>
              <p:cNvSpPr txBox="1">
                <a:spLocks noRot="1" noChangeAspect="1" noMove="1" noResize="1" noEditPoints="1" noAdjustHandles="1" noChangeArrowheads="1" noChangeShapeType="1" noTextEdit="1"/>
              </p:cNvSpPr>
              <p:nvPr/>
            </p:nvSpPr>
            <p:spPr>
              <a:xfrm>
                <a:off x="4091940" y="4532577"/>
                <a:ext cx="7555230" cy="1631216"/>
              </a:xfrm>
              <a:prstGeom prst="rect">
                <a:avLst/>
              </a:prstGeom>
              <a:blipFill>
                <a:blip r:embed="rId5"/>
                <a:stretch>
                  <a:fillRect l="-503" t="-1550" r="-336" b="-775"/>
                </a:stretch>
              </a:blipFill>
            </p:spPr>
            <p:txBody>
              <a:bodyPr/>
              <a:lstStyle/>
              <a:p>
                <a:r>
                  <a:rPr lang="en-VN">
                    <a:noFill/>
                  </a:rPr>
                  <a:t> </a:t>
                </a:r>
              </a:p>
            </p:txBody>
          </p:sp>
        </mc:Fallback>
      </mc:AlternateContent>
    </p:spTree>
    <p:extLst>
      <p:ext uri="{BB962C8B-B14F-4D97-AF65-F5344CB8AC3E}">
        <p14:creationId xmlns:p14="http://schemas.microsoft.com/office/powerpoint/2010/main" val="179573747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D9F7AF1-C687-79E9-8CE3-3243C373D54E}"/>
              </a:ext>
            </a:extLst>
          </p:cNvPr>
          <p:cNvSpPr>
            <a:spLocks noGrp="1"/>
          </p:cNvSpPr>
          <p:nvPr>
            <p:ph type="title"/>
          </p:nvPr>
        </p:nvSpPr>
        <p:spPr/>
        <p:txBody>
          <a:bodyPr/>
          <a:lstStyle/>
          <a:p>
            <a:r>
              <a:rPr lang="en-VN" dirty="0"/>
              <a:t>ĐIỀU KIỆN ỔN ĐỊNH NYQUIST</a:t>
            </a:r>
          </a:p>
        </p:txBody>
      </p:sp>
      <p:sp>
        <p:nvSpPr>
          <p:cNvPr id="3" name="Content Placeholder 2">
            <a:extLst>
              <a:ext uri="{FF2B5EF4-FFF2-40B4-BE49-F238E27FC236}">
                <a16:creationId xmlns:a16="http://schemas.microsoft.com/office/drawing/2014/main" id="{C0F6A2E8-A9D8-CE35-8CCA-674D00DAC9D3}"/>
              </a:ext>
            </a:extLst>
          </p:cNvPr>
          <p:cNvSpPr>
            <a:spLocks noGrp="1"/>
          </p:cNvSpPr>
          <p:nvPr>
            <p:ph idx="1"/>
          </p:nvPr>
        </p:nvSpPr>
        <p:spPr/>
        <p:txBody>
          <a:bodyPr/>
          <a:lstStyle/>
          <a:p>
            <a:pPr algn="just"/>
            <a:r>
              <a:rPr lang="en-US" sz="1800" i="1" dirty="0" err="1">
                <a:effectLst/>
                <a:ea typeface="Times New Roman" panose="02020603050405020304" pitchFamily="18" charset="0"/>
              </a:rPr>
              <a:t>Điều</a:t>
            </a:r>
            <a:r>
              <a:rPr lang="en-US" sz="1800" i="1" dirty="0">
                <a:effectLst/>
                <a:ea typeface="Times New Roman" panose="02020603050405020304" pitchFamily="18" charset="0"/>
              </a:rPr>
              <a:t> </a:t>
            </a:r>
            <a:r>
              <a:rPr lang="en-US" sz="1800" i="1" dirty="0" err="1">
                <a:effectLst/>
                <a:ea typeface="Times New Roman" panose="02020603050405020304" pitchFamily="18" charset="0"/>
              </a:rPr>
              <a:t>kiện</a:t>
            </a:r>
            <a:r>
              <a:rPr lang="en-US" sz="1800" i="1" dirty="0">
                <a:effectLst/>
                <a:ea typeface="Times New Roman" panose="02020603050405020304" pitchFamily="18" charset="0"/>
              </a:rPr>
              <a:t> </a:t>
            </a:r>
            <a:r>
              <a:rPr lang="en-US" sz="1800" i="1" dirty="0" err="1">
                <a:effectLst/>
                <a:ea typeface="Times New Roman" panose="02020603050405020304" pitchFamily="18" charset="0"/>
              </a:rPr>
              <a:t>ổn</a:t>
            </a:r>
            <a:r>
              <a:rPr lang="en-US" sz="1800" i="1" dirty="0">
                <a:effectLst/>
                <a:ea typeface="Times New Roman" panose="02020603050405020304" pitchFamily="18" charset="0"/>
              </a:rPr>
              <a:t> </a:t>
            </a:r>
            <a:r>
              <a:rPr lang="en-US" sz="1800" i="1" dirty="0" err="1">
                <a:effectLst/>
                <a:ea typeface="Times New Roman" panose="02020603050405020304" pitchFamily="18" charset="0"/>
              </a:rPr>
              <a:t>định</a:t>
            </a:r>
            <a:r>
              <a:rPr lang="en-US" sz="1800" i="1" dirty="0">
                <a:effectLst/>
                <a:ea typeface="Times New Roman" panose="02020603050405020304" pitchFamily="18" charset="0"/>
              </a:rPr>
              <a:t> Nyquist</a:t>
            </a:r>
            <a:r>
              <a:rPr lang="en-US" sz="1800" dirty="0">
                <a:effectLst/>
                <a:ea typeface="Times New Roman" panose="02020603050405020304" pitchFamily="18" charset="0"/>
              </a:rPr>
              <a:t> </a:t>
            </a:r>
            <a:r>
              <a:rPr lang="en-US" sz="1800" dirty="0" err="1">
                <a:effectLst/>
                <a:ea typeface="Times New Roman" panose="02020603050405020304" pitchFamily="18" charset="0"/>
              </a:rPr>
              <a:t>được</a:t>
            </a:r>
            <a:r>
              <a:rPr lang="en-US" sz="1800" dirty="0">
                <a:effectLst/>
                <a:ea typeface="Times New Roman" panose="02020603050405020304" pitchFamily="18" charset="0"/>
              </a:rPr>
              <a:t> </a:t>
            </a:r>
            <a:r>
              <a:rPr lang="en-US" sz="1800" dirty="0" err="1">
                <a:effectLst/>
                <a:ea typeface="Times New Roman" panose="02020603050405020304" pitchFamily="18" charset="0"/>
              </a:rPr>
              <a:t>phát</a:t>
            </a:r>
            <a:r>
              <a:rPr lang="en-US" sz="1800" dirty="0">
                <a:effectLst/>
                <a:ea typeface="Times New Roman" panose="02020603050405020304" pitchFamily="18" charset="0"/>
              </a:rPr>
              <a:t> </a:t>
            </a:r>
            <a:r>
              <a:rPr lang="en-US" sz="1800" dirty="0" err="1">
                <a:effectLst/>
                <a:ea typeface="Times New Roman" panose="02020603050405020304" pitchFamily="18" charset="0"/>
              </a:rPr>
              <a:t>biểu</a:t>
            </a:r>
            <a:r>
              <a:rPr lang="en-US" sz="1800" dirty="0">
                <a:effectLst/>
                <a:ea typeface="Times New Roman" panose="02020603050405020304" pitchFamily="18" charset="0"/>
              </a:rPr>
              <a:t> </a:t>
            </a:r>
            <a:r>
              <a:rPr lang="en-US" sz="1800" dirty="0" err="1">
                <a:effectLst/>
                <a:ea typeface="Times New Roman" panose="02020603050405020304" pitchFamily="18" charset="0"/>
              </a:rPr>
              <a:t>như</a:t>
            </a:r>
            <a:r>
              <a:rPr lang="en-US" sz="1800" dirty="0">
                <a:effectLst/>
                <a:ea typeface="Times New Roman" panose="02020603050405020304" pitchFamily="18" charset="0"/>
              </a:rPr>
              <a:t> </a:t>
            </a:r>
            <a:r>
              <a:rPr lang="en-US" sz="1800" dirty="0" err="1">
                <a:effectLst/>
                <a:ea typeface="Times New Roman" panose="02020603050405020304" pitchFamily="18" charset="0"/>
              </a:rPr>
              <a:t>sau</a:t>
            </a:r>
            <a:r>
              <a:rPr lang="en-US" sz="1800" dirty="0">
                <a:effectLst/>
                <a:ea typeface="Times New Roman" panose="02020603050405020304" pitchFamily="18" charset="0"/>
              </a:rPr>
              <a:t>: </a:t>
            </a:r>
            <a:r>
              <a:rPr lang="en-US" sz="1800" dirty="0" err="1">
                <a:effectLst/>
                <a:ea typeface="Times New Roman" panose="02020603050405020304" pitchFamily="18" charset="0"/>
              </a:rPr>
              <a:t>Một</a:t>
            </a:r>
            <a:r>
              <a:rPr lang="en-US" sz="1800" dirty="0">
                <a:effectLst/>
                <a:ea typeface="Times New Roman" panose="02020603050405020304" pitchFamily="18" charset="0"/>
              </a:rPr>
              <a:t> </a:t>
            </a:r>
            <a:r>
              <a:rPr lang="en-US" sz="1800" dirty="0" err="1">
                <a:effectLst/>
                <a:ea typeface="Times New Roman" panose="02020603050405020304" pitchFamily="18" charset="0"/>
              </a:rPr>
              <a:t>hệ</a:t>
            </a:r>
            <a:r>
              <a:rPr lang="en-US" sz="1800" dirty="0">
                <a:effectLst/>
                <a:ea typeface="Times New Roman" panose="02020603050405020304" pitchFamily="18" charset="0"/>
              </a:rPr>
              <a:t> </a:t>
            </a:r>
            <a:r>
              <a:rPr lang="en-US" sz="1800" dirty="0" err="1">
                <a:effectLst/>
                <a:ea typeface="Times New Roman" panose="02020603050405020304" pitchFamily="18" charset="0"/>
              </a:rPr>
              <a:t>thống</a:t>
            </a:r>
            <a:r>
              <a:rPr lang="en-US" sz="1800" dirty="0">
                <a:effectLst/>
                <a:ea typeface="Times New Roman" panose="02020603050405020304" pitchFamily="18" charset="0"/>
              </a:rPr>
              <a:t> </a:t>
            </a:r>
            <a:r>
              <a:rPr lang="en-US" sz="1800" dirty="0" err="1">
                <a:effectLst/>
                <a:ea typeface="Times New Roman" panose="02020603050405020304" pitchFamily="18" charset="0"/>
              </a:rPr>
              <a:t>phản</a:t>
            </a:r>
            <a:r>
              <a:rPr lang="en-US" sz="1800" dirty="0">
                <a:effectLst/>
                <a:ea typeface="Times New Roman" panose="02020603050405020304" pitchFamily="18" charset="0"/>
              </a:rPr>
              <a:t> </a:t>
            </a:r>
            <a:r>
              <a:rPr lang="en-US" sz="1800" dirty="0" err="1">
                <a:effectLst/>
                <a:ea typeface="Times New Roman" panose="02020603050405020304" pitchFamily="18" charset="0"/>
              </a:rPr>
              <a:t>hồi</a:t>
            </a:r>
            <a:r>
              <a:rPr lang="en-US" sz="1800" dirty="0">
                <a:effectLst/>
                <a:ea typeface="Times New Roman" panose="02020603050405020304" pitchFamily="18" charset="0"/>
              </a:rPr>
              <a:t> </a:t>
            </a:r>
            <a:r>
              <a:rPr lang="en-US" sz="1800" dirty="0" err="1">
                <a:effectLst/>
                <a:ea typeface="Times New Roman" panose="02020603050405020304" pitchFamily="18" charset="0"/>
              </a:rPr>
              <a:t>ổn</a:t>
            </a:r>
            <a:r>
              <a:rPr lang="en-US" sz="1800" dirty="0">
                <a:effectLst/>
                <a:ea typeface="Times New Roman" panose="02020603050405020304" pitchFamily="18" charset="0"/>
              </a:rPr>
              <a:t> </a:t>
            </a:r>
            <a:r>
              <a:rPr lang="en-US" sz="1800" dirty="0" err="1">
                <a:effectLst/>
                <a:ea typeface="Times New Roman" panose="02020603050405020304" pitchFamily="18" charset="0"/>
              </a:rPr>
              <a:t>định</a:t>
            </a:r>
            <a:r>
              <a:rPr lang="en-US" sz="1800" dirty="0">
                <a:effectLst/>
                <a:ea typeface="Times New Roman" panose="02020603050405020304" pitchFamily="18" charset="0"/>
              </a:rPr>
              <a:t> </a:t>
            </a:r>
            <a:r>
              <a:rPr lang="en-US" sz="1800" dirty="0" err="1">
                <a:effectLst/>
                <a:ea typeface="Times New Roman" panose="02020603050405020304" pitchFamily="18" charset="0"/>
              </a:rPr>
              <a:t>khi</a:t>
            </a:r>
            <a:r>
              <a:rPr lang="en-US" sz="1800" dirty="0">
                <a:effectLst/>
                <a:ea typeface="Times New Roman" panose="02020603050405020304" pitchFamily="18" charset="0"/>
              </a:rPr>
              <a:t> </a:t>
            </a:r>
            <a:r>
              <a:rPr lang="en-US" sz="1800" dirty="0" err="1">
                <a:effectLst/>
                <a:ea typeface="Times New Roman" panose="02020603050405020304" pitchFamily="18" charset="0"/>
              </a:rPr>
              <a:t>và</a:t>
            </a:r>
            <a:r>
              <a:rPr lang="en-US" sz="1800" dirty="0">
                <a:effectLst/>
                <a:ea typeface="Times New Roman" panose="02020603050405020304" pitchFamily="18" charset="0"/>
              </a:rPr>
              <a:t> </a:t>
            </a:r>
            <a:r>
              <a:rPr lang="en-US" sz="1800" dirty="0" err="1">
                <a:effectLst/>
                <a:ea typeface="Times New Roman" panose="02020603050405020304" pitchFamily="18" charset="0"/>
              </a:rPr>
              <a:t>chỉ</a:t>
            </a:r>
            <a:r>
              <a:rPr lang="en-US" sz="1800" dirty="0">
                <a:effectLst/>
                <a:ea typeface="Times New Roman" panose="02020603050405020304" pitchFamily="18" charset="0"/>
              </a:rPr>
              <a:t> </a:t>
            </a:r>
            <a:r>
              <a:rPr lang="en-US" sz="1800" dirty="0" err="1">
                <a:effectLst/>
                <a:ea typeface="Times New Roman" panose="02020603050405020304" pitchFamily="18" charset="0"/>
              </a:rPr>
              <a:t>khi</a:t>
            </a:r>
            <a:r>
              <a:rPr lang="en-US" sz="1800" dirty="0">
                <a:effectLst/>
                <a:ea typeface="Times New Roman" panose="02020603050405020304" pitchFamily="18" charset="0"/>
              </a:rPr>
              <a:t> chu </a:t>
            </a:r>
            <a:r>
              <a:rPr lang="en-US" sz="1800" dirty="0" err="1">
                <a:effectLst/>
                <a:ea typeface="Times New Roman" panose="02020603050405020304" pitchFamily="18" charset="0"/>
              </a:rPr>
              <a:t>tuyến</a:t>
            </a:r>
            <a:r>
              <a:rPr lang="en-US" sz="1800" dirty="0">
                <a:effectLst/>
                <a:ea typeface="Times New Roman" panose="02020603050405020304" pitchFamily="18" charset="0"/>
              </a:rPr>
              <a:t> </a:t>
            </a:r>
            <a:r>
              <a:rPr lang="en-US" sz="1800" dirty="0">
                <a:ea typeface="Times New Roman" panose="02020603050405020304" pitchFamily="18" charset="0"/>
                <a:sym typeface="Symbol" pitchFamily="2" charset="2"/>
              </a:rPr>
              <a:t>B</a:t>
            </a:r>
            <a:r>
              <a:rPr lang="en-US" sz="1800" dirty="0">
                <a:effectLst/>
                <a:ea typeface="Times New Roman" panose="02020603050405020304" pitchFamily="18" charset="0"/>
              </a:rPr>
              <a:t> </a:t>
            </a:r>
            <a:r>
              <a:rPr lang="en-US" sz="1800" dirty="0" err="1">
                <a:effectLst/>
                <a:ea typeface="Times New Roman" panose="02020603050405020304" pitchFamily="18" charset="0"/>
              </a:rPr>
              <a:t>trong</a:t>
            </a:r>
            <a:r>
              <a:rPr lang="en-US" sz="1800" dirty="0">
                <a:effectLst/>
                <a:ea typeface="Times New Roman" panose="02020603050405020304" pitchFamily="18" charset="0"/>
              </a:rPr>
              <a:t> </a:t>
            </a:r>
            <a:r>
              <a:rPr lang="en-US" sz="1800" dirty="0" err="1">
                <a:effectLst/>
                <a:ea typeface="Times New Roman" panose="02020603050405020304" pitchFamily="18" charset="0"/>
              </a:rPr>
              <a:t>mặt</a:t>
            </a:r>
            <a:r>
              <a:rPr lang="en-US" sz="1800" dirty="0">
                <a:effectLst/>
                <a:ea typeface="Times New Roman" panose="02020603050405020304" pitchFamily="18" charset="0"/>
              </a:rPr>
              <a:t> </a:t>
            </a:r>
            <a:r>
              <a:rPr lang="en-US" sz="1800" dirty="0" err="1">
                <a:effectLst/>
                <a:ea typeface="Times New Roman" panose="02020603050405020304" pitchFamily="18" charset="0"/>
              </a:rPr>
              <a:t>phẳng</a:t>
            </a:r>
            <a:r>
              <a:rPr lang="en-US" sz="1800" dirty="0">
                <a:effectLst/>
                <a:ea typeface="Times New Roman" panose="02020603050405020304" pitchFamily="18" charset="0"/>
              </a:rPr>
              <a:t> </a:t>
            </a:r>
            <a:r>
              <a:rPr lang="en-US" sz="1800" i="1" dirty="0">
                <a:ea typeface="Times New Roman" panose="02020603050405020304" pitchFamily="18" charset="0"/>
              </a:rPr>
              <a:t>G</a:t>
            </a:r>
            <a:r>
              <a:rPr lang="en-US" sz="1800" dirty="0">
                <a:effectLst/>
                <a:ea typeface="Times New Roman" panose="02020603050405020304" pitchFamily="18" charset="0"/>
              </a:rPr>
              <a:t>(</a:t>
            </a:r>
            <a:r>
              <a:rPr lang="en-US" sz="1800" i="1" dirty="0">
                <a:effectLst/>
                <a:ea typeface="Times New Roman" panose="02020603050405020304" pitchFamily="18" charset="0"/>
              </a:rPr>
              <a:t>s</a:t>
            </a:r>
            <a:r>
              <a:rPr lang="en-US" sz="1800" dirty="0">
                <a:effectLst/>
                <a:ea typeface="Times New Roman" panose="02020603050405020304" pitchFamily="18" charset="0"/>
              </a:rPr>
              <a:t>)H(s) </a:t>
            </a:r>
            <a:r>
              <a:rPr lang="en-US" sz="1800" dirty="0" err="1">
                <a:effectLst/>
                <a:ea typeface="Times New Roman" panose="02020603050405020304" pitchFamily="18" charset="0"/>
              </a:rPr>
              <a:t>không</a:t>
            </a:r>
            <a:r>
              <a:rPr lang="en-US" sz="1800" dirty="0">
                <a:effectLst/>
                <a:ea typeface="Times New Roman" panose="02020603050405020304" pitchFamily="18" charset="0"/>
              </a:rPr>
              <a:t> bao </a:t>
            </a:r>
            <a:r>
              <a:rPr lang="en-US" sz="1800" dirty="0" err="1">
                <a:effectLst/>
                <a:ea typeface="Times New Roman" panose="02020603050405020304" pitchFamily="18" charset="0"/>
              </a:rPr>
              <a:t>quanh</a:t>
            </a:r>
            <a:r>
              <a:rPr lang="en-US" sz="1800" dirty="0">
                <a:effectLst/>
                <a:ea typeface="Times New Roman" panose="02020603050405020304" pitchFamily="18" charset="0"/>
              </a:rPr>
              <a:t> </a:t>
            </a:r>
            <a:r>
              <a:rPr lang="en-US" sz="1800" dirty="0" err="1">
                <a:effectLst/>
                <a:ea typeface="Times New Roman" panose="02020603050405020304" pitchFamily="18" charset="0"/>
              </a:rPr>
              <a:t>điểm</a:t>
            </a:r>
            <a:r>
              <a:rPr lang="en-US" sz="1800" dirty="0">
                <a:effectLst/>
                <a:ea typeface="Times New Roman" panose="02020603050405020304" pitchFamily="18" charset="0"/>
              </a:rPr>
              <a:t> (</a:t>
            </a:r>
            <a:r>
              <a:rPr lang="en-US" sz="1800" dirty="0">
                <a:effectLst/>
                <a:ea typeface="Times New Roman" panose="02020603050405020304" pitchFamily="18" charset="0"/>
                <a:sym typeface="Symbol" pitchFamily="2" charset="2"/>
              </a:rPr>
              <a:t></a:t>
            </a:r>
            <a:r>
              <a:rPr lang="en-US" sz="1800" dirty="0">
                <a:effectLst/>
                <a:ea typeface="Times New Roman" panose="02020603050405020304" pitchFamily="18" charset="0"/>
              </a:rPr>
              <a:t>1, 0) </a:t>
            </a:r>
            <a:r>
              <a:rPr lang="en-US" sz="1800" dirty="0" err="1">
                <a:effectLst/>
                <a:ea typeface="Times New Roman" panose="02020603050405020304" pitchFamily="18" charset="0"/>
              </a:rPr>
              <a:t>khi</a:t>
            </a:r>
            <a:r>
              <a:rPr lang="en-US" sz="1800" dirty="0">
                <a:effectLst/>
                <a:ea typeface="Times New Roman" panose="02020603050405020304" pitchFamily="18" charset="0"/>
              </a:rPr>
              <a:t> </a:t>
            </a:r>
            <a:r>
              <a:rPr lang="en-US" sz="1800" dirty="0" err="1">
                <a:effectLst/>
                <a:ea typeface="Times New Roman" panose="02020603050405020304" pitchFamily="18" charset="0"/>
              </a:rPr>
              <a:t>số</a:t>
            </a:r>
            <a:r>
              <a:rPr lang="en-US" sz="1800" dirty="0">
                <a:effectLst/>
                <a:ea typeface="Times New Roman" panose="02020603050405020304" pitchFamily="18" charset="0"/>
              </a:rPr>
              <a:t> </a:t>
            </a:r>
            <a:r>
              <a:rPr lang="en-US" sz="1800" dirty="0" err="1">
                <a:effectLst/>
                <a:ea typeface="Times New Roman" panose="02020603050405020304" pitchFamily="18" charset="0"/>
              </a:rPr>
              <a:t>điểm</a:t>
            </a:r>
            <a:r>
              <a:rPr lang="en-US" sz="1800" dirty="0">
                <a:effectLst/>
                <a:ea typeface="Times New Roman" panose="02020603050405020304" pitchFamily="18" charset="0"/>
              </a:rPr>
              <a:t> </a:t>
            </a:r>
            <a:r>
              <a:rPr lang="en-US" sz="1800" dirty="0" err="1">
                <a:effectLst/>
                <a:ea typeface="Times New Roman" panose="02020603050405020304" pitchFamily="18" charset="0"/>
              </a:rPr>
              <a:t>cực</a:t>
            </a:r>
            <a:r>
              <a:rPr lang="en-US" sz="1800" dirty="0">
                <a:effectLst/>
                <a:ea typeface="Times New Roman" panose="02020603050405020304" pitchFamily="18" charset="0"/>
              </a:rPr>
              <a:t> </a:t>
            </a:r>
            <a:r>
              <a:rPr lang="en-US" sz="1800" dirty="0" err="1">
                <a:effectLst/>
                <a:ea typeface="Times New Roman" panose="02020603050405020304" pitchFamily="18" charset="0"/>
              </a:rPr>
              <a:t>của</a:t>
            </a:r>
            <a:r>
              <a:rPr lang="en-US" sz="1800" dirty="0">
                <a:effectLst/>
                <a:ea typeface="Times New Roman" panose="02020603050405020304" pitchFamily="18" charset="0"/>
              </a:rPr>
              <a:t> </a:t>
            </a:r>
            <a:r>
              <a:rPr lang="en-US" sz="1800" i="1" dirty="0">
                <a:ea typeface="Times New Roman" panose="02020603050405020304" pitchFamily="18" charset="0"/>
              </a:rPr>
              <a:t>G(s)H(s)</a:t>
            </a:r>
            <a:r>
              <a:rPr lang="en-US" sz="1800" dirty="0">
                <a:effectLst/>
                <a:ea typeface="Times New Roman" panose="02020603050405020304" pitchFamily="18" charset="0"/>
              </a:rPr>
              <a:t> </a:t>
            </a:r>
            <a:r>
              <a:rPr lang="en-US" sz="1800" dirty="0" err="1">
                <a:effectLst/>
                <a:ea typeface="Times New Roman" panose="02020603050405020304" pitchFamily="18" charset="0"/>
              </a:rPr>
              <a:t>nằm</a:t>
            </a:r>
            <a:r>
              <a:rPr lang="en-US" sz="1800" dirty="0">
                <a:effectLst/>
                <a:ea typeface="Times New Roman" panose="02020603050405020304" pitchFamily="18" charset="0"/>
              </a:rPr>
              <a:t> </a:t>
            </a:r>
            <a:r>
              <a:rPr lang="en-US" sz="1800" dirty="0" err="1">
                <a:effectLst/>
                <a:ea typeface="Times New Roman" panose="02020603050405020304" pitchFamily="18" charset="0"/>
              </a:rPr>
              <a:t>ở</a:t>
            </a:r>
            <a:r>
              <a:rPr lang="en-US" sz="1800" dirty="0">
                <a:effectLst/>
                <a:ea typeface="Times New Roman" panose="02020603050405020304" pitchFamily="18" charset="0"/>
              </a:rPr>
              <a:t> </a:t>
            </a:r>
            <a:r>
              <a:rPr lang="en-US" sz="1800" dirty="0" err="1">
                <a:effectLst/>
                <a:ea typeface="Times New Roman" panose="02020603050405020304" pitchFamily="18" charset="0"/>
              </a:rPr>
              <a:t>nửa</a:t>
            </a:r>
            <a:r>
              <a:rPr lang="en-US" sz="1800" dirty="0">
                <a:effectLst/>
                <a:ea typeface="Times New Roman" panose="02020603050405020304" pitchFamily="18" charset="0"/>
              </a:rPr>
              <a:t> </a:t>
            </a:r>
            <a:r>
              <a:rPr lang="en-US" sz="1800" dirty="0" err="1">
                <a:effectLst/>
                <a:ea typeface="Times New Roman" panose="02020603050405020304" pitchFamily="18" charset="0"/>
              </a:rPr>
              <a:t>bên</a:t>
            </a:r>
            <a:r>
              <a:rPr lang="en-US" sz="1800" dirty="0">
                <a:effectLst/>
                <a:ea typeface="Times New Roman" panose="02020603050405020304" pitchFamily="18" charset="0"/>
              </a:rPr>
              <a:t> </a:t>
            </a:r>
            <a:r>
              <a:rPr lang="en-US" sz="1800" dirty="0" err="1">
                <a:effectLst/>
                <a:ea typeface="Times New Roman" panose="02020603050405020304" pitchFamily="18" charset="0"/>
              </a:rPr>
              <a:t>phải</a:t>
            </a:r>
            <a:r>
              <a:rPr lang="en-US" sz="1800" dirty="0">
                <a:effectLst/>
                <a:ea typeface="Times New Roman" panose="02020603050405020304" pitchFamily="18" charset="0"/>
              </a:rPr>
              <a:t> </a:t>
            </a:r>
            <a:r>
              <a:rPr lang="en-US" sz="1800" dirty="0" err="1">
                <a:effectLst/>
                <a:ea typeface="Times New Roman" panose="02020603050405020304" pitchFamily="18" charset="0"/>
              </a:rPr>
              <a:t>của</a:t>
            </a:r>
            <a:r>
              <a:rPr lang="en-US" sz="1800" dirty="0">
                <a:effectLst/>
                <a:ea typeface="Times New Roman" panose="02020603050405020304" pitchFamily="18" charset="0"/>
              </a:rPr>
              <a:t> </a:t>
            </a:r>
            <a:r>
              <a:rPr lang="en-US" sz="1800" dirty="0" err="1">
                <a:effectLst/>
                <a:ea typeface="Times New Roman" panose="02020603050405020304" pitchFamily="18" charset="0"/>
              </a:rPr>
              <a:t>mặt</a:t>
            </a:r>
            <a:r>
              <a:rPr lang="en-US" sz="1800" dirty="0">
                <a:effectLst/>
                <a:ea typeface="Times New Roman" panose="02020603050405020304" pitchFamily="18" charset="0"/>
              </a:rPr>
              <a:t> </a:t>
            </a:r>
            <a:r>
              <a:rPr lang="en-US" sz="1800" dirty="0" err="1">
                <a:effectLst/>
                <a:ea typeface="Times New Roman" panose="02020603050405020304" pitchFamily="18" charset="0"/>
              </a:rPr>
              <a:t>phẳng</a:t>
            </a:r>
            <a:r>
              <a:rPr lang="en-US" sz="1800" dirty="0">
                <a:effectLst/>
                <a:ea typeface="Times New Roman" panose="02020603050405020304" pitchFamily="18" charset="0"/>
              </a:rPr>
              <a:t> </a:t>
            </a:r>
            <a:r>
              <a:rPr lang="en-US" sz="1800" i="1" dirty="0">
                <a:effectLst/>
                <a:ea typeface="Times New Roman" panose="02020603050405020304" pitchFamily="18" charset="0"/>
              </a:rPr>
              <a:t>s</a:t>
            </a:r>
            <a:r>
              <a:rPr lang="en-US" sz="1800" dirty="0">
                <a:effectLst/>
                <a:ea typeface="Times New Roman" panose="02020603050405020304" pitchFamily="18" charset="0"/>
              </a:rPr>
              <a:t> </a:t>
            </a:r>
            <a:r>
              <a:rPr lang="en-US" sz="1800" dirty="0" err="1">
                <a:effectLst/>
                <a:ea typeface="Times New Roman" panose="02020603050405020304" pitchFamily="18" charset="0"/>
              </a:rPr>
              <a:t>bằng</a:t>
            </a:r>
            <a:r>
              <a:rPr lang="en-US" sz="1800" dirty="0">
                <a:effectLst/>
                <a:ea typeface="Times New Roman" panose="02020603050405020304" pitchFamily="18" charset="0"/>
              </a:rPr>
              <a:t> </a:t>
            </a:r>
            <a:r>
              <a:rPr lang="en-US" sz="1800" dirty="0" err="1">
                <a:effectLst/>
                <a:ea typeface="Times New Roman" panose="02020603050405020304" pitchFamily="18" charset="0"/>
              </a:rPr>
              <a:t>không</a:t>
            </a:r>
            <a:r>
              <a:rPr lang="en-US" sz="1800" dirty="0">
                <a:effectLst/>
                <a:ea typeface="Times New Roman" panose="02020603050405020304" pitchFamily="18" charset="0"/>
              </a:rPr>
              <a:t>, </a:t>
            </a:r>
            <a:r>
              <a:rPr lang="en-US" sz="1800" dirty="0" err="1">
                <a:effectLst/>
                <a:ea typeface="Times New Roman" panose="02020603050405020304" pitchFamily="18" charset="0"/>
              </a:rPr>
              <a:t>hoặc</a:t>
            </a:r>
            <a:r>
              <a:rPr lang="en-US" sz="1800" dirty="0">
                <a:effectLst/>
                <a:ea typeface="Times New Roman" panose="02020603050405020304" pitchFamily="18" charset="0"/>
              </a:rPr>
              <a:t> </a:t>
            </a:r>
            <a:r>
              <a:rPr lang="en-US" sz="1800" dirty="0" err="1">
                <a:effectLst/>
                <a:ea typeface="Times New Roman" panose="02020603050405020304" pitchFamily="18" charset="0"/>
              </a:rPr>
              <a:t>số</a:t>
            </a:r>
            <a:r>
              <a:rPr lang="en-US" sz="1800" dirty="0">
                <a:effectLst/>
                <a:ea typeface="Times New Roman" panose="02020603050405020304" pitchFamily="18" charset="0"/>
              </a:rPr>
              <a:t> </a:t>
            </a:r>
            <a:r>
              <a:rPr lang="en-US" sz="1800" dirty="0" err="1">
                <a:effectLst/>
                <a:ea typeface="Times New Roman" panose="02020603050405020304" pitchFamily="18" charset="0"/>
              </a:rPr>
              <a:t>lần</a:t>
            </a:r>
            <a:r>
              <a:rPr lang="en-US" sz="1800" dirty="0">
                <a:effectLst/>
                <a:ea typeface="Times New Roman" panose="02020603050405020304" pitchFamily="18" charset="0"/>
              </a:rPr>
              <a:t> chu </a:t>
            </a:r>
            <a:r>
              <a:rPr lang="en-US" sz="1800" dirty="0" err="1">
                <a:effectLst/>
                <a:ea typeface="Times New Roman" panose="02020603050405020304" pitchFamily="18" charset="0"/>
              </a:rPr>
              <a:t>tuyến</a:t>
            </a:r>
            <a:r>
              <a:rPr lang="en-US" sz="1800" dirty="0">
                <a:effectLst/>
                <a:ea typeface="Times New Roman" panose="02020603050405020304" pitchFamily="18" charset="0"/>
              </a:rPr>
              <a:t> </a:t>
            </a:r>
            <a:r>
              <a:rPr lang="en-US" sz="1800" dirty="0">
                <a:ea typeface="Times New Roman" panose="02020603050405020304" pitchFamily="18" charset="0"/>
                <a:sym typeface="Symbol" pitchFamily="2" charset="2"/>
              </a:rPr>
              <a:t>B</a:t>
            </a:r>
            <a:r>
              <a:rPr lang="en-US" sz="1800" dirty="0">
                <a:effectLst/>
                <a:ea typeface="Times New Roman" panose="02020603050405020304" pitchFamily="18" charset="0"/>
              </a:rPr>
              <a:t> bao </a:t>
            </a:r>
            <a:r>
              <a:rPr lang="en-US" sz="1800" dirty="0" err="1">
                <a:effectLst/>
                <a:ea typeface="Times New Roman" panose="02020603050405020304" pitchFamily="18" charset="0"/>
              </a:rPr>
              <a:t>quanh</a:t>
            </a:r>
            <a:r>
              <a:rPr lang="en-US" sz="1800" dirty="0">
                <a:effectLst/>
                <a:ea typeface="Times New Roman" panose="02020603050405020304" pitchFamily="18" charset="0"/>
              </a:rPr>
              <a:t> </a:t>
            </a:r>
            <a:r>
              <a:rPr lang="en-US" sz="1800" dirty="0" err="1">
                <a:effectLst/>
                <a:ea typeface="Times New Roman" panose="02020603050405020304" pitchFamily="18" charset="0"/>
              </a:rPr>
              <a:t>điểm</a:t>
            </a:r>
            <a:r>
              <a:rPr lang="en-US" sz="1800" dirty="0">
                <a:effectLst/>
                <a:ea typeface="Times New Roman" panose="02020603050405020304" pitchFamily="18" charset="0"/>
              </a:rPr>
              <a:t> (</a:t>
            </a:r>
            <a:r>
              <a:rPr lang="en-US" sz="1800" dirty="0">
                <a:effectLst/>
                <a:ea typeface="Times New Roman" panose="02020603050405020304" pitchFamily="18" charset="0"/>
                <a:sym typeface="Symbol" pitchFamily="2" charset="2"/>
              </a:rPr>
              <a:t></a:t>
            </a:r>
            <a:r>
              <a:rPr lang="en-US" sz="1800" dirty="0">
                <a:effectLst/>
                <a:ea typeface="Times New Roman" panose="02020603050405020304" pitchFamily="18" charset="0"/>
              </a:rPr>
              <a:t>1, 0) </a:t>
            </a:r>
            <a:r>
              <a:rPr lang="en-US" sz="1800" dirty="0" err="1">
                <a:effectLst/>
                <a:ea typeface="Times New Roman" panose="02020603050405020304" pitchFamily="18" charset="0"/>
              </a:rPr>
              <a:t>theo</a:t>
            </a:r>
            <a:r>
              <a:rPr lang="en-US" sz="1800" dirty="0">
                <a:effectLst/>
                <a:ea typeface="Times New Roman" panose="02020603050405020304" pitchFamily="18" charset="0"/>
              </a:rPr>
              <a:t> </a:t>
            </a:r>
            <a:r>
              <a:rPr lang="en-US" sz="1800" dirty="0" err="1">
                <a:effectLst/>
                <a:ea typeface="Times New Roman" panose="02020603050405020304" pitchFamily="18" charset="0"/>
              </a:rPr>
              <a:t>chiều</a:t>
            </a:r>
            <a:r>
              <a:rPr lang="en-US" sz="1800" dirty="0">
                <a:effectLst/>
                <a:ea typeface="Times New Roman" panose="02020603050405020304" pitchFamily="18" charset="0"/>
              </a:rPr>
              <a:t> </a:t>
            </a:r>
            <a:r>
              <a:rPr lang="en-US" sz="1800" dirty="0" err="1">
                <a:effectLst/>
                <a:ea typeface="Times New Roman" panose="02020603050405020304" pitchFamily="18" charset="0"/>
              </a:rPr>
              <a:t>ngược</a:t>
            </a:r>
            <a:r>
              <a:rPr lang="en-US" sz="1800" dirty="0">
                <a:effectLst/>
                <a:ea typeface="Times New Roman" panose="02020603050405020304" pitchFamily="18" charset="0"/>
              </a:rPr>
              <a:t> </a:t>
            </a:r>
            <a:r>
              <a:rPr lang="en-US" sz="1800" dirty="0" err="1">
                <a:effectLst/>
                <a:ea typeface="Times New Roman" panose="02020603050405020304" pitchFamily="18" charset="0"/>
              </a:rPr>
              <a:t>chiều</a:t>
            </a:r>
            <a:r>
              <a:rPr lang="en-US" sz="1800" dirty="0">
                <a:effectLst/>
                <a:ea typeface="Times New Roman" panose="02020603050405020304" pitchFamily="18" charset="0"/>
              </a:rPr>
              <a:t> quay </a:t>
            </a:r>
            <a:r>
              <a:rPr lang="en-US" sz="1800" dirty="0" err="1">
                <a:effectLst/>
                <a:ea typeface="Times New Roman" panose="02020603050405020304" pitchFamily="18" charset="0"/>
              </a:rPr>
              <a:t>của</a:t>
            </a:r>
            <a:r>
              <a:rPr lang="en-US" sz="1800" dirty="0">
                <a:effectLst/>
                <a:ea typeface="Times New Roman" panose="02020603050405020304" pitchFamily="18" charset="0"/>
              </a:rPr>
              <a:t> </a:t>
            </a:r>
            <a:r>
              <a:rPr lang="en-US" sz="1800" dirty="0" err="1">
                <a:effectLst/>
                <a:ea typeface="Times New Roman" panose="02020603050405020304" pitchFamily="18" charset="0"/>
              </a:rPr>
              <a:t>kim</a:t>
            </a:r>
            <a:r>
              <a:rPr lang="en-US" sz="1800" dirty="0">
                <a:effectLst/>
                <a:ea typeface="Times New Roman" panose="02020603050405020304" pitchFamily="18" charset="0"/>
              </a:rPr>
              <a:t> </a:t>
            </a:r>
            <a:r>
              <a:rPr lang="en-US" sz="1800" dirty="0" err="1">
                <a:effectLst/>
                <a:ea typeface="Times New Roman" panose="02020603050405020304" pitchFamily="18" charset="0"/>
              </a:rPr>
              <a:t>đồng</a:t>
            </a:r>
            <a:r>
              <a:rPr lang="en-US" sz="1800" dirty="0">
                <a:effectLst/>
                <a:ea typeface="Times New Roman" panose="02020603050405020304" pitchFamily="18" charset="0"/>
              </a:rPr>
              <a:t> </a:t>
            </a:r>
            <a:r>
              <a:rPr lang="en-US" sz="1800" dirty="0" err="1">
                <a:effectLst/>
                <a:ea typeface="Times New Roman" panose="02020603050405020304" pitchFamily="18" charset="0"/>
              </a:rPr>
              <a:t>hồ</a:t>
            </a:r>
            <a:r>
              <a:rPr lang="en-US" sz="1800" dirty="0">
                <a:effectLst/>
                <a:ea typeface="Times New Roman" panose="02020603050405020304" pitchFamily="18" charset="0"/>
              </a:rPr>
              <a:t> </a:t>
            </a:r>
            <a:r>
              <a:rPr lang="en-US" sz="1800" dirty="0" err="1">
                <a:effectLst/>
                <a:ea typeface="Times New Roman" panose="02020603050405020304" pitchFamily="18" charset="0"/>
              </a:rPr>
              <a:t>đúng</a:t>
            </a:r>
            <a:r>
              <a:rPr lang="en-US" sz="1800" dirty="0">
                <a:effectLst/>
                <a:ea typeface="Times New Roman" panose="02020603050405020304" pitchFamily="18" charset="0"/>
              </a:rPr>
              <a:t> </a:t>
            </a:r>
            <a:r>
              <a:rPr lang="en-US" sz="1800" dirty="0" err="1">
                <a:effectLst/>
                <a:ea typeface="Times New Roman" panose="02020603050405020304" pitchFamily="18" charset="0"/>
              </a:rPr>
              <a:t>bằng</a:t>
            </a:r>
            <a:r>
              <a:rPr lang="en-US" sz="1800" dirty="0">
                <a:effectLst/>
                <a:ea typeface="Times New Roman" panose="02020603050405020304" pitchFamily="18" charset="0"/>
              </a:rPr>
              <a:t> </a:t>
            </a:r>
            <a:r>
              <a:rPr lang="en-US" sz="1800" dirty="0" err="1">
                <a:effectLst/>
                <a:ea typeface="Times New Roman" panose="02020603050405020304" pitchFamily="18" charset="0"/>
              </a:rPr>
              <a:t>số</a:t>
            </a:r>
            <a:r>
              <a:rPr lang="en-US" sz="1800" dirty="0">
                <a:effectLst/>
                <a:ea typeface="Times New Roman" panose="02020603050405020304" pitchFamily="18" charset="0"/>
              </a:rPr>
              <a:t> </a:t>
            </a:r>
            <a:r>
              <a:rPr lang="en-US" sz="1800" dirty="0" err="1">
                <a:effectLst/>
                <a:ea typeface="Times New Roman" panose="02020603050405020304" pitchFamily="18" charset="0"/>
              </a:rPr>
              <a:t>điểm</a:t>
            </a:r>
            <a:r>
              <a:rPr lang="en-US" sz="1800" dirty="0">
                <a:effectLst/>
                <a:ea typeface="Times New Roman" panose="02020603050405020304" pitchFamily="18" charset="0"/>
              </a:rPr>
              <a:t> </a:t>
            </a:r>
            <a:r>
              <a:rPr lang="en-US" sz="1800" dirty="0" err="1">
                <a:effectLst/>
                <a:ea typeface="Times New Roman" panose="02020603050405020304" pitchFamily="18" charset="0"/>
              </a:rPr>
              <a:t>cực</a:t>
            </a:r>
            <a:r>
              <a:rPr lang="en-US" sz="1800" dirty="0">
                <a:effectLst/>
                <a:ea typeface="Times New Roman" panose="02020603050405020304" pitchFamily="18" charset="0"/>
              </a:rPr>
              <a:t> </a:t>
            </a:r>
            <a:r>
              <a:rPr lang="en-US" sz="1800" dirty="0" err="1">
                <a:effectLst/>
                <a:ea typeface="Times New Roman" panose="02020603050405020304" pitchFamily="18" charset="0"/>
              </a:rPr>
              <a:t>của</a:t>
            </a:r>
            <a:r>
              <a:rPr lang="en-US" sz="1800" dirty="0">
                <a:effectLst/>
                <a:ea typeface="Times New Roman" panose="02020603050405020304" pitchFamily="18" charset="0"/>
              </a:rPr>
              <a:t> </a:t>
            </a:r>
            <a:r>
              <a:rPr lang="en-US" sz="1800" i="1" dirty="0">
                <a:ea typeface="Times New Roman" panose="02020603050405020304" pitchFamily="18" charset="0"/>
              </a:rPr>
              <a:t>G(s)H(s)</a:t>
            </a:r>
            <a:r>
              <a:rPr lang="en-US" sz="1800" dirty="0">
                <a:effectLst/>
                <a:ea typeface="Times New Roman" panose="02020603050405020304" pitchFamily="18" charset="0"/>
              </a:rPr>
              <a:t> </a:t>
            </a:r>
            <a:r>
              <a:rPr lang="en-US" sz="1800" dirty="0" err="1">
                <a:effectLst/>
                <a:ea typeface="Times New Roman" panose="02020603050405020304" pitchFamily="18" charset="0"/>
              </a:rPr>
              <a:t>nằm</a:t>
            </a:r>
            <a:r>
              <a:rPr lang="en-US" sz="1800" dirty="0">
                <a:effectLst/>
                <a:ea typeface="Times New Roman" panose="02020603050405020304" pitchFamily="18" charset="0"/>
              </a:rPr>
              <a:t> </a:t>
            </a:r>
            <a:r>
              <a:rPr lang="en-US" sz="1800" dirty="0" err="1">
                <a:effectLst/>
                <a:ea typeface="Times New Roman" panose="02020603050405020304" pitchFamily="18" charset="0"/>
              </a:rPr>
              <a:t>ở</a:t>
            </a:r>
            <a:r>
              <a:rPr lang="en-US" sz="1800" dirty="0">
                <a:effectLst/>
                <a:ea typeface="Times New Roman" panose="02020603050405020304" pitchFamily="18" charset="0"/>
              </a:rPr>
              <a:t> </a:t>
            </a:r>
            <a:r>
              <a:rPr lang="en-US" sz="1800" dirty="0" err="1">
                <a:effectLst/>
                <a:ea typeface="Times New Roman" panose="02020603050405020304" pitchFamily="18" charset="0"/>
              </a:rPr>
              <a:t>nửa</a:t>
            </a:r>
            <a:r>
              <a:rPr lang="en-US" sz="1800" dirty="0">
                <a:effectLst/>
                <a:ea typeface="Times New Roman" panose="02020603050405020304" pitchFamily="18" charset="0"/>
              </a:rPr>
              <a:t> </a:t>
            </a:r>
            <a:r>
              <a:rPr lang="en-US" sz="1800" dirty="0" err="1">
                <a:effectLst/>
                <a:ea typeface="Times New Roman" panose="02020603050405020304" pitchFamily="18" charset="0"/>
              </a:rPr>
              <a:t>bên</a:t>
            </a:r>
            <a:r>
              <a:rPr lang="en-US" sz="1800" dirty="0">
                <a:effectLst/>
                <a:ea typeface="Times New Roman" panose="02020603050405020304" pitchFamily="18" charset="0"/>
              </a:rPr>
              <a:t> </a:t>
            </a:r>
            <a:r>
              <a:rPr lang="en-US" sz="1800" dirty="0" err="1">
                <a:effectLst/>
                <a:ea typeface="Times New Roman" panose="02020603050405020304" pitchFamily="18" charset="0"/>
              </a:rPr>
              <a:t>phải</a:t>
            </a:r>
            <a:r>
              <a:rPr lang="en-US" sz="1800" dirty="0">
                <a:effectLst/>
                <a:ea typeface="Times New Roman" panose="02020603050405020304" pitchFamily="18" charset="0"/>
              </a:rPr>
              <a:t> </a:t>
            </a:r>
            <a:r>
              <a:rPr lang="en-US" sz="1800" dirty="0" err="1">
                <a:effectLst/>
                <a:ea typeface="Times New Roman" panose="02020603050405020304" pitchFamily="18" charset="0"/>
              </a:rPr>
              <a:t>của</a:t>
            </a:r>
            <a:r>
              <a:rPr lang="en-US" sz="1800" dirty="0">
                <a:effectLst/>
                <a:ea typeface="Times New Roman" panose="02020603050405020304" pitchFamily="18" charset="0"/>
              </a:rPr>
              <a:t> </a:t>
            </a:r>
            <a:r>
              <a:rPr lang="en-US" sz="1800" dirty="0" err="1">
                <a:effectLst/>
                <a:ea typeface="Times New Roman" panose="02020603050405020304" pitchFamily="18" charset="0"/>
              </a:rPr>
              <a:t>mặt</a:t>
            </a:r>
            <a:r>
              <a:rPr lang="en-US" sz="1800" dirty="0">
                <a:effectLst/>
                <a:ea typeface="Times New Roman" panose="02020603050405020304" pitchFamily="18" charset="0"/>
              </a:rPr>
              <a:t> </a:t>
            </a:r>
            <a:r>
              <a:rPr lang="en-US" sz="1800" dirty="0" err="1">
                <a:effectLst/>
                <a:ea typeface="Times New Roman" panose="02020603050405020304" pitchFamily="18" charset="0"/>
              </a:rPr>
              <a:t>phẳng</a:t>
            </a:r>
            <a:r>
              <a:rPr lang="en-US" sz="1800" dirty="0">
                <a:effectLst/>
                <a:ea typeface="Times New Roman" panose="02020603050405020304" pitchFamily="18" charset="0"/>
              </a:rPr>
              <a:t> </a:t>
            </a:r>
            <a:r>
              <a:rPr lang="en-US" sz="1800" i="1" dirty="0">
                <a:effectLst/>
                <a:ea typeface="Times New Roman" panose="02020603050405020304" pitchFamily="18" charset="0"/>
              </a:rPr>
              <a:t>s</a:t>
            </a:r>
            <a:r>
              <a:rPr lang="en-US" sz="1800" dirty="0">
                <a:effectLst/>
                <a:ea typeface="Times New Roman" panose="02020603050405020304" pitchFamily="18" charset="0"/>
              </a:rPr>
              <a:t>.</a:t>
            </a:r>
            <a:endParaRPr lang="en-VN" dirty="0"/>
          </a:p>
        </p:txBody>
      </p:sp>
    </p:spTree>
    <p:extLst>
      <p:ext uri="{BB962C8B-B14F-4D97-AF65-F5344CB8AC3E}">
        <p14:creationId xmlns:p14="http://schemas.microsoft.com/office/powerpoint/2010/main" val="77506617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5874687-0A71-A3AA-FD85-328B8B0A26D6}"/>
              </a:ext>
            </a:extLst>
          </p:cNvPr>
          <p:cNvSpPr>
            <a:spLocks noGrp="1"/>
          </p:cNvSpPr>
          <p:nvPr>
            <p:ph type="title"/>
          </p:nvPr>
        </p:nvSpPr>
        <p:spPr/>
        <p:txBody>
          <a:bodyPr/>
          <a:lstStyle/>
          <a:p>
            <a:r>
              <a:rPr lang="en-VN" dirty="0"/>
              <a:t>ĐIỀU KIỆN ỔN ĐỊNH NYQUIST</a:t>
            </a:r>
          </a:p>
        </p:txBody>
      </p:sp>
      <p:pic>
        <p:nvPicPr>
          <p:cNvPr id="5" name="Content Placeholder 4">
            <a:extLst>
              <a:ext uri="{FF2B5EF4-FFF2-40B4-BE49-F238E27FC236}">
                <a16:creationId xmlns:a16="http://schemas.microsoft.com/office/drawing/2014/main" id="{8A4F7C82-560B-22F7-4280-05CBB57B96BE}"/>
              </a:ext>
            </a:extLst>
          </p:cNvPr>
          <p:cNvPicPr>
            <a:picLocks noGrp="1" noChangeAspect="1"/>
          </p:cNvPicPr>
          <p:nvPr>
            <p:ph idx="1"/>
          </p:nvPr>
        </p:nvPicPr>
        <p:blipFill>
          <a:blip r:embed="rId2"/>
          <a:stretch>
            <a:fillRect/>
          </a:stretch>
        </p:blipFill>
        <p:spPr>
          <a:xfrm>
            <a:off x="482688" y="1313180"/>
            <a:ext cx="7266128" cy="4443413"/>
          </a:xfrm>
        </p:spPr>
      </p:pic>
      <mc:AlternateContent xmlns:mc="http://schemas.openxmlformats.org/markup-compatibility/2006">
        <mc:Choice xmlns:a14="http://schemas.microsoft.com/office/drawing/2010/main" Requires="a14">
          <p:sp>
            <p:nvSpPr>
              <p:cNvPr id="6" name="TextBox 5">
                <a:extLst>
                  <a:ext uri="{FF2B5EF4-FFF2-40B4-BE49-F238E27FC236}">
                    <a16:creationId xmlns:a16="http://schemas.microsoft.com/office/drawing/2014/main" id="{4E9F9E12-5BB7-877A-0B33-9221EAEDA7EF}"/>
                  </a:ext>
                </a:extLst>
              </p:cNvPr>
              <p:cNvSpPr txBox="1"/>
              <p:nvPr/>
            </p:nvSpPr>
            <p:spPr>
              <a:xfrm>
                <a:off x="8115300" y="1474470"/>
                <a:ext cx="3406140" cy="1477328"/>
              </a:xfrm>
              <a:prstGeom prst="rect">
                <a:avLst/>
              </a:prstGeom>
              <a:noFill/>
            </p:spPr>
            <p:txBody>
              <a:bodyPr wrap="square" rtlCol="0">
                <a:spAutoFit/>
              </a:bodyPr>
              <a:lstStyle/>
              <a:p>
                <a:r>
                  <a:rPr lang="en-VN" u="sng" dirty="0">
                    <a:latin typeface="Arial" panose="020B0604020202020204" pitchFamily="34" charset="0"/>
                    <a:cs typeface="Arial" panose="020B0604020202020204" pitchFamily="34" charset="0"/>
                  </a:rPr>
                  <a:t>Ví dụ: </a:t>
                </a:r>
              </a:p>
              <a:p>
                <a:r>
                  <a:rPr lang="en-VN" dirty="0">
                    <a:latin typeface="Arial" panose="020B0604020202020204" pitchFamily="34" charset="0"/>
                    <a:cs typeface="Arial" panose="020B0604020202020204" pitchFamily="34" charset="0"/>
                  </a:rPr>
                  <a:t>(a) </a:t>
                </a:r>
                <a14:m>
                  <m:oMath xmlns:m="http://schemas.openxmlformats.org/officeDocument/2006/math">
                    <m:r>
                      <a:rPr lang="en-US" b="0" i="1" smtClean="0">
                        <a:latin typeface="Cambria Math" panose="02040503050406030204" pitchFamily="18" charset="0"/>
                      </a:rPr>
                      <m:t>𝑁</m:t>
                    </m:r>
                    <m:r>
                      <a:rPr lang="en-US" b="0" i="1" smtClean="0">
                        <a:latin typeface="Cambria Math" panose="02040503050406030204" pitchFamily="18" charset="0"/>
                      </a:rPr>
                      <m:t>=0, </m:t>
                    </m:r>
                    <m:r>
                      <a:rPr lang="en-US" b="0" i="1" smtClean="0">
                        <a:latin typeface="Cambria Math" panose="02040503050406030204" pitchFamily="18" charset="0"/>
                      </a:rPr>
                      <m:t>𝑃</m:t>
                    </m:r>
                    <m:r>
                      <a:rPr lang="en-US" b="0" i="1" smtClean="0">
                        <a:latin typeface="Cambria Math" panose="02040503050406030204" pitchFamily="18" charset="0"/>
                      </a:rPr>
                      <m:t>=0</m:t>
                    </m:r>
                  </m:oMath>
                </a14:m>
                <a:r>
                  <a:rPr lang="en-VN" dirty="0">
                    <a:latin typeface="Arial" panose="020B0604020202020204" pitchFamily="34" charset="0"/>
                    <a:cs typeface="Arial" panose="020B0604020202020204" pitchFamily="34" charset="0"/>
                  </a:rPr>
                  <a:t> suy ra </a:t>
                </a:r>
                <a14:m>
                  <m:oMath xmlns:m="http://schemas.openxmlformats.org/officeDocument/2006/math">
                    <m:r>
                      <a:rPr lang="en-US" b="0" i="1" smtClean="0">
                        <a:latin typeface="Cambria Math" panose="02040503050406030204" pitchFamily="18" charset="0"/>
                      </a:rPr>
                      <m:t>𝑍</m:t>
                    </m:r>
                    <m:r>
                      <a:rPr lang="en-US" b="0" i="1" smtClean="0">
                        <a:latin typeface="Cambria Math" panose="02040503050406030204" pitchFamily="18" charset="0"/>
                      </a:rPr>
                      <m:t>=0</m:t>
                    </m:r>
                  </m:oMath>
                </a14:m>
                <a:endParaRPr lang="en-VN" dirty="0">
                  <a:latin typeface="Arial" panose="020B0604020202020204" pitchFamily="34" charset="0"/>
                  <a:cs typeface="Arial" panose="020B0604020202020204" pitchFamily="34" charset="0"/>
                </a:endParaRPr>
              </a:p>
              <a:p>
                <a:r>
                  <a:rPr lang="en-VN" dirty="0">
                    <a:latin typeface="Arial" panose="020B0604020202020204" pitchFamily="34" charset="0"/>
                    <a:cs typeface="Arial" panose="020B0604020202020204" pitchFamily="34" charset="0"/>
                  </a:rPr>
                  <a:t>Hệ thống ổn định.</a:t>
                </a:r>
              </a:p>
              <a:p>
                <a:r>
                  <a:rPr lang="en-VN" dirty="0">
                    <a:latin typeface="Arial" panose="020B0604020202020204" pitchFamily="34" charset="0"/>
                    <a:cs typeface="Arial" panose="020B0604020202020204" pitchFamily="34" charset="0"/>
                  </a:rPr>
                  <a:t>(b) </a:t>
                </a:r>
                <a14:m>
                  <m:oMath xmlns:m="http://schemas.openxmlformats.org/officeDocument/2006/math">
                    <m:r>
                      <a:rPr lang="en-US" b="0" i="1" smtClean="0">
                        <a:latin typeface="Cambria Math" panose="02040503050406030204" pitchFamily="18" charset="0"/>
                      </a:rPr>
                      <m:t>𝑁</m:t>
                    </m:r>
                    <m:r>
                      <a:rPr lang="en-US" b="0" i="1" smtClean="0">
                        <a:latin typeface="Cambria Math" panose="02040503050406030204" pitchFamily="18" charset="0"/>
                      </a:rPr>
                      <m:t>=−2, </m:t>
                    </m:r>
                    <m:r>
                      <a:rPr lang="en-US" b="0" i="1" smtClean="0">
                        <a:latin typeface="Cambria Math" panose="02040503050406030204" pitchFamily="18" charset="0"/>
                      </a:rPr>
                      <m:t>𝑃</m:t>
                    </m:r>
                    <m:r>
                      <a:rPr lang="en-US" b="0" i="1" smtClean="0">
                        <a:latin typeface="Cambria Math" panose="02040503050406030204" pitchFamily="18" charset="0"/>
                      </a:rPr>
                      <m:t>=0</m:t>
                    </m:r>
                  </m:oMath>
                </a14:m>
                <a:r>
                  <a:rPr lang="en-VN" dirty="0">
                    <a:latin typeface="Arial" panose="020B0604020202020204" pitchFamily="34" charset="0"/>
                    <a:cs typeface="Arial" panose="020B0604020202020204" pitchFamily="34" charset="0"/>
                  </a:rPr>
                  <a:t> suy ra </a:t>
                </a:r>
                <a14:m>
                  <m:oMath xmlns:m="http://schemas.openxmlformats.org/officeDocument/2006/math">
                    <m:r>
                      <a:rPr lang="en-US" i="1">
                        <a:latin typeface="Cambria Math" panose="02040503050406030204" pitchFamily="18" charset="0"/>
                      </a:rPr>
                      <m:t>𝑍</m:t>
                    </m:r>
                    <m:r>
                      <a:rPr lang="en-US" i="1">
                        <a:latin typeface="Cambria Math" panose="02040503050406030204" pitchFamily="18" charset="0"/>
                      </a:rPr>
                      <m:t>=2</m:t>
                    </m:r>
                  </m:oMath>
                </a14:m>
                <a:endParaRPr lang="en-VN" dirty="0">
                  <a:latin typeface="Arial" panose="020B0604020202020204" pitchFamily="34" charset="0"/>
                  <a:cs typeface="Arial" panose="020B0604020202020204" pitchFamily="34" charset="0"/>
                </a:endParaRPr>
              </a:p>
              <a:p>
                <a:r>
                  <a:rPr lang="en-VN" dirty="0">
                    <a:latin typeface="Arial" panose="020B0604020202020204" pitchFamily="34" charset="0"/>
                    <a:cs typeface="Arial" panose="020B0604020202020204" pitchFamily="34" charset="0"/>
                  </a:rPr>
                  <a:t>Hệ thống không ổn định.</a:t>
                </a:r>
              </a:p>
            </p:txBody>
          </p:sp>
        </mc:Choice>
        <mc:Fallback>
          <p:sp>
            <p:nvSpPr>
              <p:cNvPr id="6" name="TextBox 5">
                <a:extLst>
                  <a:ext uri="{FF2B5EF4-FFF2-40B4-BE49-F238E27FC236}">
                    <a16:creationId xmlns:a16="http://schemas.microsoft.com/office/drawing/2014/main" id="{4E9F9E12-5BB7-877A-0B33-9221EAEDA7EF}"/>
                  </a:ext>
                </a:extLst>
              </p:cNvPr>
              <p:cNvSpPr txBox="1">
                <a:spLocks noRot="1" noChangeAspect="1" noMove="1" noResize="1" noEditPoints="1" noAdjustHandles="1" noChangeArrowheads="1" noChangeShapeType="1" noTextEdit="1"/>
              </p:cNvSpPr>
              <p:nvPr/>
            </p:nvSpPr>
            <p:spPr>
              <a:xfrm>
                <a:off x="8115300" y="1474470"/>
                <a:ext cx="3406140" cy="1477328"/>
              </a:xfrm>
              <a:prstGeom prst="rect">
                <a:avLst/>
              </a:prstGeom>
              <a:blipFill>
                <a:blip r:embed="rId3"/>
                <a:stretch>
                  <a:fillRect l="-1111" t="-2564" b="-5983"/>
                </a:stretch>
              </a:blipFill>
            </p:spPr>
            <p:txBody>
              <a:bodyPr/>
              <a:lstStyle/>
              <a:p>
                <a:r>
                  <a:rPr lang="en-VN">
                    <a:noFill/>
                  </a:rPr>
                  <a:t> </a:t>
                </a:r>
              </a:p>
            </p:txBody>
          </p:sp>
        </mc:Fallback>
      </mc:AlternateContent>
    </p:spTree>
    <p:extLst>
      <p:ext uri="{BB962C8B-B14F-4D97-AF65-F5344CB8AC3E}">
        <p14:creationId xmlns:p14="http://schemas.microsoft.com/office/powerpoint/2010/main" val="381212218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E824C78-1909-B05D-CACA-DC3783503211}"/>
              </a:ext>
            </a:extLst>
          </p:cNvPr>
          <p:cNvSpPr>
            <a:spLocks noGrp="1"/>
          </p:cNvSpPr>
          <p:nvPr>
            <p:ph type="title"/>
          </p:nvPr>
        </p:nvSpPr>
        <p:spPr/>
        <p:txBody>
          <a:bodyPr/>
          <a:lstStyle/>
          <a:p>
            <a:r>
              <a:rPr lang="en-VN" dirty="0"/>
              <a:t>ĐỒ THỊ NYQUIST</a:t>
            </a:r>
          </a:p>
        </p:txBody>
      </p:sp>
      <p:pic>
        <p:nvPicPr>
          <p:cNvPr id="5" name="Content Placeholder 4">
            <a:extLst>
              <a:ext uri="{FF2B5EF4-FFF2-40B4-BE49-F238E27FC236}">
                <a16:creationId xmlns:a16="http://schemas.microsoft.com/office/drawing/2014/main" id="{7E62F77A-C31D-C93F-35FC-580DC9C478BD}"/>
              </a:ext>
            </a:extLst>
          </p:cNvPr>
          <p:cNvPicPr>
            <a:picLocks noGrp="1" noChangeAspect="1"/>
          </p:cNvPicPr>
          <p:nvPr>
            <p:ph idx="1"/>
          </p:nvPr>
        </p:nvPicPr>
        <p:blipFill>
          <a:blip r:embed="rId2"/>
          <a:stretch>
            <a:fillRect/>
          </a:stretch>
        </p:blipFill>
        <p:spPr>
          <a:xfrm>
            <a:off x="160020" y="1571222"/>
            <a:ext cx="6597924" cy="3715555"/>
          </a:xfrm>
        </p:spPr>
      </p:pic>
      <mc:AlternateContent xmlns:mc="http://schemas.openxmlformats.org/markup-compatibility/2006">
        <mc:Choice xmlns:a14="http://schemas.microsoft.com/office/drawing/2010/main" Requires="a14">
          <p:sp>
            <p:nvSpPr>
              <p:cNvPr id="6" name="TextBox 5">
                <a:extLst>
                  <a:ext uri="{FF2B5EF4-FFF2-40B4-BE49-F238E27FC236}">
                    <a16:creationId xmlns:a16="http://schemas.microsoft.com/office/drawing/2014/main" id="{927F3F05-1753-BCAF-F84D-678E246A23DA}"/>
                  </a:ext>
                </a:extLst>
              </p:cNvPr>
              <p:cNvSpPr txBox="1"/>
              <p:nvPr/>
            </p:nvSpPr>
            <p:spPr>
              <a:xfrm>
                <a:off x="6757944" y="1140824"/>
                <a:ext cx="4957806" cy="2072106"/>
              </a:xfrm>
              <a:prstGeom prst="rect">
                <a:avLst/>
              </a:prstGeom>
              <a:noFill/>
            </p:spPr>
            <p:txBody>
              <a:bodyPr wrap="square" rtlCol="0">
                <a:spAutoFit/>
              </a:bodyPr>
              <a:lstStyle/>
              <a:p>
                <a14:m>
                  <m:oMathPara xmlns:m="http://schemas.openxmlformats.org/officeDocument/2006/math">
                    <m:oMathParaPr>
                      <m:jc m:val="centerGroup"/>
                    </m:oMathParaPr>
                    <m:oMath xmlns:m="http://schemas.openxmlformats.org/officeDocument/2006/math">
                      <m:r>
                        <a:rPr lang="en-US" sz="1600" b="0" i="1" smtClean="0">
                          <a:latin typeface="Cambria Math" panose="02040503050406030204" pitchFamily="18" charset="0"/>
                        </a:rPr>
                        <m:t>𝐺</m:t>
                      </m:r>
                      <m:d>
                        <m:dPr>
                          <m:ctrlPr>
                            <a:rPr lang="en-US" sz="1600" b="0" i="1" smtClean="0">
                              <a:latin typeface="Cambria Math" panose="02040503050406030204" pitchFamily="18" charset="0"/>
                            </a:rPr>
                          </m:ctrlPr>
                        </m:dPr>
                        <m:e>
                          <m:r>
                            <a:rPr lang="en-US" sz="1600" b="0" i="1" smtClean="0">
                              <a:latin typeface="Cambria Math" panose="02040503050406030204" pitchFamily="18" charset="0"/>
                            </a:rPr>
                            <m:t>𝑠</m:t>
                          </m:r>
                        </m:e>
                      </m:d>
                      <m:r>
                        <a:rPr lang="en-US" sz="1600" b="0" i="1" smtClean="0">
                          <a:latin typeface="Cambria Math" panose="02040503050406030204" pitchFamily="18" charset="0"/>
                        </a:rPr>
                        <m:t>=</m:t>
                      </m:r>
                      <m:f>
                        <m:fPr>
                          <m:ctrlPr>
                            <a:rPr lang="en-US" sz="1600" b="0" i="1" smtClean="0">
                              <a:latin typeface="Cambria Math" panose="02040503050406030204" pitchFamily="18" charset="0"/>
                            </a:rPr>
                          </m:ctrlPr>
                        </m:fPr>
                        <m:num>
                          <m:r>
                            <a:rPr lang="en-US" sz="1600" b="0" i="1" smtClean="0">
                              <a:latin typeface="Cambria Math" panose="02040503050406030204" pitchFamily="18" charset="0"/>
                            </a:rPr>
                            <m:t>500</m:t>
                          </m:r>
                        </m:num>
                        <m:den>
                          <m:d>
                            <m:dPr>
                              <m:ctrlPr>
                                <a:rPr lang="en-US" sz="1600" b="0" i="1" smtClean="0">
                                  <a:latin typeface="Cambria Math" panose="02040503050406030204" pitchFamily="18" charset="0"/>
                                </a:rPr>
                              </m:ctrlPr>
                            </m:dPr>
                            <m:e>
                              <m:r>
                                <a:rPr lang="en-US" sz="1600" b="0" i="1" smtClean="0">
                                  <a:latin typeface="Cambria Math" panose="02040503050406030204" pitchFamily="18" charset="0"/>
                                </a:rPr>
                                <m:t>𝑠</m:t>
                              </m:r>
                              <m:r>
                                <a:rPr lang="en-US" sz="1600" b="0" i="1" smtClean="0">
                                  <a:latin typeface="Cambria Math" panose="02040503050406030204" pitchFamily="18" charset="0"/>
                                </a:rPr>
                                <m:t>+10</m:t>
                              </m:r>
                            </m:e>
                          </m:d>
                          <m:d>
                            <m:dPr>
                              <m:ctrlPr>
                                <a:rPr lang="en-US" sz="1600" b="0" i="1" smtClean="0">
                                  <a:latin typeface="Cambria Math" panose="02040503050406030204" pitchFamily="18" charset="0"/>
                                </a:rPr>
                              </m:ctrlPr>
                            </m:dPr>
                            <m:e>
                              <m:r>
                                <a:rPr lang="en-US" sz="1600" b="0" i="1" smtClean="0">
                                  <a:latin typeface="Cambria Math" panose="02040503050406030204" pitchFamily="18" charset="0"/>
                                </a:rPr>
                                <m:t>𝑠</m:t>
                              </m:r>
                              <m:r>
                                <a:rPr lang="en-US" sz="1600" b="0" i="1" smtClean="0">
                                  <a:latin typeface="Cambria Math" panose="02040503050406030204" pitchFamily="18" charset="0"/>
                                </a:rPr>
                                <m:t>+3</m:t>
                              </m:r>
                            </m:e>
                          </m:d>
                          <m:d>
                            <m:dPr>
                              <m:ctrlPr>
                                <a:rPr lang="en-US" sz="1600" b="0" i="1" smtClean="0">
                                  <a:latin typeface="Cambria Math" panose="02040503050406030204" pitchFamily="18" charset="0"/>
                                </a:rPr>
                              </m:ctrlPr>
                            </m:dPr>
                            <m:e>
                              <m:r>
                                <a:rPr lang="en-US" sz="1600" b="0" i="1" smtClean="0">
                                  <a:latin typeface="Cambria Math" panose="02040503050406030204" pitchFamily="18" charset="0"/>
                                </a:rPr>
                                <m:t>𝑠</m:t>
                              </m:r>
                              <m:r>
                                <a:rPr lang="en-US" sz="1600" b="0" i="1" smtClean="0">
                                  <a:latin typeface="Cambria Math" panose="02040503050406030204" pitchFamily="18" charset="0"/>
                                </a:rPr>
                                <m:t>+1</m:t>
                              </m:r>
                            </m:e>
                          </m:d>
                        </m:den>
                      </m:f>
                    </m:oMath>
                  </m:oMathPara>
                </a14:m>
                <a:endParaRPr lang="en-VN" sz="1600" dirty="0">
                  <a:latin typeface="Arial" panose="020B0604020202020204" pitchFamily="34" charset="0"/>
                  <a:cs typeface="Arial" panose="020B0604020202020204" pitchFamily="34" charset="0"/>
                </a:endParaRPr>
              </a:p>
              <a:p>
                <a:endParaRPr lang="en-VN" sz="1600" dirty="0">
                  <a:latin typeface="Arial" panose="020B0604020202020204" pitchFamily="34" charset="0"/>
                  <a:cs typeface="Arial" panose="020B0604020202020204" pitchFamily="34" charset="0"/>
                </a:endParaRPr>
              </a:p>
              <a:p>
                <a:pPr marL="285750" indent="-285750">
                  <a:buFont typeface="Arial" panose="020B0604020202020204" pitchFamily="34" charset="0"/>
                  <a:buChar char="•"/>
                </a:pPr>
                <a:r>
                  <a:rPr lang="en-VN" sz="1600" dirty="0">
                    <a:latin typeface="Arial" panose="020B0604020202020204" pitchFamily="34" charset="0"/>
                    <a:cs typeface="Arial" panose="020B0604020202020204" pitchFamily="34" charset="0"/>
                  </a:rPr>
                  <a:t>Đồ thị Nyquist được tạo ra bằng cách thay từng điểm của chu tuyến nằm ở nửa bên phải mặt phẳng s vào hàm </a:t>
                </a:r>
                <a14:m>
                  <m:oMath xmlns:m="http://schemas.openxmlformats.org/officeDocument/2006/math">
                    <m:r>
                      <a:rPr lang="en-US" sz="1600" b="0" i="1" smtClean="0">
                        <a:latin typeface="Cambria Math" panose="02040503050406030204" pitchFamily="18" charset="0"/>
                      </a:rPr>
                      <m:t>𝐺</m:t>
                    </m:r>
                    <m:d>
                      <m:dPr>
                        <m:ctrlPr>
                          <a:rPr lang="en-US" sz="1600" b="0" i="1" smtClean="0">
                            <a:latin typeface="Cambria Math" panose="02040503050406030204" pitchFamily="18" charset="0"/>
                          </a:rPr>
                        </m:ctrlPr>
                      </m:dPr>
                      <m:e>
                        <m:r>
                          <a:rPr lang="en-US" sz="1600" b="0" i="1" smtClean="0">
                            <a:latin typeface="Cambria Math" panose="02040503050406030204" pitchFamily="18" charset="0"/>
                          </a:rPr>
                          <m:t>𝑠</m:t>
                        </m:r>
                      </m:e>
                    </m:d>
                  </m:oMath>
                </a14:m>
                <a:r>
                  <a:rPr lang="en-VN" sz="1600" dirty="0">
                    <a:latin typeface="Arial" panose="020B0604020202020204" pitchFamily="34" charset="0"/>
                    <a:cs typeface="Arial" panose="020B0604020202020204" pitchFamily="34" charset="0"/>
                  </a:rPr>
                  <a:t>.</a:t>
                </a:r>
              </a:p>
              <a:p>
                <a:pPr marL="285750" indent="-285750">
                  <a:buFont typeface="Arial" panose="020B0604020202020204" pitchFamily="34" charset="0"/>
                  <a:buChar char="•"/>
                </a:pPr>
                <a:r>
                  <a:rPr lang="en-VN" sz="1600" dirty="0">
                    <a:latin typeface="Arial" panose="020B0604020202020204" pitchFamily="34" charset="0"/>
                    <a:cs typeface="Arial" panose="020B0604020202020204" pitchFamily="34" charset="0"/>
                  </a:rPr>
                  <a:t>Biểu diễn số phức bằng vector (nhớ lại chương Quỹ tích nghiệm), có các công thức như sau:</a:t>
                </a:r>
              </a:p>
            </p:txBody>
          </p:sp>
        </mc:Choice>
        <mc:Fallback>
          <p:sp>
            <p:nvSpPr>
              <p:cNvPr id="6" name="TextBox 5">
                <a:extLst>
                  <a:ext uri="{FF2B5EF4-FFF2-40B4-BE49-F238E27FC236}">
                    <a16:creationId xmlns:a16="http://schemas.microsoft.com/office/drawing/2014/main" id="{927F3F05-1753-BCAF-F84D-678E246A23DA}"/>
                  </a:ext>
                </a:extLst>
              </p:cNvPr>
              <p:cNvSpPr txBox="1">
                <a:spLocks noRot="1" noChangeAspect="1" noMove="1" noResize="1" noEditPoints="1" noAdjustHandles="1" noChangeArrowheads="1" noChangeShapeType="1" noTextEdit="1"/>
              </p:cNvSpPr>
              <p:nvPr/>
            </p:nvSpPr>
            <p:spPr>
              <a:xfrm>
                <a:off x="6757944" y="1140824"/>
                <a:ext cx="4957806" cy="2072106"/>
              </a:xfrm>
              <a:prstGeom prst="rect">
                <a:avLst/>
              </a:prstGeom>
              <a:blipFill>
                <a:blip r:embed="rId3"/>
                <a:stretch>
                  <a:fillRect l="-767" b="-3659"/>
                </a:stretch>
              </a:blipFill>
            </p:spPr>
            <p:txBody>
              <a:bodyPr/>
              <a:lstStyle/>
              <a:p>
                <a:r>
                  <a:rPr lang="en-VN">
                    <a:noFill/>
                  </a:rPr>
                  <a:t> </a:t>
                </a:r>
              </a:p>
            </p:txBody>
          </p:sp>
        </mc:Fallback>
      </mc:AlternateContent>
      <p:pic>
        <p:nvPicPr>
          <p:cNvPr id="7" name="Content Placeholder 4">
            <a:extLst>
              <a:ext uri="{FF2B5EF4-FFF2-40B4-BE49-F238E27FC236}">
                <a16:creationId xmlns:a16="http://schemas.microsoft.com/office/drawing/2014/main" id="{AFB2394F-530F-52EC-DE3F-67808D8E2191}"/>
              </a:ext>
            </a:extLst>
          </p:cNvPr>
          <p:cNvPicPr>
            <a:picLocks noChangeAspect="1"/>
          </p:cNvPicPr>
          <p:nvPr/>
        </p:nvPicPr>
        <p:blipFill>
          <a:blip r:embed="rId4"/>
          <a:stretch>
            <a:fillRect/>
          </a:stretch>
        </p:blipFill>
        <p:spPr>
          <a:xfrm>
            <a:off x="7143749" y="3333800"/>
            <a:ext cx="4800267" cy="3097531"/>
          </a:xfrm>
          <a:prstGeom prst="rect">
            <a:avLst/>
          </a:prstGeom>
        </p:spPr>
      </p:pic>
    </p:spTree>
    <p:extLst>
      <p:ext uri="{BB962C8B-B14F-4D97-AF65-F5344CB8AC3E}">
        <p14:creationId xmlns:p14="http://schemas.microsoft.com/office/powerpoint/2010/main" val="174929495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A65E060-FF1A-2E60-4971-DC889CF0C6F1}"/>
              </a:ext>
            </a:extLst>
          </p:cNvPr>
          <p:cNvSpPr>
            <a:spLocks noGrp="1"/>
          </p:cNvSpPr>
          <p:nvPr>
            <p:ph type="title"/>
          </p:nvPr>
        </p:nvSpPr>
        <p:spPr/>
        <p:txBody>
          <a:bodyPr/>
          <a:lstStyle/>
          <a:p>
            <a:r>
              <a:rPr lang="en-VN" dirty="0"/>
              <a:t>ĐỒ THỊ NYQUIST</a:t>
            </a:r>
          </a:p>
        </p:txBody>
      </p:sp>
      <p:pic>
        <p:nvPicPr>
          <p:cNvPr id="9" name="Content Placeholder 8">
            <a:extLst>
              <a:ext uri="{FF2B5EF4-FFF2-40B4-BE49-F238E27FC236}">
                <a16:creationId xmlns:a16="http://schemas.microsoft.com/office/drawing/2014/main" id="{5128A232-F884-F3FF-2ED4-998A8C27D524}"/>
              </a:ext>
            </a:extLst>
          </p:cNvPr>
          <p:cNvPicPr>
            <a:picLocks noGrp="1" noChangeAspect="1"/>
          </p:cNvPicPr>
          <p:nvPr>
            <p:ph idx="1"/>
          </p:nvPr>
        </p:nvPicPr>
        <p:blipFill>
          <a:blip r:embed="rId2"/>
          <a:stretch>
            <a:fillRect/>
          </a:stretch>
        </p:blipFill>
        <p:spPr>
          <a:xfrm>
            <a:off x="147908" y="1207293"/>
            <a:ext cx="6231586" cy="5452638"/>
          </a:xfrm>
        </p:spPr>
      </p:pic>
      <p:cxnSp>
        <p:nvCxnSpPr>
          <p:cNvPr id="12" name="Straight Arrow Connector 11">
            <a:extLst>
              <a:ext uri="{FF2B5EF4-FFF2-40B4-BE49-F238E27FC236}">
                <a16:creationId xmlns:a16="http://schemas.microsoft.com/office/drawing/2014/main" id="{F5C43BAF-D063-10F7-099E-30D924421DA5}"/>
              </a:ext>
            </a:extLst>
          </p:cNvPr>
          <p:cNvCxnSpPr/>
          <p:nvPr/>
        </p:nvCxnSpPr>
        <p:spPr>
          <a:xfrm flipV="1">
            <a:off x="2380343" y="1836057"/>
            <a:ext cx="0" cy="64588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5" name="Straight Arrow Connector 14">
            <a:extLst>
              <a:ext uri="{FF2B5EF4-FFF2-40B4-BE49-F238E27FC236}">
                <a16:creationId xmlns:a16="http://schemas.microsoft.com/office/drawing/2014/main" id="{28E767B6-F4B6-6568-CB84-F5EDE7DF6394}"/>
              </a:ext>
            </a:extLst>
          </p:cNvPr>
          <p:cNvCxnSpPr/>
          <p:nvPr/>
        </p:nvCxnSpPr>
        <p:spPr>
          <a:xfrm>
            <a:off x="2547257" y="1930400"/>
            <a:ext cx="246743" cy="47171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6" name="Straight Arrow Connector 15">
            <a:extLst>
              <a:ext uri="{FF2B5EF4-FFF2-40B4-BE49-F238E27FC236}">
                <a16:creationId xmlns:a16="http://schemas.microsoft.com/office/drawing/2014/main" id="{310D8607-FBE1-C386-D043-CDC606538B88}"/>
              </a:ext>
            </a:extLst>
          </p:cNvPr>
          <p:cNvCxnSpPr>
            <a:cxnSpLocks/>
          </p:cNvCxnSpPr>
          <p:nvPr/>
        </p:nvCxnSpPr>
        <p:spPr>
          <a:xfrm flipH="1">
            <a:off x="2547256" y="2758075"/>
            <a:ext cx="246743" cy="48622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8" name="Straight Arrow Connector 17">
            <a:extLst>
              <a:ext uri="{FF2B5EF4-FFF2-40B4-BE49-F238E27FC236}">
                <a16:creationId xmlns:a16="http://schemas.microsoft.com/office/drawing/2014/main" id="{89623E11-007F-AA63-924D-2DD152FB3D24}"/>
              </a:ext>
            </a:extLst>
          </p:cNvPr>
          <p:cNvCxnSpPr/>
          <p:nvPr/>
        </p:nvCxnSpPr>
        <p:spPr>
          <a:xfrm flipV="1">
            <a:off x="2380343" y="2645949"/>
            <a:ext cx="0" cy="64588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9" name="Down Arrow 18">
            <a:extLst>
              <a:ext uri="{FF2B5EF4-FFF2-40B4-BE49-F238E27FC236}">
                <a16:creationId xmlns:a16="http://schemas.microsoft.com/office/drawing/2014/main" id="{B6300A22-CE7D-BE69-E7BD-6246B7C10DF9}"/>
              </a:ext>
            </a:extLst>
          </p:cNvPr>
          <p:cNvSpPr/>
          <p:nvPr/>
        </p:nvSpPr>
        <p:spPr>
          <a:xfrm rot="1920193">
            <a:off x="5020474" y="2255029"/>
            <a:ext cx="96950" cy="229220"/>
          </a:xfrm>
          <a:prstGeom prst="down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VN"/>
          </a:p>
        </p:txBody>
      </p:sp>
      <p:sp>
        <p:nvSpPr>
          <p:cNvPr id="20" name="Down Arrow 19">
            <a:extLst>
              <a:ext uri="{FF2B5EF4-FFF2-40B4-BE49-F238E27FC236}">
                <a16:creationId xmlns:a16="http://schemas.microsoft.com/office/drawing/2014/main" id="{0DB37F91-8506-CC35-B5C9-076C74342D83}"/>
              </a:ext>
            </a:extLst>
          </p:cNvPr>
          <p:cNvSpPr/>
          <p:nvPr/>
        </p:nvSpPr>
        <p:spPr>
          <a:xfrm rot="8039932">
            <a:off x="4315118" y="5421613"/>
            <a:ext cx="96950" cy="229220"/>
          </a:xfrm>
          <a:prstGeom prst="down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VN"/>
          </a:p>
        </p:txBody>
      </p:sp>
      <p:sp>
        <p:nvSpPr>
          <p:cNvPr id="21" name="Down Arrow 20">
            <a:extLst>
              <a:ext uri="{FF2B5EF4-FFF2-40B4-BE49-F238E27FC236}">
                <a16:creationId xmlns:a16="http://schemas.microsoft.com/office/drawing/2014/main" id="{E6C6DC32-B58F-C35C-708A-43083DFAD047}"/>
              </a:ext>
            </a:extLst>
          </p:cNvPr>
          <p:cNvSpPr/>
          <p:nvPr/>
        </p:nvSpPr>
        <p:spPr>
          <a:xfrm rot="1920193">
            <a:off x="4918627" y="1396339"/>
            <a:ext cx="96950" cy="229220"/>
          </a:xfrm>
          <a:prstGeom prst="down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VN"/>
          </a:p>
        </p:txBody>
      </p:sp>
      <p:sp>
        <p:nvSpPr>
          <p:cNvPr id="22" name="Down Arrow 21">
            <a:extLst>
              <a:ext uri="{FF2B5EF4-FFF2-40B4-BE49-F238E27FC236}">
                <a16:creationId xmlns:a16="http://schemas.microsoft.com/office/drawing/2014/main" id="{B8147C51-19F1-247B-0ED0-5148A70B484B}"/>
              </a:ext>
            </a:extLst>
          </p:cNvPr>
          <p:cNvSpPr/>
          <p:nvPr/>
        </p:nvSpPr>
        <p:spPr>
          <a:xfrm rot="1920193">
            <a:off x="3204821" y="4857203"/>
            <a:ext cx="96950" cy="229220"/>
          </a:xfrm>
          <a:prstGeom prst="down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VN"/>
          </a:p>
        </p:txBody>
      </p:sp>
      <p:sp>
        <p:nvSpPr>
          <p:cNvPr id="25" name="Down Arrow 24">
            <a:extLst>
              <a:ext uri="{FF2B5EF4-FFF2-40B4-BE49-F238E27FC236}">
                <a16:creationId xmlns:a16="http://schemas.microsoft.com/office/drawing/2014/main" id="{F34ADC27-87E2-8405-9383-E25714DA7FC5}"/>
              </a:ext>
            </a:extLst>
          </p:cNvPr>
          <p:cNvSpPr/>
          <p:nvPr/>
        </p:nvSpPr>
        <p:spPr>
          <a:xfrm rot="1920193">
            <a:off x="4992930" y="3054343"/>
            <a:ext cx="96950" cy="229220"/>
          </a:xfrm>
          <a:prstGeom prst="down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VN"/>
          </a:p>
        </p:txBody>
      </p:sp>
      <p:sp>
        <p:nvSpPr>
          <p:cNvPr id="26" name="Down Arrow 25">
            <a:extLst>
              <a:ext uri="{FF2B5EF4-FFF2-40B4-BE49-F238E27FC236}">
                <a16:creationId xmlns:a16="http://schemas.microsoft.com/office/drawing/2014/main" id="{3734356E-D768-19DB-4FF1-B7021DA85312}"/>
              </a:ext>
            </a:extLst>
          </p:cNvPr>
          <p:cNvSpPr/>
          <p:nvPr/>
        </p:nvSpPr>
        <p:spPr>
          <a:xfrm rot="7653600">
            <a:off x="3186266" y="5623008"/>
            <a:ext cx="96950" cy="229220"/>
          </a:xfrm>
          <a:prstGeom prst="down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VN"/>
          </a:p>
        </p:txBody>
      </p:sp>
      <p:pic>
        <p:nvPicPr>
          <p:cNvPr id="28" name="Picture 27">
            <a:extLst>
              <a:ext uri="{FF2B5EF4-FFF2-40B4-BE49-F238E27FC236}">
                <a16:creationId xmlns:a16="http://schemas.microsoft.com/office/drawing/2014/main" id="{38C575AD-9120-1B0A-3DCC-B3C52BDD890B}"/>
              </a:ext>
            </a:extLst>
          </p:cNvPr>
          <p:cNvPicPr>
            <a:picLocks noChangeAspect="1"/>
          </p:cNvPicPr>
          <p:nvPr/>
        </p:nvPicPr>
        <p:blipFill>
          <a:blip r:embed="rId3"/>
          <a:stretch>
            <a:fillRect/>
          </a:stretch>
        </p:blipFill>
        <p:spPr>
          <a:xfrm>
            <a:off x="6596270" y="2124912"/>
            <a:ext cx="5273222" cy="520384"/>
          </a:xfrm>
          <a:prstGeom prst="rect">
            <a:avLst/>
          </a:prstGeom>
        </p:spPr>
      </p:pic>
      <mc:AlternateContent xmlns:mc="http://schemas.openxmlformats.org/markup-compatibility/2006">
        <mc:Choice xmlns:a14="http://schemas.microsoft.com/office/drawing/2010/main" Requires="a14">
          <p:sp>
            <p:nvSpPr>
              <p:cNvPr id="29" name="TextBox 28">
                <a:extLst>
                  <a:ext uri="{FF2B5EF4-FFF2-40B4-BE49-F238E27FC236}">
                    <a16:creationId xmlns:a16="http://schemas.microsoft.com/office/drawing/2014/main" id="{1B10EE28-AE38-9764-0B7E-CC9472FD5774}"/>
                  </a:ext>
                </a:extLst>
              </p:cNvPr>
              <p:cNvSpPr txBox="1"/>
              <p:nvPr/>
            </p:nvSpPr>
            <p:spPr>
              <a:xfrm>
                <a:off x="6596270" y="1242927"/>
                <a:ext cx="5184052" cy="861774"/>
              </a:xfrm>
              <a:prstGeom prst="rect">
                <a:avLst/>
              </a:prstGeom>
              <a:noFill/>
            </p:spPr>
            <p:txBody>
              <a:bodyPr wrap="square" rtlCol="0">
                <a:spAutoFit/>
              </a:bodyPr>
              <a:lstStyle/>
              <a:p>
                <a:r>
                  <a:rPr lang="en-VN" sz="1600" dirty="0">
                    <a:latin typeface="Arial" panose="020B0604020202020204" pitchFamily="34" charset="0"/>
                    <a:cs typeface="Arial" panose="020B0604020202020204" pitchFamily="34" charset="0"/>
                  </a:rPr>
                  <a:t>Xét từ A đến C:</a:t>
                </a:r>
              </a:p>
              <a:p>
                <a:r>
                  <a:rPr lang="en-VN" sz="1600" dirty="0">
                    <a:latin typeface="Arial" panose="020B0604020202020204" pitchFamily="34" charset="0"/>
                    <a:cs typeface="Arial" panose="020B0604020202020204" pitchFamily="34" charset="0"/>
                  </a:rPr>
                  <a:t>Tại A: Góc </a:t>
                </a:r>
                <a14:m>
                  <m:oMath xmlns:m="http://schemas.openxmlformats.org/officeDocument/2006/math">
                    <m:r>
                      <a:rPr lang="en-US" sz="1600" b="0" i="1" smtClean="0">
                        <a:latin typeface="Cambria Math" panose="02040503050406030204" pitchFamily="18" charset="0"/>
                        <a:cs typeface="Arial" panose="020B0604020202020204" pitchFamily="34" charset="0"/>
                      </a:rPr>
                      <m:t>0</m:t>
                    </m:r>
                    <m:r>
                      <a:rPr lang="en-US" sz="1600" b="0" i="1" smtClean="0">
                        <a:latin typeface="Cambria Math" panose="02040503050406030204" pitchFamily="18" charset="0"/>
                        <a:ea typeface="Cambria Math" panose="02040503050406030204" pitchFamily="18" charset="0"/>
                        <a:cs typeface="Arial" panose="020B0604020202020204" pitchFamily="34" charset="0"/>
                      </a:rPr>
                      <m:t>°</m:t>
                    </m:r>
                  </m:oMath>
                </a14:m>
                <a:endParaRPr lang="en-VN" sz="1600" dirty="0">
                  <a:latin typeface="Arial" panose="020B0604020202020204" pitchFamily="34" charset="0"/>
                  <a:cs typeface="Arial" panose="020B0604020202020204" pitchFamily="34" charset="0"/>
                </a:endParaRPr>
              </a:p>
              <a:p>
                <a:r>
                  <a:rPr lang="en-VN" sz="1600" dirty="0">
                    <a:latin typeface="Arial" panose="020B0604020202020204" pitchFamily="34" charset="0"/>
                    <a:cs typeface="Arial" panose="020B0604020202020204" pitchFamily="34" charset="0"/>
                  </a:rPr>
                  <a:t>Tại C: Góc </a:t>
                </a:r>
                <a14:m>
                  <m:oMath xmlns:m="http://schemas.openxmlformats.org/officeDocument/2006/math">
                    <m:r>
                      <a:rPr lang="en-US" sz="1600" b="0" i="1" smtClean="0">
                        <a:latin typeface="Cambria Math" panose="02040503050406030204" pitchFamily="18" charset="0"/>
                        <a:cs typeface="Arial" panose="020B0604020202020204" pitchFamily="34" charset="0"/>
                      </a:rPr>
                      <m:t>−270</m:t>
                    </m:r>
                    <m:r>
                      <a:rPr lang="en-US" sz="1600" b="0" i="1" smtClean="0">
                        <a:latin typeface="Cambria Math" panose="02040503050406030204" pitchFamily="18" charset="0"/>
                        <a:ea typeface="Cambria Math" panose="02040503050406030204" pitchFamily="18" charset="0"/>
                        <a:cs typeface="Arial" panose="020B0604020202020204" pitchFamily="34" charset="0"/>
                      </a:rPr>
                      <m:t>°</m:t>
                    </m:r>
                  </m:oMath>
                </a14:m>
                <a:endParaRPr lang="en-VN" sz="1600" dirty="0">
                  <a:latin typeface="Arial" panose="020B0604020202020204" pitchFamily="34" charset="0"/>
                  <a:cs typeface="Arial" panose="020B0604020202020204" pitchFamily="34" charset="0"/>
                </a:endParaRPr>
              </a:p>
            </p:txBody>
          </p:sp>
        </mc:Choice>
        <mc:Fallback>
          <p:sp>
            <p:nvSpPr>
              <p:cNvPr id="29" name="TextBox 28">
                <a:extLst>
                  <a:ext uri="{FF2B5EF4-FFF2-40B4-BE49-F238E27FC236}">
                    <a16:creationId xmlns:a16="http://schemas.microsoft.com/office/drawing/2014/main" id="{1B10EE28-AE38-9764-0B7E-CC9472FD5774}"/>
                  </a:ext>
                </a:extLst>
              </p:cNvPr>
              <p:cNvSpPr txBox="1">
                <a:spLocks noRot="1" noChangeAspect="1" noMove="1" noResize="1" noEditPoints="1" noAdjustHandles="1" noChangeArrowheads="1" noChangeShapeType="1" noTextEdit="1"/>
              </p:cNvSpPr>
              <p:nvPr/>
            </p:nvSpPr>
            <p:spPr>
              <a:xfrm>
                <a:off x="6596270" y="1242927"/>
                <a:ext cx="5184052" cy="861774"/>
              </a:xfrm>
              <a:prstGeom prst="rect">
                <a:avLst/>
              </a:prstGeom>
              <a:blipFill>
                <a:blip r:embed="rId4"/>
                <a:stretch>
                  <a:fillRect l="-733" t="-1449" b="-5797"/>
                </a:stretch>
              </a:blipFill>
            </p:spPr>
            <p:txBody>
              <a:bodyPr/>
              <a:lstStyle/>
              <a:p>
                <a:r>
                  <a:rPr lang="en-VN">
                    <a:noFill/>
                  </a:rPr>
                  <a:t> </a:t>
                </a:r>
              </a:p>
            </p:txBody>
          </p:sp>
        </mc:Fallback>
      </mc:AlternateContent>
      <p:pic>
        <p:nvPicPr>
          <p:cNvPr id="31" name="Picture 30">
            <a:extLst>
              <a:ext uri="{FF2B5EF4-FFF2-40B4-BE49-F238E27FC236}">
                <a16:creationId xmlns:a16="http://schemas.microsoft.com/office/drawing/2014/main" id="{4354E3E0-5B03-536A-E2F5-678E3FD240A4}"/>
              </a:ext>
            </a:extLst>
          </p:cNvPr>
          <p:cNvPicPr>
            <a:picLocks noChangeAspect="1"/>
          </p:cNvPicPr>
          <p:nvPr/>
        </p:nvPicPr>
        <p:blipFill>
          <a:blip r:embed="rId5"/>
          <a:stretch>
            <a:fillRect/>
          </a:stretch>
        </p:blipFill>
        <p:spPr>
          <a:xfrm>
            <a:off x="6895201" y="2736956"/>
            <a:ext cx="4675360" cy="618229"/>
          </a:xfrm>
          <a:prstGeom prst="rect">
            <a:avLst/>
          </a:prstGeom>
        </p:spPr>
      </p:pic>
      <mc:AlternateContent xmlns:mc="http://schemas.openxmlformats.org/markup-compatibility/2006">
        <mc:Choice xmlns:a14="http://schemas.microsoft.com/office/drawing/2010/main" Requires="a14">
          <p:sp>
            <p:nvSpPr>
              <p:cNvPr id="32" name="TextBox 31">
                <a:extLst>
                  <a:ext uri="{FF2B5EF4-FFF2-40B4-BE49-F238E27FC236}">
                    <a16:creationId xmlns:a16="http://schemas.microsoft.com/office/drawing/2014/main" id="{B04772EE-9289-A0DE-5B5A-532C8CB9196F}"/>
                  </a:ext>
                </a:extLst>
              </p:cNvPr>
              <p:cNvSpPr txBox="1"/>
              <p:nvPr/>
            </p:nvSpPr>
            <p:spPr>
              <a:xfrm>
                <a:off x="6596270" y="3794351"/>
                <a:ext cx="5184052" cy="1077218"/>
              </a:xfrm>
              <a:prstGeom prst="rect">
                <a:avLst/>
              </a:prstGeom>
              <a:noFill/>
            </p:spPr>
            <p:txBody>
              <a:bodyPr wrap="square" rtlCol="0">
                <a:spAutoFit/>
              </a:bodyPr>
              <a:lstStyle/>
              <a:p>
                <a:r>
                  <a:rPr lang="en-VN" sz="1600" dirty="0">
                    <a:latin typeface="Arial" panose="020B0604020202020204" pitchFamily="34" charset="0"/>
                    <a:cs typeface="Arial" panose="020B0604020202020204" pitchFamily="34" charset="0"/>
                  </a:rPr>
                  <a:t>Xét từ C đến D:</a:t>
                </a:r>
              </a:p>
              <a:p>
                <a:r>
                  <a:rPr lang="en-VN" sz="1600" dirty="0">
                    <a:latin typeface="Arial" panose="020B0604020202020204" pitchFamily="34" charset="0"/>
                    <a:cs typeface="Arial" panose="020B0604020202020204" pitchFamily="34" charset="0"/>
                  </a:rPr>
                  <a:t>Tại C: Góc </a:t>
                </a:r>
                <a14:m>
                  <m:oMath xmlns:m="http://schemas.openxmlformats.org/officeDocument/2006/math">
                    <m:r>
                      <a:rPr lang="en-US" sz="1600" b="0" i="0" smtClean="0">
                        <a:latin typeface="Cambria Math" panose="02040503050406030204" pitchFamily="18" charset="0"/>
                        <a:cs typeface="Arial" panose="020B0604020202020204" pitchFamily="34" charset="0"/>
                      </a:rPr>
                      <m:t>−</m:t>
                    </m:r>
                    <m:r>
                      <a:rPr lang="en-US" sz="1600" b="0" i="1" smtClean="0">
                        <a:latin typeface="Cambria Math" panose="02040503050406030204" pitchFamily="18" charset="0"/>
                        <a:cs typeface="Arial" panose="020B0604020202020204" pitchFamily="34" charset="0"/>
                      </a:rPr>
                      <m:t>270</m:t>
                    </m:r>
                    <m:r>
                      <a:rPr lang="en-US" sz="1600" b="0" i="1" smtClean="0">
                        <a:latin typeface="Cambria Math" panose="02040503050406030204" pitchFamily="18" charset="0"/>
                        <a:ea typeface="Cambria Math" panose="02040503050406030204" pitchFamily="18" charset="0"/>
                        <a:cs typeface="Arial" panose="020B0604020202020204" pitchFamily="34" charset="0"/>
                      </a:rPr>
                      <m:t>°</m:t>
                    </m:r>
                  </m:oMath>
                </a14:m>
                <a:endParaRPr lang="en-VN" sz="1600" dirty="0">
                  <a:latin typeface="Arial" panose="020B0604020202020204" pitchFamily="34" charset="0"/>
                  <a:cs typeface="Arial" panose="020B0604020202020204" pitchFamily="34" charset="0"/>
                </a:endParaRPr>
              </a:p>
              <a:p>
                <a:r>
                  <a:rPr lang="en-VN" sz="1600" dirty="0">
                    <a:latin typeface="Arial" panose="020B0604020202020204" pitchFamily="34" charset="0"/>
                    <a:cs typeface="Arial" panose="020B0604020202020204" pitchFamily="34" charset="0"/>
                  </a:rPr>
                  <a:t>Tại D: Góc </a:t>
                </a:r>
                <a14:m>
                  <m:oMath xmlns:m="http://schemas.openxmlformats.org/officeDocument/2006/math">
                    <m:r>
                      <a:rPr lang="en-US" sz="1600" b="0" i="1" smtClean="0">
                        <a:latin typeface="Cambria Math" panose="02040503050406030204" pitchFamily="18" charset="0"/>
                        <a:cs typeface="Arial" panose="020B0604020202020204" pitchFamily="34" charset="0"/>
                      </a:rPr>
                      <m:t>270</m:t>
                    </m:r>
                    <m:r>
                      <a:rPr lang="en-US" sz="1600" b="0" i="1" smtClean="0">
                        <a:latin typeface="Cambria Math" panose="02040503050406030204" pitchFamily="18" charset="0"/>
                        <a:ea typeface="Cambria Math" panose="02040503050406030204" pitchFamily="18" charset="0"/>
                        <a:cs typeface="Arial" panose="020B0604020202020204" pitchFamily="34" charset="0"/>
                      </a:rPr>
                      <m:t>°</m:t>
                    </m:r>
                  </m:oMath>
                </a14:m>
                <a:endParaRPr lang="en-VN" sz="1600" dirty="0">
                  <a:latin typeface="Arial" panose="020B0604020202020204" pitchFamily="34" charset="0"/>
                  <a:cs typeface="Arial" panose="020B0604020202020204" pitchFamily="34" charset="0"/>
                </a:endParaRPr>
              </a:p>
              <a:p>
                <a:endParaRPr lang="en-VN" sz="1600" dirty="0">
                  <a:latin typeface="Arial" panose="020B0604020202020204" pitchFamily="34" charset="0"/>
                  <a:cs typeface="Arial" panose="020B0604020202020204" pitchFamily="34" charset="0"/>
                </a:endParaRPr>
              </a:p>
            </p:txBody>
          </p:sp>
        </mc:Choice>
        <mc:Fallback>
          <p:sp>
            <p:nvSpPr>
              <p:cNvPr id="32" name="TextBox 31">
                <a:extLst>
                  <a:ext uri="{FF2B5EF4-FFF2-40B4-BE49-F238E27FC236}">
                    <a16:creationId xmlns:a16="http://schemas.microsoft.com/office/drawing/2014/main" id="{B04772EE-9289-A0DE-5B5A-532C8CB9196F}"/>
                  </a:ext>
                </a:extLst>
              </p:cNvPr>
              <p:cNvSpPr txBox="1">
                <a:spLocks noRot="1" noChangeAspect="1" noMove="1" noResize="1" noEditPoints="1" noAdjustHandles="1" noChangeArrowheads="1" noChangeShapeType="1" noTextEdit="1"/>
              </p:cNvSpPr>
              <p:nvPr/>
            </p:nvSpPr>
            <p:spPr>
              <a:xfrm>
                <a:off x="6596270" y="3794351"/>
                <a:ext cx="5184052" cy="1077218"/>
              </a:xfrm>
              <a:prstGeom prst="rect">
                <a:avLst/>
              </a:prstGeom>
              <a:blipFill>
                <a:blip r:embed="rId6"/>
                <a:stretch>
                  <a:fillRect l="-733" t="-1163"/>
                </a:stretch>
              </a:blipFill>
            </p:spPr>
            <p:txBody>
              <a:bodyPr/>
              <a:lstStyle/>
              <a:p>
                <a:r>
                  <a:rPr lang="en-VN">
                    <a:noFill/>
                  </a:rPr>
                  <a:t> </a:t>
                </a:r>
              </a:p>
            </p:txBody>
          </p:sp>
        </mc:Fallback>
      </mc:AlternateContent>
      <p:pic>
        <p:nvPicPr>
          <p:cNvPr id="34" name="Picture 33">
            <a:extLst>
              <a:ext uri="{FF2B5EF4-FFF2-40B4-BE49-F238E27FC236}">
                <a16:creationId xmlns:a16="http://schemas.microsoft.com/office/drawing/2014/main" id="{E630D751-0378-BAAB-259A-3CEA8720853D}"/>
              </a:ext>
            </a:extLst>
          </p:cNvPr>
          <p:cNvPicPr>
            <a:picLocks noChangeAspect="1"/>
          </p:cNvPicPr>
          <p:nvPr/>
        </p:nvPicPr>
        <p:blipFill>
          <a:blip r:embed="rId7"/>
          <a:stretch>
            <a:fillRect/>
          </a:stretch>
        </p:blipFill>
        <p:spPr>
          <a:xfrm>
            <a:off x="7200213" y="4672007"/>
            <a:ext cx="4796885" cy="599611"/>
          </a:xfrm>
          <a:prstGeom prst="rect">
            <a:avLst/>
          </a:prstGeom>
        </p:spPr>
      </p:pic>
      <p:pic>
        <p:nvPicPr>
          <p:cNvPr id="36" name="Picture 35">
            <a:extLst>
              <a:ext uri="{FF2B5EF4-FFF2-40B4-BE49-F238E27FC236}">
                <a16:creationId xmlns:a16="http://schemas.microsoft.com/office/drawing/2014/main" id="{283CFD75-2836-5B3F-9F3E-1CD58FF1B3E3}"/>
              </a:ext>
            </a:extLst>
          </p:cNvPr>
          <p:cNvPicPr>
            <a:picLocks noChangeAspect="1"/>
          </p:cNvPicPr>
          <p:nvPr/>
        </p:nvPicPr>
        <p:blipFill>
          <a:blip r:embed="rId8"/>
          <a:stretch>
            <a:fillRect/>
          </a:stretch>
        </p:blipFill>
        <p:spPr>
          <a:xfrm>
            <a:off x="6770402" y="5492078"/>
            <a:ext cx="5307493" cy="528546"/>
          </a:xfrm>
          <a:prstGeom prst="rect">
            <a:avLst/>
          </a:prstGeom>
        </p:spPr>
      </p:pic>
    </p:spTree>
    <p:extLst>
      <p:ext uri="{BB962C8B-B14F-4D97-AF65-F5344CB8AC3E}">
        <p14:creationId xmlns:p14="http://schemas.microsoft.com/office/powerpoint/2010/main" val="344844423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12"/>
                                        </p:tgtEl>
                                        <p:attrNameLst>
                                          <p:attrName>style.visibility</p:attrName>
                                        </p:attrNameLst>
                                      </p:cBhvr>
                                      <p:to>
                                        <p:strVal val="visible"/>
                                      </p:to>
                                    </p:set>
                                    <p:animEffect transition="in" filter="blinds(horizontal)">
                                      <p:cBhvr>
                                        <p:cTn id="7" dur="500"/>
                                        <p:tgtEl>
                                          <p:spTgt spid="12"/>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nodeType="clickEffect">
                                  <p:stCondLst>
                                    <p:cond delay="0"/>
                                  </p:stCondLst>
                                  <p:childTnLst>
                                    <p:set>
                                      <p:cBhvr>
                                        <p:cTn id="11" dur="1" fill="hold">
                                          <p:stCondLst>
                                            <p:cond delay="0"/>
                                          </p:stCondLst>
                                        </p:cTn>
                                        <p:tgtEl>
                                          <p:spTgt spid="15"/>
                                        </p:tgtEl>
                                        <p:attrNameLst>
                                          <p:attrName>style.visibility</p:attrName>
                                        </p:attrNameLst>
                                      </p:cBhvr>
                                      <p:to>
                                        <p:strVal val="visible"/>
                                      </p:to>
                                    </p:set>
                                    <p:animEffect transition="in" filter="blinds(horizontal)">
                                      <p:cBhvr>
                                        <p:cTn id="12" dur="500"/>
                                        <p:tgtEl>
                                          <p:spTgt spid="15"/>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nodeType="clickEffect">
                                  <p:stCondLst>
                                    <p:cond delay="0"/>
                                  </p:stCondLst>
                                  <p:childTnLst>
                                    <p:set>
                                      <p:cBhvr>
                                        <p:cTn id="16" dur="1" fill="hold">
                                          <p:stCondLst>
                                            <p:cond delay="0"/>
                                          </p:stCondLst>
                                        </p:cTn>
                                        <p:tgtEl>
                                          <p:spTgt spid="16"/>
                                        </p:tgtEl>
                                        <p:attrNameLst>
                                          <p:attrName>style.visibility</p:attrName>
                                        </p:attrNameLst>
                                      </p:cBhvr>
                                      <p:to>
                                        <p:strVal val="visible"/>
                                      </p:to>
                                    </p:set>
                                    <p:animEffect transition="in" filter="blinds(horizontal)">
                                      <p:cBhvr>
                                        <p:cTn id="17" dur="500"/>
                                        <p:tgtEl>
                                          <p:spTgt spid="16"/>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nodeType="clickEffect">
                                  <p:stCondLst>
                                    <p:cond delay="0"/>
                                  </p:stCondLst>
                                  <p:childTnLst>
                                    <p:set>
                                      <p:cBhvr>
                                        <p:cTn id="21" dur="1" fill="hold">
                                          <p:stCondLst>
                                            <p:cond delay="0"/>
                                          </p:stCondLst>
                                        </p:cTn>
                                        <p:tgtEl>
                                          <p:spTgt spid="18"/>
                                        </p:tgtEl>
                                        <p:attrNameLst>
                                          <p:attrName>style.visibility</p:attrName>
                                        </p:attrNameLst>
                                      </p:cBhvr>
                                      <p:to>
                                        <p:strVal val="visible"/>
                                      </p:to>
                                    </p:set>
                                    <p:animEffect transition="in" filter="blinds(horizontal)">
                                      <p:cBhvr>
                                        <p:cTn id="22" dur="500"/>
                                        <p:tgtEl>
                                          <p:spTgt spid="18"/>
                                        </p:tgtEl>
                                      </p:cBhvr>
                                    </p:animEffect>
                                  </p:childTnLst>
                                </p:cTn>
                              </p:par>
                            </p:childTnLst>
                          </p:cTn>
                        </p:par>
                      </p:childTnLst>
                    </p:cTn>
                  </p:par>
                  <p:par>
                    <p:cTn id="23" fill="hold">
                      <p:stCondLst>
                        <p:cond delay="indefinite"/>
                      </p:stCondLst>
                      <p:childTnLst>
                        <p:par>
                          <p:cTn id="24" fill="hold">
                            <p:stCondLst>
                              <p:cond delay="0"/>
                            </p:stCondLst>
                            <p:childTnLst>
                              <p:par>
                                <p:cTn id="25" presetID="3" presetClass="entr" presetSubtype="10" fill="hold" grpId="0" nodeType="clickEffect">
                                  <p:stCondLst>
                                    <p:cond delay="0"/>
                                  </p:stCondLst>
                                  <p:childTnLst>
                                    <p:set>
                                      <p:cBhvr>
                                        <p:cTn id="26" dur="1" fill="hold">
                                          <p:stCondLst>
                                            <p:cond delay="0"/>
                                          </p:stCondLst>
                                        </p:cTn>
                                        <p:tgtEl>
                                          <p:spTgt spid="19"/>
                                        </p:tgtEl>
                                        <p:attrNameLst>
                                          <p:attrName>style.visibility</p:attrName>
                                        </p:attrNameLst>
                                      </p:cBhvr>
                                      <p:to>
                                        <p:strVal val="visible"/>
                                      </p:to>
                                    </p:set>
                                    <p:animEffect transition="in" filter="blinds(horizontal)">
                                      <p:cBhvr>
                                        <p:cTn id="27" dur="500"/>
                                        <p:tgtEl>
                                          <p:spTgt spid="19"/>
                                        </p:tgtEl>
                                      </p:cBhvr>
                                    </p:animEffect>
                                  </p:childTnLst>
                                </p:cTn>
                              </p:par>
                              <p:par>
                                <p:cTn id="28" presetID="3" presetClass="entr" presetSubtype="10" fill="hold" grpId="0" nodeType="withEffect">
                                  <p:stCondLst>
                                    <p:cond delay="0"/>
                                  </p:stCondLst>
                                  <p:childTnLst>
                                    <p:set>
                                      <p:cBhvr>
                                        <p:cTn id="29" dur="1" fill="hold">
                                          <p:stCondLst>
                                            <p:cond delay="0"/>
                                          </p:stCondLst>
                                        </p:cTn>
                                        <p:tgtEl>
                                          <p:spTgt spid="20"/>
                                        </p:tgtEl>
                                        <p:attrNameLst>
                                          <p:attrName>style.visibility</p:attrName>
                                        </p:attrNameLst>
                                      </p:cBhvr>
                                      <p:to>
                                        <p:strVal val="visible"/>
                                      </p:to>
                                    </p:set>
                                    <p:animEffect transition="in" filter="blinds(horizontal)">
                                      <p:cBhvr>
                                        <p:cTn id="30" dur="500"/>
                                        <p:tgtEl>
                                          <p:spTgt spid="20"/>
                                        </p:tgtEl>
                                      </p:cBhvr>
                                    </p:animEffect>
                                  </p:childTnLst>
                                </p:cTn>
                              </p:par>
                            </p:childTnLst>
                          </p:cTn>
                        </p:par>
                      </p:childTnLst>
                    </p:cTn>
                  </p:par>
                  <p:par>
                    <p:cTn id="31" fill="hold">
                      <p:stCondLst>
                        <p:cond delay="indefinite"/>
                      </p:stCondLst>
                      <p:childTnLst>
                        <p:par>
                          <p:cTn id="32" fill="hold">
                            <p:stCondLst>
                              <p:cond delay="0"/>
                            </p:stCondLst>
                            <p:childTnLst>
                              <p:par>
                                <p:cTn id="33" presetID="3" presetClass="entr" presetSubtype="10" fill="hold" grpId="0" nodeType="clickEffect">
                                  <p:stCondLst>
                                    <p:cond delay="0"/>
                                  </p:stCondLst>
                                  <p:childTnLst>
                                    <p:set>
                                      <p:cBhvr>
                                        <p:cTn id="34" dur="1" fill="hold">
                                          <p:stCondLst>
                                            <p:cond delay="0"/>
                                          </p:stCondLst>
                                        </p:cTn>
                                        <p:tgtEl>
                                          <p:spTgt spid="21"/>
                                        </p:tgtEl>
                                        <p:attrNameLst>
                                          <p:attrName>style.visibility</p:attrName>
                                        </p:attrNameLst>
                                      </p:cBhvr>
                                      <p:to>
                                        <p:strVal val="visible"/>
                                      </p:to>
                                    </p:set>
                                    <p:animEffect transition="in" filter="blinds(horizontal)">
                                      <p:cBhvr>
                                        <p:cTn id="35" dur="500"/>
                                        <p:tgtEl>
                                          <p:spTgt spid="21"/>
                                        </p:tgtEl>
                                      </p:cBhvr>
                                    </p:animEffect>
                                  </p:childTnLst>
                                </p:cTn>
                              </p:par>
                            </p:childTnLst>
                          </p:cTn>
                        </p:par>
                      </p:childTnLst>
                    </p:cTn>
                  </p:par>
                  <p:par>
                    <p:cTn id="36" fill="hold">
                      <p:stCondLst>
                        <p:cond delay="indefinite"/>
                      </p:stCondLst>
                      <p:childTnLst>
                        <p:par>
                          <p:cTn id="37" fill="hold">
                            <p:stCondLst>
                              <p:cond delay="0"/>
                            </p:stCondLst>
                            <p:childTnLst>
                              <p:par>
                                <p:cTn id="38" presetID="3" presetClass="entr" presetSubtype="10" fill="hold" grpId="0" nodeType="clickEffect">
                                  <p:stCondLst>
                                    <p:cond delay="0"/>
                                  </p:stCondLst>
                                  <p:childTnLst>
                                    <p:set>
                                      <p:cBhvr>
                                        <p:cTn id="39" dur="1" fill="hold">
                                          <p:stCondLst>
                                            <p:cond delay="0"/>
                                          </p:stCondLst>
                                        </p:cTn>
                                        <p:tgtEl>
                                          <p:spTgt spid="22"/>
                                        </p:tgtEl>
                                        <p:attrNameLst>
                                          <p:attrName>style.visibility</p:attrName>
                                        </p:attrNameLst>
                                      </p:cBhvr>
                                      <p:to>
                                        <p:strVal val="visible"/>
                                      </p:to>
                                    </p:set>
                                    <p:animEffect transition="in" filter="blinds(horizontal)">
                                      <p:cBhvr>
                                        <p:cTn id="40" dur="500"/>
                                        <p:tgtEl>
                                          <p:spTgt spid="22"/>
                                        </p:tgtEl>
                                      </p:cBhvr>
                                    </p:animEffect>
                                  </p:childTnLst>
                                </p:cTn>
                              </p:par>
                            </p:childTnLst>
                          </p:cTn>
                        </p:par>
                      </p:childTnLst>
                    </p:cTn>
                  </p:par>
                  <p:par>
                    <p:cTn id="41" fill="hold">
                      <p:stCondLst>
                        <p:cond delay="indefinite"/>
                      </p:stCondLst>
                      <p:childTnLst>
                        <p:par>
                          <p:cTn id="42" fill="hold">
                            <p:stCondLst>
                              <p:cond delay="0"/>
                            </p:stCondLst>
                            <p:childTnLst>
                              <p:par>
                                <p:cTn id="43" presetID="3" presetClass="entr" presetSubtype="10" fill="hold" grpId="1" nodeType="clickEffect">
                                  <p:stCondLst>
                                    <p:cond delay="0"/>
                                  </p:stCondLst>
                                  <p:childTnLst>
                                    <p:set>
                                      <p:cBhvr>
                                        <p:cTn id="44" dur="1" fill="hold">
                                          <p:stCondLst>
                                            <p:cond delay="0"/>
                                          </p:stCondLst>
                                        </p:cTn>
                                        <p:tgtEl>
                                          <p:spTgt spid="21"/>
                                        </p:tgtEl>
                                        <p:attrNameLst>
                                          <p:attrName>style.visibility</p:attrName>
                                        </p:attrNameLst>
                                      </p:cBhvr>
                                      <p:to>
                                        <p:strVal val="visible"/>
                                      </p:to>
                                    </p:set>
                                    <p:animEffect transition="in" filter="blinds(horizontal)">
                                      <p:cBhvr>
                                        <p:cTn id="45" dur="500"/>
                                        <p:tgtEl>
                                          <p:spTgt spid="21"/>
                                        </p:tgtEl>
                                      </p:cBhvr>
                                    </p:animEffect>
                                  </p:childTnLst>
                                </p:cTn>
                              </p:par>
                              <p:par>
                                <p:cTn id="46" presetID="3" presetClass="entr" presetSubtype="10" fill="hold" grpId="1" nodeType="withEffect">
                                  <p:stCondLst>
                                    <p:cond delay="0"/>
                                  </p:stCondLst>
                                  <p:childTnLst>
                                    <p:set>
                                      <p:cBhvr>
                                        <p:cTn id="47" dur="1" fill="hold">
                                          <p:stCondLst>
                                            <p:cond delay="0"/>
                                          </p:stCondLst>
                                        </p:cTn>
                                        <p:tgtEl>
                                          <p:spTgt spid="22"/>
                                        </p:tgtEl>
                                        <p:attrNameLst>
                                          <p:attrName>style.visibility</p:attrName>
                                        </p:attrNameLst>
                                      </p:cBhvr>
                                      <p:to>
                                        <p:strVal val="visible"/>
                                      </p:to>
                                    </p:set>
                                    <p:animEffect transition="in" filter="blinds(horizontal)">
                                      <p:cBhvr>
                                        <p:cTn id="48" dur="500"/>
                                        <p:tgtEl>
                                          <p:spTgt spid="22"/>
                                        </p:tgtEl>
                                      </p:cBhvr>
                                    </p:animEffect>
                                  </p:childTnLst>
                                </p:cTn>
                              </p:par>
                            </p:childTnLst>
                          </p:cTn>
                        </p:par>
                      </p:childTnLst>
                    </p:cTn>
                  </p:par>
                  <p:par>
                    <p:cTn id="49" fill="hold">
                      <p:stCondLst>
                        <p:cond delay="indefinite"/>
                      </p:stCondLst>
                      <p:childTnLst>
                        <p:par>
                          <p:cTn id="50" fill="hold">
                            <p:stCondLst>
                              <p:cond delay="0"/>
                            </p:stCondLst>
                            <p:childTnLst>
                              <p:par>
                                <p:cTn id="51" presetID="3" presetClass="entr" presetSubtype="10" fill="hold" grpId="0" nodeType="clickEffect">
                                  <p:stCondLst>
                                    <p:cond delay="0"/>
                                  </p:stCondLst>
                                  <p:childTnLst>
                                    <p:set>
                                      <p:cBhvr>
                                        <p:cTn id="52" dur="1" fill="hold">
                                          <p:stCondLst>
                                            <p:cond delay="0"/>
                                          </p:stCondLst>
                                        </p:cTn>
                                        <p:tgtEl>
                                          <p:spTgt spid="25"/>
                                        </p:tgtEl>
                                        <p:attrNameLst>
                                          <p:attrName>style.visibility</p:attrName>
                                        </p:attrNameLst>
                                      </p:cBhvr>
                                      <p:to>
                                        <p:strVal val="visible"/>
                                      </p:to>
                                    </p:set>
                                    <p:animEffect transition="in" filter="blinds(horizontal)">
                                      <p:cBhvr>
                                        <p:cTn id="53" dur="500"/>
                                        <p:tgtEl>
                                          <p:spTgt spid="25"/>
                                        </p:tgtEl>
                                      </p:cBhvr>
                                    </p:animEffect>
                                  </p:childTnLst>
                                </p:cTn>
                              </p:par>
                            </p:childTnLst>
                          </p:cTn>
                        </p:par>
                      </p:childTnLst>
                    </p:cTn>
                  </p:par>
                  <p:par>
                    <p:cTn id="54" fill="hold">
                      <p:stCondLst>
                        <p:cond delay="indefinite"/>
                      </p:stCondLst>
                      <p:childTnLst>
                        <p:par>
                          <p:cTn id="55" fill="hold">
                            <p:stCondLst>
                              <p:cond delay="0"/>
                            </p:stCondLst>
                            <p:childTnLst>
                              <p:par>
                                <p:cTn id="56" presetID="3" presetClass="entr" presetSubtype="10" fill="hold" grpId="0" nodeType="clickEffect">
                                  <p:stCondLst>
                                    <p:cond delay="0"/>
                                  </p:stCondLst>
                                  <p:childTnLst>
                                    <p:set>
                                      <p:cBhvr>
                                        <p:cTn id="57" dur="1" fill="hold">
                                          <p:stCondLst>
                                            <p:cond delay="0"/>
                                          </p:stCondLst>
                                        </p:cTn>
                                        <p:tgtEl>
                                          <p:spTgt spid="26"/>
                                        </p:tgtEl>
                                        <p:attrNameLst>
                                          <p:attrName>style.visibility</p:attrName>
                                        </p:attrNameLst>
                                      </p:cBhvr>
                                      <p:to>
                                        <p:strVal val="visible"/>
                                      </p:to>
                                    </p:set>
                                    <p:animEffect transition="in" filter="blinds(horizontal)">
                                      <p:cBhvr>
                                        <p:cTn id="58" dur="500"/>
                                        <p:tgtEl>
                                          <p:spTgt spid="2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 grpId="0" animBg="1"/>
      <p:bldP spid="20" grpId="0" animBg="1"/>
      <p:bldP spid="21" grpId="0" animBg="1"/>
      <p:bldP spid="21" grpId="1" animBg="1"/>
      <p:bldP spid="22" grpId="0" animBg="1"/>
      <p:bldP spid="22" grpId="1" animBg="1"/>
      <p:bldP spid="25" grpId="0" animBg="1"/>
      <p:bldP spid="26" grpId="0" animBg="1"/>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9C9C3AB-A785-329F-256F-D8F7F8F1BC64}"/>
              </a:ext>
            </a:extLst>
          </p:cNvPr>
          <p:cNvSpPr>
            <a:spLocks noGrp="1"/>
          </p:cNvSpPr>
          <p:nvPr>
            <p:ph type="title"/>
          </p:nvPr>
        </p:nvSpPr>
        <p:spPr/>
        <p:txBody>
          <a:bodyPr/>
          <a:lstStyle/>
          <a:p>
            <a:r>
              <a:rPr lang="en-VN" dirty="0"/>
              <a:t>ĐỒ THỊ NYQUIST</a:t>
            </a:r>
          </a:p>
        </p:txBody>
      </p:sp>
      <p:pic>
        <p:nvPicPr>
          <p:cNvPr id="5" name="Content Placeholder 4">
            <a:extLst>
              <a:ext uri="{FF2B5EF4-FFF2-40B4-BE49-F238E27FC236}">
                <a16:creationId xmlns:a16="http://schemas.microsoft.com/office/drawing/2014/main" id="{16127428-1134-CAB4-0C21-551A1B840FB5}"/>
              </a:ext>
            </a:extLst>
          </p:cNvPr>
          <p:cNvPicPr>
            <a:picLocks noGrp="1" noChangeAspect="1"/>
          </p:cNvPicPr>
          <p:nvPr>
            <p:ph idx="1"/>
          </p:nvPr>
        </p:nvPicPr>
        <p:blipFill rotWithShape="1">
          <a:blip r:embed="rId2"/>
          <a:srcRect t="686"/>
          <a:stretch/>
        </p:blipFill>
        <p:spPr>
          <a:xfrm>
            <a:off x="1451579" y="2560320"/>
            <a:ext cx="9604375" cy="2585736"/>
          </a:xfrm>
        </p:spPr>
      </p:pic>
      <p:sp>
        <p:nvSpPr>
          <p:cNvPr id="6" name="Rectangle 5">
            <a:extLst>
              <a:ext uri="{FF2B5EF4-FFF2-40B4-BE49-F238E27FC236}">
                <a16:creationId xmlns:a16="http://schemas.microsoft.com/office/drawing/2014/main" id="{6CD13F2D-AB79-FD80-47FA-DC126D8C4712}"/>
              </a:ext>
            </a:extLst>
          </p:cNvPr>
          <p:cNvSpPr/>
          <p:nvPr/>
        </p:nvSpPr>
        <p:spPr>
          <a:xfrm>
            <a:off x="3694176" y="2560320"/>
            <a:ext cx="963168" cy="85344"/>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VN"/>
          </a:p>
        </p:txBody>
      </p:sp>
      <p:sp>
        <p:nvSpPr>
          <p:cNvPr id="7" name="TextBox 6">
            <a:extLst>
              <a:ext uri="{FF2B5EF4-FFF2-40B4-BE49-F238E27FC236}">
                <a16:creationId xmlns:a16="http://schemas.microsoft.com/office/drawing/2014/main" id="{055E4274-3FD3-BD7C-0569-C0C1963661FC}"/>
              </a:ext>
            </a:extLst>
          </p:cNvPr>
          <p:cNvSpPr txBox="1"/>
          <p:nvPr/>
        </p:nvSpPr>
        <p:spPr>
          <a:xfrm>
            <a:off x="1451579" y="1531634"/>
            <a:ext cx="9603275" cy="369332"/>
          </a:xfrm>
          <a:prstGeom prst="rect">
            <a:avLst/>
          </a:prstGeom>
          <a:noFill/>
        </p:spPr>
        <p:txBody>
          <a:bodyPr wrap="square" rtlCol="0">
            <a:spAutoFit/>
          </a:bodyPr>
          <a:lstStyle/>
          <a:p>
            <a:r>
              <a:rPr lang="en-VN" dirty="0">
                <a:latin typeface="Arial" panose="020B0604020202020204" pitchFamily="34" charset="0"/>
                <a:cs typeface="Arial" panose="020B0604020202020204" pitchFamily="34" charset="0"/>
              </a:rPr>
              <a:t>G(s)H(s) có chứa điểm cực nằm trên trục ảo:</a:t>
            </a:r>
          </a:p>
        </p:txBody>
      </p:sp>
    </p:spTree>
    <p:extLst>
      <p:ext uri="{BB962C8B-B14F-4D97-AF65-F5344CB8AC3E}">
        <p14:creationId xmlns:p14="http://schemas.microsoft.com/office/powerpoint/2010/main" val="45547301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73F3E9F-2EA1-57FD-016B-E1BCA50EE3DB}"/>
              </a:ext>
            </a:extLst>
          </p:cNvPr>
          <p:cNvSpPr>
            <a:spLocks noGrp="1"/>
          </p:cNvSpPr>
          <p:nvPr>
            <p:ph type="title"/>
          </p:nvPr>
        </p:nvSpPr>
        <p:spPr/>
        <p:txBody>
          <a:bodyPr/>
          <a:lstStyle/>
          <a:p>
            <a:r>
              <a:rPr lang="en-VN" dirty="0"/>
              <a:t>ĐIỀU KIỆN ỔN ĐỊNH NYQUIST</a:t>
            </a:r>
          </a:p>
        </p:txBody>
      </p:sp>
      <p:pic>
        <p:nvPicPr>
          <p:cNvPr id="6" name="Content Placeholder 5">
            <a:extLst>
              <a:ext uri="{FF2B5EF4-FFF2-40B4-BE49-F238E27FC236}">
                <a16:creationId xmlns:a16="http://schemas.microsoft.com/office/drawing/2014/main" id="{4B828EE1-483C-8998-C428-F888011EA094}"/>
              </a:ext>
            </a:extLst>
          </p:cNvPr>
          <p:cNvPicPr>
            <a:picLocks noGrp="1" noChangeAspect="1"/>
          </p:cNvPicPr>
          <p:nvPr>
            <p:ph idx="1"/>
          </p:nvPr>
        </p:nvPicPr>
        <p:blipFill>
          <a:blip r:embed="rId3"/>
          <a:stretch>
            <a:fillRect/>
          </a:stretch>
        </p:blipFill>
        <p:spPr>
          <a:xfrm>
            <a:off x="80010" y="2786862"/>
            <a:ext cx="6885384" cy="3108822"/>
          </a:xfrm>
        </p:spPr>
      </p:pic>
      <p:sp>
        <p:nvSpPr>
          <p:cNvPr id="4" name="Rectangle 3">
            <a:extLst>
              <a:ext uri="{FF2B5EF4-FFF2-40B4-BE49-F238E27FC236}">
                <a16:creationId xmlns:a16="http://schemas.microsoft.com/office/drawing/2014/main" id="{91662BFA-6D78-D1A0-14FA-AE529BE4C0E8}"/>
              </a:ext>
            </a:extLst>
          </p:cNvPr>
          <p:cNvSpPr/>
          <p:nvPr/>
        </p:nvSpPr>
        <p:spPr>
          <a:xfrm>
            <a:off x="3258117" y="1092576"/>
            <a:ext cx="6183630" cy="49149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VN" dirty="0">
                <a:latin typeface="Arial" panose="020B0604020202020204" pitchFamily="34" charset="0"/>
                <a:cs typeface="Arial" panose="020B0604020202020204" pitchFamily="34" charset="0"/>
              </a:rPr>
              <a:t>Với giá trị nào của K thì hệ thống ổn định?</a:t>
            </a:r>
          </a:p>
        </p:txBody>
      </p:sp>
      <mc:AlternateContent xmlns:mc="http://schemas.openxmlformats.org/markup-compatibility/2006">
        <mc:Choice xmlns:a14="http://schemas.microsoft.com/office/drawing/2010/main" Requires="a14">
          <p:sp>
            <p:nvSpPr>
              <p:cNvPr id="7" name="TextBox 6">
                <a:extLst>
                  <a:ext uri="{FF2B5EF4-FFF2-40B4-BE49-F238E27FC236}">
                    <a16:creationId xmlns:a16="http://schemas.microsoft.com/office/drawing/2014/main" id="{6D9D1D5B-2A21-5C14-56F1-B479000023E1}"/>
                  </a:ext>
                </a:extLst>
              </p:cNvPr>
              <p:cNvSpPr txBox="1"/>
              <p:nvPr/>
            </p:nvSpPr>
            <p:spPr>
              <a:xfrm>
                <a:off x="1451579" y="1571219"/>
                <a:ext cx="9961581" cy="1077218"/>
              </a:xfrm>
              <a:prstGeom prst="rect">
                <a:avLst/>
              </a:prstGeom>
              <a:noFill/>
            </p:spPr>
            <p:txBody>
              <a:bodyPr wrap="square" rtlCol="0">
                <a:spAutoFit/>
              </a:bodyPr>
              <a:lstStyle/>
              <a:p>
                <a:pPr algn="ctr"/>
                <a14:m>
                  <m:oMathPara xmlns:m="http://schemas.openxmlformats.org/officeDocument/2006/math">
                    <m:oMathParaPr>
                      <m:jc m:val="centerGroup"/>
                    </m:oMathParaPr>
                    <m:oMath xmlns:m="http://schemas.openxmlformats.org/officeDocument/2006/math">
                      <m:r>
                        <a:rPr lang="en-US" sz="1600" b="0" i="1" smtClean="0">
                          <a:latin typeface="Cambria Math" panose="02040503050406030204" pitchFamily="18" charset="0"/>
                        </a:rPr>
                        <m:t>𝑍</m:t>
                      </m:r>
                      <m:r>
                        <a:rPr lang="en-US" sz="1600" b="0" i="1" smtClean="0">
                          <a:latin typeface="Cambria Math" panose="02040503050406030204" pitchFamily="18" charset="0"/>
                        </a:rPr>
                        <m:t>=</m:t>
                      </m:r>
                      <m:r>
                        <a:rPr lang="en-US" sz="1600" b="0" i="1" smtClean="0">
                          <a:latin typeface="Cambria Math" panose="02040503050406030204" pitchFamily="18" charset="0"/>
                        </a:rPr>
                        <m:t>𝑃</m:t>
                      </m:r>
                      <m:r>
                        <a:rPr lang="en-US" sz="1600" b="0" i="1" smtClean="0">
                          <a:latin typeface="Cambria Math" panose="02040503050406030204" pitchFamily="18" charset="0"/>
                        </a:rPr>
                        <m:t>−</m:t>
                      </m:r>
                      <m:r>
                        <a:rPr lang="en-US" sz="1600" b="0" i="1" smtClean="0">
                          <a:latin typeface="Cambria Math" panose="02040503050406030204" pitchFamily="18" charset="0"/>
                        </a:rPr>
                        <m:t>𝑁</m:t>
                      </m:r>
                    </m:oMath>
                  </m:oMathPara>
                </a14:m>
                <a:endParaRPr lang="en-VN" sz="1600" dirty="0">
                  <a:latin typeface="Arial" panose="020B0604020202020204" pitchFamily="34" charset="0"/>
                  <a:cs typeface="Arial" panose="020B0604020202020204" pitchFamily="34" charset="0"/>
                </a:endParaRPr>
              </a:p>
              <a:p>
                <a:pPr algn="ctr"/>
                <a14:m>
                  <m:oMath xmlns:m="http://schemas.openxmlformats.org/officeDocument/2006/math">
                    <m:r>
                      <a:rPr lang="en-US" sz="1600" b="0" i="1" smtClean="0">
                        <a:latin typeface="Cambria Math" panose="02040503050406030204" pitchFamily="18" charset="0"/>
                      </a:rPr>
                      <m:t>𝑍</m:t>
                    </m:r>
                  </m:oMath>
                </a14:m>
                <a:r>
                  <a:rPr lang="en-US" sz="1600" b="0" i="1" dirty="0">
                    <a:latin typeface="Arial" panose="020B0604020202020204" pitchFamily="34" charset="0"/>
                    <a:cs typeface="Arial" panose="020B0604020202020204" pitchFamily="34" charset="0"/>
                  </a:rPr>
                  <a:t>: </a:t>
                </a:r>
                <a:r>
                  <a:rPr lang="en-US" sz="1600" b="0" dirty="0" err="1">
                    <a:latin typeface="Arial" panose="020B0604020202020204" pitchFamily="34" charset="0"/>
                    <a:cs typeface="Arial" panose="020B0604020202020204" pitchFamily="34" charset="0"/>
                  </a:rPr>
                  <a:t>số</a:t>
                </a:r>
                <a:r>
                  <a:rPr lang="en-US" sz="1600" b="0" dirty="0">
                    <a:latin typeface="Arial" panose="020B0604020202020204" pitchFamily="34" charset="0"/>
                    <a:cs typeface="Arial" panose="020B0604020202020204" pitchFamily="34" charset="0"/>
                  </a:rPr>
                  <a:t> </a:t>
                </a:r>
                <a:r>
                  <a:rPr lang="en-US" sz="1600" b="0" dirty="0" err="1">
                    <a:latin typeface="Arial" panose="020B0604020202020204" pitchFamily="34" charset="0"/>
                    <a:cs typeface="Arial" panose="020B0604020202020204" pitchFamily="34" charset="0"/>
                  </a:rPr>
                  <a:t>điểm</a:t>
                </a:r>
                <a:r>
                  <a:rPr lang="en-US" sz="1600" b="0" dirty="0">
                    <a:latin typeface="Arial" panose="020B0604020202020204" pitchFamily="34" charset="0"/>
                    <a:cs typeface="Arial" panose="020B0604020202020204" pitchFamily="34" charset="0"/>
                  </a:rPr>
                  <a:t> </a:t>
                </a:r>
                <a:r>
                  <a:rPr lang="en-US" sz="1600" b="0" dirty="0" err="1">
                    <a:latin typeface="Arial" panose="020B0604020202020204" pitchFamily="34" charset="0"/>
                    <a:cs typeface="Arial" panose="020B0604020202020204" pitchFamily="34" charset="0"/>
                  </a:rPr>
                  <a:t>cực</a:t>
                </a:r>
                <a:r>
                  <a:rPr lang="en-US" sz="1600" b="0" dirty="0">
                    <a:latin typeface="Arial" panose="020B0604020202020204" pitchFamily="34" charset="0"/>
                    <a:cs typeface="Arial" panose="020B0604020202020204" pitchFamily="34" charset="0"/>
                  </a:rPr>
                  <a:t> </a:t>
                </a:r>
                <a:r>
                  <a:rPr lang="en-US" sz="1600" b="0" dirty="0" err="1">
                    <a:latin typeface="Arial" panose="020B0604020202020204" pitchFamily="34" charset="0"/>
                    <a:cs typeface="Arial" panose="020B0604020202020204" pitchFamily="34" charset="0"/>
                  </a:rPr>
                  <a:t>của</a:t>
                </a:r>
                <a:r>
                  <a:rPr lang="en-US" sz="1600" b="0" dirty="0">
                    <a:latin typeface="Arial" panose="020B0604020202020204" pitchFamily="34" charset="0"/>
                    <a:cs typeface="Arial" panose="020B0604020202020204" pitchFamily="34" charset="0"/>
                  </a:rPr>
                  <a:t> </a:t>
                </a:r>
                <a:r>
                  <a:rPr lang="en-US" sz="1600" b="0" dirty="0" err="1">
                    <a:latin typeface="Arial" panose="020B0604020202020204" pitchFamily="34" charset="0"/>
                    <a:cs typeface="Arial" panose="020B0604020202020204" pitchFamily="34" charset="0"/>
                  </a:rPr>
                  <a:t>hệ</a:t>
                </a:r>
                <a:r>
                  <a:rPr lang="en-US" sz="1600" b="0" dirty="0">
                    <a:latin typeface="Arial" panose="020B0604020202020204" pitchFamily="34" charset="0"/>
                    <a:cs typeface="Arial" panose="020B0604020202020204" pitchFamily="34" charset="0"/>
                  </a:rPr>
                  <a:t> </a:t>
                </a:r>
                <a:r>
                  <a:rPr lang="en-US" sz="1600" b="0" dirty="0" err="1">
                    <a:latin typeface="Arial" panose="020B0604020202020204" pitchFamily="34" charset="0"/>
                    <a:cs typeface="Arial" panose="020B0604020202020204" pitchFamily="34" charset="0"/>
                  </a:rPr>
                  <a:t>thống</a:t>
                </a:r>
                <a:r>
                  <a:rPr lang="en-US" sz="1600" b="0" dirty="0">
                    <a:latin typeface="Arial" panose="020B0604020202020204" pitchFamily="34" charset="0"/>
                    <a:cs typeface="Arial" panose="020B0604020202020204" pitchFamily="34" charset="0"/>
                  </a:rPr>
                  <a:t> </a:t>
                </a:r>
                <a:r>
                  <a:rPr lang="en-US" sz="1600" b="0" dirty="0" err="1">
                    <a:latin typeface="Arial" panose="020B0604020202020204" pitchFamily="34" charset="0"/>
                    <a:cs typeface="Arial" panose="020B0604020202020204" pitchFamily="34" charset="0"/>
                  </a:rPr>
                  <a:t>vòng</a:t>
                </a:r>
                <a:r>
                  <a:rPr lang="en-US" sz="1600" b="0" dirty="0">
                    <a:latin typeface="Arial" panose="020B0604020202020204" pitchFamily="34" charset="0"/>
                    <a:cs typeface="Arial" panose="020B0604020202020204" pitchFamily="34" charset="0"/>
                  </a:rPr>
                  <a:t> </a:t>
                </a:r>
                <a:r>
                  <a:rPr lang="en-US" sz="1600" b="0" dirty="0" err="1">
                    <a:latin typeface="Arial" panose="020B0604020202020204" pitchFamily="34" charset="0"/>
                    <a:cs typeface="Arial" panose="020B0604020202020204" pitchFamily="34" charset="0"/>
                  </a:rPr>
                  <a:t>kín</a:t>
                </a:r>
                <a:r>
                  <a:rPr lang="en-US" sz="1600" b="0" dirty="0">
                    <a:latin typeface="Arial" panose="020B0604020202020204" pitchFamily="34" charset="0"/>
                    <a:cs typeface="Arial" panose="020B0604020202020204" pitchFamily="34" charset="0"/>
                  </a:rPr>
                  <a:t> </a:t>
                </a:r>
                <a:r>
                  <a:rPr lang="en-US" sz="1600" b="0" dirty="0" err="1">
                    <a:latin typeface="Arial" panose="020B0604020202020204" pitchFamily="34" charset="0"/>
                    <a:cs typeface="Arial" panose="020B0604020202020204" pitchFamily="34" charset="0"/>
                  </a:rPr>
                  <a:t>nằm</a:t>
                </a:r>
                <a:r>
                  <a:rPr lang="en-US" sz="1600" b="0" dirty="0">
                    <a:latin typeface="Arial" panose="020B0604020202020204" pitchFamily="34" charset="0"/>
                    <a:cs typeface="Arial" panose="020B0604020202020204" pitchFamily="34" charset="0"/>
                  </a:rPr>
                  <a:t> </a:t>
                </a:r>
                <a:r>
                  <a:rPr lang="en-US" sz="1600" b="0" dirty="0" err="1">
                    <a:latin typeface="Arial" panose="020B0604020202020204" pitchFamily="34" charset="0"/>
                    <a:cs typeface="Arial" panose="020B0604020202020204" pitchFamily="34" charset="0"/>
                  </a:rPr>
                  <a:t>trong</a:t>
                </a:r>
                <a:r>
                  <a:rPr lang="en-US" sz="1600" b="0" dirty="0">
                    <a:latin typeface="Arial" panose="020B0604020202020204" pitchFamily="34" charset="0"/>
                    <a:cs typeface="Arial" panose="020B0604020202020204" pitchFamily="34" charset="0"/>
                  </a:rPr>
                  <a:t> chu </a:t>
                </a:r>
                <a:r>
                  <a:rPr lang="en-US" sz="1600" b="0" dirty="0" err="1">
                    <a:latin typeface="Arial" panose="020B0604020202020204" pitchFamily="34" charset="0"/>
                    <a:cs typeface="Arial" panose="020B0604020202020204" pitchFamily="34" charset="0"/>
                  </a:rPr>
                  <a:t>tuyến</a:t>
                </a:r>
                <a:r>
                  <a:rPr lang="en-US" sz="1600" b="0" dirty="0">
                    <a:latin typeface="Arial" panose="020B0604020202020204" pitchFamily="34" charset="0"/>
                    <a:cs typeface="Arial" panose="020B0604020202020204" pitchFamily="34" charset="0"/>
                  </a:rPr>
                  <a:t> </a:t>
                </a:r>
                <a:r>
                  <a:rPr lang="en-US" sz="1600" b="0" dirty="0" err="1">
                    <a:latin typeface="Arial" panose="020B0604020202020204" pitchFamily="34" charset="0"/>
                    <a:cs typeface="Arial" panose="020B0604020202020204" pitchFamily="34" charset="0"/>
                  </a:rPr>
                  <a:t>nửa</a:t>
                </a:r>
                <a:r>
                  <a:rPr lang="en-US" sz="1600" b="0" dirty="0">
                    <a:latin typeface="Arial" panose="020B0604020202020204" pitchFamily="34" charset="0"/>
                    <a:cs typeface="Arial" panose="020B0604020202020204" pitchFamily="34" charset="0"/>
                  </a:rPr>
                  <a:t> </a:t>
                </a:r>
                <a:r>
                  <a:rPr lang="en-US" sz="1600" b="0" dirty="0" err="1">
                    <a:latin typeface="Arial" panose="020B0604020202020204" pitchFamily="34" charset="0"/>
                    <a:cs typeface="Arial" panose="020B0604020202020204" pitchFamily="34" charset="0"/>
                  </a:rPr>
                  <a:t>bên</a:t>
                </a:r>
                <a:r>
                  <a:rPr lang="en-US" sz="1600" b="0" dirty="0">
                    <a:latin typeface="Arial" panose="020B0604020202020204" pitchFamily="34" charset="0"/>
                    <a:cs typeface="Arial" panose="020B0604020202020204" pitchFamily="34" charset="0"/>
                  </a:rPr>
                  <a:t> </a:t>
                </a:r>
                <a:r>
                  <a:rPr lang="en-US" sz="1600" b="0" dirty="0" err="1">
                    <a:latin typeface="Arial" panose="020B0604020202020204" pitchFamily="34" charset="0"/>
                    <a:cs typeface="Arial" panose="020B0604020202020204" pitchFamily="34" charset="0"/>
                  </a:rPr>
                  <a:t>phải</a:t>
                </a:r>
                <a:r>
                  <a:rPr lang="en-US" sz="1600" b="0" dirty="0">
                    <a:latin typeface="Arial" panose="020B0604020202020204" pitchFamily="34" charset="0"/>
                    <a:cs typeface="Arial" panose="020B0604020202020204" pitchFamily="34" charset="0"/>
                  </a:rPr>
                  <a:t> </a:t>
                </a:r>
                <a:r>
                  <a:rPr lang="en-US" sz="1600" b="0" dirty="0" err="1">
                    <a:latin typeface="Arial" panose="020B0604020202020204" pitchFamily="34" charset="0"/>
                    <a:cs typeface="Arial" panose="020B0604020202020204" pitchFamily="34" charset="0"/>
                  </a:rPr>
                  <a:t>mặ</a:t>
                </a:r>
                <a:r>
                  <a:rPr lang="en-US" sz="1600" dirty="0" err="1">
                    <a:latin typeface="Arial" panose="020B0604020202020204" pitchFamily="34" charset="0"/>
                    <a:cs typeface="Arial" panose="020B0604020202020204" pitchFamily="34" charset="0"/>
                  </a:rPr>
                  <a:t>t</a:t>
                </a:r>
                <a:r>
                  <a:rPr lang="en-US" sz="1600" dirty="0">
                    <a:latin typeface="Arial" panose="020B0604020202020204" pitchFamily="34" charset="0"/>
                    <a:cs typeface="Arial" panose="020B0604020202020204" pitchFamily="34" charset="0"/>
                  </a:rPr>
                  <a:t> </a:t>
                </a:r>
                <a:r>
                  <a:rPr lang="en-US" sz="1600" dirty="0" err="1">
                    <a:latin typeface="Arial" panose="020B0604020202020204" pitchFamily="34" charset="0"/>
                    <a:cs typeface="Arial" panose="020B0604020202020204" pitchFamily="34" charset="0"/>
                  </a:rPr>
                  <a:t>phẳng</a:t>
                </a:r>
                <a:r>
                  <a:rPr lang="en-US" sz="1600" dirty="0">
                    <a:latin typeface="Arial" panose="020B0604020202020204" pitchFamily="34" charset="0"/>
                    <a:cs typeface="Arial" panose="020B0604020202020204" pitchFamily="34" charset="0"/>
                  </a:rPr>
                  <a:t> s</a:t>
                </a:r>
                <a:endParaRPr lang="en-US" sz="1600" b="0" dirty="0">
                  <a:latin typeface="Arial" panose="020B0604020202020204" pitchFamily="34" charset="0"/>
                  <a:cs typeface="Arial" panose="020B0604020202020204" pitchFamily="34" charset="0"/>
                </a:endParaRPr>
              </a:p>
              <a:p>
                <a:pPr algn="ctr"/>
                <a14:m>
                  <m:oMath xmlns:m="http://schemas.openxmlformats.org/officeDocument/2006/math">
                    <m:r>
                      <a:rPr lang="en-US" sz="1600" b="0" i="1" smtClean="0">
                        <a:latin typeface="Cambria Math" panose="02040503050406030204" pitchFamily="18" charset="0"/>
                      </a:rPr>
                      <m:t>𝑃</m:t>
                    </m:r>
                  </m:oMath>
                </a14:m>
                <a:r>
                  <a:rPr lang="en-VN" sz="1600" dirty="0">
                    <a:latin typeface="Arial" panose="020B0604020202020204" pitchFamily="34" charset="0"/>
                    <a:cs typeface="Arial" panose="020B0604020202020204" pitchFamily="34" charset="0"/>
                  </a:rPr>
                  <a:t>: số điểm cực của </a:t>
                </a:r>
                <a14:m>
                  <m:oMath xmlns:m="http://schemas.openxmlformats.org/officeDocument/2006/math">
                    <m:r>
                      <a:rPr lang="en-US" sz="1600" b="0" i="1" smtClean="0">
                        <a:latin typeface="Cambria Math" panose="02040503050406030204" pitchFamily="18" charset="0"/>
                      </a:rPr>
                      <m:t>𝐺</m:t>
                    </m:r>
                    <m:d>
                      <m:dPr>
                        <m:ctrlPr>
                          <a:rPr lang="en-US" sz="1600" b="0" i="1" smtClean="0">
                            <a:latin typeface="Cambria Math" panose="02040503050406030204" pitchFamily="18" charset="0"/>
                          </a:rPr>
                        </m:ctrlPr>
                      </m:dPr>
                      <m:e>
                        <m:r>
                          <a:rPr lang="en-US" sz="1600" b="0" i="1" smtClean="0">
                            <a:latin typeface="Cambria Math" panose="02040503050406030204" pitchFamily="18" charset="0"/>
                          </a:rPr>
                          <m:t>𝑠</m:t>
                        </m:r>
                      </m:e>
                    </m:d>
                    <m:r>
                      <a:rPr lang="en-US" sz="1600" b="0" i="1" smtClean="0">
                        <a:latin typeface="Cambria Math" panose="02040503050406030204" pitchFamily="18" charset="0"/>
                      </a:rPr>
                      <m:t>𝐻</m:t>
                    </m:r>
                    <m:r>
                      <a:rPr lang="en-US" sz="1600" b="0" i="1" smtClean="0">
                        <a:latin typeface="Cambria Math" panose="02040503050406030204" pitchFamily="18" charset="0"/>
                      </a:rPr>
                      <m:t>(</m:t>
                    </m:r>
                    <m:r>
                      <a:rPr lang="en-US" sz="1600" b="0" i="1" smtClean="0">
                        <a:latin typeface="Cambria Math" panose="02040503050406030204" pitchFamily="18" charset="0"/>
                      </a:rPr>
                      <m:t>𝑠</m:t>
                    </m:r>
                    <m:r>
                      <a:rPr lang="en-US" sz="1600" b="0" i="1" smtClean="0">
                        <a:latin typeface="Cambria Math" panose="02040503050406030204" pitchFamily="18" charset="0"/>
                      </a:rPr>
                      <m:t>)</m:t>
                    </m:r>
                  </m:oMath>
                </a14:m>
                <a:r>
                  <a:rPr lang="en-VN" sz="1600" dirty="0">
                    <a:latin typeface="Arial" panose="020B0604020202020204" pitchFamily="34" charset="0"/>
                    <a:cs typeface="Arial" panose="020B0604020202020204" pitchFamily="34" charset="0"/>
                  </a:rPr>
                  <a:t> nằm trong chu tuyến nửa bên phải mặt phẳng s</a:t>
                </a:r>
              </a:p>
              <a:p>
                <a:pPr algn="ctr"/>
                <a14:m>
                  <m:oMath xmlns:m="http://schemas.openxmlformats.org/officeDocument/2006/math">
                    <m:r>
                      <a:rPr lang="en-US" sz="1600" b="0" i="1" smtClean="0">
                        <a:latin typeface="Cambria Math" panose="02040503050406030204" pitchFamily="18" charset="0"/>
                      </a:rPr>
                      <m:t>𝑁</m:t>
                    </m:r>
                  </m:oMath>
                </a14:m>
                <a:r>
                  <a:rPr lang="en-VN" sz="1600" dirty="0">
                    <a:latin typeface="Arial" panose="020B0604020202020204" pitchFamily="34" charset="0"/>
                    <a:cs typeface="Arial" panose="020B0604020202020204" pitchFamily="34" charset="0"/>
                  </a:rPr>
                  <a:t>: số vòng của chu tuyến ánh xạ chứa điểm -1 ngược chiều kim đồng hồ</a:t>
                </a:r>
              </a:p>
            </p:txBody>
          </p:sp>
        </mc:Choice>
        <mc:Fallback>
          <p:sp>
            <p:nvSpPr>
              <p:cNvPr id="7" name="TextBox 6">
                <a:extLst>
                  <a:ext uri="{FF2B5EF4-FFF2-40B4-BE49-F238E27FC236}">
                    <a16:creationId xmlns:a16="http://schemas.microsoft.com/office/drawing/2014/main" id="{6D9D1D5B-2A21-5C14-56F1-B479000023E1}"/>
                  </a:ext>
                </a:extLst>
              </p:cNvPr>
              <p:cNvSpPr txBox="1">
                <a:spLocks noRot="1" noChangeAspect="1" noMove="1" noResize="1" noEditPoints="1" noAdjustHandles="1" noChangeArrowheads="1" noChangeShapeType="1" noTextEdit="1"/>
              </p:cNvSpPr>
              <p:nvPr/>
            </p:nvSpPr>
            <p:spPr>
              <a:xfrm>
                <a:off x="1451579" y="1571219"/>
                <a:ext cx="9961581" cy="1077218"/>
              </a:xfrm>
              <a:prstGeom prst="rect">
                <a:avLst/>
              </a:prstGeom>
              <a:blipFill>
                <a:blip r:embed="rId4"/>
                <a:stretch>
                  <a:fillRect b="-6977"/>
                </a:stretch>
              </a:blipFill>
            </p:spPr>
            <p:txBody>
              <a:bodyPr/>
              <a:lstStyle/>
              <a:p>
                <a:r>
                  <a:rPr lang="en-VN">
                    <a:noFill/>
                  </a:rPr>
                  <a:t> </a:t>
                </a:r>
              </a:p>
            </p:txBody>
          </p:sp>
        </mc:Fallback>
      </mc:AlternateContent>
      <mc:AlternateContent xmlns:mc="http://schemas.openxmlformats.org/markup-compatibility/2006">
        <mc:Choice xmlns:a14="http://schemas.microsoft.com/office/drawing/2010/main" Requires="a14">
          <p:sp>
            <p:nvSpPr>
              <p:cNvPr id="8" name="TextBox 7">
                <a:extLst>
                  <a:ext uri="{FF2B5EF4-FFF2-40B4-BE49-F238E27FC236}">
                    <a16:creationId xmlns:a16="http://schemas.microsoft.com/office/drawing/2014/main" id="{2962C981-5515-946C-07A6-A245137ED7D2}"/>
                  </a:ext>
                </a:extLst>
              </p:cNvPr>
              <p:cNvSpPr txBox="1"/>
              <p:nvPr/>
            </p:nvSpPr>
            <p:spPr>
              <a:xfrm>
                <a:off x="7011114" y="2913842"/>
                <a:ext cx="5100876" cy="2981842"/>
              </a:xfrm>
              <a:prstGeom prst="rect">
                <a:avLst/>
              </a:prstGeom>
              <a:noFill/>
            </p:spPr>
            <p:txBody>
              <a:bodyPr wrap="square" rtlCol="0">
                <a:spAutoFit/>
              </a:bodyPr>
              <a:lstStyle/>
              <a:p>
                <a:r>
                  <a:rPr lang="en-VN" sz="1400" b="1" dirty="0">
                    <a:solidFill>
                      <a:srgbClr val="C00000"/>
                    </a:solidFill>
                    <a:latin typeface="Arial" panose="020B0604020202020204" pitchFamily="34" charset="0"/>
                    <a:cs typeface="Arial" panose="020B0604020202020204" pitchFamily="34" charset="0"/>
                  </a:rPr>
                  <a:t>Ví dụ: </a:t>
                </a:r>
              </a:p>
              <a:p>
                <a14:m>
                  <m:oMathPara xmlns:m="http://schemas.openxmlformats.org/officeDocument/2006/math">
                    <m:oMathParaPr>
                      <m:jc m:val="centerGroup"/>
                    </m:oMathParaPr>
                    <m:oMath xmlns:m="http://schemas.openxmlformats.org/officeDocument/2006/math">
                      <m:r>
                        <a:rPr lang="en-US" sz="1400" b="0" i="1" smtClean="0">
                          <a:latin typeface="Cambria Math" panose="02040503050406030204" pitchFamily="18" charset="0"/>
                        </a:rPr>
                        <m:t>𝑃</m:t>
                      </m:r>
                      <m:r>
                        <a:rPr lang="en-US" sz="1400" b="0" i="1" smtClean="0">
                          <a:latin typeface="Cambria Math" panose="02040503050406030204" pitchFamily="18" charset="0"/>
                        </a:rPr>
                        <m:t>=2</m:t>
                      </m:r>
                    </m:oMath>
                  </m:oMathPara>
                </a14:m>
                <a:endParaRPr lang="en-VN" sz="1400" dirty="0">
                  <a:latin typeface="Arial" panose="020B0604020202020204" pitchFamily="34" charset="0"/>
                  <a:cs typeface="Arial" panose="020B0604020202020204" pitchFamily="34" charset="0"/>
                </a:endParaRPr>
              </a:p>
              <a:p>
                <a:r>
                  <a:rPr lang="en-VN" sz="1400" dirty="0">
                    <a:latin typeface="Arial" panose="020B0604020202020204" pitchFamily="34" charset="0"/>
                    <a:cs typeface="Arial" panose="020B0604020202020204" pitchFamily="34" charset="0"/>
                  </a:rPr>
                  <a:t>Để hệ thống ổn định, </a:t>
                </a:r>
                <a14:m>
                  <m:oMath xmlns:m="http://schemas.openxmlformats.org/officeDocument/2006/math">
                    <m:r>
                      <a:rPr lang="en-US" sz="1400" b="0" i="1" smtClean="0">
                        <a:latin typeface="Cambria Math" panose="02040503050406030204" pitchFamily="18" charset="0"/>
                      </a:rPr>
                      <m:t>𝑍</m:t>
                    </m:r>
                    <m:r>
                      <a:rPr lang="en-US" sz="1400" b="0" i="1" smtClean="0">
                        <a:latin typeface="Cambria Math" panose="02040503050406030204" pitchFamily="18" charset="0"/>
                      </a:rPr>
                      <m:t>=0</m:t>
                    </m:r>
                  </m:oMath>
                </a14:m>
                <a:endParaRPr lang="en-VN" sz="1400" dirty="0">
                  <a:latin typeface="Arial" panose="020B0604020202020204" pitchFamily="34" charset="0"/>
                  <a:cs typeface="Arial" panose="020B0604020202020204" pitchFamily="34" charset="0"/>
                </a:endParaRPr>
              </a:p>
              <a:p>
                <a:r>
                  <a:rPr lang="en-VN" sz="1400" dirty="0">
                    <a:latin typeface="Arial" panose="020B0604020202020204" pitchFamily="34" charset="0"/>
                    <a:cs typeface="Arial" panose="020B0604020202020204" pitchFamily="34" charset="0"/>
                  </a:rPr>
                  <a:t>Suy ra </a:t>
                </a:r>
                <a14:m>
                  <m:oMath xmlns:m="http://schemas.openxmlformats.org/officeDocument/2006/math">
                    <m:r>
                      <m:rPr>
                        <m:sty m:val="p"/>
                      </m:rPr>
                      <a:rPr lang="en-US" sz="1400" b="0" i="0" smtClean="0">
                        <a:latin typeface="Cambria Math" panose="02040503050406030204" pitchFamily="18" charset="0"/>
                      </a:rPr>
                      <m:t>N</m:t>
                    </m:r>
                    <m:r>
                      <a:rPr lang="en-US" sz="1400" b="0" i="1" smtClean="0">
                        <a:latin typeface="Cambria Math" panose="02040503050406030204" pitchFamily="18" charset="0"/>
                      </a:rPr>
                      <m:t>=2</m:t>
                    </m:r>
                  </m:oMath>
                </a14:m>
                <a:endParaRPr lang="en-VN" sz="1400" dirty="0">
                  <a:latin typeface="Arial" panose="020B0604020202020204" pitchFamily="34" charset="0"/>
                  <a:cs typeface="Arial" panose="020B0604020202020204" pitchFamily="34" charset="0"/>
                </a:endParaRPr>
              </a:p>
              <a:p>
                <a:r>
                  <a:rPr lang="en-VN" sz="1400" dirty="0">
                    <a:latin typeface="Arial" panose="020B0604020202020204" pitchFamily="34" charset="0"/>
                    <a:cs typeface="Arial" panose="020B0604020202020204" pitchFamily="34" charset="0"/>
                  </a:rPr>
                  <a:t>Khi K tăng hay giảm, đồ thị Nyquist sẽ mở rộng hay thu hẹp lại.</a:t>
                </a:r>
              </a:p>
              <a:p>
                <a:r>
                  <a:rPr lang="en-VN" sz="1400" dirty="0">
                    <a:latin typeface="Arial" panose="020B0604020202020204" pitchFamily="34" charset="0"/>
                    <a:cs typeface="Arial" panose="020B0604020202020204" pitchFamily="34" charset="0"/>
                  </a:rPr>
                  <a:t>Trong trường hợp này, khi K giảm đến mức đồ thị Nyquist không bao điểm -1, hệ thống không ổn định.</a:t>
                </a:r>
              </a:p>
              <a:p>
                <a:r>
                  <a:rPr lang="en-VN" sz="1400" dirty="0">
                    <a:latin typeface="Arial" panose="020B0604020202020204" pitchFamily="34" charset="0"/>
                    <a:cs typeface="Arial" panose="020B0604020202020204" pitchFamily="34" charset="0"/>
                  </a:rPr>
                  <a:t>Hệ thống ổn định biên khi đồ thị Nyquist cắt trục thực tại -1.</a:t>
                </a:r>
              </a:p>
              <a:p>
                <a:r>
                  <a:rPr lang="en-VN" sz="1400" dirty="0">
                    <a:latin typeface="Arial" panose="020B0604020202020204" pitchFamily="34" charset="0"/>
                    <a:cs typeface="Arial" panose="020B0604020202020204" pitchFamily="34" charset="0"/>
                  </a:rPr>
                  <a:t>Nói cách khác, có thể coi đồ thị Nyquist cố định, điểm ổn định là </a:t>
                </a:r>
                <a14:m>
                  <m:oMath xmlns:m="http://schemas.openxmlformats.org/officeDocument/2006/math">
                    <m:r>
                      <a:rPr lang="en-US" sz="1400" b="0" i="1" smtClean="0">
                        <a:latin typeface="Cambria Math" panose="02040503050406030204" pitchFamily="18" charset="0"/>
                        <a:cs typeface="Arial" panose="020B0604020202020204" pitchFamily="34" charset="0"/>
                      </a:rPr>
                      <m:t>−1/</m:t>
                    </m:r>
                    <m:r>
                      <a:rPr lang="en-US" sz="1400" b="0" i="1" smtClean="0">
                        <a:latin typeface="Cambria Math" panose="02040503050406030204" pitchFamily="18" charset="0"/>
                        <a:cs typeface="Arial" panose="020B0604020202020204" pitchFamily="34" charset="0"/>
                      </a:rPr>
                      <m:t>𝐾</m:t>
                    </m:r>
                  </m:oMath>
                </a14:m>
                <a:r>
                  <a:rPr lang="en-VN" sz="1400" dirty="0">
                    <a:latin typeface="Arial" panose="020B0604020202020204" pitchFamily="34" charset="0"/>
                    <a:cs typeface="Arial" panose="020B0604020202020204" pitchFamily="34" charset="0"/>
                  </a:rPr>
                  <a:t> (thay đổi theo giá trị của K), xem xét tiêu chuẩn ổn định Nyquist khi K thay đổi.</a:t>
                </a:r>
              </a:p>
              <a:p>
                <a:r>
                  <a:rPr lang="en-VN" sz="1400" dirty="0">
                    <a:latin typeface="Arial" panose="020B0604020202020204" pitchFamily="34" charset="0"/>
                    <a:cs typeface="Arial" panose="020B0604020202020204" pitchFamily="34" charset="0"/>
                  </a:rPr>
                  <a:t>Như vậy, để hệ thống ổn định: </a:t>
                </a:r>
                <a14:m>
                  <m:oMath xmlns:m="http://schemas.openxmlformats.org/officeDocument/2006/math">
                    <m:r>
                      <a:rPr lang="en-US" sz="1400" b="0" i="1" smtClean="0">
                        <a:latin typeface="Cambria Math" panose="02040503050406030204" pitchFamily="18" charset="0"/>
                        <a:cs typeface="Arial" panose="020B0604020202020204" pitchFamily="34" charset="0"/>
                      </a:rPr>
                      <m:t>−</m:t>
                    </m:r>
                    <m:f>
                      <m:fPr>
                        <m:ctrlPr>
                          <a:rPr lang="en-US" sz="1400" b="0" i="1" smtClean="0">
                            <a:latin typeface="Cambria Math" panose="02040503050406030204" pitchFamily="18" charset="0"/>
                            <a:cs typeface="Arial" panose="020B0604020202020204" pitchFamily="34" charset="0"/>
                          </a:rPr>
                        </m:ctrlPr>
                      </m:fPr>
                      <m:num>
                        <m:r>
                          <a:rPr lang="en-US" sz="1400" b="0" i="1" smtClean="0">
                            <a:latin typeface="Cambria Math" panose="02040503050406030204" pitchFamily="18" charset="0"/>
                            <a:cs typeface="Arial" panose="020B0604020202020204" pitchFamily="34" charset="0"/>
                          </a:rPr>
                          <m:t>1</m:t>
                        </m:r>
                      </m:num>
                      <m:den>
                        <m:r>
                          <a:rPr lang="en-US" sz="1400" b="0" i="1" smtClean="0">
                            <a:latin typeface="Cambria Math" panose="02040503050406030204" pitchFamily="18" charset="0"/>
                            <a:cs typeface="Arial" panose="020B0604020202020204" pitchFamily="34" charset="0"/>
                          </a:rPr>
                          <m:t>𝐾</m:t>
                        </m:r>
                      </m:den>
                    </m:f>
                    <m:r>
                      <a:rPr lang="en-US" sz="1400" i="1">
                        <a:latin typeface="Cambria Math" panose="02040503050406030204" pitchFamily="18" charset="0"/>
                        <a:ea typeface="Cambria Math" panose="02040503050406030204" pitchFamily="18" charset="0"/>
                        <a:cs typeface="Arial" panose="020B0604020202020204" pitchFamily="34" charset="0"/>
                      </a:rPr>
                      <m:t>&gt;</m:t>
                    </m:r>
                    <m:r>
                      <a:rPr lang="en-US" sz="1400" b="0" i="1" smtClean="0">
                        <a:latin typeface="Cambria Math" panose="02040503050406030204" pitchFamily="18" charset="0"/>
                        <a:cs typeface="Arial" panose="020B0604020202020204" pitchFamily="34" charset="0"/>
                      </a:rPr>
                      <m:t>−1.33</m:t>
                    </m:r>
                  </m:oMath>
                </a14:m>
                <a:r>
                  <a:rPr lang="en-VN" sz="1400" dirty="0">
                    <a:latin typeface="Arial" panose="020B0604020202020204" pitchFamily="34" charset="0"/>
                    <a:cs typeface="Arial" panose="020B0604020202020204" pitchFamily="34" charset="0"/>
                  </a:rPr>
                  <a:t> suy ra </a:t>
                </a:r>
                <a14:m>
                  <m:oMath xmlns:m="http://schemas.openxmlformats.org/officeDocument/2006/math">
                    <m:r>
                      <a:rPr lang="en-US" sz="1400" b="0" i="1" smtClean="0">
                        <a:latin typeface="Cambria Math" panose="02040503050406030204" pitchFamily="18" charset="0"/>
                        <a:cs typeface="Arial" panose="020B0604020202020204" pitchFamily="34" charset="0"/>
                      </a:rPr>
                      <m:t>𝐾</m:t>
                    </m:r>
                    <m:r>
                      <a:rPr lang="en-US" sz="1400" b="0" i="1" smtClean="0">
                        <a:latin typeface="Cambria Math" panose="02040503050406030204" pitchFamily="18" charset="0"/>
                        <a:cs typeface="Arial" panose="020B0604020202020204" pitchFamily="34" charset="0"/>
                      </a:rPr>
                      <m:t>&gt;0.75</m:t>
                    </m:r>
                  </m:oMath>
                </a14:m>
                <a:endParaRPr lang="en-VN" sz="1400" dirty="0">
                  <a:latin typeface="Arial" panose="020B0604020202020204" pitchFamily="34" charset="0"/>
                  <a:cs typeface="Arial" panose="020B0604020202020204" pitchFamily="34" charset="0"/>
                </a:endParaRPr>
              </a:p>
            </p:txBody>
          </p:sp>
        </mc:Choice>
        <mc:Fallback>
          <p:sp>
            <p:nvSpPr>
              <p:cNvPr id="8" name="TextBox 7">
                <a:extLst>
                  <a:ext uri="{FF2B5EF4-FFF2-40B4-BE49-F238E27FC236}">
                    <a16:creationId xmlns:a16="http://schemas.microsoft.com/office/drawing/2014/main" id="{2962C981-5515-946C-07A6-A245137ED7D2}"/>
                  </a:ext>
                </a:extLst>
              </p:cNvPr>
              <p:cNvSpPr txBox="1">
                <a:spLocks noRot="1" noChangeAspect="1" noMove="1" noResize="1" noEditPoints="1" noAdjustHandles="1" noChangeArrowheads="1" noChangeShapeType="1" noTextEdit="1"/>
              </p:cNvSpPr>
              <p:nvPr/>
            </p:nvSpPr>
            <p:spPr>
              <a:xfrm>
                <a:off x="7011114" y="2913842"/>
                <a:ext cx="5100876" cy="2981842"/>
              </a:xfrm>
              <a:prstGeom prst="rect">
                <a:avLst/>
              </a:prstGeom>
              <a:blipFill>
                <a:blip r:embed="rId5"/>
                <a:stretch>
                  <a:fillRect l="-498" t="-424"/>
                </a:stretch>
              </a:blipFill>
            </p:spPr>
            <p:txBody>
              <a:bodyPr/>
              <a:lstStyle/>
              <a:p>
                <a:r>
                  <a:rPr lang="en-VN">
                    <a:noFill/>
                  </a:rPr>
                  <a:t> </a:t>
                </a:r>
              </a:p>
            </p:txBody>
          </p:sp>
        </mc:Fallback>
      </mc:AlternateContent>
      <p:sp>
        <p:nvSpPr>
          <p:cNvPr id="9" name="Down Arrow 8">
            <a:extLst>
              <a:ext uri="{FF2B5EF4-FFF2-40B4-BE49-F238E27FC236}">
                <a16:creationId xmlns:a16="http://schemas.microsoft.com/office/drawing/2014/main" id="{5ABC7E94-E631-13F2-285D-E05E559EF429}"/>
              </a:ext>
            </a:extLst>
          </p:cNvPr>
          <p:cNvSpPr/>
          <p:nvPr/>
        </p:nvSpPr>
        <p:spPr>
          <a:xfrm>
            <a:off x="5383530" y="4709160"/>
            <a:ext cx="45720" cy="137160"/>
          </a:xfrm>
          <a:prstGeom prst="down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VN"/>
          </a:p>
        </p:txBody>
      </p:sp>
    </p:spTree>
    <p:extLst>
      <p:ext uri="{BB962C8B-B14F-4D97-AF65-F5344CB8AC3E}">
        <p14:creationId xmlns:p14="http://schemas.microsoft.com/office/powerpoint/2010/main" val="278125633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blinds(horizontal)">
                                      <p:cBhvr>
                                        <p:cTn id="7"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63E2CD-7637-6E6D-E4D5-33F6DC3CBBA7}"/>
              </a:ext>
            </a:extLst>
          </p:cNvPr>
          <p:cNvSpPr>
            <a:spLocks noGrp="1"/>
          </p:cNvSpPr>
          <p:nvPr>
            <p:ph type="title"/>
          </p:nvPr>
        </p:nvSpPr>
        <p:spPr/>
        <p:txBody>
          <a:bodyPr/>
          <a:lstStyle/>
          <a:p>
            <a:r>
              <a:rPr lang="en-VN" dirty="0"/>
              <a:t>ĐIỀU KIỆN ỔN ĐỊNH NYQUIST</a:t>
            </a:r>
          </a:p>
        </p:txBody>
      </p:sp>
      <mc:AlternateContent xmlns:mc="http://schemas.openxmlformats.org/markup-compatibility/2006">
        <mc:Choice xmlns:a14="http://schemas.microsoft.com/office/drawing/2010/main" Requires="a14">
          <p:sp>
            <p:nvSpPr>
              <p:cNvPr id="7" name="Content Placeholder 6">
                <a:extLst>
                  <a:ext uri="{FF2B5EF4-FFF2-40B4-BE49-F238E27FC236}">
                    <a16:creationId xmlns:a16="http://schemas.microsoft.com/office/drawing/2014/main" id="{F1D0087F-9C00-9A85-82A3-D9094EB334B7}"/>
                  </a:ext>
                </a:extLst>
              </p:cNvPr>
              <p:cNvSpPr>
                <a:spLocks noGrp="1"/>
              </p:cNvSpPr>
              <p:nvPr>
                <p:ph idx="1"/>
              </p:nvPr>
            </p:nvSpPr>
            <p:spPr/>
            <p:txBody>
              <a:bodyPr>
                <a:normAutofit/>
              </a:bodyPr>
              <a:lstStyle/>
              <a:p>
                <a:r>
                  <a:rPr lang="en-VN" sz="1800" b="1" dirty="0">
                    <a:solidFill>
                      <a:srgbClr val="C00000"/>
                    </a:solidFill>
                  </a:rPr>
                  <a:t>Ví dụ: </a:t>
                </a:r>
                <a:r>
                  <a:rPr lang="en-VN" sz="1800" dirty="0"/>
                  <a:t>Hệ thống phản hồi đơn vị, </a:t>
                </a:r>
                <a14:m>
                  <m:oMath xmlns:m="http://schemas.openxmlformats.org/officeDocument/2006/math">
                    <m:r>
                      <a:rPr lang="en-US" sz="1800" b="0" i="1" smtClean="0">
                        <a:latin typeface="Cambria Math" panose="02040503050406030204" pitchFamily="18" charset="0"/>
                      </a:rPr>
                      <m:t>𝐺</m:t>
                    </m:r>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𝑠</m:t>
                        </m:r>
                      </m:e>
                    </m:d>
                    <m:r>
                      <a:rPr lang="en-US" sz="1800" b="0" i="1" smtClean="0">
                        <a:latin typeface="Cambria Math" panose="02040503050406030204" pitchFamily="18" charset="0"/>
                      </a:rPr>
                      <m:t>=</m:t>
                    </m:r>
                    <m:r>
                      <a:rPr lang="en-US" sz="1800" b="0" i="1" smtClean="0">
                        <a:latin typeface="Cambria Math" panose="02040503050406030204" pitchFamily="18" charset="0"/>
                      </a:rPr>
                      <m:t>𝐾</m:t>
                    </m:r>
                    <m:r>
                      <a:rPr lang="en-US" sz="1800" b="0" i="1" smtClean="0">
                        <a:latin typeface="Cambria Math" panose="02040503050406030204" pitchFamily="18" charset="0"/>
                      </a:rPr>
                      <m:t>/[</m:t>
                    </m:r>
                    <m:r>
                      <a:rPr lang="en-US" sz="1800" b="0" i="1" smtClean="0">
                        <a:latin typeface="Cambria Math" panose="02040503050406030204" pitchFamily="18" charset="0"/>
                      </a:rPr>
                      <m:t>𝑠</m:t>
                    </m:r>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𝑠</m:t>
                        </m:r>
                        <m:r>
                          <a:rPr lang="en-US" sz="1800" b="0" i="1" smtClean="0">
                            <a:latin typeface="Cambria Math" panose="02040503050406030204" pitchFamily="18" charset="0"/>
                          </a:rPr>
                          <m:t>+3</m:t>
                        </m:r>
                      </m:e>
                    </m:d>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𝑠</m:t>
                        </m:r>
                        <m:r>
                          <a:rPr lang="en-US" sz="1800" b="0" i="1" smtClean="0">
                            <a:latin typeface="Cambria Math" panose="02040503050406030204" pitchFamily="18" charset="0"/>
                          </a:rPr>
                          <m:t>+5</m:t>
                        </m:r>
                      </m:e>
                    </m:d>
                    <m:r>
                      <a:rPr lang="en-US" sz="1800" b="0" i="1" smtClean="0">
                        <a:latin typeface="Cambria Math" panose="02040503050406030204" pitchFamily="18" charset="0"/>
                      </a:rPr>
                      <m:t>]</m:t>
                    </m:r>
                  </m:oMath>
                </a14:m>
                <a:endParaRPr lang="en-VN" sz="1800" dirty="0"/>
              </a:p>
              <a:p>
                <a:pPr marL="0" indent="0">
                  <a:buNone/>
                </a:pPr>
                <a:r>
                  <a:rPr lang="en-VN" sz="1800" dirty="0"/>
                  <a:t> Tìm giá trị của K để hệ thống ổn định, không ổn định và ổn định biên. Tìm tần số khi hệ ổn định biên sử dụng tiêu chuẩn Nyquist.</a:t>
                </a:r>
              </a:p>
            </p:txBody>
          </p:sp>
        </mc:Choice>
        <mc:Fallback>
          <p:sp>
            <p:nvSpPr>
              <p:cNvPr id="7" name="Content Placeholder 6">
                <a:extLst>
                  <a:ext uri="{FF2B5EF4-FFF2-40B4-BE49-F238E27FC236}">
                    <a16:creationId xmlns:a16="http://schemas.microsoft.com/office/drawing/2014/main" id="{F1D0087F-9C00-9A85-82A3-D9094EB334B7}"/>
                  </a:ext>
                </a:extLst>
              </p:cNvPr>
              <p:cNvSpPr>
                <a:spLocks noGrp="1" noRot="1" noChangeAspect="1" noMove="1" noResize="1" noEditPoints="1" noAdjustHandles="1" noChangeArrowheads="1" noChangeShapeType="1" noTextEdit="1"/>
              </p:cNvSpPr>
              <p:nvPr>
                <p:ph idx="1"/>
              </p:nvPr>
            </p:nvSpPr>
            <p:spPr>
              <a:blipFill>
                <a:blip r:embed="rId2"/>
                <a:stretch>
                  <a:fillRect l="-528" t="-285"/>
                </a:stretch>
              </a:blipFill>
            </p:spPr>
            <p:txBody>
              <a:bodyPr/>
              <a:lstStyle/>
              <a:p>
                <a:r>
                  <a:rPr lang="en-VN">
                    <a:noFill/>
                  </a:rPr>
                  <a:t> </a:t>
                </a:r>
              </a:p>
            </p:txBody>
          </p:sp>
        </mc:Fallback>
      </mc:AlternateContent>
      <p:pic>
        <p:nvPicPr>
          <p:cNvPr id="9" name="Picture 8">
            <a:extLst>
              <a:ext uri="{FF2B5EF4-FFF2-40B4-BE49-F238E27FC236}">
                <a16:creationId xmlns:a16="http://schemas.microsoft.com/office/drawing/2014/main" id="{6C1BCFB9-AC4D-10FA-F56A-6F1F38706D52}"/>
              </a:ext>
            </a:extLst>
          </p:cNvPr>
          <p:cNvPicPr>
            <a:picLocks noChangeAspect="1"/>
          </p:cNvPicPr>
          <p:nvPr/>
        </p:nvPicPr>
        <p:blipFill>
          <a:blip r:embed="rId3"/>
          <a:stretch>
            <a:fillRect/>
          </a:stretch>
        </p:blipFill>
        <p:spPr>
          <a:xfrm>
            <a:off x="6385496" y="2925604"/>
            <a:ext cx="5730802" cy="674212"/>
          </a:xfrm>
          <a:prstGeom prst="rect">
            <a:avLst/>
          </a:prstGeom>
        </p:spPr>
      </p:pic>
      <mc:AlternateContent xmlns:mc="http://schemas.openxmlformats.org/markup-compatibility/2006">
        <mc:Choice xmlns:a14="http://schemas.microsoft.com/office/drawing/2010/main" Requires="a14">
          <p:sp>
            <p:nvSpPr>
              <p:cNvPr id="10" name="TextBox 9">
                <a:extLst>
                  <a:ext uri="{FF2B5EF4-FFF2-40B4-BE49-F238E27FC236}">
                    <a16:creationId xmlns:a16="http://schemas.microsoft.com/office/drawing/2014/main" id="{2F2166E7-4638-E0A4-79BE-0F864104C818}"/>
                  </a:ext>
                </a:extLst>
              </p:cNvPr>
              <p:cNvSpPr txBox="1"/>
              <p:nvPr/>
            </p:nvSpPr>
            <p:spPr>
              <a:xfrm>
                <a:off x="6447692" y="2552423"/>
                <a:ext cx="5268224" cy="338554"/>
              </a:xfrm>
              <a:prstGeom prst="rect">
                <a:avLst/>
              </a:prstGeom>
              <a:noFill/>
            </p:spPr>
            <p:txBody>
              <a:bodyPr wrap="square" rtlCol="0">
                <a:spAutoFit/>
              </a:bodyPr>
              <a:lstStyle/>
              <a:p>
                <a:r>
                  <a:rPr lang="en-VN" sz="1600" dirty="0">
                    <a:latin typeface="Arial" panose="020B0604020202020204" pitchFamily="34" charset="0"/>
                    <a:cs typeface="Arial" panose="020B0604020202020204" pitchFamily="34" charset="0"/>
                  </a:rPr>
                  <a:t>Vẽ đồ thị Nyquist khi </a:t>
                </a:r>
                <a14:m>
                  <m:oMath xmlns:m="http://schemas.openxmlformats.org/officeDocument/2006/math">
                    <m:r>
                      <a:rPr lang="en-US" sz="1600" b="0" i="1" smtClean="0">
                        <a:latin typeface="Cambria Math" panose="02040503050406030204" pitchFamily="18" charset="0"/>
                      </a:rPr>
                      <m:t>𝐾</m:t>
                    </m:r>
                    <m:r>
                      <a:rPr lang="en-US" sz="1600" b="0" i="1" smtClean="0">
                        <a:latin typeface="Cambria Math" panose="02040503050406030204" pitchFamily="18" charset="0"/>
                      </a:rPr>
                      <m:t>=1</m:t>
                    </m:r>
                  </m:oMath>
                </a14:m>
                <a:r>
                  <a:rPr lang="en-VN" sz="1600" dirty="0">
                    <a:latin typeface="Arial" panose="020B0604020202020204" pitchFamily="34" charset="0"/>
                    <a:cs typeface="Arial" panose="020B0604020202020204" pitchFamily="34" charset="0"/>
                  </a:rPr>
                  <a:t>:</a:t>
                </a:r>
              </a:p>
            </p:txBody>
          </p:sp>
        </mc:Choice>
        <mc:Fallback>
          <p:sp>
            <p:nvSpPr>
              <p:cNvPr id="10" name="TextBox 9">
                <a:extLst>
                  <a:ext uri="{FF2B5EF4-FFF2-40B4-BE49-F238E27FC236}">
                    <a16:creationId xmlns:a16="http://schemas.microsoft.com/office/drawing/2014/main" id="{2F2166E7-4638-E0A4-79BE-0F864104C818}"/>
                  </a:ext>
                </a:extLst>
              </p:cNvPr>
              <p:cNvSpPr txBox="1">
                <a:spLocks noRot="1" noChangeAspect="1" noMove="1" noResize="1" noEditPoints="1" noAdjustHandles="1" noChangeArrowheads="1" noChangeShapeType="1" noTextEdit="1"/>
              </p:cNvSpPr>
              <p:nvPr/>
            </p:nvSpPr>
            <p:spPr>
              <a:xfrm>
                <a:off x="6447692" y="2552423"/>
                <a:ext cx="5268224" cy="338554"/>
              </a:xfrm>
              <a:prstGeom prst="rect">
                <a:avLst/>
              </a:prstGeom>
              <a:blipFill>
                <a:blip r:embed="rId4"/>
                <a:stretch>
                  <a:fillRect l="-721" t="-7407" b="-25926"/>
                </a:stretch>
              </a:blipFill>
            </p:spPr>
            <p:txBody>
              <a:bodyPr/>
              <a:lstStyle/>
              <a:p>
                <a:r>
                  <a:rPr lang="en-VN">
                    <a:noFill/>
                  </a:rPr>
                  <a:t> </a:t>
                </a:r>
              </a:p>
            </p:txBody>
          </p:sp>
        </mc:Fallback>
      </mc:AlternateContent>
      <p:pic>
        <p:nvPicPr>
          <p:cNvPr id="12" name="Picture 11">
            <a:extLst>
              <a:ext uri="{FF2B5EF4-FFF2-40B4-BE49-F238E27FC236}">
                <a16:creationId xmlns:a16="http://schemas.microsoft.com/office/drawing/2014/main" id="{75E22AED-0B6C-AFE3-CC83-500BDD885800}"/>
              </a:ext>
            </a:extLst>
          </p:cNvPr>
          <p:cNvPicPr>
            <a:picLocks noChangeAspect="1"/>
          </p:cNvPicPr>
          <p:nvPr/>
        </p:nvPicPr>
        <p:blipFill>
          <a:blip r:embed="rId5"/>
          <a:stretch>
            <a:fillRect/>
          </a:stretch>
        </p:blipFill>
        <p:spPr>
          <a:xfrm>
            <a:off x="7486650" y="3736151"/>
            <a:ext cx="4001770" cy="470796"/>
          </a:xfrm>
          <a:prstGeom prst="rect">
            <a:avLst/>
          </a:prstGeom>
        </p:spPr>
      </p:pic>
      <p:pic>
        <p:nvPicPr>
          <p:cNvPr id="14" name="Picture 13">
            <a:extLst>
              <a:ext uri="{FF2B5EF4-FFF2-40B4-BE49-F238E27FC236}">
                <a16:creationId xmlns:a16="http://schemas.microsoft.com/office/drawing/2014/main" id="{8A067238-4EC6-AA94-B687-BB19C0039BAC}"/>
              </a:ext>
            </a:extLst>
          </p:cNvPr>
          <p:cNvPicPr>
            <a:picLocks noChangeAspect="1"/>
          </p:cNvPicPr>
          <p:nvPr/>
        </p:nvPicPr>
        <p:blipFill>
          <a:blip r:embed="rId6"/>
          <a:stretch>
            <a:fillRect/>
          </a:stretch>
        </p:blipFill>
        <p:spPr>
          <a:xfrm>
            <a:off x="219772" y="2721700"/>
            <a:ext cx="5876228" cy="2180183"/>
          </a:xfrm>
          <a:prstGeom prst="rect">
            <a:avLst/>
          </a:prstGeom>
        </p:spPr>
      </p:pic>
      <mc:AlternateContent xmlns:mc="http://schemas.openxmlformats.org/markup-compatibility/2006">
        <mc:Choice xmlns:a14="http://schemas.microsoft.com/office/drawing/2010/main" Requires="a14">
          <p:sp>
            <p:nvSpPr>
              <p:cNvPr id="15" name="TextBox 14">
                <a:extLst>
                  <a:ext uri="{FF2B5EF4-FFF2-40B4-BE49-F238E27FC236}">
                    <a16:creationId xmlns:a16="http://schemas.microsoft.com/office/drawing/2014/main" id="{A0018E3F-E3A1-0D91-97C7-484E90CBBC08}"/>
                  </a:ext>
                </a:extLst>
              </p:cNvPr>
              <p:cNvSpPr txBox="1"/>
              <p:nvPr/>
            </p:nvSpPr>
            <p:spPr>
              <a:xfrm>
                <a:off x="6640830" y="4363335"/>
                <a:ext cx="5331398" cy="1696811"/>
              </a:xfrm>
              <a:prstGeom prst="rect">
                <a:avLst/>
              </a:prstGeom>
              <a:noFill/>
            </p:spPr>
            <p:txBody>
              <a:bodyPr wrap="square" rtlCol="0">
                <a:spAutoFit/>
              </a:bodyPr>
              <a:lstStyle/>
              <a:p>
                <a14:m>
                  <m:oMathPara xmlns:m="http://schemas.openxmlformats.org/officeDocument/2006/math">
                    <m:oMathParaPr>
                      <m:jc m:val="centerGroup"/>
                    </m:oMathParaPr>
                    <m:oMath xmlns:m="http://schemas.openxmlformats.org/officeDocument/2006/math">
                      <m:r>
                        <a:rPr lang="en-US" sz="1600" b="0" i="1" smtClean="0">
                          <a:latin typeface="Cambria Math" panose="02040503050406030204" pitchFamily="18" charset="0"/>
                        </a:rPr>
                        <m:t>𝑃</m:t>
                      </m:r>
                      <m:r>
                        <a:rPr lang="en-US" sz="1600" b="0" i="1" smtClean="0">
                          <a:latin typeface="Cambria Math" panose="02040503050406030204" pitchFamily="18" charset="0"/>
                        </a:rPr>
                        <m:t>=0</m:t>
                      </m:r>
                    </m:oMath>
                  </m:oMathPara>
                </a14:m>
                <a:endParaRPr lang="en-US" sz="1600" b="0" dirty="0">
                  <a:latin typeface="Arial" panose="020B0604020202020204" pitchFamily="34" charset="0"/>
                  <a:cs typeface="Arial" panose="020B0604020202020204" pitchFamily="34" charset="0"/>
                </a:endParaRPr>
              </a:p>
              <a:p>
                <a:r>
                  <a:rPr lang="en-VN" sz="1600" dirty="0">
                    <a:latin typeface="Arial" panose="020B0604020202020204" pitchFamily="34" charset="0"/>
                    <a:cs typeface="Arial" panose="020B0604020202020204" pitchFamily="34" charset="0"/>
                  </a:rPr>
                  <a:t>Để hệ thống ổn định thì </a:t>
                </a:r>
                <a14:m>
                  <m:oMath xmlns:m="http://schemas.openxmlformats.org/officeDocument/2006/math">
                    <m:r>
                      <a:rPr lang="en-US" sz="1600" b="0" i="1" smtClean="0">
                        <a:latin typeface="Cambria Math" panose="02040503050406030204" pitchFamily="18" charset="0"/>
                      </a:rPr>
                      <m:t>𝑍</m:t>
                    </m:r>
                    <m:r>
                      <a:rPr lang="en-US" sz="1600" b="0" i="1" smtClean="0">
                        <a:latin typeface="Cambria Math" panose="02040503050406030204" pitchFamily="18" charset="0"/>
                      </a:rPr>
                      <m:t>=0</m:t>
                    </m:r>
                  </m:oMath>
                </a14:m>
                <a:r>
                  <a:rPr lang="en-VN" sz="1600" dirty="0">
                    <a:latin typeface="Arial" panose="020B0604020202020204" pitchFamily="34" charset="0"/>
                    <a:cs typeface="Arial" panose="020B0604020202020204" pitchFamily="34" charset="0"/>
                  </a:rPr>
                  <a:t>; khi đó </a:t>
                </a:r>
                <a14:m>
                  <m:oMath xmlns:m="http://schemas.openxmlformats.org/officeDocument/2006/math">
                    <m:r>
                      <a:rPr lang="en-US" sz="1600" b="0" i="1" smtClean="0">
                        <a:latin typeface="Cambria Math" panose="02040503050406030204" pitchFamily="18" charset="0"/>
                      </a:rPr>
                      <m:t>𝑁</m:t>
                    </m:r>
                    <m:r>
                      <a:rPr lang="en-US" sz="1600" b="0" i="1" smtClean="0">
                        <a:latin typeface="Cambria Math" panose="02040503050406030204" pitchFamily="18" charset="0"/>
                      </a:rPr>
                      <m:t>=0</m:t>
                    </m:r>
                  </m:oMath>
                </a14:m>
                <a:endParaRPr lang="en-VN" sz="1600" dirty="0">
                  <a:latin typeface="Arial" panose="020B0604020202020204" pitchFamily="34" charset="0"/>
                  <a:cs typeface="Arial" panose="020B0604020202020204" pitchFamily="34" charset="0"/>
                </a:endParaRPr>
              </a:p>
              <a:p>
                <a:r>
                  <a:rPr lang="en-VN" sz="1600" dirty="0">
                    <a:latin typeface="Arial" panose="020B0604020202020204" pitchFamily="34" charset="0"/>
                    <a:cs typeface="Arial" panose="020B0604020202020204" pitchFamily="34" charset="0"/>
                  </a:rPr>
                  <a:t>Hệ thống ổn định khi đồ thị Nyquist không chứa điểm -1, </a:t>
                </a:r>
              </a:p>
              <a:p>
                <a14:m>
                  <m:oMath xmlns:m="http://schemas.openxmlformats.org/officeDocument/2006/math">
                    <m:r>
                      <a:rPr lang="en-US" sz="1600" b="0" i="1" smtClean="0">
                        <a:latin typeface="Cambria Math" panose="02040503050406030204" pitchFamily="18" charset="0"/>
                        <a:cs typeface="Arial" panose="020B0604020202020204" pitchFamily="34" charset="0"/>
                      </a:rPr>
                      <m:t>−</m:t>
                    </m:r>
                    <m:f>
                      <m:fPr>
                        <m:ctrlPr>
                          <a:rPr lang="en-US" sz="1600" b="0" i="1" smtClean="0">
                            <a:latin typeface="Cambria Math" panose="02040503050406030204" pitchFamily="18" charset="0"/>
                            <a:cs typeface="Arial" panose="020B0604020202020204" pitchFamily="34" charset="0"/>
                          </a:rPr>
                        </m:ctrlPr>
                      </m:fPr>
                      <m:num>
                        <m:r>
                          <a:rPr lang="en-US" sz="1600" b="0" i="1" smtClean="0">
                            <a:latin typeface="Cambria Math" panose="02040503050406030204" pitchFamily="18" charset="0"/>
                            <a:cs typeface="Arial" panose="020B0604020202020204" pitchFamily="34" charset="0"/>
                          </a:rPr>
                          <m:t>1</m:t>
                        </m:r>
                      </m:num>
                      <m:den>
                        <m:r>
                          <a:rPr lang="en-US" sz="1600" b="0" i="1" smtClean="0">
                            <a:latin typeface="Cambria Math" panose="02040503050406030204" pitchFamily="18" charset="0"/>
                            <a:cs typeface="Arial" panose="020B0604020202020204" pitchFamily="34" charset="0"/>
                          </a:rPr>
                          <m:t>𝐾</m:t>
                        </m:r>
                      </m:den>
                    </m:f>
                    <m:r>
                      <a:rPr lang="en-US" sz="1600" b="0" i="1" smtClean="0">
                        <a:latin typeface="Cambria Math" panose="02040503050406030204" pitchFamily="18" charset="0"/>
                        <a:cs typeface="Arial" panose="020B0604020202020204" pitchFamily="34" charset="0"/>
                      </a:rPr>
                      <m:t>&lt;−0.0083</m:t>
                    </m:r>
                  </m:oMath>
                </a14:m>
                <a:r>
                  <a:rPr lang="en-VN" sz="1600" dirty="0">
                    <a:latin typeface="Arial" panose="020B0604020202020204" pitchFamily="34" charset="0"/>
                    <a:cs typeface="Arial" panose="020B0604020202020204" pitchFamily="34" charset="0"/>
                  </a:rPr>
                  <a:t> hay </a:t>
                </a:r>
                <a14:m>
                  <m:oMath xmlns:m="http://schemas.openxmlformats.org/officeDocument/2006/math">
                    <m:r>
                      <a:rPr lang="en-US" sz="1600" b="0" i="1" smtClean="0">
                        <a:latin typeface="Cambria Math" panose="02040503050406030204" pitchFamily="18" charset="0"/>
                        <a:cs typeface="Arial" panose="020B0604020202020204" pitchFamily="34" charset="0"/>
                      </a:rPr>
                      <m:t>𝐾</m:t>
                    </m:r>
                    <m:r>
                      <a:rPr lang="en-US" sz="1600" b="0" i="1" smtClean="0">
                        <a:latin typeface="Cambria Math" panose="02040503050406030204" pitchFamily="18" charset="0"/>
                        <a:cs typeface="Arial" panose="020B0604020202020204" pitchFamily="34" charset="0"/>
                      </a:rPr>
                      <m:t>&lt;120.5</m:t>
                    </m:r>
                  </m:oMath>
                </a14:m>
                <a:endParaRPr lang="en-VN" sz="1600" dirty="0">
                  <a:latin typeface="Arial" panose="020B0604020202020204" pitchFamily="34" charset="0"/>
                  <a:cs typeface="Arial" panose="020B0604020202020204" pitchFamily="34" charset="0"/>
                </a:endParaRPr>
              </a:p>
              <a:p>
                <a:r>
                  <a:rPr lang="en-VN" sz="1600" dirty="0">
                    <a:latin typeface="Arial" panose="020B0604020202020204" pitchFamily="34" charset="0"/>
                    <a:cs typeface="Arial" panose="020B0604020202020204" pitchFamily="34" charset="0"/>
                  </a:rPr>
                  <a:t>Hệ thống ổn định biên khi </a:t>
                </a:r>
                <a14:m>
                  <m:oMath xmlns:m="http://schemas.openxmlformats.org/officeDocument/2006/math">
                    <m:r>
                      <a:rPr lang="en-US" sz="1600" b="0" i="1" smtClean="0">
                        <a:latin typeface="Cambria Math" panose="02040503050406030204" pitchFamily="18" charset="0"/>
                        <a:cs typeface="Arial" panose="020B0604020202020204" pitchFamily="34" charset="0"/>
                      </a:rPr>
                      <m:t>𝐾</m:t>
                    </m:r>
                    <m:r>
                      <a:rPr lang="en-US" sz="1600" b="0" i="1" smtClean="0">
                        <a:latin typeface="Cambria Math" panose="02040503050406030204" pitchFamily="18" charset="0"/>
                        <a:cs typeface="Arial" panose="020B0604020202020204" pitchFamily="34" charset="0"/>
                      </a:rPr>
                      <m:t>=120.5</m:t>
                    </m:r>
                  </m:oMath>
                </a14:m>
                <a:r>
                  <a:rPr lang="en-VN" sz="1600" dirty="0">
                    <a:latin typeface="Arial" panose="020B0604020202020204" pitchFamily="34" charset="0"/>
                    <a:cs typeface="Arial" panose="020B0604020202020204" pitchFamily="34" charset="0"/>
                  </a:rPr>
                  <a:t>, tại </a:t>
                </a:r>
                <a14:m>
                  <m:oMath xmlns:m="http://schemas.openxmlformats.org/officeDocument/2006/math">
                    <m:r>
                      <a:rPr lang="en-US" sz="1600" b="0" i="1" smtClean="0">
                        <a:latin typeface="Cambria Math" panose="02040503050406030204" pitchFamily="18" charset="0"/>
                        <a:cs typeface="Arial" panose="020B0604020202020204" pitchFamily="34" charset="0"/>
                      </a:rPr>
                      <m:t>𝜔</m:t>
                    </m:r>
                    <m:r>
                      <a:rPr lang="en-US" sz="1600" b="0" i="1" smtClean="0">
                        <a:latin typeface="Cambria Math" panose="02040503050406030204" pitchFamily="18" charset="0"/>
                        <a:cs typeface="Arial" panose="020B0604020202020204" pitchFamily="34" charset="0"/>
                      </a:rPr>
                      <m:t>=</m:t>
                    </m:r>
                    <m:rad>
                      <m:radPr>
                        <m:degHide m:val="on"/>
                        <m:ctrlPr>
                          <a:rPr lang="en-US" sz="1600" b="0" i="1" smtClean="0">
                            <a:latin typeface="Cambria Math" panose="02040503050406030204" pitchFamily="18" charset="0"/>
                            <a:cs typeface="Arial" panose="020B0604020202020204" pitchFamily="34" charset="0"/>
                          </a:rPr>
                        </m:ctrlPr>
                      </m:radPr>
                      <m:deg/>
                      <m:e>
                        <m:r>
                          <a:rPr lang="en-US" sz="1600" b="0" i="1" smtClean="0">
                            <a:latin typeface="Cambria Math" panose="02040503050406030204" pitchFamily="18" charset="0"/>
                            <a:cs typeface="Arial" panose="020B0604020202020204" pitchFamily="34" charset="0"/>
                          </a:rPr>
                          <m:t>15</m:t>
                        </m:r>
                      </m:e>
                    </m:rad>
                  </m:oMath>
                </a14:m>
                <a:endParaRPr lang="en-VN" sz="1600" dirty="0">
                  <a:latin typeface="Arial" panose="020B0604020202020204" pitchFamily="34" charset="0"/>
                  <a:cs typeface="Arial" panose="020B0604020202020204" pitchFamily="34" charset="0"/>
                </a:endParaRPr>
              </a:p>
              <a:p>
                <a:r>
                  <a:rPr lang="en-VN" sz="1600" dirty="0">
                    <a:latin typeface="Arial" panose="020B0604020202020204" pitchFamily="34" charset="0"/>
                    <a:cs typeface="Arial" panose="020B0604020202020204" pitchFamily="34" charset="0"/>
                  </a:rPr>
                  <a:t>Hệ thống không ổn định khi </a:t>
                </a:r>
                <a14:m>
                  <m:oMath xmlns:m="http://schemas.openxmlformats.org/officeDocument/2006/math">
                    <m:r>
                      <a:rPr lang="en-US" sz="1600" b="0" i="1" smtClean="0">
                        <a:latin typeface="Cambria Math" panose="02040503050406030204" pitchFamily="18" charset="0"/>
                        <a:cs typeface="Arial" panose="020B0604020202020204" pitchFamily="34" charset="0"/>
                      </a:rPr>
                      <m:t>𝐾</m:t>
                    </m:r>
                    <m:r>
                      <a:rPr lang="en-US" sz="1600" b="0" i="1" smtClean="0">
                        <a:latin typeface="Cambria Math" panose="02040503050406030204" pitchFamily="18" charset="0"/>
                        <a:cs typeface="Arial" panose="020B0604020202020204" pitchFamily="34" charset="0"/>
                      </a:rPr>
                      <m:t>&gt;120.5</m:t>
                    </m:r>
                  </m:oMath>
                </a14:m>
                <a:endParaRPr lang="en-VN" sz="1600" dirty="0">
                  <a:latin typeface="Arial" panose="020B0604020202020204" pitchFamily="34" charset="0"/>
                  <a:cs typeface="Arial" panose="020B0604020202020204" pitchFamily="34" charset="0"/>
                </a:endParaRPr>
              </a:p>
            </p:txBody>
          </p:sp>
        </mc:Choice>
        <mc:Fallback>
          <p:sp>
            <p:nvSpPr>
              <p:cNvPr id="15" name="TextBox 14">
                <a:extLst>
                  <a:ext uri="{FF2B5EF4-FFF2-40B4-BE49-F238E27FC236}">
                    <a16:creationId xmlns:a16="http://schemas.microsoft.com/office/drawing/2014/main" id="{A0018E3F-E3A1-0D91-97C7-484E90CBBC08}"/>
                  </a:ext>
                </a:extLst>
              </p:cNvPr>
              <p:cNvSpPr txBox="1">
                <a:spLocks noRot="1" noChangeAspect="1" noMove="1" noResize="1" noEditPoints="1" noAdjustHandles="1" noChangeArrowheads="1" noChangeShapeType="1" noTextEdit="1"/>
              </p:cNvSpPr>
              <p:nvPr/>
            </p:nvSpPr>
            <p:spPr>
              <a:xfrm>
                <a:off x="6640830" y="4363335"/>
                <a:ext cx="5331398" cy="1696811"/>
              </a:xfrm>
              <a:prstGeom prst="rect">
                <a:avLst/>
              </a:prstGeom>
              <a:blipFill>
                <a:blip r:embed="rId7"/>
                <a:stretch>
                  <a:fillRect l="-475" r="-238" b="-2963"/>
                </a:stretch>
              </a:blipFill>
            </p:spPr>
            <p:txBody>
              <a:bodyPr/>
              <a:lstStyle/>
              <a:p>
                <a:r>
                  <a:rPr lang="en-VN">
                    <a:noFill/>
                  </a:rPr>
                  <a:t> </a:t>
                </a:r>
              </a:p>
            </p:txBody>
          </p:sp>
        </mc:Fallback>
      </mc:AlternateContent>
    </p:spTree>
    <p:extLst>
      <p:ext uri="{BB962C8B-B14F-4D97-AF65-F5344CB8AC3E}">
        <p14:creationId xmlns:p14="http://schemas.microsoft.com/office/powerpoint/2010/main" val="100610188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1F6D65-F428-33FB-E13E-33969AA1B54F}"/>
              </a:ext>
            </a:extLst>
          </p:cNvPr>
          <p:cNvSpPr>
            <a:spLocks noGrp="1"/>
          </p:cNvSpPr>
          <p:nvPr>
            <p:ph type="title"/>
          </p:nvPr>
        </p:nvSpPr>
        <p:spPr/>
        <p:txBody>
          <a:bodyPr/>
          <a:lstStyle/>
          <a:p>
            <a:r>
              <a:rPr lang="en-VN" dirty="0"/>
              <a:t>ĐIỀU KIỆN ỔN ĐỊNH NYQUIST</a:t>
            </a:r>
          </a:p>
        </p:txBody>
      </p:sp>
      <mc:AlternateContent xmlns:mc="http://schemas.openxmlformats.org/markup-compatibility/2006">
        <mc:Choice xmlns:a14="http://schemas.microsoft.com/office/drawing/2010/main" Requires="a14">
          <p:sp>
            <p:nvSpPr>
              <p:cNvPr id="3" name="Content Placeholder 2">
                <a:extLst>
                  <a:ext uri="{FF2B5EF4-FFF2-40B4-BE49-F238E27FC236}">
                    <a16:creationId xmlns:a16="http://schemas.microsoft.com/office/drawing/2014/main" id="{58FD700C-AC4B-9D08-FDC2-CBE543AC3A71}"/>
                  </a:ext>
                </a:extLst>
              </p:cNvPr>
              <p:cNvSpPr>
                <a:spLocks noGrp="1"/>
              </p:cNvSpPr>
              <p:nvPr>
                <p:ph idx="1"/>
              </p:nvPr>
            </p:nvSpPr>
            <p:spPr/>
            <p:txBody>
              <a:bodyPr>
                <a:normAutofit/>
              </a:bodyPr>
              <a:lstStyle/>
              <a:p>
                <a:r>
                  <a:rPr lang="en-VN" sz="1800" dirty="0"/>
                  <a:t>Khi xem xét tính ổn định của hệ thống dựa trên điều kiện Nyquist, có thể đơn giản hoá bằng việc chỉ xét chu tuyến phần dương của trục </a:t>
                </a:r>
                <a14:m>
                  <m:oMath xmlns:m="http://schemas.openxmlformats.org/officeDocument/2006/math">
                    <m:r>
                      <a:rPr lang="en-US" sz="1800" b="0" i="1" smtClean="0">
                        <a:latin typeface="Cambria Math" panose="02040503050406030204" pitchFamily="18" charset="0"/>
                      </a:rPr>
                      <m:t>𝑗</m:t>
                    </m:r>
                    <m:r>
                      <a:rPr lang="en-US" sz="1800" b="0" i="1" smtClean="0">
                        <a:latin typeface="Cambria Math" panose="02040503050406030204" pitchFamily="18" charset="0"/>
                      </a:rPr>
                      <m:t>𝜔</m:t>
                    </m:r>
                  </m:oMath>
                </a14:m>
                <a:r>
                  <a:rPr lang="en-VN" sz="1800" dirty="0"/>
                  <a:t>. </a:t>
                </a:r>
              </a:p>
            </p:txBody>
          </p:sp>
        </mc:Choice>
        <mc:Fallback>
          <p:sp>
            <p:nvSpPr>
              <p:cNvPr id="3" name="Content Placeholder 2">
                <a:extLst>
                  <a:ext uri="{FF2B5EF4-FFF2-40B4-BE49-F238E27FC236}">
                    <a16:creationId xmlns:a16="http://schemas.microsoft.com/office/drawing/2014/main" id="{58FD700C-AC4B-9D08-FDC2-CBE543AC3A71}"/>
                  </a:ext>
                </a:extLst>
              </p:cNvPr>
              <p:cNvSpPr>
                <a:spLocks noGrp="1" noRot="1" noChangeAspect="1" noMove="1" noResize="1" noEditPoints="1" noAdjustHandles="1" noChangeArrowheads="1" noChangeShapeType="1" noTextEdit="1"/>
              </p:cNvSpPr>
              <p:nvPr>
                <p:ph idx="1"/>
              </p:nvPr>
            </p:nvSpPr>
            <p:spPr>
              <a:blipFill>
                <a:blip r:embed="rId2"/>
                <a:stretch>
                  <a:fillRect l="-396" t="-285"/>
                </a:stretch>
              </a:blipFill>
            </p:spPr>
            <p:txBody>
              <a:bodyPr/>
              <a:lstStyle/>
              <a:p>
                <a:r>
                  <a:rPr lang="en-VN">
                    <a:noFill/>
                  </a:rPr>
                  <a:t> </a:t>
                </a:r>
              </a:p>
            </p:txBody>
          </p:sp>
        </mc:Fallback>
      </mc:AlternateContent>
      <p:pic>
        <p:nvPicPr>
          <p:cNvPr id="5" name="Picture 4">
            <a:extLst>
              <a:ext uri="{FF2B5EF4-FFF2-40B4-BE49-F238E27FC236}">
                <a16:creationId xmlns:a16="http://schemas.microsoft.com/office/drawing/2014/main" id="{13C800D9-D087-A242-0E3C-3C6276B229A3}"/>
              </a:ext>
            </a:extLst>
          </p:cNvPr>
          <p:cNvPicPr>
            <a:picLocks noChangeAspect="1"/>
          </p:cNvPicPr>
          <p:nvPr/>
        </p:nvPicPr>
        <p:blipFill>
          <a:blip r:embed="rId3"/>
          <a:stretch>
            <a:fillRect/>
          </a:stretch>
        </p:blipFill>
        <p:spPr>
          <a:xfrm>
            <a:off x="1304108" y="2075885"/>
            <a:ext cx="6509657" cy="2228215"/>
          </a:xfrm>
          <a:prstGeom prst="rect">
            <a:avLst/>
          </a:prstGeom>
        </p:spPr>
      </p:pic>
      <p:pic>
        <p:nvPicPr>
          <p:cNvPr id="7" name="Picture 6">
            <a:extLst>
              <a:ext uri="{FF2B5EF4-FFF2-40B4-BE49-F238E27FC236}">
                <a16:creationId xmlns:a16="http://schemas.microsoft.com/office/drawing/2014/main" id="{6004342E-5D9A-D07D-088C-72C3B3206714}"/>
              </a:ext>
            </a:extLst>
          </p:cNvPr>
          <p:cNvPicPr>
            <a:picLocks noChangeAspect="1"/>
          </p:cNvPicPr>
          <p:nvPr/>
        </p:nvPicPr>
        <p:blipFill>
          <a:blip r:embed="rId4"/>
          <a:stretch>
            <a:fillRect/>
          </a:stretch>
        </p:blipFill>
        <p:spPr>
          <a:xfrm>
            <a:off x="2279467" y="4453408"/>
            <a:ext cx="4767943" cy="2206523"/>
          </a:xfrm>
          <a:prstGeom prst="rect">
            <a:avLst/>
          </a:prstGeom>
        </p:spPr>
      </p:pic>
      <p:sp>
        <p:nvSpPr>
          <p:cNvPr id="9" name="Down Arrow 8">
            <a:extLst>
              <a:ext uri="{FF2B5EF4-FFF2-40B4-BE49-F238E27FC236}">
                <a16:creationId xmlns:a16="http://schemas.microsoft.com/office/drawing/2014/main" id="{E94A4926-04AD-BAEB-1692-DE182D41646E}"/>
              </a:ext>
            </a:extLst>
          </p:cNvPr>
          <p:cNvSpPr/>
          <p:nvPr/>
        </p:nvSpPr>
        <p:spPr>
          <a:xfrm rot="19365151">
            <a:off x="4245429" y="2830285"/>
            <a:ext cx="45719" cy="261257"/>
          </a:xfrm>
          <a:prstGeom prst="down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VN"/>
          </a:p>
        </p:txBody>
      </p:sp>
      <p:sp>
        <p:nvSpPr>
          <p:cNvPr id="10" name="Down Arrow 9">
            <a:extLst>
              <a:ext uri="{FF2B5EF4-FFF2-40B4-BE49-F238E27FC236}">
                <a16:creationId xmlns:a16="http://schemas.microsoft.com/office/drawing/2014/main" id="{3D268E3F-CAE6-2FD1-D996-4FEF43DA4453}"/>
              </a:ext>
            </a:extLst>
          </p:cNvPr>
          <p:cNvSpPr/>
          <p:nvPr/>
        </p:nvSpPr>
        <p:spPr>
          <a:xfrm rot="19365151">
            <a:off x="5208074" y="5100741"/>
            <a:ext cx="45719" cy="261257"/>
          </a:xfrm>
          <a:prstGeom prst="down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VN"/>
          </a:p>
        </p:txBody>
      </p:sp>
      <mc:AlternateContent xmlns:mc="http://schemas.openxmlformats.org/markup-compatibility/2006">
        <mc:Choice xmlns:a14="http://schemas.microsoft.com/office/drawing/2010/main" Requires="a14">
          <p:sp>
            <p:nvSpPr>
              <p:cNvPr id="11" name="TextBox 10">
                <a:extLst>
                  <a:ext uri="{FF2B5EF4-FFF2-40B4-BE49-F238E27FC236}">
                    <a16:creationId xmlns:a16="http://schemas.microsoft.com/office/drawing/2014/main" id="{0FF5703D-CE4D-4964-CCCA-46CDC7929951}"/>
                  </a:ext>
                </a:extLst>
              </p:cNvPr>
              <p:cNvSpPr txBox="1"/>
              <p:nvPr/>
            </p:nvSpPr>
            <p:spPr>
              <a:xfrm>
                <a:off x="7961236" y="2617068"/>
                <a:ext cx="3683726" cy="923330"/>
              </a:xfrm>
              <a:prstGeom prst="rect">
                <a:avLst/>
              </a:prstGeom>
              <a:noFill/>
            </p:spPr>
            <p:txBody>
              <a:bodyPr wrap="square" rtlCol="0">
                <a:spAutoFit/>
              </a:bodyPr>
              <a:lstStyle/>
              <a:p>
                <a:r>
                  <a:rPr lang="en-VN" dirty="0">
                    <a:latin typeface="Arial" panose="020B0604020202020204" pitchFamily="34" charset="0"/>
                    <a:cs typeface="Arial" panose="020B0604020202020204" pitchFamily="34" charset="0"/>
                  </a:rPr>
                  <a:t>Hệ thống ổn định khi:</a:t>
                </a:r>
              </a:p>
              <a:p>
                <a:r>
                  <a:rPr lang="en-VN" dirty="0">
                    <a:latin typeface="Arial" panose="020B0604020202020204" pitchFamily="34" charset="0"/>
                    <a:cs typeface="Arial" panose="020B0604020202020204" pitchFamily="34" charset="0"/>
                  </a:rPr>
                  <a:t>- Biên độ nhỏ hơn -1</a:t>
                </a:r>
              </a:p>
              <a:p>
                <a:r>
                  <a:rPr lang="en-VN" dirty="0">
                    <a:latin typeface="Arial" panose="020B0604020202020204" pitchFamily="34" charset="0"/>
                    <a:cs typeface="Arial" panose="020B0604020202020204" pitchFamily="34" charset="0"/>
                  </a:rPr>
                  <a:t>- Pha </a:t>
                </a:r>
                <a14:m>
                  <m:oMath xmlns:m="http://schemas.openxmlformats.org/officeDocument/2006/math">
                    <m:r>
                      <a:rPr lang="en-US" b="0" i="1" smtClean="0">
                        <a:latin typeface="Cambria Math" panose="02040503050406030204" pitchFamily="18" charset="0"/>
                      </a:rPr>
                      <m:t>180</m:t>
                    </m:r>
                    <m:r>
                      <a:rPr lang="en-US" b="0" i="1" smtClean="0">
                        <a:latin typeface="Cambria Math" panose="02040503050406030204" pitchFamily="18" charset="0"/>
                        <a:ea typeface="Cambria Math" panose="02040503050406030204" pitchFamily="18" charset="0"/>
                      </a:rPr>
                      <m:t>°</m:t>
                    </m:r>
                  </m:oMath>
                </a14:m>
                <a:r>
                  <a:rPr lang="en-VN" dirty="0">
                    <a:latin typeface="Arial" panose="020B0604020202020204" pitchFamily="34" charset="0"/>
                    <a:cs typeface="Arial" panose="020B0604020202020204" pitchFamily="34" charset="0"/>
                  </a:rPr>
                  <a:t> (hay </a:t>
                </a:r>
                <a14:m>
                  <m:oMath xmlns:m="http://schemas.openxmlformats.org/officeDocument/2006/math">
                    <m:r>
                      <a:rPr lang="en-US" b="0" i="0" smtClean="0">
                        <a:latin typeface="Cambria Math" panose="02040503050406030204" pitchFamily="18" charset="0"/>
                      </a:rPr>
                      <m:t>−</m:t>
                    </m:r>
                    <m:r>
                      <a:rPr lang="en-US" i="1">
                        <a:latin typeface="Cambria Math" panose="02040503050406030204" pitchFamily="18" charset="0"/>
                      </a:rPr>
                      <m:t>180</m:t>
                    </m:r>
                    <m:r>
                      <a:rPr lang="en-US" i="1">
                        <a:latin typeface="Cambria Math" panose="02040503050406030204" pitchFamily="18" charset="0"/>
                        <a:ea typeface="Cambria Math" panose="02040503050406030204" pitchFamily="18" charset="0"/>
                      </a:rPr>
                      <m:t>°</m:t>
                    </m:r>
                  </m:oMath>
                </a14:m>
                <a:r>
                  <a:rPr lang="en-VN" dirty="0">
                    <a:latin typeface="Arial" panose="020B0604020202020204" pitchFamily="34" charset="0"/>
                    <a:cs typeface="Arial" panose="020B0604020202020204" pitchFamily="34" charset="0"/>
                  </a:rPr>
                  <a:t>)</a:t>
                </a:r>
              </a:p>
            </p:txBody>
          </p:sp>
        </mc:Choice>
        <mc:Fallback>
          <p:sp>
            <p:nvSpPr>
              <p:cNvPr id="11" name="TextBox 10">
                <a:extLst>
                  <a:ext uri="{FF2B5EF4-FFF2-40B4-BE49-F238E27FC236}">
                    <a16:creationId xmlns:a16="http://schemas.microsoft.com/office/drawing/2014/main" id="{0FF5703D-CE4D-4964-CCCA-46CDC7929951}"/>
                  </a:ext>
                </a:extLst>
              </p:cNvPr>
              <p:cNvSpPr txBox="1">
                <a:spLocks noRot="1" noChangeAspect="1" noMove="1" noResize="1" noEditPoints="1" noAdjustHandles="1" noChangeArrowheads="1" noChangeShapeType="1" noTextEdit="1"/>
              </p:cNvSpPr>
              <p:nvPr/>
            </p:nvSpPr>
            <p:spPr>
              <a:xfrm>
                <a:off x="7961236" y="2617068"/>
                <a:ext cx="3683726" cy="923330"/>
              </a:xfrm>
              <a:prstGeom prst="rect">
                <a:avLst/>
              </a:prstGeom>
              <a:blipFill>
                <a:blip r:embed="rId5"/>
                <a:stretch>
                  <a:fillRect l="-1031" t="-1351" b="-10811"/>
                </a:stretch>
              </a:blipFill>
            </p:spPr>
            <p:txBody>
              <a:bodyPr/>
              <a:lstStyle/>
              <a:p>
                <a:r>
                  <a:rPr lang="en-VN">
                    <a:noFill/>
                  </a:rPr>
                  <a:t> </a:t>
                </a:r>
              </a:p>
            </p:txBody>
          </p:sp>
        </mc:Fallback>
      </mc:AlternateContent>
      <mc:AlternateContent xmlns:mc="http://schemas.openxmlformats.org/markup-compatibility/2006">
        <mc:Choice xmlns:a14="http://schemas.microsoft.com/office/drawing/2010/main" Requires="a14">
          <p:sp>
            <p:nvSpPr>
              <p:cNvPr id="12" name="TextBox 11">
                <a:extLst>
                  <a:ext uri="{FF2B5EF4-FFF2-40B4-BE49-F238E27FC236}">
                    <a16:creationId xmlns:a16="http://schemas.microsoft.com/office/drawing/2014/main" id="{46DD0E0C-8219-9E5F-23C1-2E70700E85F5}"/>
                  </a:ext>
                </a:extLst>
              </p:cNvPr>
              <p:cNvSpPr txBox="1"/>
              <p:nvPr/>
            </p:nvSpPr>
            <p:spPr>
              <a:xfrm>
                <a:off x="7209269" y="5067803"/>
                <a:ext cx="3683726" cy="923330"/>
              </a:xfrm>
              <a:prstGeom prst="rect">
                <a:avLst/>
              </a:prstGeom>
              <a:noFill/>
            </p:spPr>
            <p:txBody>
              <a:bodyPr wrap="square" rtlCol="0">
                <a:spAutoFit/>
              </a:bodyPr>
              <a:lstStyle/>
              <a:p>
                <a:r>
                  <a:rPr lang="en-VN" dirty="0">
                    <a:latin typeface="Arial" panose="020B0604020202020204" pitchFamily="34" charset="0"/>
                    <a:cs typeface="Arial" panose="020B0604020202020204" pitchFamily="34" charset="0"/>
                  </a:rPr>
                  <a:t>Hệ thống ổn định khi:</a:t>
                </a:r>
              </a:p>
              <a:p>
                <a:r>
                  <a:rPr lang="en-VN" dirty="0">
                    <a:latin typeface="Arial" panose="020B0604020202020204" pitchFamily="34" charset="0"/>
                    <a:cs typeface="Arial" panose="020B0604020202020204" pitchFamily="34" charset="0"/>
                  </a:rPr>
                  <a:t>- Biên độ lớn hơn -1</a:t>
                </a:r>
              </a:p>
              <a:p>
                <a:r>
                  <a:rPr lang="en-VN" dirty="0">
                    <a:latin typeface="Arial" panose="020B0604020202020204" pitchFamily="34" charset="0"/>
                    <a:cs typeface="Arial" panose="020B0604020202020204" pitchFamily="34" charset="0"/>
                  </a:rPr>
                  <a:t>- Pha </a:t>
                </a:r>
                <a14:m>
                  <m:oMath xmlns:m="http://schemas.openxmlformats.org/officeDocument/2006/math">
                    <m:r>
                      <a:rPr lang="en-US" b="0" i="1" smtClean="0">
                        <a:latin typeface="Cambria Math" panose="02040503050406030204" pitchFamily="18" charset="0"/>
                      </a:rPr>
                      <m:t>180</m:t>
                    </m:r>
                    <m:r>
                      <a:rPr lang="en-US" b="0" i="1" smtClean="0">
                        <a:latin typeface="Cambria Math" panose="02040503050406030204" pitchFamily="18" charset="0"/>
                        <a:ea typeface="Cambria Math" panose="02040503050406030204" pitchFamily="18" charset="0"/>
                      </a:rPr>
                      <m:t>°</m:t>
                    </m:r>
                  </m:oMath>
                </a14:m>
                <a:r>
                  <a:rPr lang="en-VN" dirty="0">
                    <a:latin typeface="Arial" panose="020B0604020202020204" pitchFamily="34" charset="0"/>
                    <a:cs typeface="Arial" panose="020B0604020202020204" pitchFamily="34" charset="0"/>
                  </a:rPr>
                  <a:t> (hay </a:t>
                </a:r>
                <a14:m>
                  <m:oMath xmlns:m="http://schemas.openxmlformats.org/officeDocument/2006/math">
                    <m:r>
                      <a:rPr lang="en-US" b="0" i="0" smtClean="0">
                        <a:latin typeface="Cambria Math" panose="02040503050406030204" pitchFamily="18" charset="0"/>
                      </a:rPr>
                      <m:t>−</m:t>
                    </m:r>
                    <m:r>
                      <a:rPr lang="en-US" i="1">
                        <a:latin typeface="Cambria Math" panose="02040503050406030204" pitchFamily="18" charset="0"/>
                      </a:rPr>
                      <m:t>180</m:t>
                    </m:r>
                    <m:r>
                      <a:rPr lang="en-US" i="1">
                        <a:latin typeface="Cambria Math" panose="02040503050406030204" pitchFamily="18" charset="0"/>
                        <a:ea typeface="Cambria Math" panose="02040503050406030204" pitchFamily="18" charset="0"/>
                      </a:rPr>
                      <m:t>°</m:t>
                    </m:r>
                  </m:oMath>
                </a14:m>
                <a:r>
                  <a:rPr lang="en-VN" dirty="0">
                    <a:latin typeface="Arial" panose="020B0604020202020204" pitchFamily="34" charset="0"/>
                    <a:cs typeface="Arial" panose="020B0604020202020204" pitchFamily="34" charset="0"/>
                  </a:rPr>
                  <a:t>)</a:t>
                </a:r>
              </a:p>
            </p:txBody>
          </p:sp>
        </mc:Choice>
        <mc:Fallback>
          <p:sp>
            <p:nvSpPr>
              <p:cNvPr id="12" name="TextBox 11">
                <a:extLst>
                  <a:ext uri="{FF2B5EF4-FFF2-40B4-BE49-F238E27FC236}">
                    <a16:creationId xmlns:a16="http://schemas.microsoft.com/office/drawing/2014/main" id="{46DD0E0C-8219-9E5F-23C1-2E70700E85F5}"/>
                  </a:ext>
                </a:extLst>
              </p:cNvPr>
              <p:cNvSpPr txBox="1">
                <a:spLocks noRot="1" noChangeAspect="1" noMove="1" noResize="1" noEditPoints="1" noAdjustHandles="1" noChangeArrowheads="1" noChangeShapeType="1" noTextEdit="1"/>
              </p:cNvSpPr>
              <p:nvPr/>
            </p:nvSpPr>
            <p:spPr>
              <a:xfrm>
                <a:off x="7209269" y="5067803"/>
                <a:ext cx="3683726" cy="923330"/>
              </a:xfrm>
              <a:prstGeom prst="rect">
                <a:avLst/>
              </a:prstGeom>
              <a:blipFill>
                <a:blip r:embed="rId6"/>
                <a:stretch>
                  <a:fillRect l="-1375" t="-2703" b="-10811"/>
                </a:stretch>
              </a:blipFill>
            </p:spPr>
            <p:txBody>
              <a:bodyPr/>
              <a:lstStyle/>
              <a:p>
                <a:r>
                  <a:rPr lang="en-VN">
                    <a:noFill/>
                  </a:rPr>
                  <a:t> </a:t>
                </a:r>
              </a:p>
            </p:txBody>
          </p:sp>
        </mc:Fallback>
      </mc:AlternateContent>
    </p:spTree>
    <p:extLst>
      <p:ext uri="{BB962C8B-B14F-4D97-AF65-F5344CB8AC3E}">
        <p14:creationId xmlns:p14="http://schemas.microsoft.com/office/powerpoint/2010/main" val="261489831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blinds(horizontal)">
                                      <p:cBhvr>
                                        <p:cTn id="7" dur="500"/>
                                        <p:tgtEl>
                                          <p:spTgt spid="9"/>
                                        </p:tgtEl>
                                      </p:cBhvr>
                                    </p:animEffect>
                                  </p:childTnLst>
                                </p:cTn>
                              </p:par>
                              <p:par>
                                <p:cTn id="8" presetID="3" presetClass="entr" presetSubtype="10" fill="hold" grpId="0" nodeType="withEffect">
                                  <p:stCondLst>
                                    <p:cond delay="0"/>
                                  </p:stCondLst>
                                  <p:childTnLst>
                                    <p:set>
                                      <p:cBhvr>
                                        <p:cTn id="9" dur="1" fill="hold">
                                          <p:stCondLst>
                                            <p:cond delay="0"/>
                                          </p:stCondLst>
                                        </p:cTn>
                                        <p:tgtEl>
                                          <p:spTgt spid="10"/>
                                        </p:tgtEl>
                                        <p:attrNameLst>
                                          <p:attrName>style.visibility</p:attrName>
                                        </p:attrNameLst>
                                      </p:cBhvr>
                                      <p:to>
                                        <p:strVal val="visible"/>
                                      </p:to>
                                    </p:set>
                                    <p:animEffect transition="in" filter="blinds(horizontal)">
                                      <p:cBhvr>
                                        <p:cTn id="10" dur="5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P spid="10" grpId="0" animBg="1"/>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C82A64E-EE9E-6CF4-7E5A-2E5463DD95BF}"/>
              </a:ext>
            </a:extLst>
          </p:cNvPr>
          <p:cNvSpPr>
            <a:spLocks noGrp="1"/>
          </p:cNvSpPr>
          <p:nvPr>
            <p:ph type="title"/>
          </p:nvPr>
        </p:nvSpPr>
        <p:spPr/>
        <p:txBody>
          <a:bodyPr/>
          <a:lstStyle/>
          <a:p>
            <a:r>
              <a:rPr lang="en-VN" dirty="0"/>
              <a:t>ĐIỀU KIỆN ỔN ĐỊNH NYQUIST</a:t>
            </a:r>
          </a:p>
        </p:txBody>
      </p:sp>
      <p:pic>
        <p:nvPicPr>
          <p:cNvPr id="5" name="Content Placeholder 4">
            <a:extLst>
              <a:ext uri="{FF2B5EF4-FFF2-40B4-BE49-F238E27FC236}">
                <a16:creationId xmlns:a16="http://schemas.microsoft.com/office/drawing/2014/main" id="{380379EF-52DC-1683-EDAD-5B110DAA13B8}"/>
              </a:ext>
            </a:extLst>
          </p:cNvPr>
          <p:cNvPicPr>
            <a:picLocks noGrp="1" noChangeAspect="1"/>
          </p:cNvPicPr>
          <p:nvPr>
            <p:ph idx="1"/>
          </p:nvPr>
        </p:nvPicPr>
        <p:blipFill>
          <a:blip r:embed="rId2"/>
          <a:stretch>
            <a:fillRect/>
          </a:stretch>
        </p:blipFill>
        <p:spPr>
          <a:xfrm>
            <a:off x="31330" y="2261923"/>
            <a:ext cx="8306385" cy="3571914"/>
          </a:xfrm>
        </p:spPr>
      </p:pic>
      <mc:AlternateContent xmlns:mc="http://schemas.openxmlformats.org/markup-compatibility/2006">
        <mc:Choice xmlns:a14="http://schemas.microsoft.com/office/drawing/2010/main" Requires="a14">
          <p:sp>
            <p:nvSpPr>
              <p:cNvPr id="6" name="TextBox 5">
                <a:extLst>
                  <a:ext uri="{FF2B5EF4-FFF2-40B4-BE49-F238E27FC236}">
                    <a16:creationId xmlns:a16="http://schemas.microsoft.com/office/drawing/2014/main" id="{D7089256-2549-F580-5F32-E13B83CC84F6}"/>
                  </a:ext>
                </a:extLst>
              </p:cNvPr>
              <p:cNvSpPr txBox="1"/>
              <p:nvPr/>
            </p:nvSpPr>
            <p:spPr>
              <a:xfrm>
                <a:off x="1451579" y="1459789"/>
                <a:ext cx="9603275" cy="369332"/>
              </a:xfrm>
              <a:prstGeom prst="rect">
                <a:avLst/>
              </a:prstGeom>
              <a:noFill/>
            </p:spPr>
            <p:txBody>
              <a:bodyPr wrap="square" rtlCol="0">
                <a:spAutoFit/>
              </a:bodyPr>
              <a:lstStyle/>
              <a:p>
                <a:r>
                  <a:rPr lang="en-VN" b="1" dirty="0">
                    <a:solidFill>
                      <a:srgbClr val="C00000"/>
                    </a:solidFill>
                    <a:latin typeface="Arial" panose="020B0604020202020204" pitchFamily="34" charset="0"/>
                    <a:cs typeface="Arial" panose="020B0604020202020204" pitchFamily="34" charset="0"/>
                  </a:rPr>
                  <a:t>Ví dụ: </a:t>
                </a:r>
                <a:r>
                  <a:rPr lang="en-VN" dirty="0">
                    <a:latin typeface="Arial" panose="020B0604020202020204" pitchFamily="34" charset="0"/>
                    <a:cs typeface="Arial" panose="020B0604020202020204" pitchFamily="34" charset="0"/>
                  </a:rPr>
                  <a:t>Tìm K để hệ thống phản hồi đơn vị ổn định, </a:t>
                </a:r>
                <a14:m>
                  <m:oMath xmlns:m="http://schemas.openxmlformats.org/officeDocument/2006/math">
                    <m:r>
                      <a:rPr lang="en-US" b="0" i="1" smtClean="0">
                        <a:latin typeface="Cambria Math" panose="02040503050406030204" pitchFamily="18" charset="0"/>
                      </a:rPr>
                      <m:t>𝐺</m:t>
                    </m:r>
                    <m:d>
                      <m:dPr>
                        <m:ctrlPr>
                          <a:rPr lang="en-US" b="0" i="1" smtClean="0">
                            <a:latin typeface="Cambria Math" panose="02040503050406030204" pitchFamily="18" charset="0"/>
                          </a:rPr>
                        </m:ctrlPr>
                      </m:dPr>
                      <m:e>
                        <m:r>
                          <a:rPr lang="en-US" b="0" i="1" smtClean="0">
                            <a:latin typeface="Cambria Math" panose="02040503050406030204" pitchFamily="18" charset="0"/>
                          </a:rPr>
                          <m:t>𝑠</m:t>
                        </m:r>
                      </m:e>
                    </m:d>
                    <m:r>
                      <a:rPr lang="en-US" b="0" i="1" smtClean="0">
                        <a:latin typeface="Cambria Math" panose="02040503050406030204" pitchFamily="18" charset="0"/>
                      </a:rPr>
                      <m:t>=</m:t>
                    </m:r>
                    <m:r>
                      <a:rPr lang="en-US" b="0" i="1" smtClean="0">
                        <a:latin typeface="Cambria Math" panose="02040503050406030204" pitchFamily="18" charset="0"/>
                      </a:rPr>
                      <m:t>𝐾</m:t>
                    </m:r>
                    <m:r>
                      <a:rPr lang="en-US" b="0" i="1" smtClean="0">
                        <a:latin typeface="Cambria Math" panose="02040503050406030204" pitchFamily="18" charset="0"/>
                      </a:rPr>
                      <m:t>/[</m:t>
                    </m:r>
                    <m:d>
                      <m:dPr>
                        <m:ctrlPr>
                          <a:rPr lang="en-US" b="0" i="1" smtClean="0">
                            <a:latin typeface="Cambria Math" panose="02040503050406030204" pitchFamily="18" charset="0"/>
                          </a:rPr>
                        </m:ctrlPr>
                      </m:dPr>
                      <m:e>
                        <m:sSup>
                          <m:sSupPr>
                            <m:ctrlPr>
                              <a:rPr lang="en-US" b="0" i="1" smtClean="0">
                                <a:latin typeface="Cambria Math" panose="02040503050406030204" pitchFamily="18" charset="0"/>
                              </a:rPr>
                            </m:ctrlPr>
                          </m:sSupPr>
                          <m:e>
                            <m:r>
                              <a:rPr lang="en-US" b="0" i="1" smtClean="0">
                                <a:latin typeface="Cambria Math" panose="02040503050406030204" pitchFamily="18" charset="0"/>
                              </a:rPr>
                              <m:t>𝑠</m:t>
                            </m:r>
                          </m:e>
                          <m:sup>
                            <m:r>
                              <a:rPr lang="en-US" b="0" i="1" smtClean="0">
                                <a:latin typeface="Cambria Math" panose="02040503050406030204" pitchFamily="18" charset="0"/>
                              </a:rPr>
                              <m:t>2</m:t>
                            </m:r>
                          </m:sup>
                        </m:sSup>
                        <m:r>
                          <a:rPr lang="en-US" b="0" i="1" smtClean="0">
                            <a:latin typeface="Cambria Math" panose="02040503050406030204" pitchFamily="18" charset="0"/>
                          </a:rPr>
                          <m:t>+2</m:t>
                        </m:r>
                        <m:r>
                          <a:rPr lang="en-US" b="0" i="1" smtClean="0">
                            <a:latin typeface="Cambria Math" panose="02040503050406030204" pitchFamily="18" charset="0"/>
                          </a:rPr>
                          <m:t>𝑠</m:t>
                        </m:r>
                        <m:r>
                          <a:rPr lang="en-US" b="0" i="1" smtClean="0">
                            <a:latin typeface="Cambria Math" panose="02040503050406030204" pitchFamily="18" charset="0"/>
                          </a:rPr>
                          <m:t>+2</m:t>
                        </m:r>
                      </m:e>
                    </m:d>
                    <m:d>
                      <m:dPr>
                        <m:ctrlPr>
                          <a:rPr lang="en-US" b="0" i="1" smtClean="0">
                            <a:latin typeface="Cambria Math" panose="02040503050406030204" pitchFamily="18" charset="0"/>
                          </a:rPr>
                        </m:ctrlPr>
                      </m:dPr>
                      <m:e>
                        <m:r>
                          <a:rPr lang="en-US" b="0" i="1" smtClean="0">
                            <a:latin typeface="Cambria Math" panose="02040503050406030204" pitchFamily="18" charset="0"/>
                          </a:rPr>
                          <m:t>𝑠</m:t>
                        </m:r>
                        <m:r>
                          <a:rPr lang="en-US" b="0" i="1" smtClean="0">
                            <a:latin typeface="Cambria Math" panose="02040503050406030204" pitchFamily="18" charset="0"/>
                          </a:rPr>
                          <m:t>+2</m:t>
                        </m:r>
                      </m:e>
                    </m:d>
                    <m:r>
                      <a:rPr lang="en-US" b="0" i="1" smtClean="0">
                        <a:latin typeface="Cambria Math" panose="02040503050406030204" pitchFamily="18" charset="0"/>
                      </a:rPr>
                      <m:t>]</m:t>
                    </m:r>
                  </m:oMath>
                </a14:m>
                <a:r>
                  <a:rPr lang="en-VN" dirty="0">
                    <a:latin typeface="Arial" panose="020B0604020202020204" pitchFamily="34" charset="0"/>
                    <a:cs typeface="Arial" panose="020B0604020202020204" pitchFamily="34" charset="0"/>
                  </a:rPr>
                  <a:t> </a:t>
                </a:r>
              </a:p>
            </p:txBody>
          </p:sp>
        </mc:Choice>
        <mc:Fallback>
          <p:sp>
            <p:nvSpPr>
              <p:cNvPr id="6" name="TextBox 5">
                <a:extLst>
                  <a:ext uri="{FF2B5EF4-FFF2-40B4-BE49-F238E27FC236}">
                    <a16:creationId xmlns:a16="http://schemas.microsoft.com/office/drawing/2014/main" id="{D7089256-2549-F580-5F32-E13B83CC84F6}"/>
                  </a:ext>
                </a:extLst>
              </p:cNvPr>
              <p:cNvSpPr txBox="1">
                <a:spLocks noRot="1" noChangeAspect="1" noMove="1" noResize="1" noEditPoints="1" noAdjustHandles="1" noChangeArrowheads="1" noChangeShapeType="1" noTextEdit="1"/>
              </p:cNvSpPr>
              <p:nvPr/>
            </p:nvSpPr>
            <p:spPr>
              <a:xfrm>
                <a:off x="1451579" y="1459789"/>
                <a:ext cx="9603275" cy="369332"/>
              </a:xfrm>
              <a:prstGeom prst="rect">
                <a:avLst/>
              </a:prstGeom>
              <a:blipFill>
                <a:blip r:embed="rId3"/>
                <a:stretch>
                  <a:fillRect l="-528" t="-6667" b="-26667"/>
                </a:stretch>
              </a:blipFill>
            </p:spPr>
            <p:txBody>
              <a:bodyPr/>
              <a:lstStyle/>
              <a:p>
                <a:r>
                  <a:rPr lang="en-VN">
                    <a:noFill/>
                  </a:rPr>
                  <a:t> </a:t>
                </a:r>
              </a:p>
            </p:txBody>
          </p:sp>
        </mc:Fallback>
      </mc:AlternateContent>
      <p:sp>
        <p:nvSpPr>
          <p:cNvPr id="7" name="Down Arrow 6">
            <a:extLst>
              <a:ext uri="{FF2B5EF4-FFF2-40B4-BE49-F238E27FC236}">
                <a16:creationId xmlns:a16="http://schemas.microsoft.com/office/drawing/2014/main" id="{85FED29C-1702-7DFC-B353-BC71EE134878}"/>
              </a:ext>
            </a:extLst>
          </p:cNvPr>
          <p:cNvSpPr/>
          <p:nvPr/>
        </p:nvSpPr>
        <p:spPr>
          <a:xfrm rot="9365801">
            <a:off x="5469330" y="3950532"/>
            <a:ext cx="45719" cy="261257"/>
          </a:xfrm>
          <a:prstGeom prst="down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VN"/>
          </a:p>
        </p:txBody>
      </p:sp>
      <mc:AlternateContent xmlns:mc="http://schemas.openxmlformats.org/markup-compatibility/2006">
        <mc:Choice xmlns:a14="http://schemas.microsoft.com/office/drawing/2010/main" Requires="a14">
          <p:sp>
            <p:nvSpPr>
              <p:cNvPr id="8" name="TextBox 7">
                <a:extLst>
                  <a:ext uri="{FF2B5EF4-FFF2-40B4-BE49-F238E27FC236}">
                    <a16:creationId xmlns:a16="http://schemas.microsoft.com/office/drawing/2014/main" id="{AD694664-C69D-79B4-3C8B-F11F93EB18E7}"/>
                  </a:ext>
                </a:extLst>
              </p:cNvPr>
              <p:cNvSpPr txBox="1"/>
              <p:nvPr/>
            </p:nvSpPr>
            <p:spPr>
              <a:xfrm>
                <a:off x="8389796" y="4150731"/>
                <a:ext cx="3802204" cy="1695849"/>
              </a:xfrm>
              <a:prstGeom prst="rect">
                <a:avLst/>
              </a:prstGeom>
              <a:noFill/>
            </p:spPr>
            <p:txBody>
              <a:bodyPr wrap="square" rtlCol="0">
                <a:spAutoFit/>
              </a:bodyPr>
              <a:lstStyle/>
              <a:p>
                <a:r>
                  <a:rPr lang="en-VN" sz="1600" dirty="0">
                    <a:latin typeface="Arial" panose="020B0604020202020204" pitchFamily="34" charset="0"/>
                    <a:cs typeface="Arial" panose="020B0604020202020204" pitchFamily="34" charset="0"/>
                  </a:rPr>
                  <a:t>Hệ thống ổn định khi đồ thị Nyquist không chứa điểm -1.</a:t>
                </a:r>
              </a:p>
              <a:p>
                <a:r>
                  <a:rPr lang="en-VN" sz="1600" dirty="0">
                    <a:latin typeface="Arial" panose="020B0604020202020204" pitchFamily="34" charset="0"/>
                    <a:cs typeface="Arial" panose="020B0604020202020204" pitchFamily="34" charset="0"/>
                  </a:rPr>
                  <a:t>Khi đó </a:t>
                </a:r>
                <a14:m>
                  <m:oMath xmlns:m="http://schemas.openxmlformats.org/officeDocument/2006/math">
                    <m:r>
                      <a:rPr lang="en-US" sz="1600" b="0" i="1" smtClean="0">
                        <a:latin typeface="Cambria Math" panose="02040503050406030204" pitchFamily="18" charset="0"/>
                      </a:rPr>
                      <m:t>−</m:t>
                    </m:r>
                    <m:f>
                      <m:fPr>
                        <m:ctrlPr>
                          <a:rPr lang="en-US" sz="1600" b="0" i="1" smtClean="0">
                            <a:latin typeface="Cambria Math" panose="02040503050406030204" pitchFamily="18" charset="0"/>
                          </a:rPr>
                        </m:ctrlPr>
                      </m:fPr>
                      <m:num>
                        <m:r>
                          <a:rPr lang="en-US" sz="1600" b="0" i="1" smtClean="0">
                            <a:latin typeface="Cambria Math" panose="02040503050406030204" pitchFamily="18" charset="0"/>
                          </a:rPr>
                          <m:t>1</m:t>
                        </m:r>
                      </m:num>
                      <m:den>
                        <m:r>
                          <a:rPr lang="en-US" sz="1600" b="0" i="1" smtClean="0">
                            <a:latin typeface="Cambria Math" panose="02040503050406030204" pitchFamily="18" charset="0"/>
                          </a:rPr>
                          <m:t>𝐾</m:t>
                        </m:r>
                      </m:den>
                    </m:f>
                    <m:r>
                      <a:rPr lang="en-US" sz="1600" b="0" i="1" smtClean="0">
                        <a:latin typeface="Cambria Math" panose="02040503050406030204" pitchFamily="18" charset="0"/>
                      </a:rPr>
                      <m:t>&lt;−</m:t>
                    </m:r>
                    <m:f>
                      <m:fPr>
                        <m:ctrlPr>
                          <a:rPr lang="en-US" sz="1600" b="0" i="1" smtClean="0">
                            <a:latin typeface="Cambria Math" panose="02040503050406030204" pitchFamily="18" charset="0"/>
                          </a:rPr>
                        </m:ctrlPr>
                      </m:fPr>
                      <m:num>
                        <m:r>
                          <a:rPr lang="en-US" sz="1600" b="0" i="1" smtClean="0">
                            <a:latin typeface="Cambria Math" panose="02040503050406030204" pitchFamily="18" charset="0"/>
                          </a:rPr>
                          <m:t>1</m:t>
                        </m:r>
                      </m:num>
                      <m:den>
                        <m:r>
                          <a:rPr lang="en-US" sz="1600" b="0" i="1" smtClean="0">
                            <a:latin typeface="Cambria Math" panose="02040503050406030204" pitchFamily="18" charset="0"/>
                          </a:rPr>
                          <m:t>20</m:t>
                        </m:r>
                      </m:den>
                    </m:f>
                  </m:oMath>
                </a14:m>
                <a:r>
                  <a:rPr lang="en-VN" sz="1600" dirty="0">
                    <a:latin typeface="Arial" panose="020B0604020202020204" pitchFamily="34" charset="0"/>
                    <a:cs typeface="Arial" panose="020B0604020202020204" pitchFamily="34" charset="0"/>
                  </a:rPr>
                  <a:t> hay </a:t>
                </a:r>
                <a14:m>
                  <m:oMath xmlns:m="http://schemas.openxmlformats.org/officeDocument/2006/math">
                    <m:r>
                      <a:rPr lang="en-US" sz="1600" b="0" i="1" smtClean="0">
                        <a:latin typeface="Cambria Math" panose="02040503050406030204" pitchFamily="18" charset="0"/>
                      </a:rPr>
                      <m:t>𝐾</m:t>
                    </m:r>
                    <m:r>
                      <a:rPr lang="en-US" sz="1600" b="0" i="1" smtClean="0">
                        <a:latin typeface="Cambria Math" panose="02040503050406030204" pitchFamily="18" charset="0"/>
                      </a:rPr>
                      <m:t>&lt;20</m:t>
                    </m:r>
                  </m:oMath>
                </a14:m>
                <a:endParaRPr lang="en-VN" sz="1600" dirty="0">
                  <a:latin typeface="Arial" panose="020B0604020202020204" pitchFamily="34" charset="0"/>
                  <a:cs typeface="Arial" panose="020B0604020202020204" pitchFamily="34" charset="0"/>
                </a:endParaRPr>
              </a:p>
              <a:p>
                <a:r>
                  <a:rPr lang="en-VN" sz="1600" dirty="0">
                    <a:latin typeface="Arial" panose="020B0604020202020204" pitchFamily="34" charset="0"/>
                    <a:cs typeface="Arial" panose="020B0604020202020204" pitchFamily="34" charset="0"/>
                  </a:rPr>
                  <a:t>Hệ thống không ổn định khi </a:t>
                </a:r>
                <a14:m>
                  <m:oMath xmlns:m="http://schemas.openxmlformats.org/officeDocument/2006/math">
                    <m:r>
                      <a:rPr lang="en-US" sz="1600" b="0" i="1" smtClean="0">
                        <a:latin typeface="Cambria Math" panose="02040503050406030204" pitchFamily="18" charset="0"/>
                      </a:rPr>
                      <m:t>𝐾</m:t>
                    </m:r>
                    <m:r>
                      <a:rPr lang="en-US" sz="1600" b="0" i="1" smtClean="0">
                        <a:latin typeface="Cambria Math" panose="02040503050406030204" pitchFamily="18" charset="0"/>
                      </a:rPr>
                      <m:t>&gt;20</m:t>
                    </m:r>
                  </m:oMath>
                </a14:m>
                <a:endParaRPr lang="en-VN" sz="1600" dirty="0">
                  <a:latin typeface="Arial" panose="020B0604020202020204" pitchFamily="34" charset="0"/>
                  <a:cs typeface="Arial" panose="020B0604020202020204" pitchFamily="34" charset="0"/>
                </a:endParaRPr>
              </a:p>
              <a:p>
                <a:r>
                  <a:rPr lang="en-VN" sz="1600" dirty="0">
                    <a:latin typeface="Arial" panose="020B0604020202020204" pitchFamily="34" charset="0"/>
                    <a:cs typeface="Arial" panose="020B0604020202020204" pitchFamily="34" charset="0"/>
                  </a:rPr>
                  <a:t>Hệ thống  ổn định biên khi </a:t>
                </a:r>
                <a14:m>
                  <m:oMath xmlns:m="http://schemas.openxmlformats.org/officeDocument/2006/math">
                    <m:r>
                      <a:rPr lang="en-US" sz="1600" b="0" i="1" smtClean="0">
                        <a:latin typeface="Cambria Math" panose="02040503050406030204" pitchFamily="18" charset="0"/>
                      </a:rPr>
                      <m:t>𝐾</m:t>
                    </m:r>
                    <m:r>
                      <a:rPr lang="en-US" sz="1600" b="0" i="1" smtClean="0">
                        <a:latin typeface="Cambria Math" panose="02040503050406030204" pitchFamily="18" charset="0"/>
                      </a:rPr>
                      <m:t>=20, </m:t>
                    </m:r>
                    <m:r>
                      <a:rPr lang="en-US" sz="1600" b="0" i="1" smtClean="0">
                        <a:latin typeface="Cambria Math" panose="02040503050406030204" pitchFamily="18" charset="0"/>
                      </a:rPr>
                      <m:t>𝜔</m:t>
                    </m:r>
                    <m:r>
                      <a:rPr lang="en-US" sz="1600" b="0" i="1" smtClean="0">
                        <a:latin typeface="Cambria Math" panose="02040503050406030204" pitchFamily="18" charset="0"/>
                      </a:rPr>
                      <m:t>=</m:t>
                    </m:r>
                    <m:rad>
                      <m:radPr>
                        <m:degHide m:val="on"/>
                        <m:ctrlPr>
                          <a:rPr lang="en-US" sz="1600" b="0" i="1" smtClean="0">
                            <a:latin typeface="Cambria Math" panose="02040503050406030204" pitchFamily="18" charset="0"/>
                          </a:rPr>
                        </m:ctrlPr>
                      </m:radPr>
                      <m:deg/>
                      <m:e>
                        <m:r>
                          <a:rPr lang="en-US" sz="1600" b="0" i="1" smtClean="0">
                            <a:latin typeface="Cambria Math" panose="02040503050406030204" pitchFamily="18" charset="0"/>
                          </a:rPr>
                          <m:t>6</m:t>
                        </m:r>
                      </m:e>
                    </m:rad>
                  </m:oMath>
                </a14:m>
                <a:endParaRPr lang="en-VN" sz="1600" dirty="0">
                  <a:latin typeface="Arial" panose="020B0604020202020204" pitchFamily="34" charset="0"/>
                  <a:cs typeface="Arial" panose="020B0604020202020204" pitchFamily="34" charset="0"/>
                </a:endParaRPr>
              </a:p>
            </p:txBody>
          </p:sp>
        </mc:Choice>
        <mc:Fallback>
          <p:sp>
            <p:nvSpPr>
              <p:cNvPr id="8" name="TextBox 7">
                <a:extLst>
                  <a:ext uri="{FF2B5EF4-FFF2-40B4-BE49-F238E27FC236}">
                    <a16:creationId xmlns:a16="http://schemas.microsoft.com/office/drawing/2014/main" id="{AD694664-C69D-79B4-3C8B-F11F93EB18E7}"/>
                  </a:ext>
                </a:extLst>
              </p:cNvPr>
              <p:cNvSpPr txBox="1">
                <a:spLocks noRot="1" noChangeAspect="1" noMove="1" noResize="1" noEditPoints="1" noAdjustHandles="1" noChangeArrowheads="1" noChangeShapeType="1" noTextEdit="1"/>
              </p:cNvSpPr>
              <p:nvPr/>
            </p:nvSpPr>
            <p:spPr>
              <a:xfrm>
                <a:off x="8389796" y="4150731"/>
                <a:ext cx="3802204" cy="1695849"/>
              </a:xfrm>
              <a:prstGeom prst="rect">
                <a:avLst/>
              </a:prstGeom>
              <a:blipFill>
                <a:blip r:embed="rId4"/>
                <a:stretch>
                  <a:fillRect l="-664" t="-741"/>
                </a:stretch>
              </a:blipFill>
            </p:spPr>
            <p:txBody>
              <a:bodyPr/>
              <a:lstStyle/>
              <a:p>
                <a:r>
                  <a:rPr lang="en-VN">
                    <a:noFill/>
                  </a:rPr>
                  <a:t> </a:t>
                </a:r>
              </a:p>
            </p:txBody>
          </p:sp>
        </mc:Fallback>
      </mc:AlternateContent>
      <p:pic>
        <p:nvPicPr>
          <p:cNvPr id="10" name="Picture 9">
            <a:extLst>
              <a:ext uri="{FF2B5EF4-FFF2-40B4-BE49-F238E27FC236}">
                <a16:creationId xmlns:a16="http://schemas.microsoft.com/office/drawing/2014/main" id="{46ABF718-C6B2-A208-9779-5E8887A44042}"/>
              </a:ext>
            </a:extLst>
          </p:cNvPr>
          <p:cNvPicPr>
            <a:picLocks noChangeAspect="1"/>
          </p:cNvPicPr>
          <p:nvPr/>
        </p:nvPicPr>
        <p:blipFill>
          <a:blip r:embed="rId5"/>
          <a:stretch>
            <a:fillRect/>
          </a:stretch>
        </p:blipFill>
        <p:spPr>
          <a:xfrm>
            <a:off x="8389797" y="2505331"/>
            <a:ext cx="3802203" cy="969189"/>
          </a:xfrm>
          <a:prstGeom prst="rect">
            <a:avLst/>
          </a:prstGeom>
        </p:spPr>
      </p:pic>
    </p:spTree>
    <p:extLst>
      <p:ext uri="{BB962C8B-B14F-4D97-AF65-F5344CB8AC3E}">
        <p14:creationId xmlns:p14="http://schemas.microsoft.com/office/powerpoint/2010/main" val="284906550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3" presetClass="entr" presetSubtype="10" fill="hold" grpId="0" nodeType="with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blinds(horizontal)">
                                      <p:cBhvr>
                                        <p:cTn id="7"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62AAA3B-3B90-4350-AD22-550CBD18B898}"/>
              </a:ext>
            </a:extLst>
          </p:cNvPr>
          <p:cNvSpPr>
            <a:spLocks noGrp="1"/>
          </p:cNvSpPr>
          <p:nvPr>
            <p:ph type="title"/>
          </p:nvPr>
        </p:nvSpPr>
        <p:spPr/>
        <p:txBody>
          <a:bodyPr/>
          <a:lstStyle/>
          <a:p>
            <a:r>
              <a:rPr lang="en-VN" dirty="0"/>
              <a:t>DỰ TRỮ GIA LƯỢNG VÀ DỰ TRỮ PHA</a:t>
            </a:r>
          </a:p>
        </p:txBody>
      </p:sp>
      <mc:AlternateContent xmlns:mc="http://schemas.openxmlformats.org/markup-compatibility/2006">
        <mc:Choice xmlns:a14="http://schemas.microsoft.com/office/drawing/2010/main" Requires="a14">
          <p:sp>
            <p:nvSpPr>
              <p:cNvPr id="3" name="Content Placeholder 2">
                <a:extLst>
                  <a:ext uri="{FF2B5EF4-FFF2-40B4-BE49-F238E27FC236}">
                    <a16:creationId xmlns:a16="http://schemas.microsoft.com/office/drawing/2014/main" id="{01F4ED47-C8C7-8846-7D32-E4B1CE235391}"/>
                  </a:ext>
                </a:extLst>
              </p:cNvPr>
              <p:cNvSpPr>
                <a:spLocks noGrp="1"/>
              </p:cNvSpPr>
              <p:nvPr>
                <p:ph idx="1"/>
              </p:nvPr>
            </p:nvSpPr>
            <p:spPr/>
            <p:txBody>
              <a:bodyPr/>
              <a:lstStyle/>
              <a:p>
                <a:r>
                  <a:rPr lang="vi-VN" dirty="0"/>
                  <a:t>Điều kiện ổn định Nyquist được định nghĩa dựa trên điểm (-1, 0) trên đồ thị cực, tương ứng với các giá trị 0dB và </a:t>
                </a:r>
                <a14:m>
                  <m:oMath xmlns:m="http://schemas.openxmlformats.org/officeDocument/2006/math">
                    <m:r>
                      <a:rPr lang="en-US" b="0" i="1" smtClean="0">
                        <a:latin typeface="Cambria Math" panose="02040503050406030204" pitchFamily="18" charset="0"/>
                      </a:rPr>
                      <m:t>180</m:t>
                    </m:r>
                    <m:r>
                      <a:rPr lang="en-US" b="0" i="1" smtClean="0">
                        <a:latin typeface="Cambria Math" panose="02040503050406030204" pitchFamily="18" charset="0"/>
                        <a:ea typeface="Cambria Math" panose="02040503050406030204" pitchFamily="18" charset="0"/>
                      </a:rPr>
                      <m:t>°</m:t>
                    </m:r>
                  </m:oMath>
                </a14:m>
                <a:r>
                  <a:rPr lang="vi-VN" dirty="0"/>
                  <a:t> trong đồ thị Bode. Điểm này được gọi là điểm ổn định.</a:t>
                </a:r>
              </a:p>
              <a:p>
                <a:r>
                  <a:rPr lang="vi-VN" dirty="0"/>
                  <a:t>Khoảng cách giữa đồ thị Nyquist và điểm ổn định thể hiện tính ổn định tương đối của hệ thống. </a:t>
                </a:r>
              </a:p>
              <a:p>
                <a:pPr lvl="1"/>
                <a:r>
                  <a:rPr lang="vi-VN" dirty="0"/>
                  <a:t>Dự trữ gia lượng (</a:t>
                </a:r>
                <a:r>
                  <a:rPr lang="vi-VN" i="1" dirty="0"/>
                  <a:t>Gain margin </a:t>
                </a:r>
                <a14:m>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𝐺</m:t>
                        </m:r>
                      </m:e>
                      <m:sub>
                        <m:r>
                          <a:rPr lang="en-US" b="0" i="1" smtClean="0">
                            <a:latin typeface="Cambria Math" panose="02040503050406030204" pitchFamily="18" charset="0"/>
                          </a:rPr>
                          <m:t>𝑀</m:t>
                        </m:r>
                      </m:sub>
                    </m:sSub>
                  </m:oMath>
                </a14:m>
                <a:r>
                  <a:rPr lang="vi-VN" dirty="0"/>
                  <a:t>)</a:t>
                </a:r>
              </a:p>
              <a:p>
                <a:pPr lvl="1"/>
                <a:r>
                  <a:rPr lang="vi-VN" dirty="0"/>
                  <a:t>Dự trữ pha (</a:t>
                </a:r>
                <a:r>
                  <a:rPr lang="vi-VN" i="1" dirty="0"/>
                  <a:t>Phase margin </a:t>
                </a:r>
                <a14:m>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𝜙</m:t>
                        </m:r>
                      </m:e>
                      <m:sub>
                        <m:r>
                          <a:rPr lang="en-US" b="0" i="1" smtClean="0">
                            <a:latin typeface="Cambria Math" panose="02040503050406030204" pitchFamily="18" charset="0"/>
                          </a:rPr>
                          <m:t>𝑀</m:t>
                        </m:r>
                      </m:sub>
                    </m:sSub>
                  </m:oMath>
                </a14:m>
                <a:r>
                  <a:rPr lang="vi-VN" dirty="0"/>
                  <a:t>)</a:t>
                </a:r>
                <a:endParaRPr lang="en-VN" dirty="0"/>
              </a:p>
            </p:txBody>
          </p:sp>
        </mc:Choice>
        <mc:Fallback>
          <p:sp>
            <p:nvSpPr>
              <p:cNvPr id="3" name="Content Placeholder 2">
                <a:extLst>
                  <a:ext uri="{FF2B5EF4-FFF2-40B4-BE49-F238E27FC236}">
                    <a16:creationId xmlns:a16="http://schemas.microsoft.com/office/drawing/2014/main" id="{01F4ED47-C8C7-8846-7D32-E4B1CE235391}"/>
                  </a:ext>
                </a:extLst>
              </p:cNvPr>
              <p:cNvSpPr>
                <a:spLocks noGrp="1" noRot="1" noChangeAspect="1" noMove="1" noResize="1" noEditPoints="1" noAdjustHandles="1" noChangeArrowheads="1" noChangeShapeType="1" noTextEdit="1"/>
              </p:cNvSpPr>
              <p:nvPr>
                <p:ph idx="1"/>
              </p:nvPr>
            </p:nvSpPr>
            <p:spPr>
              <a:blipFill>
                <a:blip r:embed="rId2"/>
                <a:stretch>
                  <a:fillRect l="-528" r="-132"/>
                </a:stretch>
              </a:blipFill>
            </p:spPr>
            <p:txBody>
              <a:bodyPr/>
              <a:lstStyle/>
              <a:p>
                <a:r>
                  <a:rPr lang="en-VN">
                    <a:noFill/>
                  </a:rPr>
                  <a:t> </a:t>
                </a:r>
              </a:p>
            </p:txBody>
          </p:sp>
        </mc:Fallback>
      </mc:AlternateContent>
    </p:spTree>
    <p:extLst>
      <p:ext uri="{BB962C8B-B14F-4D97-AF65-F5344CB8AC3E}">
        <p14:creationId xmlns:p14="http://schemas.microsoft.com/office/powerpoint/2010/main" val="78537165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52C5E7C-B700-3A38-E7F1-039D47B569A7}"/>
              </a:ext>
            </a:extLst>
          </p:cNvPr>
          <p:cNvSpPr>
            <a:spLocks noGrp="1"/>
          </p:cNvSpPr>
          <p:nvPr>
            <p:ph type="title"/>
          </p:nvPr>
        </p:nvSpPr>
        <p:spPr/>
        <p:txBody>
          <a:bodyPr/>
          <a:lstStyle/>
          <a:p>
            <a:r>
              <a:rPr lang="en-VN" dirty="0"/>
              <a:t>DỰ TRỮ GIA LƯỢNG VÀ DỰ TRỮ PHA</a:t>
            </a:r>
          </a:p>
        </p:txBody>
      </p:sp>
      <p:sp>
        <p:nvSpPr>
          <p:cNvPr id="3" name="Content Placeholder 2">
            <a:extLst>
              <a:ext uri="{FF2B5EF4-FFF2-40B4-BE49-F238E27FC236}">
                <a16:creationId xmlns:a16="http://schemas.microsoft.com/office/drawing/2014/main" id="{93193846-3416-20BC-22D0-54B3F3172767}"/>
              </a:ext>
            </a:extLst>
          </p:cNvPr>
          <p:cNvSpPr>
            <a:spLocks noGrp="1"/>
          </p:cNvSpPr>
          <p:nvPr>
            <p:ph idx="1"/>
          </p:nvPr>
        </p:nvSpPr>
        <p:spPr>
          <a:xfrm>
            <a:off x="7598266" y="1630529"/>
            <a:ext cx="4386470" cy="4444399"/>
          </a:xfrm>
        </p:spPr>
        <p:txBody>
          <a:bodyPr>
            <a:normAutofit lnSpcReduction="10000"/>
          </a:bodyPr>
          <a:lstStyle/>
          <a:p>
            <a:pPr algn="just"/>
            <a:r>
              <a:rPr lang="en-US" sz="1400" dirty="0">
                <a:effectLst/>
                <a:ea typeface="Times New Roman" panose="02020603050405020304" pitchFamily="18" charset="0"/>
              </a:rPr>
              <a:t>Khi </a:t>
            </a:r>
            <a:r>
              <a:rPr lang="en-US" sz="1400" i="1" dirty="0">
                <a:effectLst/>
                <a:ea typeface="Times New Roman" panose="02020603050405020304" pitchFamily="18" charset="0"/>
              </a:rPr>
              <a:t>K</a:t>
            </a:r>
            <a:r>
              <a:rPr lang="en-US" sz="1400" dirty="0">
                <a:effectLst/>
                <a:ea typeface="Times New Roman" panose="02020603050405020304" pitchFamily="18" charset="0"/>
              </a:rPr>
              <a:t> </a:t>
            </a:r>
            <a:r>
              <a:rPr lang="en-US" sz="1400" dirty="0" err="1">
                <a:effectLst/>
                <a:ea typeface="Times New Roman" panose="02020603050405020304" pitchFamily="18" charset="0"/>
              </a:rPr>
              <a:t>càng</a:t>
            </a:r>
            <a:r>
              <a:rPr lang="en-US" sz="1400" dirty="0">
                <a:effectLst/>
                <a:ea typeface="Times New Roman" panose="02020603050405020304" pitchFamily="18" charset="0"/>
              </a:rPr>
              <a:t> </a:t>
            </a:r>
            <a:r>
              <a:rPr lang="en-US" sz="1400" dirty="0" err="1">
                <a:effectLst/>
                <a:ea typeface="Times New Roman" panose="02020603050405020304" pitchFamily="18" charset="0"/>
              </a:rPr>
              <a:t>nhỏ</a:t>
            </a:r>
            <a:r>
              <a:rPr lang="en-US" sz="1400" dirty="0">
                <a:effectLst/>
                <a:ea typeface="Times New Roman" panose="02020603050405020304" pitchFamily="18" charset="0"/>
              </a:rPr>
              <a:t> so </a:t>
            </a:r>
            <a:r>
              <a:rPr lang="en-US" sz="1400" dirty="0" err="1">
                <a:effectLst/>
                <a:ea typeface="Times New Roman" panose="02020603050405020304" pitchFamily="18" charset="0"/>
              </a:rPr>
              <a:t>với</a:t>
            </a:r>
            <a:r>
              <a:rPr lang="en-US" sz="1400" dirty="0">
                <a:effectLst/>
                <a:ea typeface="Times New Roman" panose="02020603050405020304" pitchFamily="18" charset="0"/>
              </a:rPr>
              <a:t> </a:t>
            </a:r>
            <a:r>
              <a:rPr lang="en-US" sz="1400" dirty="0" err="1">
                <a:effectLst/>
                <a:ea typeface="Times New Roman" panose="02020603050405020304" pitchFamily="18" charset="0"/>
              </a:rPr>
              <a:t>giá</a:t>
            </a:r>
            <a:r>
              <a:rPr lang="en-US" sz="1400" dirty="0">
                <a:effectLst/>
                <a:ea typeface="Times New Roman" panose="02020603050405020304" pitchFamily="18" charset="0"/>
              </a:rPr>
              <a:t> </a:t>
            </a:r>
            <a:r>
              <a:rPr lang="en-US" sz="1400" dirty="0" err="1">
                <a:effectLst/>
                <a:ea typeface="Times New Roman" panose="02020603050405020304" pitchFamily="18" charset="0"/>
              </a:rPr>
              <a:t>trị</a:t>
            </a:r>
            <a:r>
              <a:rPr lang="en-US" sz="1400" dirty="0">
                <a:effectLst/>
                <a:ea typeface="Times New Roman" panose="02020603050405020304" pitchFamily="18" charset="0"/>
              </a:rPr>
              <a:t> </a:t>
            </a:r>
            <a:r>
              <a:rPr lang="en-US" sz="1400" dirty="0" err="1">
                <a:effectLst/>
                <a:ea typeface="Times New Roman" panose="02020603050405020304" pitchFamily="18" charset="0"/>
              </a:rPr>
              <a:t>ranh</a:t>
            </a:r>
            <a:r>
              <a:rPr lang="en-US" sz="1400" dirty="0">
                <a:effectLst/>
                <a:ea typeface="Times New Roman" panose="02020603050405020304" pitchFamily="18" charset="0"/>
              </a:rPr>
              <a:t> </a:t>
            </a:r>
            <a:r>
              <a:rPr lang="en-US" sz="1400" dirty="0" err="1">
                <a:effectLst/>
                <a:ea typeface="Times New Roman" panose="02020603050405020304" pitchFamily="18" charset="0"/>
              </a:rPr>
              <a:t>giới</a:t>
            </a:r>
            <a:r>
              <a:rPr lang="en-US" sz="1400" dirty="0">
                <a:effectLst/>
                <a:ea typeface="Times New Roman" panose="02020603050405020304" pitchFamily="18" charset="0"/>
              </a:rPr>
              <a:t> </a:t>
            </a:r>
            <a:r>
              <a:rPr lang="en-US" sz="1400" dirty="0" err="1">
                <a:effectLst/>
                <a:ea typeface="Times New Roman" panose="02020603050405020304" pitchFamily="18" charset="0"/>
              </a:rPr>
              <a:t>thì</a:t>
            </a:r>
            <a:r>
              <a:rPr lang="en-US" sz="1400" dirty="0">
                <a:effectLst/>
                <a:ea typeface="Times New Roman" panose="02020603050405020304" pitchFamily="18" charset="0"/>
              </a:rPr>
              <a:t> </a:t>
            </a:r>
            <a:r>
              <a:rPr lang="en-US" sz="1400" dirty="0" err="1">
                <a:effectLst/>
                <a:ea typeface="Times New Roman" panose="02020603050405020304" pitchFamily="18" charset="0"/>
              </a:rPr>
              <a:t>tính</a:t>
            </a:r>
            <a:r>
              <a:rPr lang="en-US" sz="1400" dirty="0">
                <a:effectLst/>
                <a:ea typeface="Times New Roman" panose="02020603050405020304" pitchFamily="18" charset="0"/>
              </a:rPr>
              <a:t> </a:t>
            </a:r>
            <a:r>
              <a:rPr lang="en-US" sz="1400" dirty="0" err="1">
                <a:effectLst/>
                <a:ea typeface="Times New Roman" panose="02020603050405020304" pitchFamily="18" charset="0"/>
              </a:rPr>
              <a:t>ổn</a:t>
            </a:r>
            <a:r>
              <a:rPr lang="en-US" sz="1400" dirty="0">
                <a:effectLst/>
                <a:ea typeface="Times New Roman" panose="02020603050405020304" pitchFamily="18" charset="0"/>
              </a:rPr>
              <a:t> </a:t>
            </a:r>
            <a:r>
              <a:rPr lang="en-US" sz="1400" dirty="0" err="1">
                <a:effectLst/>
                <a:ea typeface="Times New Roman" panose="02020603050405020304" pitchFamily="18" charset="0"/>
              </a:rPr>
              <a:t>định</a:t>
            </a:r>
            <a:r>
              <a:rPr lang="en-US" sz="1400" dirty="0">
                <a:effectLst/>
                <a:ea typeface="Times New Roman" panose="02020603050405020304" pitchFamily="18" charset="0"/>
              </a:rPr>
              <a:t> </a:t>
            </a:r>
            <a:r>
              <a:rPr lang="en-US" sz="1400" dirty="0" err="1">
                <a:effectLst/>
                <a:ea typeface="Times New Roman" panose="02020603050405020304" pitchFamily="18" charset="0"/>
              </a:rPr>
              <a:t>tương</a:t>
            </a:r>
            <a:r>
              <a:rPr lang="en-US" sz="1400" dirty="0">
                <a:effectLst/>
                <a:ea typeface="Times New Roman" panose="02020603050405020304" pitchFamily="18" charset="0"/>
              </a:rPr>
              <a:t> </a:t>
            </a:r>
            <a:r>
              <a:rPr lang="en-US" sz="1400" dirty="0" err="1">
                <a:effectLst/>
                <a:ea typeface="Times New Roman" panose="02020603050405020304" pitchFamily="18" charset="0"/>
              </a:rPr>
              <a:t>đối</a:t>
            </a:r>
            <a:r>
              <a:rPr lang="en-US" sz="1400" dirty="0">
                <a:effectLst/>
                <a:ea typeface="Times New Roman" panose="02020603050405020304" pitchFamily="18" charset="0"/>
              </a:rPr>
              <a:t> </a:t>
            </a:r>
            <a:r>
              <a:rPr lang="en-US" sz="1400" dirty="0" err="1">
                <a:effectLst/>
                <a:ea typeface="Times New Roman" panose="02020603050405020304" pitchFamily="18" charset="0"/>
              </a:rPr>
              <a:t>của</a:t>
            </a:r>
            <a:r>
              <a:rPr lang="en-US" sz="1400" dirty="0">
                <a:effectLst/>
                <a:ea typeface="Times New Roman" panose="02020603050405020304" pitchFamily="18" charset="0"/>
              </a:rPr>
              <a:t> </a:t>
            </a:r>
            <a:r>
              <a:rPr lang="en-US" sz="1400" dirty="0" err="1">
                <a:effectLst/>
                <a:ea typeface="Times New Roman" panose="02020603050405020304" pitchFamily="18" charset="0"/>
              </a:rPr>
              <a:t>hệ</a:t>
            </a:r>
            <a:r>
              <a:rPr lang="en-US" sz="1400" dirty="0">
                <a:effectLst/>
                <a:ea typeface="Times New Roman" panose="02020603050405020304" pitchFamily="18" charset="0"/>
              </a:rPr>
              <a:t> </a:t>
            </a:r>
            <a:r>
              <a:rPr lang="en-US" sz="1400" dirty="0" err="1">
                <a:effectLst/>
                <a:ea typeface="Times New Roman" panose="02020603050405020304" pitchFamily="18" charset="0"/>
              </a:rPr>
              <a:t>thống</a:t>
            </a:r>
            <a:r>
              <a:rPr lang="en-US" sz="1400" dirty="0">
                <a:effectLst/>
                <a:ea typeface="Times New Roman" panose="02020603050405020304" pitchFamily="18" charset="0"/>
              </a:rPr>
              <a:t> </a:t>
            </a:r>
            <a:r>
              <a:rPr lang="en-US" sz="1400" dirty="0" err="1">
                <a:effectLst/>
                <a:ea typeface="Times New Roman" panose="02020603050405020304" pitchFamily="18" charset="0"/>
              </a:rPr>
              <a:t>càng</a:t>
            </a:r>
            <a:r>
              <a:rPr lang="en-US" sz="1400" dirty="0">
                <a:effectLst/>
                <a:ea typeface="Times New Roman" panose="02020603050405020304" pitchFamily="18" charset="0"/>
              </a:rPr>
              <a:t> </a:t>
            </a:r>
            <a:r>
              <a:rPr lang="en-US" sz="1400" dirty="0" err="1">
                <a:effectLst/>
                <a:ea typeface="Times New Roman" panose="02020603050405020304" pitchFamily="18" charset="0"/>
              </a:rPr>
              <a:t>cao</a:t>
            </a:r>
            <a:r>
              <a:rPr lang="en-US" sz="1400" dirty="0">
                <a:effectLst/>
                <a:ea typeface="Times New Roman" panose="02020603050405020304" pitchFamily="18" charset="0"/>
              </a:rPr>
              <a:t>, </a:t>
            </a:r>
            <a:r>
              <a:rPr lang="en-US" sz="1400" dirty="0" err="1">
                <a:effectLst/>
                <a:ea typeface="Times New Roman" panose="02020603050405020304" pitchFamily="18" charset="0"/>
              </a:rPr>
              <a:t>vì</a:t>
            </a:r>
            <a:r>
              <a:rPr lang="en-US" sz="1400" dirty="0">
                <a:effectLst/>
                <a:ea typeface="Times New Roman" panose="02020603050405020304" pitchFamily="18" charset="0"/>
              </a:rPr>
              <a:t> </a:t>
            </a:r>
            <a:r>
              <a:rPr lang="en-US" sz="1400" dirty="0" err="1">
                <a:effectLst/>
                <a:ea typeface="Times New Roman" panose="02020603050405020304" pitchFamily="18" charset="0"/>
              </a:rPr>
              <a:t>vậy</a:t>
            </a:r>
            <a:r>
              <a:rPr lang="en-US" sz="1400" dirty="0">
                <a:effectLst/>
                <a:ea typeface="Times New Roman" panose="02020603050405020304" pitchFamily="18" charset="0"/>
              </a:rPr>
              <a:t> </a:t>
            </a:r>
            <a:r>
              <a:rPr lang="en-US" sz="1400" dirty="0" err="1">
                <a:effectLst/>
                <a:ea typeface="Times New Roman" panose="02020603050405020304" pitchFamily="18" charset="0"/>
              </a:rPr>
              <a:t>sự</a:t>
            </a:r>
            <a:r>
              <a:rPr lang="en-US" sz="1400" dirty="0">
                <a:effectLst/>
                <a:ea typeface="Times New Roman" panose="02020603050405020304" pitchFamily="18" charset="0"/>
              </a:rPr>
              <a:t> </a:t>
            </a:r>
            <a:r>
              <a:rPr lang="en-US" sz="1400" dirty="0" err="1">
                <a:effectLst/>
                <a:ea typeface="Times New Roman" panose="02020603050405020304" pitchFamily="18" charset="0"/>
              </a:rPr>
              <a:t>chênh</a:t>
            </a:r>
            <a:r>
              <a:rPr lang="en-US" sz="1400" dirty="0">
                <a:effectLst/>
                <a:ea typeface="Times New Roman" panose="02020603050405020304" pitchFamily="18" charset="0"/>
              </a:rPr>
              <a:t> </a:t>
            </a:r>
            <a:r>
              <a:rPr lang="en-US" sz="1400" dirty="0" err="1">
                <a:effectLst/>
                <a:ea typeface="Times New Roman" panose="02020603050405020304" pitchFamily="18" charset="0"/>
              </a:rPr>
              <a:t>lệch</a:t>
            </a:r>
            <a:r>
              <a:rPr lang="en-US" sz="1400" dirty="0">
                <a:effectLst/>
                <a:ea typeface="Times New Roman" panose="02020603050405020304" pitchFamily="18" charset="0"/>
              </a:rPr>
              <a:t> </a:t>
            </a:r>
            <a:r>
              <a:rPr lang="en-US" sz="1400" dirty="0" err="1">
                <a:effectLst/>
                <a:ea typeface="Times New Roman" panose="02020603050405020304" pitchFamily="18" charset="0"/>
              </a:rPr>
              <a:t>giữa</a:t>
            </a:r>
            <a:r>
              <a:rPr lang="en-US" sz="1400" dirty="0">
                <a:effectLst/>
                <a:ea typeface="Times New Roman" panose="02020603050405020304" pitchFamily="18" charset="0"/>
              </a:rPr>
              <a:t> </a:t>
            </a:r>
            <a:r>
              <a:rPr lang="en-US" sz="1400" dirty="0" err="1">
                <a:effectLst/>
                <a:ea typeface="Times New Roman" panose="02020603050405020304" pitchFamily="18" charset="0"/>
              </a:rPr>
              <a:t>giá</a:t>
            </a:r>
            <a:r>
              <a:rPr lang="en-US" sz="1400" dirty="0">
                <a:effectLst/>
                <a:ea typeface="Times New Roman" panose="02020603050405020304" pitchFamily="18" charset="0"/>
              </a:rPr>
              <a:t> </a:t>
            </a:r>
            <a:r>
              <a:rPr lang="en-US" sz="1400" dirty="0" err="1">
                <a:effectLst/>
                <a:ea typeface="Times New Roman" panose="02020603050405020304" pitchFamily="18" charset="0"/>
              </a:rPr>
              <a:t>trị</a:t>
            </a:r>
            <a:r>
              <a:rPr lang="en-US" sz="1400" dirty="0">
                <a:effectLst/>
                <a:ea typeface="Times New Roman" panose="02020603050405020304" pitchFamily="18" charset="0"/>
              </a:rPr>
              <a:t> </a:t>
            </a:r>
            <a:r>
              <a:rPr lang="en-US" sz="1400" dirty="0" err="1">
                <a:effectLst/>
                <a:ea typeface="Times New Roman" panose="02020603050405020304" pitchFamily="18" charset="0"/>
              </a:rPr>
              <a:t>ranh</a:t>
            </a:r>
            <a:r>
              <a:rPr lang="en-US" sz="1400" dirty="0">
                <a:effectLst/>
                <a:ea typeface="Times New Roman" panose="02020603050405020304" pitchFamily="18" charset="0"/>
              </a:rPr>
              <a:t> </a:t>
            </a:r>
            <a:r>
              <a:rPr lang="en-US" sz="1400" dirty="0" err="1">
                <a:effectLst/>
                <a:ea typeface="Times New Roman" panose="02020603050405020304" pitchFamily="18" charset="0"/>
              </a:rPr>
              <a:t>giới</a:t>
            </a:r>
            <a:r>
              <a:rPr lang="en-US" sz="1400" dirty="0">
                <a:effectLst/>
                <a:ea typeface="Times New Roman" panose="02020603050405020304" pitchFamily="18" charset="0"/>
              </a:rPr>
              <a:t> </a:t>
            </a:r>
            <a:r>
              <a:rPr lang="en-US" sz="1400" i="1" dirty="0">
                <a:effectLst/>
                <a:ea typeface="Times New Roman" panose="02020603050405020304" pitchFamily="18" charset="0"/>
              </a:rPr>
              <a:t>K</a:t>
            </a:r>
            <a:r>
              <a:rPr lang="en-US" sz="1400" i="1" baseline="-25000" dirty="0">
                <a:effectLst/>
                <a:ea typeface="Times New Roman" panose="02020603050405020304" pitchFamily="18" charset="0"/>
              </a:rPr>
              <a:t>r</a:t>
            </a:r>
            <a:r>
              <a:rPr lang="en-US" sz="1400" dirty="0">
                <a:effectLst/>
                <a:ea typeface="Times New Roman" panose="02020603050405020304" pitchFamily="18" charset="0"/>
              </a:rPr>
              <a:t> </a:t>
            </a:r>
            <a:r>
              <a:rPr lang="en-US" sz="1400" dirty="0" err="1">
                <a:effectLst/>
                <a:ea typeface="Times New Roman" panose="02020603050405020304" pitchFamily="18" charset="0"/>
              </a:rPr>
              <a:t>và</a:t>
            </a:r>
            <a:r>
              <a:rPr lang="en-US" sz="1400" dirty="0">
                <a:effectLst/>
                <a:ea typeface="Times New Roman" panose="02020603050405020304" pitchFamily="18" charset="0"/>
              </a:rPr>
              <a:t> </a:t>
            </a:r>
            <a:r>
              <a:rPr lang="en-US" sz="1400" i="1" dirty="0">
                <a:effectLst/>
                <a:ea typeface="Times New Roman" panose="02020603050405020304" pitchFamily="18" charset="0"/>
              </a:rPr>
              <a:t>K</a:t>
            </a:r>
            <a:r>
              <a:rPr lang="en-US" sz="1400" dirty="0">
                <a:effectLst/>
                <a:ea typeface="Times New Roman" panose="02020603050405020304" pitchFamily="18" charset="0"/>
              </a:rPr>
              <a:t> </a:t>
            </a:r>
            <a:r>
              <a:rPr lang="en-US" sz="1400" dirty="0" err="1">
                <a:effectLst/>
                <a:ea typeface="Times New Roman" panose="02020603050405020304" pitchFamily="18" charset="0"/>
              </a:rPr>
              <a:t>có</a:t>
            </a:r>
            <a:r>
              <a:rPr lang="en-US" sz="1400" dirty="0">
                <a:effectLst/>
                <a:ea typeface="Times New Roman" panose="02020603050405020304" pitchFamily="18" charset="0"/>
              </a:rPr>
              <a:t> </a:t>
            </a:r>
            <a:r>
              <a:rPr lang="en-US" sz="1400" dirty="0" err="1">
                <a:effectLst/>
                <a:ea typeface="Times New Roman" panose="02020603050405020304" pitchFamily="18" charset="0"/>
              </a:rPr>
              <a:t>thể</a:t>
            </a:r>
            <a:r>
              <a:rPr lang="en-US" sz="1400" dirty="0">
                <a:effectLst/>
                <a:ea typeface="Times New Roman" panose="02020603050405020304" pitchFamily="18" charset="0"/>
              </a:rPr>
              <a:t> </a:t>
            </a:r>
            <a:r>
              <a:rPr lang="en-US" sz="1400" dirty="0" err="1">
                <a:effectLst/>
                <a:ea typeface="Times New Roman" panose="02020603050405020304" pitchFamily="18" charset="0"/>
              </a:rPr>
              <a:t>sử</a:t>
            </a:r>
            <a:r>
              <a:rPr lang="en-US" sz="1400" dirty="0">
                <a:effectLst/>
                <a:ea typeface="Times New Roman" panose="02020603050405020304" pitchFamily="18" charset="0"/>
              </a:rPr>
              <a:t> </a:t>
            </a:r>
            <a:r>
              <a:rPr lang="en-US" sz="1400" dirty="0" err="1">
                <a:effectLst/>
                <a:ea typeface="Times New Roman" panose="02020603050405020304" pitchFamily="18" charset="0"/>
              </a:rPr>
              <a:t>dụng</a:t>
            </a:r>
            <a:r>
              <a:rPr lang="en-US" sz="1400" dirty="0">
                <a:effectLst/>
                <a:ea typeface="Times New Roman" panose="02020603050405020304" pitchFamily="18" charset="0"/>
              </a:rPr>
              <a:t> </a:t>
            </a:r>
            <a:r>
              <a:rPr lang="en-US" sz="1400" dirty="0" err="1">
                <a:effectLst/>
                <a:ea typeface="Times New Roman" panose="02020603050405020304" pitchFamily="18" charset="0"/>
              </a:rPr>
              <a:t>để</a:t>
            </a:r>
            <a:r>
              <a:rPr lang="en-US" sz="1400" dirty="0">
                <a:effectLst/>
                <a:ea typeface="Times New Roman" panose="02020603050405020304" pitchFamily="18" charset="0"/>
              </a:rPr>
              <a:t> </a:t>
            </a:r>
            <a:r>
              <a:rPr lang="en-US" sz="1400" dirty="0" err="1">
                <a:effectLst/>
                <a:ea typeface="Times New Roman" panose="02020603050405020304" pitchFamily="18" charset="0"/>
              </a:rPr>
              <a:t>thể</a:t>
            </a:r>
            <a:r>
              <a:rPr lang="en-US" sz="1400" dirty="0">
                <a:effectLst/>
                <a:ea typeface="Times New Roman" panose="02020603050405020304" pitchFamily="18" charset="0"/>
              </a:rPr>
              <a:t> </a:t>
            </a:r>
            <a:r>
              <a:rPr lang="en-US" sz="1400" dirty="0" err="1">
                <a:effectLst/>
                <a:ea typeface="Times New Roman" panose="02020603050405020304" pitchFamily="18" charset="0"/>
              </a:rPr>
              <a:t>hiện</a:t>
            </a:r>
            <a:r>
              <a:rPr lang="en-US" sz="1400" dirty="0">
                <a:effectLst/>
                <a:ea typeface="Times New Roman" panose="02020603050405020304" pitchFamily="18" charset="0"/>
              </a:rPr>
              <a:t> </a:t>
            </a:r>
            <a:r>
              <a:rPr lang="en-US" sz="1400" dirty="0" err="1">
                <a:effectLst/>
                <a:ea typeface="Times New Roman" panose="02020603050405020304" pitchFamily="18" charset="0"/>
              </a:rPr>
              <a:t>tính</a:t>
            </a:r>
            <a:r>
              <a:rPr lang="en-US" sz="1400" dirty="0">
                <a:effectLst/>
                <a:ea typeface="Times New Roman" panose="02020603050405020304" pitchFamily="18" charset="0"/>
              </a:rPr>
              <a:t> </a:t>
            </a:r>
            <a:r>
              <a:rPr lang="en-US" sz="1400" dirty="0" err="1">
                <a:effectLst/>
                <a:ea typeface="Times New Roman" panose="02020603050405020304" pitchFamily="18" charset="0"/>
              </a:rPr>
              <a:t>ổn</a:t>
            </a:r>
            <a:r>
              <a:rPr lang="en-US" sz="1400" dirty="0">
                <a:effectLst/>
                <a:ea typeface="Times New Roman" panose="02020603050405020304" pitchFamily="18" charset="0"/>
              </a:rPr>
              <a:t> </a:t>
            </a:r>
            <a:r>
              <a:rPr lang="en-US" sz="1400" dirty="0" err="1">
                <a:effectLst/>
                <a:ea typeface="Times New Roman" panose="02020603050405020304" pitchFamily="18" charset="0"/>
              </a:rPr>
              <a:t>định</a:t>
            </a:r>
            <a:r>
              <a:rPr lang="en-US" sz="1400" dirty="0">
                <a:effectLst/>
                <a:ea typeface="Times New Roman" panose="02020603050405020304" pitchFamily="18" charset="0"/>
              </a:rPr>
              <a:t> </a:t>
            </a:r>
            <a:r>
              <a:rPr lang="en-US" sz="1400" dirty="0" err="1">
                <a:effectLst/>
                <a:ea typeface="Times New Roman" panose="02020603050405020304" pitchFamily="18" charset="0"/>
              </a:rPr>
              <a:t>tương</a:t>
            </a:r>
            <a:r>
              <a:rPr lang="en-US" sz="1400" dirty="0">
                <a:effectLst/>
                <a:ea typeface="Times New Roman" panose="02020603050405020304" pitchFamily="18" charset="0"/>
              </a:rPr>
              <a:t> </a:t>
            </a:r>
            <a:r>
              <a:rPr lang="en-US" sz="1400" dirty="0" err="1">
                <a:effectLst/>
                <a:ea typeface="Times New Roman" panose="02020603050405020304" pitchFamily="18" charset="0"/>
              </a:rPr>
              <a:t>đối</a:t>
            </a:r>
            <a:r>
              <a:rPr lang="en-US" sz="1400" dirty="0">
                <a:effectLst/>
                <a:ea typeface="Times New Roman" panose="02020603050405020304" pitchFamily="18" charset="0"/>
              </a:rPr>
              <a:t>. </a:t>
            </a:r>
            <a:r>
              <a:rPr lang="en-US" sz="1400" dirty="0" err="1">
                <a:effectLst/>
                <a:ea typeface="Times New Roman" panose="02020603050405020304" pitchFamily="18" charset="0"/>
              </a:rPr>
              <a:t>Số</a:t>
            </a:r>
            <a:r>
              <a:rPr lang="en-US" sz="1400" dirty="0">
                <a:effectLst/>
                <a:ea typeface="Times New Roman" panose="02020603050405020304" pitchFamily="18" charset="0"/>
              </a:rPr>
              <a:t> </a:t>
            </a:r>
            <a:r>
              <a:rPr lang="en-US" sz="1400" dirty="0" err="1">
                <a:effectLst/>
                <a:ea typeface="Times New Roman" panose="02020603050405020304" pitchFamily="18" charset="0"/>
              </a:rPr>
              <a:t>đo</a:t>
            </a:r>
            <a:r>
              <a:rPr lang="en-US" sz="1400" dirty="0">
                <a:effectLst/>
                <a:ea typeface="Times New Roman" panose="02020603050405020304" pitchFamily="18" charset="0"/>
              </a:rPr>
              <a:t> </a:t>
            </a:r>
            <a:r>
              <a:rPr lang="en-US" sz="1400" dirty="0" err="1">
                <a:effectLst/>
                <a:ea typeface="Times New Roman" panose="02020603050405020304" pitchFamily="18" charset="0"/>
              </a:rPr>
              <a:t>này</a:t>
            </a:r>
            <a:r>
              <a:rPr lang="en-US" sz="1400" dirty="0">
                <a:effectLst/>
                <a:ea typeface="Times New Roman" panose="02020603050405020304" pitchFamily="18" charset="0"/>
              </a:rPr>
              <a:t> </a:t>
            </a:r>
            <a:r>
              <a:rPr lang="en-US" sz="1400" dirty="0" err="1">
                <a:effectLst/>
                <a:ea typeface="Times New Roman" panose="02020603050405020304" pitchFamily="18" charset="0"/>
              </a:rPr>
              <a:t>được</a:t>
            </a:r>
            <a:r>
              <a:rPr lang="en-US" sz="1400" dirty="0">
                <a:effectLst/>
                <a:ea typeface="Times New Roman" panose="02020603050405020304" pitchFamily="18" charset="0"/>
              </a:rPr>
              <a:t> </a:t>
            </a:r>
            <a:r>
              <a:rPr lang="en-US" sz="1400" dirty="0" err="1">
                <a:effectLst/>
                <a:ea typeface="Times New Roman" panose="02020603050405020304" pitchFamily="18" charset="0"/>
              </a:rPr>
              <a:t>gọi</a:t>
            </a:r>
            <a:r>
              <a:rPr lang="en-US" sz="1400" dirty="0">
                <a:effectLst/>
                <a:ea typeface="Times New Roman" panose="02020603050405020304" pitchFamily="18" charset="0"/>
              </a:rPr>
              <a:t> </a:t>
            </a:r>
            <a:r>
              <a:rPr lang="en-US" sz="1400" dirty="0" err="1">
                <a:effectLst/>
                <a:ea typeface="Times New Roman" panose="02020603050405020304" pitchFamily="18" charset="0"/>
              </a:rPr>
              <a:t>là</a:t>
            </a:r>
            <a:r>
              <a:rPr lang="en-US" sz="1400" dirty="0">
                <a:effectLst/>
                <a:ea typeface="Times New Roman" panose="02020603050405020304" pitchFamily="18" charset="0"/>
              </a:rPr>
              <a:t> </a:t>
            </a:r>
            <a:r>
              <a:rPr lang="en-US" sz="1400" i="1" dirty="0" err="1">
                <a:effectLst/>
                <a:ea typeface="Times New Roman" panose="02020603050405020304" pitchFamily="18" charset="0"/>
              </a:rPr>
              <a:t>dự</a:t>
            </a:r>
            <a:r>
              <a:rPr lang="en-US" sz="1400" i="1" dirty="0">
                <a:effectLst/>
                <a:ea typeface="Times New Roman" panose="02020603050405020304" pitchFamily="18" charset="0"/>
              </a:rPr>
              <a:t> </a:t>
            </a:r>
            <a:r>
              <a:rPr lang="en-US" sz="1400" i="1" dirty="0" err="1">
                <a:effectLst/>
                <a:ea typeface="Times New Roman" panose="02020603050405020304" pitchFamily="18" charset="0"/>
              </a:rPr>
              <a:t>trữ</a:t>
            </a:r>
            <a:r>
              <a:rPr lang="en-US" sz="1400" i="1" dirty="0">
                <a:effectLst/>
                <a:ea typeface="Times New Roman" panose="02020603050405020304" pitchFamily="18" charset="0"/>
              </a:rPr>
              <a:t> </a:t>
            </a:r>
            <a:r>
              <a:rPr lang="en-US" sz="1400" i="1" dirty="0" err="1">
                <a:effectLst/>
                <a:ea typeface="Times New Roman" panose="02020603050405020304" pitchFamily="18" charset="0"/>
              </a:rPr>
              <a:t>gia</a:t>
            </a:r>
            <a:r>
              <a:rPr lang="en-US" sz="1400" i="1" dirty="0">
                <a:effectLst/>
                <a:ea typeface="Times New Roman" panose="02020603050405020304" pitchFamily="18" charset="0"/>
              </a:rPr>
              <a:t> </a:t>
            </a:r>
            <a:r>
              <a:rPr lang="en-US" sz="1400" i="1" dirty="0" err="1">
                <a:effectLst/>
                <a:ea typeface="Times New Roman" panose="02020603050405020304" pitchFamily="18" charset="0"/>
              </a:rPr>
              <a:t>lượng</a:t>
            </a:r>
            <a:r>
              <a:rPr lang="en-US" sz="1400" dirty="0">
                <a:effectLst/>
                <a:ea typeface="Times New Roman" panose="02020603050405020304" pitchFamily="18" charset="0"/>
              </a:rPr>
              <a:t> (</a:t>
            </a:r>
            <a:r>
              <a:rPr lang="en-US" sz="1400" i="1" dirty="0">
                <a:effectLst/>
                <a:ea typeface="Times New Roman" panose="02020603050405020304" pitchFamily="18" charset="0"/>
              </a:rPr>
              <a:t>gain margin</a:t>
            </a:r>
            <a:r>
              <a:rPr lang="en-US" sz="1400" dirty="0">
                <a:effectLst/>
                <a:ea typeface="Times New Roman" panose="02020603050405020304" pitchFamily="18" charset="0"/>
              </a:rPr>
              <a:t>) </a:t>
            </a:r>
            <a:r>
              <a:rPr lang="en-US" sz="1400" dirty="0" err="1">
                <a:effectLst/>
                <a:ea typeface="Times New Roman" panose="02020603050405020304" pitchFamily="18" charset="0"/>
              </a:rPr>
              <a:t>và</a:t>
            </a:r>
            <a:r>
              <a:rPr lang="en-US" sz="1400" dirty="0">
                <a:effectLst/>
                <a:ea typeface="Times New Roman" panose="02020603050405020304" pitchFamily="18" charset="0"/>
              </a:rPr>
              <a:t> </a:t>
            </a:r>
            <a:r>
              <a:rPr lang="en-US" sz="1400" dirty="0" err="1">
                <a:effectLst/>
                <a:ea typeface="Times New Roman" panose="02020603050405020304" pitchFamily="18" charset="0"/>
              </a:rPr>
              <a:t>được</a:t>
            </a:r>
            <a:r>
              <a:rPr lang="en-US" sz="1400" dirty="0">
                <a:effectLst/>
                <a:ea typeface="Times New Roman" panose="02020603050405020304" pitchFamily="18" charset="0"/>
              </a:rPr>
              <a:t> </a:t>
            </a:r>
            <a:r>
              <a:rPr lang="en-US" sz="1400" dirty="0" err="1">
                <a:effectLst/>
                <a:ea typeface="Times New Roman" panose="02020603050405020304" pitchFamily="18" charset="0"/>
              </a:rPr>
              <a:t>định</a:t>
            </a:r>
            <a:r>
              <a:rPr lang="en-US" sz="1400" dirty="0">
                <a:effectLst/>
                <a:ea typeface="Times New Roman" panose="02020603050405020304" pitchFamily="18" charset="0"/>
              </a:rPr>
              <a:t> </a:t>
            </a:r>
            <a:r>
              <a:rPr lang="en-US" sz="1400" dirty="0" err="1">
                <a:effectLst/>
                <a:ea typeface="Times New Roman" panose="02020603050405020304" pitchFamily="18" charset="0"/>
              </a:rPr>
              <a:t>nghĩa</a:t>
            </a:r>
            <a:r>
              <a:rPr lang="en-US" sz="1400" dirty="0">
                <a:effectLst/>
                <a:ea typeface="Times New Roman" panose="02020603050405020304" pitchFamily="18" charset="0"/>
              </a:rPr>
              <a:t> </a:t>
            </a:r>
            <a:r>
              <a:rPr lang="en-US" sz="1400" dirty="0" err="1">
                <a:effectLst/>
                <a:ea typeface="Times New Roman" panose="02020603050405020304" pitchFamily="18" charset="0"/>
              </a:rPr>
              <a:t>là</a:t>
            </a:r>
            <a:r>
              <a:rPr lang="en-US" sz="1400" dirty="0">
                <a:effectLst/>
                <a:ea typeface="Times New Roman" panose="02020603050405020304" pitchFamily="18" charset="0"/>
              </a:rPr>
              <a:t> </a:t>
            </a:r>
            <a:r>
              <a:rPr lang="en-US" sz="1400" dirty="0" err="1">
                <a:effectLst/>
                <a:ea typeface="Times New Roman" panose="02020603050405020304" pitchFamily="18" charset="0"/>
              </a:rPr>
              <a:t>nghịch</a:t>
            </a:r>
            <a:r>
              <a:rPr lang="en-US" sz="1400" dirty="0">
                <a:effectLst/>
                <a:ea typeface="Times New Roman" panose="02020603050405020304" pitchFamily="18" charset="0"/>
              </a:rPr>
              <a:t> </a:t>
            </a:r>
            <a:r>
              <a:rPr lang="en-US" sz="1400" dirty="0" err="1">
                <a:effectLst/>
                <a:ea typeface="Times New Roman" panose="02020603050405020304" pitchFamily="18" charset="0"/>
              </a:rPr>
              <a:t>đảo</a:t>
            </a:r>
            <a:r>
              <a:rPr lang="en-US" sz="1400" dirty="0">
                <a:effectLst/>
                <a:ea typeface="Times New Roman" panose="02020603050405020304" pitchFamily="18" charset="0"/>
              </a:rPr>
              <a:t> </a:t>
            </a:r>
            <a:r>
              <a:rPr lang="en-US" sz="1400" dirty="0" err="1">
                <a:effectLst/>
                <a:ea typeface="Times New Roman" panose="02020603050405020304" pitchFamily="18" charset="0"/>
              </a:rPr>
              <a:t>của</a:t>
            </a:r>
            <a:r>
              <a:rPr lang="en-US" sz="1400" dirty="0">
                <a:effectLst/>
                <a:ea typeface="Times New Roman" panose="02020603050405020304" pitchFamily="18" charset="0"/>
              </a:rPr>
              <a:t> </a:t>
            </a:r>
            <a:r>
              <a:rPr lang="en-US" sz="1400" dirty="0" err="1">
                <a:effectLst/>
                <a:ea typeface="Times New Roman" panose="02020603050405020304" pitchFamily="18" charset="0"/>
              </a:rPr>
              <a:t>độ</a:t>
            </a:r>
            <a:r>
              <a:rPr lang="en-US" sz="1400" dirty="0">
                <a:effectLst/>
                <a:ea typeface="Times New Roman" panose="02020603050405020304" pitchFamily="18" charset="0"/>
              </a:rPr>
              <a:t> </a:t>
            </a:r>
            <a:r>
              <a:rPr lang="en-US" sz="1400" dirty="0" err="1">
                <a:effectLst/>
                <a:ea typeface="Times New Roman" panose="02020603050405020304" pitchFamily="18" charset="0"/>
              </a:rPr>
              <a:t>lớn</a:t>
            </a:r>
            <a:r>
              <a:rPr lang="en-US" sz="1400" dirty="0">
                <a:effectLst/>
                <a:ea typeface="Times New Roman" panose="02020603050405020304" pitchFamily="18" charset="0"/>
              </a:rPr>
              <a:t> </a:t>
            </a:r>
            <a:r>
              <a:rPr lang="en-US" sz="1400" dirty="0" err="1">
                <a:effectLst/>
                <a:ea typeface="Times New Roman" panose="02020603050405020304" pitchFamily="18" charset="0"/>
              </a:rPr>
              <a:t>của</a:t>
            </a:r>
            <a:r>
              <a:rPr lang="en-US" sz="1400" dirty="0">
                <a:effectLst/>
                <a:ea typeface="Times New Roman" panose="02020603050405020304" pitchFamily="18" charset="0"/>
              </a:rPr>
              <a:t> </a:t>
            </a:r>
            <a:r>
              <a:rPr lang="en-US" sz="1400" i="1" dirty="0" err="1">
                <a:effectLst/>
                <a:ea typeface="Times New Roman" panose="02020603050405020304" pitchFamily="18" charset="0"/>
              </a:rPr>
              <a:t>đáp</a:t>
            </a:r>
            <a:r>
              <a:rPr lang="en-US" sz="1400" i="1" dirty="0">
                <a:effectLst/>
                <a:ea typeface="Times New Roman" panose="02020603050405020304" pitchFamily="18" charset="0"/>
              </a:rPr>
              <a:t> </a:t>
            </a:r>
            <a:r>
              <a:rPr lang="en-US" sz="1400" i="1" dirty="0" err="1">
                <a:effectLst/>
                <a:ea typeface="Times New Roman" panose="02020603050405020304" pitchFamily="18" charset="0"/>
              </a:rPr>
              <a:t>ứng</a:t>
            </a:r>
            <a:r>
              <a:rPr lang="en-US" sz="1400" i="1" dirty="0">
                <a:effectLst/>
                <a:ea typeface="Times New Roman" panose="02020603050405020304" pitchFamily="18" charset="0"/>
              </a:rPr>
              <a:t> </a:t>
            </a:r>
            <a:r>
              <a:rPr lang="en-US" sz="1400" i="1" dirty="0" err="1">
                <a:effectLst/>
                <a:ea typeface="Times New Roman" panose="02020603050405020304" pitchFamily="18" charset="0"/>
              </a:rPr>
              <a:t>tần</a:t>
            </a:r>
            <a:r>
              <a:rPr lang="en-US" sz="1400" i="1" dirty="0">
                <a:effectLst/>
                <a:ea typeface="Times New Roman" panose="02020603050405020304" pitchFamily="18" charset="0"/>
              </a:rPr>
              <a:t> </a:t>
            </a:r>
            <a:r>
              <a:rPr lang="en-US" sz="1400" i="1" dirty="0" err="1">
                <a:effectLst/>
                <a:ea typeface="Times New Roman" panose="02020603050405020304" pitchFamily="18" charset="0"/>
              </a:rPr>
              <a:t>số</a:t>
            </a:r>
            <a:r>
              <a:rPr lang="en-US" sz="1400" dirty="0">
                <a:effectLst/>
                <a:ea typeface="Times New Roman" panose="02020603050405020304" pitchFamily="18" charset="0"/>
              </a:rPr>
              <a:t> </a:t>
            </a:r>
            <a:r>
              <a:rPr lang="en-US" sz="1400" dirty="0" err="1">
                <a:effectLst/>
                <a:ea typeface="Times New Roman" panose="02020603050405020304" pitchFamily="18" charset="0"/>
              </a:rPr>
              <a:t>tại</a:t>
            </a:r>
            <a:r>
              <a:rPr lang="en-US" sz="1400" dirty="0">
                <a:effectLst/>
                <a:ea typeface="Times New Roman" panose="02020603050405020304" pitchFamily="18" charset="0"/>
              </a:rPr>
              <a:t> </a:t>
            </a:r>
            <a:r>
              <a:rPr lang="en-US" sz="1400" dirty="0" err="1">
                <a:effectLst/>
                <a:ea typeface="Times New Roman" panose="02020603050405020304" pitchFamily="18" charset="0"/>
              </a:rPr>
              <a:t>tần</a:t>
            </a:r>
            <a:r>
              <a:rPr lang="en-US" sz="1400" dirty="0">
                <a:effectLst/>
                <a:ea typeface="Times New Roman" panose="02020603050405020304" pitchFamily="18" charset="0"/>
              </a:rPr>
              <a:t> </a:t>
            </a:r>
            <a:r>
              <a:rPr lang="en-US" sz="1400" dirty="0" err="1">
                <a:effectLst/>
                <a:ea typeface="Times New Roman" panose="02020603050405020304" pitchFamily="18" charset="0"/>
              </a:rPr>
              <a:t>số</a:t>
            </a:r>
            <a:r>
              <a:rPr lang="en-US" sz="1400" dirty="0">
                <a:effectLst/>
                <a:ea typeface="Times New Roman" panose="02020603050405020304" pitchFamily="18" charset="0"/>
              </a:rPr>
              <a:t> </a:t>
            </a:r>
            <a:r>
              <a:rPr lang="en-US" sz="1400" dirty="0" err="1">
                <a:effectLst/>
                <a:ea typeface="Times New Roman" panose="02020603050405020304" pitchFamily="18" charset="0"/>
              </a:rPr>
              <a:t>mà</a:t>
            </a:r>
            <a:r>
              <a:rPr lang="en-US" sz="1400" dirty="0">
                <a:effectLst/>
                <a:ea typeface="Times New Roman" panose="02020603050405020304" pitchFamily="18" charset="0"/>
              </a:rPr>
              <a:t> </a:t>
            </a:r>
            <a:r>
              <a:rPr lang="en-US" sz="1400" dirty="0" err="1">
                <a:effectLst/>
                <a:ea typeface="Times New Roman" panose="02020603050405020304" pitchFamily="18" charset="0"/>
              </a:rPr>
              <a:t>ở</a:t>
            </a:r>
            <a:r>
              <a:rPr lang="en-US" sz="1400" dirty="0">
                <a:effectLst/>
                <a:ea typeface="Times New Roman" panose="02020603050405020304" pitchFamily="18" charset="0"/>
              </a:rPr>
              <a:t> </a:t>
            </a:r>
            <a:r>
              <a:rPr lang="en-US" sz="1400" dirty="0" err="1">
                <a:effectLst/>
                <a:ea typeface="Times New Roman" panose="02020603050405020304" pitchFamily="18" charset="0"/>
              </a:rPr>
              <a:t>đó</a:t>
            </a:r>
            <a:r>
              <a:rPr lang="en-US" sz="1400" dirty="0">
                <a:effectLst/>
                <a:ea typeface="Times New Roman" panose="02020603050405020304" pitchFamily="18" charset="0"/>
              </a:rPr>
              <a:t> </a:t>
            </a:r>
            <a:r>
              <a:rPr lang="en-US" sz="1400" dirty="0" err="1">
                <a:effectLst/>
                <a:ea typeface="Times New Roman" panose="02020603050405020304" pitchFamily="18" charset="0"/>
              </a:rPr>
              <a:t>góc</a:t>
            </a:r>
            <a:r>
              <a:rPr lang="en-US" sz="1400" dirty="0">
                <a:effectLst/>
                <a:ea typeface="Times New Roman" panose="02020603050405020304" pitchFamily="18" charset="0"/>
              </a:rPr>
              <a:t> </a:t>
            </a:r>
            <a:r>
              <a:rPr lang="en-US" sz="1400" dirty="0" err="1">
                <a:effectLst/>
                <a:ea typeface="Times New Roman" panose="02020603050405020304" pitchFamily="18" charset="0"/>
              </a:rPr>
              <a:t>pha</a:t>
            </a:r>
            <a:r>
              <a:rPr lang="en-US" sz="1400" dirty="0">
                <a:effectLst/>
                <a:ea typeface="Times New Roman" panose="02020603050405020304" pitchFamily="18" charset="0"/>
              </a:rPr>
              <a:t> </a:t>
            </a:r>
            <a:r>
              <a:rPr lang="en-US" sz="1400" dirty="0" err="1">
                <a:effectLst/>
                <a:ea typeface="Times New Roman" panose="02020603050405020304" pitchFamily="18" charset="0"/>
              </a:rPr>
              <a:t>đạt</a:t>
            </a:r>
            <a:r>
              <a:rPr lang="en-US" sz="1400" dirty="0">
                <a:effectLst/>
                <a:ea typeface="Times New Roman" panose="02020603050405020304" pitchFamily="18" charset="0"/>
              </a:rPr>
              <a:t> </a:t>
            </a:r>
            <a:r>
              <a:rPr lang="en-US" sz="1400" dirty="0">
                <a:effectLst/>
                <a:ea typeface="Times New Roman" panose="02020603050405020304" pitchFamily="18" charset="0"/>
                <a:sym typeface="Symbol" pitchFamily="2" charset="2"/>
              </a:rPr>
              <a:t></a:t>
            </a:r>
            <a:r>
              <a:rPr lang="en-US" sz="1400" dirty="0">
                <a:effectLst/>
                <a:ea typeface="Times New Roman" panose="02020603050405020304" pitchFamily="18" charset="0"/>
              </a:rPr>
              <a:t>180</a:t>
            </a:r>
            <a:r>
              <a:rPr lang="en-US" sz="1400" baseline="30000" dirty="0">
                <a:effectLst/>
                <a:ea typeface="Times New Roman" panose="02020603050405020304" pitchFamily="18" charset="0"/>
              </a:rPr>
              <a:t>o</a:t>
            </a:r>
            <a:r>
              <a:rPr lang="en-US" sz="1400" dirty="0">
                <a:effectLst/>
                <a:ea typeface="Times New Roman" panose="02020603050405020304" pitchFamily="18" charset="0"/>
              </a:rPr>
              <a:t> (hay </a:t>
            </a:r>
            <a:r>
              <a:rPr lang="en-US" sz="1400" dirty="0" err="1">
                <a:effectLst/>
                <a:ea typeface="Times New Roman" panose="02020603050405020304" pitchFamily="18" charset="0"/>
              </a:rPr>
              <a:t>imag</a:t>
            </a:r>
            <a:r>
              <a:rPr lang="en-US" sz="1400" dirty="0">
                <a:effectLst/>
                <a:ea typeface="Times New Roman" panose="02020603050405020304" pitchFamily="18" charset="0"/>
              </a:rPr>
              <a:t>[</a:t>
            </a:r>
            <a:r>
              <a:rPr lang="en-US" sz="1400" i="1" dirty="0">
                <a:effectLst/>
                <a:ea typeface="Times New Roman" panose="02020603050405020304" pitchFamily="18" charset="0"/>
              </a:rPr>
              <a:t>P</a:t>
            </a:r>
            <a:r>
              <a:rPr lang="en-US" sz="1400" dirty="0">
                <a:effectLst/>
                <a:ea typeface="Times New Roman" panose="02020603050405020304" pitchFamily="18" charset="0"/>
              </a:rPr>
              <a:t>(</a:t>
            </a:r>
            <a:r>
              <a:rPr lang="en-US" sz="1400" i="1" dirty="0">
                <a:ea typeface="Times New Roman" panose="02020603050405020304" pitchFamily="18" charset="0"/>
              </a:rPr>
              <a:t>j</a:t>
            </a:r>
            <a:r>
              <a:rPr lang="en-US" sz="1400" i="1" dirty="0">
                <a:effectLst/>
                <a:ea typeface="Times New Roman" panose="02020603050405020304" pitchFamily="18" charset="0"/>
                <a:sym typeface="Symbol" pitchFamily="2" charset="2"/>
              </a:rPr>
              <a:t></a:t>
            </a:r>
            <a:r>
              <a:rPr lang="en-US" sz="1400" dirty="0">
                <a:effectLst/>
                <a:ea typeface="Times New Roman" panose="02020603050405020304" pitchFamily="18" charset="0"/>
              </a:rPr>
              <a:t>)] = 0). </a:t>
            </a:r>
          </a:p>
          <a:p>
            <a:pPr algn="just"/>
            <a:r>
              <a:rPr lang="en-US" sz="1400" dirty="0" err="1">
                <a:effectLst/>
                <a:ea typeface="Times New Roman" panose="02020603050405020304" pitchFamily="18" charset="0"/>
              </a:rPr>
              <a:t>Một</a:t>
            </a:r>
            <a:r>
              <a:rPr lang="en-US" sz="1400" dirty="0">
                <a:effectLst/>
                <a:ea typeface="Times New Roman" panose="02020603050405020304" pitchFamily="18" charset="0"/>
              </a:rPr>
              <a:t> </a:t>
            </a:r>
            <a:r>
              <a:rPr lang="en-US" sz="1400" dirty="0" err="1">
                <a:effectLst/>
                <a:ea typeface="Times New Roman" panose="02020603050405020304" pitchFamily="18" charset="0"/>
              </a:rPr>
              <a:t>lựa</a:t>
            </a:r>
            <a:r>
              <a:rPr lang="en-US" sz="1400" dirty="0">
                <a:effectLst/>
                <a:ea typeface="Times New Roman" panose="02020603050405020304" pitchFamily="18" charset="0"/>
              </a:rPr>
              <a:t> </a:t>
            </a:r>
            <a:r>
              <a:rPr lang="en-US" sz="1400" dirty="0" err="1">
                <a:effectLst/>
                <a:ea typeface="Times New Roman" panose="02020603050405020304" pitchFamily="18" charset="0"/>
              </a:rPr>
              <a:t>chọn</a:t>
            </a:r>
            <a:r>
              <a:rPr lang="en-US" sz="1400" dirty="0">
                <a:effectLst/>
                <a:ea typeface="Times New Roman" panose="02020603050405020304" pitchFamily="18" charset="0"/>
              </a:rPr>
              <a:t> </a:t>
            </a:r>
            <a:r>
              <a:rPr lang="en-US" sz="1400" dirty="0" err="1">
                <a:effectLst/>
                <a:ea typeface="Times New Roman" panose="02020603050405020304" pitchFamily="18" charset="0"/>
              </a:rPr>
              <a:t>khác</a:t>
            </a:r>
            <a:r>
              <a:rPr lang="en-US" sz="1400" dirty="0">
                <a:effectLst/>
                <a:ea typeface="Times New Roman" panose="02020603050405020304" pitchFamily="18" charset="0"/>
              </a:rPr>
              <a:t> </a:t>
            </a:r>
            <a:r>
              <a:rPr lang="en-US" sz="1400" dirty="0" err="1">
                <a:effectLst/>
                <a:ea typeface="Times New Roman" panose="02020603050405020304" pitchFamily="18" charset="0"/>
              </a:rPr>
              <a:t>cho</a:t>
            </a:r>
            <a:r>
              <a:rPr lang="en-US" sz="1400" dirty="0">
                <a:effectLst/>
                <a:ea typeface="Times New Roman" panose="02020603050405020304" pitchFamily="18" charset="0"/>
              </a:rPr>
              <a:t> </a:t>
            </a:r>
            <a:r>
              <a:rPr lang="en-US" sz="1400" dirty="0" err="1">
                <a:effectLst/>
                <a:ea typeface="Times New Roman" panose="02020603050405020304" pitchFamily="18" charset="0"/>
              </a:rPr>
              <a:t>số</a:t>
            </a:r>
            <a:r>
              <a:rPr lang="en-US" sz="1400" dirty="0">
                <a:effectLst/>
                <a:ea typeface="Times New Roman" panose="02020603050405020304" pitchFamily="18" charset="0"/>
              </a:rPr>
              <a:t> </a:t>
            </a:r>
            <a:r>
              <a:rPr lang="en-US" sz="1400" dirty="0" err="1">
                <a:effectLst/>
                <a:ea typeface="Times New Roman" panose="02020603050405020304" pitchFamily="18" charset="0"/>
              </a:rPr>
              <a:t>đo</a:t>
            </a:r>
            <a:r>
              <a:rPr lang="en-US" sz="1400" dirty="0">
                <a:effectLst/>
                <a:ea typeface="Times New Roman" panose="02020603050405020304" pitchFamily="18" charset="0"/>
              </a:rPr>
              <a:t> </a:t>
            </a:r>
            <a:r>
              <a:rPr lang="en-US" sz="1400" dirty="0" err="1">
                <a:effectLst/>
                <a:ea typeface="Times New Roman" panose="02020603050405020304" pitchFamily="18" charset="0"/>
              </a:rPr>
              <a:t>tính</a:t>
            </a:r>
            <a:r>
              <a:rPr lang="en-US" sz="1400" dirty="0">
                <a:effectLst/>
                <a:ea typeface="Times New Roman" panose="02020603050405020304" pitchFamily="18" charset="0"/>
              </a:rPr>
              <a:t> </a:t>
            </a:r>
            <a:r>
              <a:rPr lang="en-US" sz="1400" dirty="0" err="1">
                <a:effectLst/>
                <a:ea typeface="Times New Roman" panose="02020603050405020304" pitchFamily="18" charset="0"/>
              </a:rPr>
              <a:t>ổn</a:t>
            </a:r>
            <a:r>
              <a:rPr lang="en-US" sz="1400" dirty="0">
                <a:effectLst/>
                <a:ea typeface="Times New Roman" panose="02020603050405020304" pitchFamily="18" charset="0"/>
              </a:rPr>
              <a:t> </a:t>
            </a:r>
            <a:r>
              <a:rPr lang="en-US" sz="1400" dirty="0" err="1">
                <a:effectLst/>
                <a:ea typeface="Times New Roman" panose="02020603050405020304" pitchFamily="18" charset="0"/>
              </a:rPr>
              <a:t>định</a:t>
            </a:r>
            <a:r>
              <a:rPr lang="en-US" sz="1400" dirty="0">
                <a:effectLst/>
                <a:ea typeface="Times New Roman" panose="02020603050405020304" pitchFamily="18" charset="0"/>
              </a:rPr>
              <a:t> </a:t>
            </a:r>
            <a:r>
              <a:rPr lang="en-US" sz="1400" dirty="0" err="1">
                <a:effectLst/>
                <a:ea typeface="Times New Roman" panose="02020603050405020304" pitchFamily="18" charset="0"/>
              </a:rPr>
              <a:t>tương</a:t>
            </a:r>
            <a:r>
              <a:rPr lang="en-US" sz="1400" dirty="0">
                <a:effectLst/>
                <a:ea typeface="Times New Roman" panose="02020603050405020304" pitchFamily="18" charset="0"/>
              </a:rPr>
              <a:t> </a:t>
            </a:r>
            <a:r>
              <a:rPr lang="en-US" sz="1400" dirty="0" err="1">
                <a:effectLst/>
                <a:ea typeface="Times New Roman" panose="02020603050405020304" pitchFamily="18" charset="0"/>
              </a:rPr>
              <a:t>đối</a:t>
            </a:r>
            <a:r>
              <a:rPr lang="en-US" sz="1400" dirty="0">
                <a:effectLst/>
                <a:ea typeface="Times New Roman" panose="02020603050405020304" pitchFamily="18" charset="0"/>
              </a:rPr>
              <a:t> </a:t>
            </a:r>
            <a:r>
              <a:rPr lang="en-US" sz="1400" dirty="0" err="1">
                <a:effectLst/>
                <a:ea typeface="Times New Roman" panose="02020603050405020304" pitchFamily="18" charset="0"/>
              </a:rPr>
              <a:t>được</a:t>
            </a:r>
            <a:r>
              <a:rPr lang="en-US" sz="1400" dirty="0">
                <a:effectLst/>
                <a:ea typeface="Times New Roman" panose="02020603050405020304" pitchFamily="18" charset="0"/>
              </a:rPr>
              <a:t> </a:t>
            </a:r>
            <a:r>
              <a:rPr lang="en-US" sz="1400" dirty="0" err="1">
                <a:effectLst/>
                <a:ea typeface="Times New Roman" panose="02020603050405020304" pitchFamily="18" charset="0"/>
              </a:rPr>
              <a:t>định</a:t>
            </a:r>
            <a:r>
              <a:rPr lang="en-US" sz="1400" dirty="0">
                <a:effectLst/>
                <a:ea typeface="Times New Roman" panose="02020603050405020304" pitchFamily="18" charset="0"/>
              </a:rPr>
              <a:t> </a:t>
            </a:r>
            <a:r>
              <a:rPr lang="en-US" sz="1400" dirty="0" err="1">
                <a:effectLst/>
                <a:ea typeface="Times New Roman" panose="02020603050405020304" pitchFamily="18" charset="0"/>
              </a:rPr>
              <a:t>nghĩa</a:t>
            </a:r>
            <a:r>
              <a:rPr lang="en-US" sz="1400" dirty="0">
                <a:effectLst/>
                <a:ea typeface="Times New Roman" panose="02020603050405020304" pitchFamily="18" charset="0"/>
              </a:rPr>
              <a:t> </a:t>
            </a:r>
            <a:r>
              <a:rPr lang="en-US" sz="1400" dirty="0" err="1">
                <a:effectLst/>
                <a:ea typeface="Times New Roman" panose="02020603050405020304" pitchFamily="18" charset="0"/>
              </a:rPr>
              <a:t>dưới</a:t>
            </a:r>
            <a:r>
              <a:rPr lang="en-US" sz="1400" dirty="0">
                <a:effectLst/>
                <a:ea typeface="Times New Roman" panose="02020603050405020304" pitchFamily="18" charset="0"/>
              </a:rPr>
              <a:t> </a:t>
            </a:r>
            <a:r>
              <a:rPr lang="en-US" sz="1400" dirty="0" err="1">
                <a:effectLst/>
                <a:ea typeface="Times New Roman" panose="02020603050405020304" pitchFamily="18" charset="0"/>
              </a:rPr>
              <a:t>dạng</a:t>
            </a:r>
            <a:r>
              <a:rPr lang="en-US" sz="1400" dirty="0">
                <a:effectLst/>
                <a:ea typeface="Times New Roman" panose="02020603050405020304" pitchFamily="18" charset="0"/>
              </a:rPr>
              <a:t> </a:t>
            </a:r>
            <a:r>
              <a:rPr lang="en-US" sz="1400" dirty="0" err="1">
                <a:effectLst/>
                <a:ea typeface="Times New Roman" panose="02020603050405020304" pitchFamily="18" charset="0"/>
              </a:rPr>
              <a:t>chênh</a:t>
            </a:r>
            <a:r>
              <a:rPr lang="en-US" sz="1400" dirty="0">
                <a:effectLst/>
                <a:ea typeface="Times New Roman" panose="02020603050405020304" pitchFamily="18" charset="0"/>
              </a:rPr>
              <a:t> </a:t>
            </a:r>
            <a:r>
              <a:rPr lang="en-US" sz="1400" dirty="0" err="1">
                <a:effectLst/>
                <a:ea typeface="Times New Roman" panose="02020603050405020304" pitchFamily="18" charset="0"/>
              </a:rPr>
              <a:t>lệch</a:t>
            </a:r>
            <a:r>
              <a:rPr lang="en-US" sz="1400" dirty="0">
                <a:effectLst/>
                <a:ea typeface="Times New Roman" panose="02020603050405020304" pitchFamily="18" charset="0"/>
              </a:rPr>
              <a:t> </a:t>
            </a:r>
            <a:r>
              <a:rPr lang="en-US" sz="1400" dirty="0" err="1">
                <a:effectLst/>
                <a:ea typeface="Times New Roman" panose="02020603050405020304" pitchFamily="18" charset="0"/>
              </a:rPr>
              <a:t>góc</a:t>
            </a:r>
            <a:r>
              <a:rPr lang="en-US" sz="1400" dirty="0">
                <a:effectLst/>
                <a:ea typeface="Times New Roman" panose="02020603050405020304" pitchFamily="18" charset="0"/>
              </a:rPr>
              <a:t> </a:t>
            </a:r>
            <a:r>
              <a:rPr lang="en-US" sz="1400" dirty="0" err="1">
                <a:effectLst/>
                <a:ea typeface="Times New Roman" panose="02020603050405020304" pitchFamily="18" charset="0"/>
              </a:rPr>
              <a:t>pha</a:t>
            </a:r>
            <a:r>
              <a:rPr lang="en-US" sz="1400" dirty="0">
                <a:effectLst/>
                <a:ea typeface="Times New Roman" panose="02020603050405020304" pitchFamily="18" charset="0"/>
              </a:rPr>
              <a:t> </a:t>
            </a:r>
            <a:r>
              <a:rPr lang="en-US" sz="1400" dirty="0" err="1">
                <a:effectLst/>
                <a:ea typeface="Times New Roman" panose="02020603050405020304" pitchFamily="18" charset="0"/>
              </a:rPr>
              <a:t>giữa</a:t>
            </a:r>
            <a:r>
              <a:rPr lang="en-US" sz="1400" dirty="0">
                <a:effectLst/>
                <a:ea typeface="Times New Roman" panose="02020603050405020304" pitchFamily="18" charset="0"/>
              </a:rPr>
              <a:t> </a:t>
            </a:r>
            <a:r>
              <a:rPr lang="en-US" sz="1400" dirty="0" err="1">
                <a:effectLst/>
                <a:ea typeface="Times New Roman" panose="02020603050405020304" pitchFamily="18" charset="0"/>
              </a:rPr>
              <a:t>một</a:t>
            </a:r>
            <a:r>
              <a:rPr lang="en-US" sz="1400" dirty="0">
                <a:effectLst/>
                <a:ea typeface="Times New Roman" panose="02020603050405020304" pitchFamily="18" charset="0"/>
              </a:rPr>
              <a:t> </a:t>
            </a:r>
            <a:r>
              <a:rPr lang="en-US" sz="1400" dirty="0" err="1">
                <a:effectLst/>
                <a:ea typeface="Times New Roman" panose="02020603050405020304" pitchFamily="18" charset="0"/>
              </a:rPr>
              <a:t>hệ</a:t>
            </a:r>
            <a:r>
              <a:rPr lang="en-US" sz="1400" dirty="0">
                <a:effectLst/>
                <a:ea typeface="Times New Roman" panose="02020603050405020304" pitchFamily="18" charset="0"/>
              </a:rPr>
              <a:t> </a:t>
            </a:r>
            <a:r>
              <a:rPr lang="en-US" sz="1400" dirty="0" err="1">
                <a:effectLst/>
                <a:ea typeface="Times New Roman" panose="02020603050405020304" pitchFamily="18" charset="0"/>
              </a:rPr>
              <a:t>thống</a:t>
            </a:r>
            <a:r>
              <a:rPr lang="en-US" sz="1400" dirty="0">
                <a:effectLst/>
                <a:ea typeface="Times New Roman" panose="02020603050405020304" pitchFamily="18" charset="0"/>
              </a:rPr>
              <a:t> </a:t>
            </a:r>
            <a:r>
              <a:rPr lang="en-US" sz="1400" dirty="0" err="1">
                <a:effectLst/>
                <a:ea typeface="Times New Roman" panose="02020603050405020304" pitchFamily="18" charset="0"/>
              </a:rPr>
              <a:t>nhất</a:t>
            </a:r>
            <a:r>
              <a:rPr lang="en-US" sz="1400" dirty="0">
                <a:effectLst/>
                <a:ea typeface="Times New Roman" panose="02020603050405020304" pitchFamily="18" charset="0"/>
              </a:rPr>
              <a:t> </a:t>
            </a:r>
            <a:r>
              <a:rPr lang="en-US" sz="1400" dirty="0" err="1">
                <a:effectLst/>
                <a:ea typeface="Times New Roman" panose="02020603050405020304" pitchFamily="18" charset="0"/>
              </a:rPr>
              <a:t>định</a:t>
            </a:r>
            <a:r>
              <a:rPr lang="en-US" sz="1400" dirty="0">
                <a:effectLst/>
                <a:ea typeface="Times New Roman" panose="02020603050405020304" pitchFamily="18" charset="0"/>
              </a:rPr>
              <a:t> </a:t>
            </a:r>
            <a:r>
              <a:rPr lang="en-US" sz="1400" dirty="0" err="1">
                <a:effectLst/>
                <a:ea typeface="Times New Roman" panose="02020603050405020304" pitchFamily="18" charset="0"/>
              </a:rPr>
              <a:t>và</a:t>
            </a:r>
            <a:r>
              <a:rPr lang="en-US" sz="1400" dirty="0">
                <a:effectLst/>
                <a:ea typeface="Times New Roman" panose="02020603050405020304" pitchFamily="18" charset="0"/>
              </a:rPr>
              <a:t> </a:t>
            </a:r>
            <a:r>
              <a:rPr lang="en-US" sz="1400" dirty="0" err="1">
                <a:effectLst/>
                <a:ea typeface="Times New Roman" panose="02020603050405020304" pitchFamily="18" charset="0"/>
              </a:rPr>
              <a:t>một</a:t>
            </a:r>
            <a:r>
              <a:rPr lang="en-US" sz="1400" dirty="0">
                <a:effectLst/>
                <a:ea typeface="Times New Roman" panose="02020603050405020304" pitchFamily="18" charset="0"/>
              </a:rPr>
              <a:t> </a:t>
            </a:r>
            <a:r>
              <a:rPr lang="en-US" sz="1400" dirty="0" err="1">
                <a:effectLst/>
                <a:ea typeface="Times New Roman" panose="02020603050405020304" pitchFamily="18" charset="0"/>
              </a:rPr>
              <a:t>hệ</a:t>
            </a:r>
            <a:r>
              <a:rPr lang="en-US" sz="1400" dirty="0">
                <a:effectLst/>
                <a:ea typeface="Times New Roman" panose="02020603050405020304" pitchFamily="18" charset="0"/>
              </a:rPr>
              <a:t> </a:t>
            </a:r>
            <a:r>
              <a:rPr lang="en-US" sz="1400" dirty="0" err="1">
                <a:effectLst/>
                <a:ea typeface="Times New Roman" panose="02020603050405020304" pitchFamily="18" charset="0"/>
              </a:rPr>
              <a:t>thống</a:t>
            </a:r>
            <a:r>
              <a:rPr lang="en-US" sz="1400" dirty="0">
                <a:effectLst/>
                <a:ea typeface="Times New Roman" panose="02020603050405020304" pitchFamily="18" charset="0"/>
              </a:rPr>
              <a:t> </a:t>
            </a:r>
            <a:r>
              <a:rPr lang="en-US" sz="1400" dirty="0" err="1">
                <a:effectLst/>
                <a:ea typeface="Times New Roman" panose="02020603050405020304" pitchFamily="18" charset="0"/>
              </a:rPr>
              <a:t>nằm</a:t>
            </a:r>
            <a:r>
              <a:rPr lang="en-US" sz="1400" dirty="0">
                <a:effectLst/>
                <a:ea typeface="Times New Roman" panose="02020603050405020304" pitchFamily="18" charset="0"/>
              </a:rPr>
              <a:t> </a:t>
            </a:r>
            <a:r>
              <a:rPr lang="en-US" sz="1400" dirty="0" err="1">
                <a:effectLst/>
                <a:ea typeface="Times New Roman" panose="02020603050405020304" pitchFamily="18" charset="0"/>
              </a:rPr>
              <a:t>ở</a:t>
            </a:r>
            <a:r>
              <a:rPr lang="en-US" sz="1400" dirty="0">
                <a:effectLst/>
                <a:ea typeface="Times New Roman" panose="02020603050405020304" pitchFamily="18" charset="0"/>
              </a:rPr>
              <a:t> </a:t>
            </a:r>
            <a:r>
              <a:rPr lang="en-US" sz="1400" dirty="0" err="1">
                <a:effectLst/>
                <a:ea typeface="Times New Roman" panose="02020603050405020304" pitchFamily="18" charset="0"/>
              </a:rPr>
              <a:t>ranh</a:t>
            </a:r>
            <a:r>
              <a:rPr lang="en-US" sz="1400" dirty="0">
                <a:effectLst/>
                <a:ea typeface="Times New Roman" panose="02020603050405020304" pitchFamily="18" charset="0"/>
              </a:rPr>
              <a:t> </a:t>
            </a:r>
            <a:r>
              <a:rPr lang="en-US" sz="1400" dirty="0" err="1">
                <a:effectLst/>
                <a:ea typeface="Times New Roman" panose="02020603050405020304" pitchFamily="18" charset="0"/>
              </a:rPr>
              <a:t>giới</a:t>
            </a:r>
            <a:r>
              <a:rPr lang="en-US" sz="1400" dirty="0">
                <a:effectLst/>
                <a:ea typeface="Times New Roman" panose="02020603050405020304" pitchFamily="18" charset="0"/>
              </a:rPr>
              <a:t> </a:t>
            </a:r>
            <a:r>
              <a:rPr lang="en-US" sz="1400" dirty="0" err="1">
                <a:effectLst/>
                <a:ea typeface="Times New Roman" panose="02020603050405020304" pitchFamily="18" charset="0"/>
              </a:rPr>
              <a:t>của</a:t>
            </a:r>
            <a:r>
              <a:rPr lang="en-US" sz="1400" dirty="0">
                <a:effectLst/>
                <a:ea typeface="Times New Roman" panose="02020603050405020304" pitchFamily="18" charset="0"/>
              </a:rPr>
              <a:t> </a:t>
            </a:r>
            <a:r>
              <a:rPr lang="en-US" sz="1400" dirty="0" err="1">
                <a:effectLst/>
                <a:ea typeface="Times New Roman" panose="02020603050405020304" pitchFamily="18" charset="0"/>
              </a:rPr>
              <a:t>trạng</a:t>
            </a:r>
            <a:r>
              <a:rPr lang="en-US" sz="1400" dirty="0">
                <a:effectLst/>
                <a:ea typeface="Times New Roman" panose="02020603050405020304" pitchFamily="18" charset="0"/>
              </a:rPr>
              <a:t> </a:t>
            </a:r>
            <a:r>
              <a:rPr lang="en-US" sz="1400" dirty="0" err="1">
                <a:effectLst/>
                <a:ea typeface="Times New Roman" panose="02020603050405020304" pitchFamily="18" charset="0"/>
              </a:rPr>
              <a:t>thái</a:t>
            </a:r>
            <a:r>
              <a:rPr lang="en-US" sz="1400" dirty="0">
                <a:effectLst/>
                <a:ea typeface="Times New Roman" panose="02020603050405020304" pitchFamily="18" charset="0"/>
              </a:rPr>
              <a:t> </a:t>
            </a:r>
            <a:r>
              <a:rPr lang="en-US" sz="1400" dirty="0" err="1">
                <a:effectLst/>
                <a:ea typeface="Times New Roman" panose="02020603050405020304" pitchFamily="18" charset="0"/>
              </a:rPr>
              <a:t>ổn</a:t>
            </a:r>
            <a:r>
              <a:rPr lang="en-US" sz="1400" dirty="0">
                <a:effectLst/>
                <a:ea typeface="Times New Roman" panose="02020603050405020304" pitchFamily="18" charset="0"/>
              </a:rPr>
              <a:t> </a:t>
            </a:r>
            <a:r>
              <a:rPr lang="en-US" sz="1400" dirty="0" err="1">
                <a:effectLst/>
                <a:ea typeface="Times New Roman" panose="02020603050405020304" pitchFamily="18" charset="0"/>
              </a:rPr>
              <a:t>định</a:t>
            </a:r>
            <a:r>
              <a:rPr lang="en-US" sz="1400" dirty="0">
                <a:effectLst/>
                <a:ea typeface="Times New Roman" panose="02020603050405020304" pitchFamily="18" charset="0"/>
              </a:rPr>
              <a:t>. </a:t>
            </a:r>
            <a:r>
              <a:rPr lang="en-US" sz="1400" dirty="0" err="1">
                <a:effectLst/>
                <a:ea typeface="Times New Roman" panose="02020603050405020304" pitchFamily="18" charset="0"/>
              </a:rPr>
              <a:t>Số</a:t>
            </a:r>
            <a:r>
              <a:rPr lang="en-US" sz="1400" dirty="0">
                <a:effectLst/>
                <a:ea typeface="Times New Roman" panose="02020603050405020304" pitchFamily="18" charset="0"/>
              </a:rPr>
              <a:t> </a:t>
            </a:r>
            <a:r>
              <a:rPr lang="en-US" sz="1400" dirty="0" err="1">
                <a:effectLst/>
                <a:ea typeface="Times New Roman" panose="02020603050405020304" pitchFamily="18" charset="0"/>
              </a:rPr>
              <a:t>đo</a:t>
            </a:r>
            <a:r>
              <a:rPr lang="en-US" sz="1400" dirty="0">
                <a:effectLst/>
                <a:ea typeface="Times New Roman" panose="02020603050405020304" pitchFamily="18" charset="0"/>
              </a:rPr>
              <a:t> </a:t>
            </a:r>
            <a:r>
              <a:rPr lang="en-US" sz="1400" dirty="0" err="1">
                <a:effectLst/>
                <a:ea typeface="Times New Roman" panose="02020603050405020304" pitchFamily="18" charset="0"/>
              </a:rPr>
              <a:t>này</a:t>
            </a:r>
            <a:r>
              <a:rPr lang="en-US" sz="1400" dirty="0">
                <a:effectLst/>
                <a:ea typeface="Times New Roman" panose="02020603050405020304" pitchFamily="18" charset="0"/>
              </a:rPr>
              <a:t>, </a:t>
            </a:r>
            <a:r>
              <a:rPr lang="en-US" sz="1400" dirty="0" err="1">
                <a:effectLst/>
                <a:ea typeface="Times New Roman" panose="02020603050405020304" pitchFamily="18" charset="0"/>
              </a:rPr>
              <a:t>được</a:t>
            </a:r>
            <a:r>
              <a:rPr lang="en-US" sz="1400" dirty="0">
                <a:effectLst/>
                <a:ea typeface="Times New Roman" panose="02020603050405020304" pitchFamily="18" charset="0"/>
              </a:rPr>
              <a:t> </a:t>
            </a:r>
            <a:r>
              <a:rPr lang="en-US" sz="1400" dirty="0" err="1">
                <a:effectLst/>
                <a:ea typeface="Times New Roman" panose="02020603050405020304" pitchFamily="18" charset="0"/>
              </a:rPr>
              <a:t>gọi</a:t>
            </a:r>
            <a:r>
              <a:rPr lang="en-US" sz="1400" dirty="0">
                <a:effectLst/>
                <a:ea typeface="Times New Roman" panose="02020603050405020304" pitchFamily="18" charset="0"/>
              </a:rPr>
              <a:t> </a:t>
            </a:r>
            <a:r>
              <a:rPr lang="en-US" sz="1400" dirty="0" err="1">
                <a:effectLst/>
                <a:ea typeface="Times New Roman" panose="02020603050405020304" pitchFamily="18" charset="0"/>
              </a:rPr>
              <a:t>là</a:t>
            </a:r>
            <a:r>
              <a:rPr lang="en-US" sz="1400" dirty="0">
                <a:effectLst/>
                <a:ea typeface="Times New Roman" panose="02020603050405020304" pitchFamily="18" charset="0"/>
              </a:rPr>
              <a:t> </a:t>
            </a:r>
            <a:r>
              <a:rPr lang="en-US" sz="1400" i="1" dirty="0" err="1">
                <a:effectLst/>
                <a:ea typeface="Times New Roman" panose="02020603050405020304" pitchFamily="18" charset="0"/>
              </a:rPr>
              <a:t>dự</a:t>
            </a:r>
            <a:r>
              <a:rPr lang="en-US" sz="1400" i="1" dirty="0">
                <a:effectLst/>
                <a:ea typeface="Times New Roman" panose="02020603050405020304" pitchFamily="18" charset="0"/>
              </a:rPr>
              <a:t> </a:t>
            </a:r>
            <a:r>
              <a:rPr lang="en-US" sz="1400" i="1" dirty="0" err="1">
                <a:effectLst/>
                <a:ea typeface="Times New Roman" panose="02020603050405020304" pitchFamily="18" charset="0"/>
              </a:rPr>
              <a:t>trữ</a:t>
            </a:r>
            <a:r>
              <a:rPr lang="en-US" sz="1400" i="1" dirty="0">
                <a:effectLst/>
                <a:ea typeface="Times New Roman" panose="02020603050405020304" pitchFamily="18" charset="0"/>
              </a:rPr>
              <a:t> </a:t>
            </a:r>
            <a:r>
              <a:rPr lang="en-US" sz="1400" i="1" dirty="0" err="1">
                <a:effectLst/>
                <a:ea typeface="Times New Roman" panose="02020603050405020304" pitchFamily="18" charset="0"/>
              </a:rPr>
              <a:t>pha</a:t>
            </a:r>
            <a:r>
              <a:rPr lang="en-US" sz="1400" dirty="0">
                <a:effectLst/>
                <a:ea typeface="Times New Roman" panose="02020603050405020304" pitchFamily="18" charset="0"/>
              </a:rPr>
              <a:t> (</a:t>
            </a:r>
            <a:r>
              <a:rPr lang="en-US" sz="1400" i="1" dirty="0">
                <a:effectLst/>
                <a:ea typeface="Times New Roman" panose="02020603050405020304" pitchFamily="18" charset="0"/>
              </a:rPr>
              <a:t>phase margin</a:t>
            </a:r>
            <a:r>
              <a:rPr lang="en-US" sz="1400" dirty="0">
                <a:effectLst/>
                <a:ea typeface="Times New Roman" panose="02020603050405020304" pitchFamily="18" charset="0"/>
              </a:rPr>
              <a:t>), </a:t>
            </a:r>
            <a:r>
              <a:rPr lang="en-US" sz="1400" dirty="0" err="1">
                <a:effectLst/>
                <a:ea typeface="Times New Roman" panose="02020603050405020304" pitchFamily="18" charset="0"/>
              </a:rPr>
              <a:t>được</a:t>
            </a:r>
            <a:r>
              <a:rPr lang="en-US" sz="1400" dirty="0">
                <a:effectLst/>
                <a:ea typeface="Times New Roman" panose="02020603050405020304" pitchFamily="18" charset="0"/>
              </a:rPr>
              <a:t> </a:t>
            </a:r>
            <a:r>
              <a:rPr lang="en-US" sz="1400" dirty="0" err="1">
                <a:effectLst/>
                <a:ea typeface="Times New Roman" panose="02020603050405020304" pitchFamily="18" charset="0"/>
              </a:rPr>
              <a:t>định</a:t>
            </a:r>
            <a:r>
              <a:rPr lang="en-US" sz="1400" dirty="0">
                <a:effectLst/>
                <a:ea typeface="Times New Roman" panose="02020603050405020304" pitchFamily="18" charset="0"/>
              </a:rPr>
              <a:t> </a:t>
            </a:r>
            <a:r>
              <a:rPr lang="en-US" sz="1400" dirty="0" err="1">
                <a:effectLst/>
                <a:ea typeface="Times New Roman" panose="02020603050405020304" pitchFamily="18" charset="0"/>
              </a:rPr>
              <a:t>nghĩa</a:t>
            </a:r>
            <a:r>
              <a:rPr lang="en-US" sz="1400" dirty="0">
                <a:effectLst/>
                <a:ea typeface="Times New Roman" panose="02020603050405020304" pitchFamily="18" charset="0"/>
              </a:rPr>
              <a:t> </a:t>
            </a:r>
            <a:r>
              <a:rPr lang="en-US" sz="1400" dirty="0" err="1">
                <a:effectLst/>
                <a:ea typeface="Times New Roman" panose="02020603050405020304" pitchFamily="18" charset="0"/>
              </a:rPr>
              <a:t>là</a:t>
            </a:r>
            <a:r>
              <a:rPr lang="en-US" sz="1400" dirty="0">
                <a:effectLst/>
                <a:ea typeface="Times New Roman" panose="02020603050405020304" pitchFamily="18" charset="0"/>
              </a:rPr>
              <a:t> </a:t>
            </a:r>
            <a:r>
              <a:rPr lang="en-US" sz="1400" dirty="0" err="1">
                <a:effectLst/>
                <a:ea typeface="Times New Roman" panose="02020603050405020304" pitchFamily="18" charset="0"/>
              </a:rPr>
              <a:t>góc</a:t>
            </a:r>
            <a:r>
              <a:rPr lang="en-US" sz="1400" dirty="0">
                <a:effectLst/>
                <a:ea typeface="Times New Roman" panose="02020603050405020304" pitchFamily="18" charset="0"/>
              </a:rPr>
              <a:t> </a:t>
            </a:r>
            <a:r>
              <a:rPr lang="en-US" sz="1400" dirty="0" err="1">
                <a:effectLst/>
                <a:ea typeface="Times New Roman" panose="02020603050405020304" pitchFamily="18" charset="0"/>
              </a:rPr>
              <a:t>pha</a:t>
            </a:r>
            <a:r>
              <a:rPr lang="en-US" sz="1400" dirty="0">
                <a:effectLst/>
                <a:ea typeface="Times New Roman" panose="02020603050405020304" pitchFamily="18" charset="0"/>
              </a:rPr>
              <a:t> </a:t>
            </a:r>
            <a:r>
              <a:rPr lang="en-US" sz="1400" dirty="0" err="1">
                <a:effectLst/>
                <a:ea typeface="Times New Roman" panose="02020603050405020304" pitchFamily="18" charset="0"/>
              </a:rPr>
              <a:t>mà</a:t>
            </a:r>
            <a:r>
              <a:rPr lang="en-US" sz="1400" dirty="0">
                <a:effectLst/>
                <a:ea typeface="Times New Roman" panose="02020603050405020304" pitchFamily="18" charset="0"/>
              </a:rPr>
              <a:t> </a:t>
            </a:r>
            <a:r>
              <a:rPr lang="en-US" sz="1400" dirty="0" err="1">
                <a:effectLst/>
                <a:ea typeface="Times New Roman" panose="02020603050405020304" pitchFamily="18" charset="0"/>
              </a:rPr>
              <a:t>hàm</a:t>
            </a:r>
            <a:r>
              <a:rPr lang="en-US" sz="1400" dirty="0">
                <a:effectLst/>
                <a:ea typeface="Times New Roman" panose="02020603050405020304" pitchFamily="18" charset="0"/>
              </a:rPr>
              <a:t> </a:t>
            </a:r>
            <a:r>
              <a:rPr lang="en-US" sz="1400" i="1" dirty="0">
                <a:effectLst/>
                <a:ea typeface="Times New Roman" panose="02020603050405020304" pitchFamily="18" charset="0"/>
              </a:rPr>
              <a:t>P</a:t>
            </a:r>
            <a:r>
              <a:rPr lang="en-US" sz="1400" dirty="0">
                <a:effectLst/>
                <a:ea typeface="Times New Roman" panose="02020603050405020304" pitchFamily="18" charset="0"/>
              </a:rPr>
              <a:t>(</a:t>
            </a:r>
            <a:r>
              <a:rPr lang="en-US" sz="1400" i="1" dirty="0">
                <a:ea typeface="Times New Roman" panose="02020603050405020304" pitchFamily="18" charset="0"/>
              </a:rPr>
              <a:t>j</a:t>
            </a:r>
            <a:r>
              <a:rPr lang="en-US" sz="1400" i="1" dirty="0">
                <a:effectLst/>
                <a:ea typeface="Times New Roman" panose="02020603050405020304" pitchFamily="18" charset="0"/>
                <a:sym typeface="Symbol" pitchFamily="2" charset="2"/>
              </a:rPr>
              <a:t></a:t>
            </a:r>
            <a:r>
              <a:rPr lang="en-US" sz="1400" dirty="0">
                <a:effectLst/>
                <a:ea typeface="Times New Roman" panose="02020603050405020304" pitchFamily="18" charset="0"/>
              </a:rPr>
              <a:t>) </a:t>
            </a:r>
            <a:r>
              <a:rPr lang="en-US" sz="1400" dirty="0" err="1">
                <a:effectLst/>
                <a:ea typeface="Times New Roman" panose="02020603050405020304" pitchFamily="18" charset="0"/>
              </a:rPr>
              <a:t>phải</a:t>
            </a:r>
            <a:r>
              <a:rPr lang="en-US" sz="1400" dirty="0">
                <a:effectLst/>
                <a:ea typeface="Times New Roman" panose="02020603050405020304" pitchFamily="18" charset="0"/>
              </a:rPr>
              <a:t> quay </a:t>
            </a:r>
            <a:r>
              <a:rPr lang="en-US" sz="1400" dirty="0" err="1">
                <a:effectLst/>
                <a:ea typeface="Times New Roman" panose="02020603050405020304" pitchFamily="18" charset="0"/>
              </a:rPr>
              <a:t>đi</a:t>
            </a:r>
            <a:r>
              <a:rPr lang="en-US" sz="1400" dirty="0">
                <a:effectLst/>
                <a:ea typeface="Times New Roman" panose="02020603050405020304" pitchFamily="18" charset="0"/>
              </a:rPr>
              <a:t> </a:t>
            </a:r>
            <a:r>
              <a:rPr lang="en-US" sz="1400" dirty="0" err="1">
                <a:effectLst/>
                <a:ea typeface="Times New Roman" panose="02020603050405020304" pitchFamily="18" charset="0"/>
              </a:rPr>
              <a:t>để</a:t>
            </a:r>
            <a:r>
              <a:rPr lang="en-US" sz="1400" dirty="0">
                <a:effectLst/>
                <a:ea typeface="Times New Roman" panose="02020603050405020304" pitchFamily="18" charset="0"/>
              </a:rPr>
              <a:t> </a:t>
            </a:r>
            <a:r>
              <a:rPr lang="en-US" sz="1400" dirty="0" err="1">
                <a:effectLst/>
                <a:ea typeface="Times New Roman" panose="02020603050405020304" pitchFamily="18" charset="0"/>
              </a:rPr>
              <a:t>điểm</a:t>
            </a:r>
            <a:r>
              <a:rPr lang="en-US" sz="1400" dirty="0">
                <a:effectLst/>
                <a:ea typeface="Times New Roman" panose="02020603050405020304" pitchFamily="18" charset="0"/>
              </a:rPr>
              <a:t> </a:t>
            </a:r>
            <a:r>
              <a:rPr lang="en-US" sz="1400" dirty="0" err="1">
                <a:effectLst/>
                <a:ea typeface="Times New Roman" panose="02020603050405020304" pitchFamily="18" charset="0"/>
              </a:rPr>
              <a:t>có</a:t>
            </a:r>
            <a:r>
              <a:rPr lang="en-US" sz="1400" dirty="0">
                <a:effectLst/>
                <a:ea typeface="Times New Roman" panose="02020603050405020304" pitchFamily="18" charset="0"/>
              </a:rPr>
              <a:t> |</a:t>
            </a:r>
            <a:r>
              <a:rPr lang="en-US" sz="1400" i="1" dirty="0">
                <a:effectLst/>
                <a:ea typeface="Times New Roman" panose="02020603050405020304" pitchFamily="18" charset="0"/>
              </a:rPr>
              <a:t>P</a:t>
            </a:r>
            <a:r>
              <a:rPr lang="en-US" sz="1400" dirty="0">
                <a:effectLst/>
                <a:ea typeface="Times New Roman" panose="02020603050405020304" pitchFamily="18" charset="0"/>
              </a:rPr>
              <a:t>(</a:t>
            </a:r>
            <a:r>
              <a:rPr lang="en-US" sz="1400" i="1" dirty="0">
                <a:ea typeface="Times New Roman" panose="02020603050405020304" pitchFamily="18" charset="0"/>
              </a:rPr>
              <a:t>j</a:t>
            </a:r>
            <a:r>
              <a:rPr lang="en-US" sz="1400" i="1" dirty="0">
                <a:effectLst/>
                <a:ea typeface="Times New Roman" panose="02020603050405020304" pitchFamily="18" charset="0"/>
                <a:sym typeface="Symbol" pitchFamily="2" charset="2"/>
              </a:rPr>
              <a:t></a:t>
            </a:r>
            <a:r>
              <a:rPr lang="en-US" sz="1400" dirty="0">
                <a:effectLst/>
                <a:ea typeface="Times New Roman" panose="02020603050405020304" pitchFamily="18" charset="0"/>
              </a:rPr>
              <a:t>)| = 1 </a:t>
            </a:r>
            <a:r>
              <a:rPr lang="en-US" sz="1400" dirty="0" err="1">
                <a:effectLst/>
                <a:ea typeface="Times New Roman" panose="02020603050405020304" pitchFamily="18" charset="0"/>
              </a:rPr>
              <a:t>trùng</a:t>
            </a:r>
            <a:r>
              <a:rPr lang="en-US" sz="1400" dirty="0">
                <a:effectLst/>
                <a:ea typeface="Times New Roman" panose="02020603050405020304" pitchFamily="18" charset="0"/>
              </a:rPr>
              <a:t> </a:t>
            </a:r>
            <a:r>
              <a:rPr lang="en-US" sz="1400" dirty="0" err="1">
                <a:effectLst/>
                <a:ea typeface="Times New Roman" panose="02020603050405020304" pitchFamily="18" charset="0"/>
              </a:rPr>
              <a:t>với</a:t>
            </a:r>
            <a:r>
              <a:rPr lang="en-US" sz="1400" dirty="0">
                <a:effectLst/>
                <a:ea typeface="Times New Roman" panose="02020603050405020304" pitchFamily="18" charset="0"/>
              </a:rPr>
              <a:t> </a:t>
            </a:r>
            <a:r>
              <a:rPr lang="en-US" sz="1400" dirty="0" err="1">
                <a:effectLst/>
                <a:ea typeface="Times New Roman" panose="02020603050405020304" pitchFamily="18" charset="0"/>
              </a:rPr>
              <a:t>điểm</a:t>
            </a:r>
            <a:r>
              <a:rPr lang="en-US" sz="1400" dirty="0">
                <a:effectLst/>
                <a:ea typeface="Times New Roman" panose="02020603050405020304" pitchFamily="18" charset="0"/>
              </a:rPr>
              <a:t> (</a:t>
            </a:r>
            <a:r>
              <a:rPr lang="en-US" sz="1400" dirty="0">
                <a:effectLst/>
                <a:ea typeface="Times New Roman" panose="02020603050405020304" pitchFamily="18" charset="0"/>
                <a:sym typeface="Symbol" pitchFamily="2" charset="2"/>
              </a:rPr>
              <a:t></a:t>
            </a:r>
            <a:r>
              <a:rPr lang="en-US" sz="1400" dirty="0">
                <a:effectLst/>
                <a:ea typeface="Times New Roman" panose="02020603050405020304" pitchFamily="18" charset="0"/>
              </a:rPr>
              <a:t>1, 0) </a:t>
            </a:r>
            <a:r>
              <a:rPr lang="en-US" sz="1400" dirty="0" err="1">
                <a:effectLst/>
                <a:ea typeface="Times New Roman" panose="02020603050405020304" pitchFamily="18" charset="0"/>
              </a:rPr>
              <a:t>trong</a:t>
            </a:r>
            <a:r>
              <a:rPr lang="en-US" sz="1400" dirty="0">
                <a:effectLst/>
                <a:ea typeface="Times New Roman" panose="02020603050405020304" pitchFamily="18" charset="0"/>
              </a:rPr>
              <a:t> </a:t>
            </a:r>
            <a:r>
              <a:rPr lang="en-US" sz="1400" dirty="0" err="1">
                <a:effectLst/>
                <a:ea typeface="Times New Roman" panose="02020603050405020304" pitchFamily="18" charset="0"/>
              </a:rPr>
              <a:t>mặt</a:t>
            </a:r>
            <a:r>
              <a:rPr lang="en-US" sz="1400" dirty="0">
                <a:effectLst/>
                <a:ea typeface="Times New Roman" panose="02020603050405020304" pitchFamily="18" charset="0"/>
              </a:rPr>
              <a:t> </a:t>
            </a:r>
            <a:r>
              <a:rPr lang="en-US" sz="1400" dirty="0" err="1">
                <a:effectLst/>
                <a:ea typeface="Times New Roman" panose="02020603050405020304" pitchFamily="18" charset="0"/>
              </a:rPr>
              <a:t>phẳng</a:t>
            </a:r>
            <a:r>
              <a:rPr lang="en-US" sz="1400" dirty="0">
                <a:effectLst/>
                <a:ea typeface="Times New Roman" panose="02020603050405020304" pitchFamily="18" charset="0"/>
              </a:rPr>
              <a:t> </a:t>
            </a:r>
            <a:r>
              <a:rPr lang="en-US" sz="1400" i="1" dirty="0">
                <a:effectLst/>
                <a:ea typeface="Times New Roman" panose="02020603050405020304" pitchFamily="18" charset="0"/>
              </a:rPr>
              <a:t>P</a:t>
            </a:r>
            <a:r>
              <a:rPr lang="en-US" sz="1400" dirty="0">
                <a:effectLst/>
                <a:ea typeface="Times New Roman" panose="02020603050405020304" pitchFamily="18" charset="0"/>
              </a:rPr>
              <a:t>(</a:t>
            </a:r>
            <a:r>
              <a:rPr lang="en-US" sz="1400" i="1" dirty="0">
                <a:ea typeface="Times New Roman" panose="02020603050405020304" pitchFamily="18" charset="0"/>
              </a:rPr>
              <a:t>j</a:t>
            </a:r>
            <a:r>
              <a:rPr lang="en-US" sz="1400" i="1" dirty="0">
                <a:effectLst/>
                <a:ea typeface="Times New Roman" panose="02020603050405020304" pitchFamily="18" charset="0"/>
                <a:sym typeface="Symbol" pitchFamily="2" charset="2"/>
              </a:rPr>
              <a:t></a:t>
            </a:r>
            <a:r>
              <a:rPr lang="en-US" sz="1400" dirty="0">
                <a:effectLst/>
                <a:ea typeface="Times New Roman" panose="02020603050405020304" pitchFamily="18" charset="0"/>
              </a:rPr>
              <a:t>). </a:t>
            </a:r>
            <a:r>
              <a:rPr lang="en-US" sz="1400" dirty="0" err="1">
                <a:effectLst/>
                <a:ea typeface="Times New Roman" panose="02020603050405020304" pitchFamily="18" charset="0"/>
              </a:rPr>
              <a:t>Số</a:t>
            </a:r>
            <a:r>
              <a:rPr lang="en-US" sz="1400" dirty="0">
                <a:effectLst/>
                <a:ea typeface="Times New Roman" panose="02020603050405020304" pitchFamily="18" charset="0"/>
              </a:rPr>
              <a:t> </a:t>
            </a:r>
            <a:r>
              <a:rPr lang="en-US" sz="1400" dirty="0" err="1">
                <a:effectLst/>
                <a:ea typeface="Times New Roman" panose="02020603050405020304" pitchFamily="18" charset="0"/>
              </a:rPr>
              <a:t>đo</a:t>
            </a:r>
            <a:r>
              <a:rPr lang="en-US" sz="1400" dirty="0">
                <a:effectLst/>
                <a:ea typeface="Times New Roman" panose="02020603050405020304" pitchFamily="18" charset="0"/>
              </a:rPr>
              <a:t> </a:t>
            </a:r>
            <a:r>
              <a:rPr lang="en-US" sz="1400" dirty="0" err="1">
                <a:effectLst/>
                <a:ea typeface="Times New Roman" panose="02020603050405020304" pitchFamily="18" charset="0"/>
              </a:rPr>
              <a:t>này</a:t>
            </a:r>
            <a:r>
              <a:rPr lang="en-US" sz="1400" dirty="0">
                <a:effectLst/>
                <a:ea typeface="Times New Roman" panose="02020603050405020304" pitchFamily="18" charset="0"/>
              </a:rPr>
              <a:t> </a:t>
            </a:r>
            <a:r>
              <a:rPr lang="en-US" sz="1400" dirty="0" err="1">
                <a:effectLst/>
                <a:ea typeface="Times New Roman" panose="02020603050405020304" pitchFamily="18" charset="0"/>
              </a:rPr>
              <a:t>biểu</a:t>
            </a:r>
            <a:r>
              <a:rPr lang="en-US" sz="1400" dirty="0">
                <a:effectLst/>
                <a:ea typeface="Times New Roman" panose="02020603050405020304" pitchFamily="18" charset="0"/>
              </a:rPr>
              <a:t> </a:t>
            </a:r>
            <a:r>
              <a:rPr lang="en-US" sz="1400" dirty="0" err="1">
                <a:effectLst/>
                <a:ea typeface="Times New Roman" panose="02020603050405020304" pitchFamily="18" charset="0"/>
              </a:rPr>
              <a:t>thị</a:t>
            </a:r>
            <a:r>
              <a:rPr lang="en-US" sz="1400" dirty="0">
                <a:effectLst/>
                <a:ea typeface="Times New Roman" panose="02020603050405020304" pitchFamily="18" charset="0"/>
              </a:rPr>
              <a:t> </a:t>
            </a:r>
            <a:r>
              <a:rPr lang="en-US" sz="1400" dirty="0" err="1">
                <a:effectLst/>
                <a:ea typeface="Times New Roman" panose="02020603050405020304" pitchFamily="18" charset="0"/>
              </a:rPr>
              <a:t>mức</a:t>
            </a:r>
            <a:r>
              <a:rPr lang="en-US" sz="1400" dirty="0">
                <a:effectLst/>
                <a:ea typeface="Times New Roman" panose="02020603050405020304" pitchFamily="18" charset="0"/>
              </a:rPr>
              <a:t> </a:t>
            </a:r>
            <a:r>
              <a:rPr lang="en-US" sz="1400" dirty="0" err="1">
                <a:effectLst/>
                <a:ea typeface="Times New Roman" panose="02020603050405020304" pitchFamily="18" charset="0"/>
              </a:rPr>
              <a:t>chậm</a:t>
            </a:r>
            <a:r>
              <a:rPr lang="en-US" sz="1400" dirty="0">
                <a:effectLst/>
                <a:ea typeface="Times New Roman" panose="02020603050405020304" pitchFamily="18" charset="0"/>
              </a:rPr>
              <a:t> </a:t>
            </a:r>
            <a:r>
              <a:rPr lang="en-US" sz="1400" dirty="0" err="1">
                <a:effectLst/>
                <a:ea typeface="Times New Roman" panose="02020603050405020304" pitchFamily="18" charset="0"/>
              </a:rPr>
              <a:t>pha</a:t>
            </a:r>
            <a:r>
              <a:rPr lang="en-US" sz="1400" dirty="0">
                <a:effectLst/>
                <a:ea typeface="Times New Roman" panose="02020603050405020304" pitchFamily="18" charset="0"/>
              </a:rPr>
              <a:t> </a:t>
            </a:r>
            <a:r>
              <a:rPr lang="en-US" sz="1400" dirty="0" err="1">
                <a:effectLst/>
                <a:ea typeface="Times New Roman" panose="02020603050405020304" pitchFamily="18" charset="0"/>
              </a:rPr>
              <a:t>có</a:t>
            </a:r>
            <a:r>
              <a:rPr lang="en-US" sz="1400" dirty="0">
                <a:effectLst/>
                <a:ea typeface="Times New Roman" panose="02020603050405020304" pitchFamily="18" charset="0"/>
              </a:rPr>
              <a:t> </a:t>
            </a:r>
            <a:r>
              <a:rPr lang="en-US" sz="1400" dirty="0" err="1">
                <a:effectLst/>
                <a:ea typeface="Times New Roman" panose="02020603050405020304" pitchFamily="18" charset="0"/>
              </a:rPr>
              <a:t>thể</a:t>
            </a:r>
            <a:r>
              <a:rPr lang="en-US" sz="1400" dirty="0">
                <a:effectLst/>
                <a:ea typeface="Times New Roman" panose="02020603050405020304" pitchFamily="18" charset="0"/>
              </a:rPr>
              <a:t> </a:t>
            </a:r>
            <a:r>
              <a:rPr lang="en-US" sz="1400" dirty="0" err="1">
                <a:effectLst/>
                <a:ea typeface="Times New Roman" panose="02020603050405020304" pitchFamily="18" charset="0"/>
              </a:rPr>
              <a:t>thêm</a:t>
            </a:r>
            <a:r>
              <a:rPr lang="en-US" sz="1400" dirty="0">
                <a:effectLst/>
                <a:ea typeface="Times New Roman" panose="02020603050405020304" pitchFamily="18" charset="0"/>
              </a:rPr>
              <a:t> </a:t>
            </a:r>
            <a:r>
              <a:rPr lang="en-US" sz="1400" dirty="0" err="1">
                <a:effectLst/>
                <a:ea typeface="Times New Roman" panose="02020603050405020304" pitchFamily="18" charset="0"/>
              </a:rPr>
              <a:t>trước</a:t>
            </a:r>
            <a:r>
              <a:rPr lang="en-US" sz="1400" dirty="0">
                <a:effectLst/>
                <a:ea typeface="Times New Roman" panose="02020603050405020304" pitchFamily="18" charset="0"/>
              </a:rPr>
              <a:t> </a:t>
            </a:r>
            <a:r>
              <a:rPr lang="en-US" sz="1400" dirty="0" err="1">
                <a:effectLst/>
                <a:ea typeface="Times New Roman" panose="02020603050405020304" pitchFamily="18" charset="0"/>
              </a:rPr>
              <a:t>khi</a:t>
            </a:r>
            <a:r>
              <a:rPr lang="en-US" sz="1400" dirty="0">
                <a:effectLst/>
                <a:ea typeface="Times New Roman" panose="02020603050405020304" pitchFamily="18" charset="0"/>
              </a:rPr>
              <a:t> </a:t>
            </a:r>
            <a:r>
              <a:rPr lang="en-US" sz="1400" dirty="0" err="1">
                <a:effectLst/>
                <a:ea typeface="Times New Roman" panose="02020603050405020304" pitchFamily="18" charset="0"/>
              </a:rPr>
              <a:t>hệ</a:t>
            </a:r>
            <a:r>
              <a:rPr lang="en-US" sz="1400" dirty="0">
                <a:effectLst/>
                <a:ea typeface="Times New Roman" panose="02020603050405020304" pitchFamily="18" charset="0"/>
              </a:rPr>
              <a:t> </a:t>
            </a:r>
            <a:r>
              <a:rPr lang="en-US" sz="1400" dirty="0" err="1">
                <a:effectLst/>
                <a:ea typeface="Times New Roman" panose="02020603050405020304" pitchFamily="18" charset="0"/>
              </a:rPr>
              <a:t>thống</a:t>
            </a:r>
            <a:r>
              <a:rPr lang="en-US" sz="1400" dirty="0">
                <a:effectLst/>
                <a:ea typeface="Times New Roman" panose="02020603050405020304" pitchFamily="18" charset="0"/>
              </a:rPr>
              <a:t> </a:t>
            </a:r>
            <a:r>
              <a:rPr lang="en-US" sz="1400" dirty="0" err="1">
                <a:effectLst/>
                <a:ea typeface="Times New Roman" panose="02020603050405020304" pitchFamily="18" charset="0"/>
              </a:rPr>
              <a:t>trở</a:t>
            </a:r>
            <a:r>
              <a:rPr lang="en-US" sz="1400" dirty="0">
                <a:effectLst/>
                <a:ea typeface="Times New Roman" panose="02020603050405020304" pitchFamily="18" charset="0"/>
              </a:rPr>
              <a:t> </a:t>
            </a:r>
            <a:r>
              <a:rPr lang="en-US" sz="1400" dirty="0" err="1">
                <a:effectLst/>
                <a:ea typeface="Times New Roman" panose="02020603050405020304" pitchFamily="18" charset="0"/>
              </a:rPr>
              <a:t>nên</a:t>
            </a:r>
            <a:r>
              <a:rPr lang="en-US" sz="1400" dirty="0">
                <a:effectLst/>
                <a:ea typeface="Times New Roman" panose="02020603050405020304" pitchFamily="18" charset="0"/>
              </a:rPr>
              <a:t> </a:t>
            </a:r>
            <a:r>
              <a:rPr lang="en-US" sz="1400" dirty="0" err="1">
                <a:effectLst/>
                <a:ea typeface="Times New Roman" panose="02020603050405020304" pitchFamily="18" charset="0"/>
              </a:rPr>
              <a:t>không</a:t>
            </a:r>
            <a:r>
              <a:rPr lang="en-US" sz="1400" dirty="0">
                <a:effectLst/>
                <a:ea typeface="Times New Roman" panose="02020603050405020304" pitchFamily="18" charset="0"/>
              </a:rPr>
              <a:t> </a:t>
            </a:r>
            <a:r>
              <a:rPr lang="en-US" sz="1400" dirty="0" err="1">
                <a:effectLst/>
                <a:ea typeface="Times New Roman" panose="02020603050405020304" pitchFamily="18" charset="0"/>
              </a:rPr>
              <a:t>ổn</a:t>
            </a:r>
            <a:r>
              <a:rPr lang="en-US" sz="1400" dirty="0">
                <a:effectLst/>
                <a:ea typeface="Times New Roman" panose="02020603050405020304" pitchFamily="18" charset="0"/>
              </a:rPr>
              <a:t> </a:t>
            </a:r>
            <a:r>
              <a:rPr lang="en-US" sz="1400" dirty="0" err="1">
                <a:effectLst/>
                <a:ea typeface="Times New Roman" panose="02020603050405020304" pitchFamily="18" charset="0"/>
              </a:rPr>
              <a:t>định</a:t>
            </a:r>
            <a:r>
              <a:rPr lang="en-US" sz="1400" dirty="0">
                <a:effectLst/>
                <a:ea typeface="Times New Roman" panose="02020603050405020304" pitchFamily="18" charset="0"/>
              </a:rPr>
              <a:t>, </a:t>
            </a:r>
            <a:r>
              <a:rPr lang="en-US" sz="1400" dirty="0" err="1">
                <a:effectLst/>
                <a:ea typeface="Times New Roman" panose="02020603050405020304" pitchFamily="18" charset="0"/>
              </a:rPr>
              <a:t>và</a:t>
            </a:r>
            <a:r>
              <a:rPr lang="en-US" sz="1400" dirty="0">
                <a:effectLst/>
                <a:ea typeface="Times New Roman" panose="02020603050405020304" pitchFamily="18" charset="0"/>
              </a:rPr>
              <a:t> </a:t>
            </a:r>
            <a:r>
              <a:rPr lang="en-US" sz="1400" dirty="0" err="1">
                <a:effectLst/>
                <a:ea typeface="Times New Roman" panose="02020603050405020304" pitchFamily="18" charset="0"/>
              </a:rPr>
              <a:t>có</a:t>
            </a:r>
            <a:r>
              <a:rPr lang="en-US" sz="1400" dirty="0">
                <a:effectLst/>
                <a:ea typeface="Times New Roman" panose="02020603050405020304" pitchFamily="18" charset="0"/>
              </a:rPr>
              <a:t> </a:t>
            </a:r>
            <a:r>
              <a:rPr lang="en-US" sz="1400" dirty="0" err="1">
                <a:effectLst/>
                <a:ea typeface="Times New Roman" panose="02020603050405020304" pitchFamily="18" charset="0"/>
              </a:rPr>
              <a:t>thể</a:t>
            </a:r>
            <a:r>
              <a:rPr lang="en-US" sz="1400" dirty="0">
                <a:effectLst/>
                <a:ea typeface="Times New Roman" panose="02020603050405020304" pitchFamily="18" charset="0"/>
              </a:rPr>
              <a:t> </a:t>
            </a:r>
            <a:r>
              <a:rPr lang="en-US" sz="1400" dirty="0" err="1">
                <a:effectLst/>
                <a:ea typeface="Times New Roman" panose="02020603050405020304" pitchFamily="18" charset="0"/>
              </a:rPr>
              <a:t>xác</a:t>
            </a:r>
            <a:r>
              <a:rPr lang="en-US" sz="1400" dirty="0">
                <a:effectLst/>
                <a:ea typeface="Times New Roman" panose="02020603050405020304" pitchFamily="18" charset="0"/>
              </a:rPr>
              <a:t> </a:t>
            </a:r>
            <a:r>
              <a:rPr lang="en-US" sz="1400" dirty="0" err="1">
                <a:effectLst/>
                <a:ea typeface="Times New Roman" panose="02020603050405020304" pitchFamily="18" charset="0"/>
              </a:rPr>
              <a:t>định</a:t>
            </a:r>
            <a:r>
              <a:rPr lang="en-US" sz="1400" dirty="0">
                <a:effectLst/>
                <a:ea typeface="Times New Roman" panose="02020603050405020304" pitchFamily="18" charset="0"/>
              </a:rPr>
              <a:t> </a:t>
            </a:r>
            <a:r>
              <a:rPr lang="en-US" sz="1400" dirty="0" err="1">
                <a:effectLst/>
                <a:ea typeface="Times New Roman" panose="02020603050405020304" pitchFamily="18" charset="0"/>
              </a:rPr>
              <a:t>được</a:t>
            </a:r>
            <a:r>
              <a:rPr lang="en-US" sz="1400" dirty="0">
                <a:effectLst/>
                <a:ea typeface="Times New Roman" panose="02020603050405020304" pitchFamily="18" charset="0"/>
              </a:rPr>
              <a:t> </a:t>
            </a:r>
            <a:r>
              <a:rPr lang="en-US" sz="1400" dirty="0" err="1">
                <a:effectLst/>
                <a:ea typeface="Times New Roman" panose="02020603050405020304" pitchFamily="18" charset="0"/>
              </a:rPr>
              <a:t>từ</a:t>
            </a:r>
            <a:r>
              <a:rPr lang="en-US" sz="1400" dirty="0">
                <a:effectLst/>
                <a:ea typeface="Times New Roman" panose="02020603050405020304" pitchFamily="18" charset="0"/>
              </a:rPr>
              <a:t> </a:t>
            </a:r>
            <a:r>
              <a:rPr lang="en-US" sz="1400" dirty="0" err="1">
                <a:effectLst/>
                <a:ea typeface="Times New Roman" panose="02020603050405020304" pitchFamily="18" charset="0"/>
              </a:rPr>
              <a:t>đồ</a:t>
            </a:r>
            <a:r>
              <a:rPr lang="en-US" sz="1400" dirty="0">
                <a:effectLst/>
                <a:ea typeface="Times New Roman" panose="02020603050405020304" pitchFamily="18" charset="0"/>
              </a:rPr>
              <a:t> </a:t>
            </a:r>
            <a:r>
              <a:rPr lang="en-US" sz="1400" dirty="0" err="1">
                <a:effectLst/>
                <a:ea typeface="Times New Roman" panose="02020603050405020304" pitchFamily="18" charset="0"/>
              </a:rPr>
              <a:t>thị</a:t>
            </a:r>
            <a:r>
              <a:rPr lang="en-US" sz="1400" dirty="0">
                <a:effectLst/>
                <a:ea typeface="Times New Roman" panose="02020603050405020304" pitchFamily="18" charset="0"/>
              </a:rPr>
              <a:t> Nyquist</a:t>
            </a:r>
            <a:r>
              <a:rPr lang="en-VN" sz="1400" dirty="0">
                <a:effectLst/>
                <a:ea typeface="Times New Roman" panose="02020603050405020304" pitchFamily="18" charset="0"/>
              </a:rPr>
              <a:t>.</a:t>
            </a:r>
            <a:endParaRPr lang="en-VN" sz="1400" dirty="0"/>
          </a:p>
          <a:p>
            <a:pPr algn="just"/>
            <a:endParaRPr lang="en-VN" sz="1400" dirty="0"/>
          </a:p>
        </p:txBody>
      </p:sp>
      <p:pic>
        <p:nvPicPr>
          <p:cNvPr id="4" name="Picture 3">
            <a:extLst>
              <a:ext uri="{FF2B5EF4-FFF2-40B4-BE49-F238E27FC236}">
                <a16:creationId xmlns:a16="http://schemas.microsoft.com/office/drawing/2014/main" id="{AB969BD4-F3F7-8DD9-BF61-157A17C8C08C}"/>
              </a:ext>
            </a:extLst>
          </p:cNvPr>
          <p:cNvPicPr>
            <a:picLocks noChangeAspect="1"/>
          </p:cNvPicPr>
          <p:nvPr/>
        </p:nvPicPr>
        <p:blipFill>
          <a:blip r:embed="rId3"/>
          <a:stretch>
            <a:fillRect/>
          </a:stretch>
        </p:blipFill>
        <p:spPr>
          <a:xfrm>
            <a:off x="0" y="1244014"/>
            <a:ext cx="7502985" cy="5217431"/>
          </a:xfrm>
          <a:prstGeom prst="rect">
            <a:avLst/>
          </a:prstGeom>
        </p:spPr>
      </p:pic>
    </p:spTree>
    <p:extLst>
      <p:ext uri="{BB962C8B-B14F-4D97-AF65-F5344CB8AC3E}">
        <p14:creationId xmlns:p14="http://schemas.microsoft.com/office/powerpoint/2010/main" val="2697064259"/>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04310C4-7211-CB9C-65F4-53329137D548}"/>
              </a:ext>
            </a:extLst>
          </p:cNvPr>
          <p:cNvSpPr>
            <a:spLocks noGrp="1"/>
          </p:cNvSpPr>
          <p:nvPr>
            <p:ph type="title"/>
          </p:nvPr>
        </p:nvSpPr>
        <p:spPr/>
        <p:txBody>
          <a:bodyPr/>
          <a:lstStyle/>
          <a:p>
            <a:r>
              <a:rPr lang="en-VN" dirty="0"/>
              <a:t>DỰ TRỮ GIA LƯỢNG VÀ DỰ TRỮ PHA</a:t>
            </a:r>
          </a:p>
        </p:txBody>
      </p:sp>
      <mc:AlternateContent xmlns:mc="http://schemas.openxmlformats.org/markup-compatibility/2006">
        <mc:Choice xmlns:a14="http://schemas.microsoft.com/office/drawing/2010/main" Requires="a14">
          <p:sp>
            <p:nvSpPr>
              <p:cNvPr id="3" name="Content Placeholder 2">
                <a:extLst>
                  <a:ext uri="{FF2B5EF4-FFF2-40B4-BE49-F238E27FC236}">
                    <a16:creationId xmlns:a16="http://schemas.microsoft.com/office/drawing/2014/main" id="{AF60369D-A551-691F-3B23-F6EC4537BB19}"/>
                  </a:ext>
                </a:extLst>
              </p:cNvPr>
              <p:cNvSpPr>
                <a:spLocks noGrp="1"/>
              </p:cNvSpPr>
              <p:nvPr>
                <p:ph idx="1"/>
              </p:nvPr>
            </p:nvSpPr>
            <p:spPr/>
            <p:txBody>
              <a:bodyPr/>
              <a:lstStyle/>
              <a:p>
                <a:r>
                  <a:rPr lang="en-VN" b="1" dirty="0">
                    <a:solidFill>
                      <a:srgbClr val="C00000"/>
                    </a:solidFill>
                  </a:rPr>
                  <a:t>Ví dụ: </a:t>
                </a:r>
                <a:r>
                  <a:rPr lang="en-VN" dirty="0"/>
                  <a:t>Tìm dự trữ gia lượng và dự trữ pha của hệ thống với </a:t>
                </a:r>
                <a14:m>
                  <m:oMath xmlns:m="http://schemas.openxmlformats.org/officeDocument/2006/math">
                    <m:r>
                      <a:rPr lang="en-US" b="0" i="1" smtClean="0">
                        <a:latin typeface="Cambria Math" panose="02040503050406030204" pitchFamily="18" charset="0"/>
                      </a:rPr>
                      <m:t>𝐾</m:t>
                    </m:r>
                    <m:r>
                      <a:rPr lang="en-US" b="0" i="1" smtClean="0">
                        <a:latin typeface="Cambria Math" panose="02040503050406030204" pitchFamily="18" charset="0"/>
                      </a:rPr>
                      <m:t>=6</m:t>
                    </m:r>
                  </m:oMath>
                </a14:m>
                <a:endParaRPr lang="en-US" b="0" dirty="0"/>
              </a:p>
              <a:p>
                <a:pPr marL="0" indent="0">
                  <a:buNone/>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𝐺</m:t>
                      </m:r>
                      <m:d>
                        <m:dPr>
                          <m:ctrlPr>
                            <a:rPr lang="en-US" b="0" i="1" smtClean="0">
                              <a:latin typeface="Cambria Math" panose="02040503050406030204" pitchFamily="18" charset="0"/>
                            </a:rPr>
                          </m:ctrlPr>
                        </m:dPr>
                        <m:e>
                          <m:r>
                            <a:rPr lang="en-US" b="0" i="1" smtClean="0">
                              <a:latin typeface="Cambria Math" panose="02040503050406030204" pitchFamily="18" charset="0"/>
                            </a:rPr>
                            <m:t>𝑠</m:t>
                          </m:r>
                        </m:e>
                      </m:d>
                      <m:r>
                        <a:rPr lang="en-US" b="0" i="1" smtClean="0">
                          <a:latin typeface="Cambria Math" panose="02040503050406030204" pitchFamily="18" charset="0"/>
                        </a:rPr>
                        <m:t>=</m:t>
                      </m:r>
                      <m:r>
                        <a:rPr lang="en-US" b="0" i="1" smtClean="0">
                          <a:latin typeface="Cambria Math" panose="02040503050406030204" pitchFamily="18" charset="0"/>
                        </a:rPr>
                        <m:t>𝐾</m:t>
                      </m:r>
                      <m:r>
                        <a:rPr lang="en-US" b="0" i="1" smtClean="0">
                          <a:latin typeface="Cambria Math" panose="02040503050406030204" pitchFamily="18" charset="0"/>
                        </a:rPr>
                        <m:t>/[</m:t>
                      </m:r>
                      <m:d>
                        <m:dPr>
                          <m:ctrlPr>
                            <a:rPr lang="en-US" b="0" i="1" smtClean="0">
                              <a:latin typeface="Cambria Math" panose="02040503050406030204" pitchFamily="18" charset="0"/>
                            </a:rPr>
                          </m:ctrlPr>
                        </m:dPr>
                        <m:e>
                          <m:sSup>
                            <m:sSupPr>
                              <m:ctrlPr>
                                <a:rPr lang="en-US" b="0" i="1" smtClean="0">
                                  <a:latin typeface="Cambria Math" panose="02040503050406030204" pitchFamily="18" charset="0"/>
                                </a:rPr>
                              </m:ctrlPr>
                            </m:sSupPr>
                            <m:e>
                              <m:r>
                                <a:rPr lang="en-US" b="0" i="1" smtClean="0">
                                  <a:latin typeface="Cambria Math" panose="02040503050406030204" pitchFamily="18" charset="0"/>
                                </a:rPr>
                                <m:t>𝑠</m:t>
                              </m:r>
                            </m:e>
                            <m:sup>
                              <m:r>
                                <a:rPr lang="en-US" b="0" i="1" smtClean="0">
                                  <a:latin typeface="Cambria Math" panose="02040503050406030204" pitchFamily="18" charset="0"/>
                                </a:rPr>
                                <m:t>2</m:t>
                              </m:r>
                            </m:sup>
                          </m:sSup>
                          <m:r>
                            <a:rPr lang="en-US" b="0" i="1" smtClean="0">
                              <a:latin typeface="Cambria Math" panose="02040503050406030204" pitchFamily="18" charset="0"/>
                            </a:rPr>
                            <m:t>+2</m:t>
                          </m:r>
                          <m:r>
                            <a:rPr lang="en-US" b="0" i="1" smtClean="0">
                              <a:latin typeface="Cambria Math" panose="02040503050406030204" pitchFamily="18" charset="0"/>
                            </a:rPr>
                            <m:t>𝑠</m:t>
                          </m:r>
                          <m:r>
                            <a:rPr lang="en-US" b="0" i="1" smtClean="0">
                              <a:latin typeface="Cambria Math" panose="02040503050406030204" pitchFamily="18" charset="0"/>
                            </a:rPr>
                            <m:t>+2</m:t>
                          </m:r>
                        </m:e>
                      </m:d>
                      <m:d>
                        <m:dPr>
                          <m:ctrlPr>
                            <a:rPr lang="en-US" b="0" i="1" smtClean="0">
                              <a:latin typeface="Cambria Math" panose="02040503050406030204" pitchFamily="18" charset="0"/>
                            </a:rPr>
                          </m:ctrlPr>
                        </m:dPr>
                        <m:e>
                          <m:r>
                            <a:rPr lang="en-US" b="0" i="1" smtClean="0">
                              <a:latin typeface="Cambria Math" panose="02040503050406030204" pitchFamily="18" charset="0"/>
                            </a:rPr>
                            <m:t>𝑠</m:t>
                          </m:r>
                          <m:r>
                            <a:rPr lang="en-US" b="0" i="1" smtClean="0">
                              <a:latin typeface="Cambria Math" panose="02040503050406030204" pitchFamily="18" charset="0"/>
                            </a:rPr>
                            <m:t>+2</m:t>
                          </m:r>
                        </m:e>
                      </m:d>
                      <m:r>
                        <a:rPr lang="en-US" b="0" i="1" smtClean="0">
                          <a:latin typeface="Cambria Math" panose="02040503050406030204" pitchFamily="18" charset="0"/>
                        </a:rPr>
                        <m:t>]</m:t>
                      </m:r>
                    </m:oMath>
                  </m:oMathPara>
                </a14:m>
                <a:endParaRPr lang="en-VN" b="1" dirty="0">
                  <a:solidFill>
                    <a:srgbClr val="C00000"/>
                  </a:solidFill>
                </a:endParaRPr>
              </a:p>
              <a:p>
                <a:pPr marL="0" indent="0">
                  <a:buNone/>
                </a:pPr>
                <a:r>
                  <a:rPr lang="en-VN" dirty="0"/>
                  <a:t>Thay </a:t>
                </a:r>
                <a14:m>
                  <m:oMath xmlns:m="http://schemas.openxmlformats.org/officeDocument/2006/math">
                    <m:r>
                      <a:rPr lang="en-US" b="0" i="1" smtClean="0">
                        <a:latin typeface="Cambria Math" panose="02040503050406030204" pitchFamily="18" charset="0"/>
                      </a:rPr>
                      <m:t>𝑠</m:t>
                    </m:r>
                    <m:r>
                      <a:rPr lang="en-US" b="0" i="1" smtClean="0">
                        <a:latin typeface="Cambria Math" panose="02040503050406030204" pitchFamily="18" charset="0"/>
                      </a:rPr>
                      <m:t>=</m:t>
                    </m:r>
                    <m:r>
                      <a:rPr lang="en-US" b="0" i="1" smtClean="0">
                        <a:latin typeface="Cambria Math" panose="02040503050406030204" pitchFamily="18" charset="0"/>
                      </a:rPr>
                      <m:t>𝑗</m:t>
                    </m:r>
                    <m:r>
                      <a:rPr lang="en-US" b="0" i="1" smtClean="0">
                        <a:latin typeface="Cambria Math" panose="02040503050406030204" pitchFamily="18" charset="0"/>
                      </a:rPr>
                      <m:t>𝜔</m:t>
                    </m:r>
                  </m:oMath>
                </a14:m>
                <a:r>
                  <a:rPr lang="en-VN" dirty="0"/>
                  <a:t> vào </a:t>
                </a:r>
                <a14:m>
                  <m:oMath xmlns:m="http://schemas.openxmlformats.org/officeDocument/2006/math">
                    <m:r>
                      <a:rPr lang="en-US" b="0" i="1" smtClean="0">
                        <a:latin typeface="Cambria Math" panose="02040503050406030204" pitchFamily="18" charset="0"/>
                      </a:rPr>
                      <m:t>𝐺</m:t>
                    </m:r>
                    <m:r>
                      <a:rPr lang="en-US" b="0" i="1" smtClean="0">
                        <a:latin typeface="Cambria Math" panose="02040503050406030204" pitchFamily="18" charset="0"/>
                      </a:rPr>
                      <m:t>(</m:t>
                    </m:r>
                    <m:r>
                      <a:rPr lang="en-US" b="0" i="1" smtClean="0">
                        <a:latin typeface="Cambria Math" panose="02040503050406030204" pitchFamily="18" charset="0"/>
                      </a:rPr>
                      <m:t>𝑠</m:t>
                    </m:r>
                    <m:r>
                      <a:rPr lang="en-US" b="0" i="1" smtClean="0">
                        <a:latin typeface="Cambria Math" panose="02040503050406030204" pitchFamily="18" charset="0"/>
                      </a:rPr>
                      <m:t>)</m:t>
                    </m:r>
                  </m:oMath>
                </a14:m>
                <a:r>
                  <a:rPr lang="en-VN" dirty="0"/>
                  <a:t>, tìm điểm cắt đồ thị Nyquist với trục thực.</a:t>
                </a:r>
              </a:p>
              <a:p>
                <a:pPr marL="0" indent="0">
                  <a:buNone/>
                </a:pPr>
                <a:r>
                  <a:rPr lang="en-VN" dirty="0"/>
                  <a:t>Ta có, đồ thị Nyquist cắt trục thực tại </a:t>
                </a:r>
                <a14:m>
                  <m:oMath xmlns:m="http://schemas.openxmlformats.org/officeDocument/2006/math">
                    <m:r>
                      <a:rPr lang="en-US" b="0" i="1" smtClean="0">
                        <a:latin typeface="Cambria Math" panose="02040503050406030204" pitchFamily="18" charset="0"/>
                      </a:rPr>
                      <m:t>𝜔</m:t>
                    </m:r>
                    <m:r>
                      <a:rPr lang="en-US" b="0" i="1" smtClean="0">
                        <a:latin typeface="Cambria Math" panose="02040503050406030204" pitchFamily="18" charset="0"/>
                      </a:rPr>
                      <m:t>=</m:t>
                    </m:r>
                    <m:rad>
                      <m:radPr>
                        <m:degHide m:val="on"/>
                        <m:ctrlPr>
                          <a:rPr lang="en-US" b="0" i="1" smtClean="0">
                            <a:latin typeface="Cambria Math" panose="02040503050406030204" pitchFamily="18" charset="0"/>
                          </a:rPr>
                        </m:ctrlPr>
                      </m:radPr>
                      <m:deg/>
                      <m:e>
                        <m:r>
                          <a:rPr lang="en-US" b="0" i="1" smtClean="0">
                            <a:latin typeface="Cambria Math" panose="02040503050406030204" pitchFamily="18" charset="0"/>
                          </a:rPr>
                          <m:t>6</m:t>
                        </m:r>
                      </m:e>
                    </m:rad>
                  </m:oMath>
                </a14:m>
                <a:r>
                  <a:rPr lang="en-VN" dirty="0"/>
                  <a:t>, giá trị cắt tại trục thực là </a:t>
                </a:r>
                <a14:m>
                  <m:oMath xmlns:m="http://schemas.openxmlformats.org/officeDocument/2006/math">
                    <m:r>
                      <a:rPr lang="en-US" b="0" i="1" smtClean="0">
                        <a:latin typeface="Cambria Math" panose="02040503050406030204" pitchFamily="18" charset="0"/>
                      </a:rPr>
                      <m:t>−0.3</m:t>
                    </m:r>
                  </m:oMath>
                </a14:m>
                <a:endParaRPr lang="en-VN" dirty="0"/>
              </a:p>
              <a:p>
                <a:pPr marL="0" indent="0">
                  <a:buNone/>
                </a:pPr>
                <a14:m>
                  <m:oMathPara xmlns:m="http://schemas.openxmlformats.org/officeDocument/2006/math">
                    <m:oMathParaPr>
                      <m:jc m:val="centerGroup"/>
                    </m:oMathParaPr>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𝐺</m:t>
                          </m:r>
                        </m:e>
                        <m:sub>
                          <m:r>
                            <a:rPr lang="en-US" b="0" i="1" smtClean="0">
                              <a:latin typeface="Cambria Math" panose="02040503050406030204" pitchFamily="18" charset="0"/>
                            </a:rPr>
                            <m:t>𝑀</m:t>
                          </m:r>
                        </m:sub>
                      </m:sSub>
                      <m:r>
                        <a:rPr lang="en-US" b="0" i="1" smtClean="0">
                          <a:latin typeface="Cambria Math" panose="02040503050406030204" pitchFamily="18" charset="0"/>
                        </a:rPr>
                        <m:t>=20</m:t>
                      </m:r>
                      <m:func>
                        <m:funcPr>
                          <m:ctrlPr>
                            <a:rPr lang="en-US" b="0" i="1" smtClean="0">
                              <a:latin typeface="Cambria Math" panose="02040503050406030204" pitchFamily="18" charset="0"/>
                            </a:rPr>
                          </m:ctrlPr>
                        </m:funcPr>
                        <m:fName>
                          <m:r>
                            <m:rPr>
                              <m:sty m:val="p"/>
                            </m:rPr>
                            <a:rPr lang="en-US" b="0" i="0" smtClean="0">
                              <a:latin typeface="Cambria Math" panose="02040503050406030204" pitchFamily="18" charset="0"/>
                            </a:rPr>
                            <m:t>log</m:t>
                          </m:r>
                        </m:fName>
                        <m:e>
                          <m:f>
                            <m:fPr>
                              <m:ctrlPr>
                                <a:rPr lang="en-US" b="0" i="1" smtClean="0">
                                  <a:latin typeface="Cambria Math" panose="02040503050406030204" pitchFamily="18" charset="0"/>
                                </a:rPr>
                              </m:ctrlPr>
                            </m:fPr>
                            <m:num>
                              <m:r>
                                <a:rPr lang="en-US" b="0" i="1" smtClean="0">
                                  <a:latin typeface="Cambria Math" panose="02040503050406030204" pitchFamily="18" charset="0"/>
                                </a:rPr>
                                <m:t>1</m:t>
                              </m:r>
                            </m:num>
                            <m:den>
                              <m:r>
                                <a:rPr lang="en-US" b="0" i="1" smtClean="0">
                                  <a:latin typeface="Cambria Math" panose="02040503050406030204" pitchFamily="18" charset="0"/>
                                </a:rPr>
                                <m:t>0.3</m:t>
                              </m:r>
                            </m:den>
                          </m:f>
                        </m:e>
                      </m:func>
                      <m:r>
                        <a:rPr lang="en-US" b="0" i="1" smtClean="0">
                          <a:latin typeface="Cambria Math" panose="02040503050406030204" pitchFamily="18" charset="0"/>
                        </a:rPr>
                        <m:t>=10.45 </m:t>
                      </m:r>
                      <m:r>
                        <a:rPr lang="en-US" b="0" i="1" smtClean="0">
                          <a:latin typeface="Cambria Math" panose="02040503050406030204" pitchFamily="18" charset="0"/>
                        </a:rPr>
                        <m:t>𝑑𝐵</m:t>
                      </m:r>
                    </m:oMath>
                  </m:oMathPara>
                </a14:m>
                <a:endParaRPr lang="en-VN" dirty="0"/>
              </a:p>
              <a:p>
                <a:pPr marL="0" indent="0">
                  <a:buNone/>
                  <a:tabLst>
                    <a:tab pos="1320800" algn="l"/>
                  </a:tabLst>
                </a:pPr>
                <a:r>
                  <a:rPr lang="en-VN" dirty="0"/>
                  <a:t>Tìm điểm cắt đồ thị Nyquist với đường tròn đơn vị, tại tần số mà gia lượng đơn vị, góc pha là </a:t>
                </a:r>
                <a14:m>
                  <m:oMath xmlns:m="http://schemas.openxmlformats.org/officeDocument/2006/math">
                    <m:r>
                      <a:rPr lang="en-US" b="0" i="1" smtClean="0">
                        <a:latin typeface="Cambria Math" panose="02040503050406030204" pitchFamily="18" charset="0"/>
                      </a:rPr>
                      <m:t>−112.3</m:t>
                    </m:r>
                    <m:r>
                      <a:rPr lang="en-US" b="0" i="1" smtClean="0">
                        <a:latin typeface="Cambria Math" panose="02040503050406030204" pitchFamily="18" charset="0"/>
                        <a:ea typeface="Cambria Math" panose="02040503050406030204" pitchFamily="18" charset="0"/>
                      </a:rPr>
                      <m:t>°</m:t>
                    </m:r>
                  </m:oMath>
                </a14:m>
                <a:r>
                  <a:rPr lang="en-VN" dirty="0"/>
                  <a:t>, suy ra </a:t>
                </a:r>
                <a14:m>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𝜙</m:t>
                        </m:r>
                      </m:e>
                      <m:sub>
                        <m:r>
                          <a:rPr lang="en-US" b="0" i="1" smtClean="0">
                            <a:latin typeface="Cambria Math" panose="02040503050406030204" pitchFamily="18" charset="0"/>
                          </a:rPr>
                          <m:t>𝑀</m:t>
                        </m:r>
                      </m:sub>
                    </m:sSub>
                    <m:r>
                      <a:rPr lang="en-US" b="0" i="1" smtClean="0">
                        <a:latin typeface="Cambria Math" panose="02040503050406030204" pitchFamily="18" charset="0"/>
                      </a:rPr>
                      <m:t>=67.7</m:t>
                    </m:r>
                    <m:r>
                      <a:rPr lang="en-US" b="0" i="1" smtClean="0">
                        <a:latin typeface="Cambria Math" panose="02040503050406030204" pitchFamily="18" charset="0"/>
                        <a:ea typeface="Cambria Math" panose="02040503050406030204" pitchFamily="18" charset="0"/>
                      </a:rPr>
                      <m:t>°</m:t>
                    </m:r>
                  </m:oMath>
                </a14:m>
                <a:r>
                  <a:rPr lang="en-VN" dirty="0"/>
                  <a:t> (sai khác so với </a:t>
                </a:r>
                <a14:m>
                  <m:oMath xmlns:m="http://schemas.openxmlformats.org/officeDocument/2006/math">
                    <m:r>
                      <a:rPr lang="en-US" b="0" i="1" smtClean="0">
                        <a:latin typeface="Cambria Math" panose="02040503050406030204" pitchFamily="18" charset="0"/>
                      </a:rPr>
                      <m:t>−180</m:t>
                    </m:r>
                    <m:r>
                      <a:rPr lang="en-US" b="0" i="1" smtClean="0">
                        <a:latin typeface="Cambria Math" panose="02040503050406030204" pitchFamily="18" charset="0"/>
                        <a:ea typeface="Cambria Math" panose="02040503050406030204" pitchFamily="18" charset="0"/>
                      </a:rPr>
                      <m:t>°</m:t>
                    </m:r>
                  </m:oMath>
                </a14:m>
                <a:r>
                  <a:rPr lang="en-VN" dirty="0"/>
                  <a:t>)</a:t>
                </a:r>
              </a:p>
              <a:p>
                <a:endParaRPr lang="en-VN" b="1" dirty="0">
                  <a:solidFill>
                    <a:srgbClr val="C00000"/>
                  </a:solidFill>
                </a:endParaRPr>
              </a:p>
            </p:txBody>
          </p:sp>
        </mc:Choice>
        <mc:Fallback>
          <p:sp>
            <p:nvSpPr>
              <p:cNvPr id="3" name="Content Placeholder 2">
                <a:extLst>
                  <a:ext uri="{FF2B5EF4-FFF2-40B4-BE49-F238E27FC236}">
                    <a16:creationId xmlns:a16="http://schemas.microsoft.com/office/drawing/2014/main" id="{AF60369D-A551-691F-3B23-F6EC4537BB19}"/>
                  </a:ext>
                </a:extLst>
              </p:cNvPr>
              <p:cNvSpPr>
                <a:spLocks noGrp="1" noRot="1" noChangeAspect="1" noMove="1" noResize="1" noEditPoints="1" noAdjustHandles="1" noChangeArrowheads="1" noChangeShapeType="1" noTextEdit="1"/>
              </p:cNvSpPr>
              <p:nvPr>
                <p:ph idx="1"/>
              </p:nvPr>
            </p:nvSpPr>
            <p:spPr>
              <a:blipFill>
                <a:blip r:embed="rId2"/>
                <a:stretch>
                  <a:fillRect l="-661"/>
                </a:stretch>
              </a:blipFill>
            </p:spPr>
            <p:txBody>
              <a:bodyPr/>
              <a:lstStyle/>
              <a:p>
                <a:r>
                  <a:rPr lang="en-VN">
                    <a:noFill/>
                  </a:rPr>
                  <a:t> </a:t>
                </a:r>
              </a:p>
            </p:txBody>
          </p:sp>
        </mc:Fallback>
      </mc:AlternateContent>
    </p:spTree>
    <p:extLst>
      <p:ext uri="{BB962C8B-B14F-4D97-AF65-F5344CB8AC3E}">
        <p14:creationId xmlns:p14="http://schemas.microsoft.com/office/powerpoint/2010/main" val="902556475"/>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865182D-297C-A69B-FB64-A7D44CC34930}"/>
              </a:ext>
            </a:extLst>
          </p:cNvPr>
          <p:cNvSpPr>
            <a:spLocks noGrp="1"/>
          </p:cNvSpPr>
          <p:nvPr>
            <p:ph type="title"/>
          </p:nvPr>
        </p:nvSpPr>
        <p:spPr/>
        <p:txBody>
          <a:bodyPr/>
          <a:lstStyle/>
          <a:p>
            <a:r>
              <a:rPr lang="en-VN" dirty="0"/>
              <a:t>DỰ TRỮ GIA LƯỢNG VÀ DỰ TRỮ PHA</a:t>
            </a:r>
          </a:p>
        </p:txBody>
      </p:sp>
      <p:sp>
        <p:nvSpPr>
          <p:cNvPr id="3" name="Content Placeholder 2">
            <a:extLst>
              <a:ext uri="{FF2B5EF4-FFF2-40B4-BE49-F238E27FC236}">
                <a16:creationId xmlns:a16="http://schemas.microsoft.com/office/drawing/2014/main" id="{977B06E2-754A-FFBB-303E-AA427DC598AD}"/>
              </a:ext>
            </a:extLst>
          </p:cNvPr>
          <p:cNvSpPr>
            <a:spLocks noGrp="1"/>
          </p:cNvSpPr>
          <p:nvPr>
            <p:ph idx="1"/>
          </p:nvPr>
        </p:nvSpPr>
        <p:spPr/>
        <p:txBody>
          <a:bodyPr/>
          <a:lstStyle/>
          <a:p>
            <a:r>
              <a:rPr lang="en-VN" dirty="0"/>
              <a:t>Xác định dự trữ gia lượng và dự trữ pha dựa trên giản đồ Bode.</a:t>
            </a:r>
          </a:p>
        </p:txBody>
      </p:sp>
      <p:graphicFrame>
        <p:nvGraphicFramePr>
          <p:cNvPr id="5" name="Object 4">
            <a:extLst>
              <a:ext uri="{FF2B5EF4-FFF2-40B4-BE49-F238E27FC236}">
                <a16:creationId xmlns:a16="http://schemas.microsoft.com/office/drawing/2014/main" id="{C02BC94C-CC81-6B2D-A814-0060B1B53802}"/>
              </a:ext>
            </a:extLst>
          </p:cNvPr>
          <p:cNvGraphicFramePr>
            <a:graphicFrameLocks noChangeAspect="1"/>
          </p:cNvGraphicFramePr>
          <p:nvPr>
            <p:extLst>
              <p:ext uri="{D42A27DB-BD31-4B8C-83A1-F6EECF244321}">
                <p14:modId xmlns:p14="http://schemas.microsoft.com/office/powerpoint/2010/main" val="1392350515"/>
              </p:ext>
            </p:extLst>
          </p:nvPr>
        </p:nvGraphicFramePr>
        <p:xfrm>
          <a:off x="3187881" y="1709601"/>
          <a:ext cx="5816237" cy="4575807"/>
        </p:xfrm>
        <a:graphic>
          <a:graphicData uri="http://schemas.openxmlformats.org/presentationml/2006/ole">
            <mc:AlternateContent xmlns:mc="http://schemas.openxmlformats.org/markup-compatibility/2006">
              <mc:Choice xmlns:v="urn:schemas-microsoft-com:vml" Requires="v">
                <p:oleObj name="Picture" r:id="rId2" imgW="5359400" imgH="4203700" progId="Word.Picture.8">
                  <p:embed/>
                </p:oleObj>
              </mc:Choice>
              <mc:Fallback>
                <p:oleObj name="Picture" r:id="rId2" imgW="5359400" imgH="4203700" progId="Word.Picture.8">
                  <p:embed/>
                  <p:pic>
                    <p:nvPicPr>
                      <p:cNvPr id="0" name="Object 1"/>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187881" y="1709601"/>
                        <a:ext cx="5816237" cy="4575807"/>
                      </a:xfrm>
                      <a:prstGeom prst="rect">
                        <a:avLst/>
                      </a:prstGeom>
                      <a:noFill/>
                    </p:spPr>
                  </p:pic>
                </p:oleObj>
              </mc:Fallback>
            </mc:AlternateContent>
          </a:graphicData>
        </a:graphic>
      </p:graphicFrame>
    </p:spTree>
    <p:extLst>
      <p:ext uri="{BB962C8B-B14F-4D97-AF65-F5344CB8AC3E}">
        <p14:creationId xmlns:p14="http://schemas.microsoft.com/office/powerpoint/2010/main" val="966343557"/>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4717B79-75D4-3B3A-E4C9-A4EB1B573750}"/>
              </a:ext>
            </a:extLst>
          </p:cNvPr>
          <p:cNvSpPr>
            <a:spLocks noGrp="1"/>
          </p:cNvSpPr>
          <p:nvPr>
            <p:ph type="title"/>
          </p:nvPr>
        </p:nvSpPr>
        <p:spPr/>
        <p:txBody>
          <a:bodyPr/>
          <a:lstStyle/>
          <a:p>
            <a:r>
              <a:rPr lang="en-VN" dirty="0"/>
              <a:t>DỰ TRỮ GIA LƯỢNG VÀ DỰ TRỮ PHA</a:t>
            </a:r>
          </a:p>
        </p:txBody>
      </p:sp>
      <mc:AlternateContent xmlns:mc="http://schemas.openxmlformats.org/markup-compatibility/2006">
        <mc:Choice xmlns:a14="http://schemas.microsoft.com/office/drawing/2010/main" Requires="a14">
          <p:sp>
            <p:nvSpPr>
              <p:cNvPr id="3" name="Content Placeholder 2">
                <a:extLst>
                  <a:ext uri="{FF2B5EF4-FFF2-40B4-BE49-F238E27FC236}">
                    <a16:creationId xmlns:a16="http://schemas.microsoft.com/office/drawing/2014/main" id="{B95A5526-834C-3FF8-A82A-2BF64ADE6EBF}"/>
                  </a:ext>
                </a:extLst>
              </p:cNvPr>
              <p:cNvSpPr>
                <a:spLocks noGrp="1"/>
              </p:cNvSpPr>
              <p:nvPr>
                <p:ph idx="1"/>
              </p:nvPr>
            </p:nvSpPr>
            <p:spPr/>
            <p:txBody>
              <a:bodyPr/>
              <a:lstStyle/>
              <a:p>
                <a:r>
                  <a:rPr lang="en-VN" b="1" dirty="0">
                    <a:solidFill>
                      <a:srgbClr val="C00000"/>
                    </a:solidFill>
                  </a:rPr>
                  <a:t>Ví dụ: </a:t>
                </a:r>
                <a:r>
                  <a:rPr lang="en-VN" dirty="0"/>
                  <a:t>Hệ thống phản hồi đơn vị có </a:t>
                </a:r>
                <a14:m>
                  <m:oMath xmlns:m="http://schemas.openxmlformats.org/officeDocument/2006/math">
                    <m:r>
                      <a:rPr lang="en-US" b="0" i="1" smtClean="0">
                        <a:latin typeface="Cambria Math" panose="02040503050406030204" pitchFamily="18" charset="0"/>
                      </a:rPr>
                      <m:t>𝐺</m:t>
                    </m:r>
                    <m:d>
                      <m:dPr>
                        <m:ctrlPr>
                          <a:rPr lang="en-US" b="0" i="1" smtClean="0">
                            <a:latin typeface="Cambria Math" panose="02040503050406030204" pitchFamily="18" charset="0"/>
                          </a:rPr>
                        </m:ctrlPr>
                      </m:dPr>
                      <m:e>
                        <m:r>
                          <a:rPr lang="en-US" b="0" i="1" smtClean="0">
                            <a:latin typeface="Cambria Math" panose="02040503050406030204" pitchFamily="18" charset="0"/>
                          </a:rPr>
                          <m:t>𝑠</m:t>
                        </m:r>
                      </m:e>
                    </m:d>
                    <m:r>
                      <a:rPr lang="en-US" b="0" i="1" smtClean="0">
                        <a:latin typeface="Cambria Math" panose="02040503050406030204" pitchFamily="18" charset="0"/>
                      </a:rPr>
                      <m:t>=</m:t>
                    </m:r>
                    <m:r>
                      <a:rPr lang="en-US" b="0" i="1" smtClean="0">
                        <a:latin typeface="Cambria Math" panose="02040503050406030204" pitchFamily="18" charset="0"/>
                      </a:rPr>
                      <m:t>𝐾</m:t>
                    </m:r>
                    <m:r>
                      <a:rPr lang="en-US" b="0" i="1" smtClean="0">
                        <a:latin typeface="Cambria Math" panose="02040503050406030204" pitchFamily="18" charset="0"/>
                      </a:rPr>
                      <m:t>/[</m:t>
                    </m:r>
                    <m:d>
                      <m:dPr>
                        <m:ctrlPr>
                          <a:rPr lang="en-US" b="0" i="1" smtClean="0">
                            <a:latin typeface="Cambria Math" panose="02040503050406030204" pitchFamily="18" charset="0"/>
                          </a:rPr>
                        </m:ctrlPr>
                      </m:dPr>
                      <m:e>
                        <m:r>
                          <a:rPr lang="en-US" b="0" i="1" smtClean="0">
                            <a:latin typeface="Cambria Math" panose="02040503050406030204" pitchFamily="18" charset="0"/>
                          </a:rPr>
                          <m:t>𝑠</m:t>
                        </m:r>
                        <m:r>
                          <a:rPr lang="en-US" b="0" i="1" smtClean="0">
                            <a:latin typeface="Cambria Math" panose="02040503050406030204" pitchFamily="18" charset="0"/>
                          </a:rPr>
                          <m:t>+2</m:t>
                        </m:r>
                      </m:e>
                    </m:d>
                    <m:d>
                      <m:dPr>
                        <m:ctrlPr>
                          <a:rPr lang="en-US" b="0" i="1" smtClean="0">
                            <a:latin typeface="Cambria Math" panose="02040503050406030204" pitchFamily="18" charset="0"/>
                          </a:rPr>
                        </m:ctrlPr>
                      </m:dPr>
                      <m:e>
                        <m:r>
                          <a:rPr lang="en-US" b="0" i="1" smtClean="0">
                            <a:latin typeface="Cambria Math" panose="02040503050406030204" pitchFamily="18" charset="0"/>
                          </a:rPr>
                          <m:t>𝑠</m:t>
                        </m:r>
                        <m:r>
                          <a:rPr lang="en-US" b="0" i="1" smtClean="0">
                            <a:latin typeface="Cambria Math" panose="02040503050406030204" pitchFamily="18" charset="0"/>
                          </a:rPr>
                          <m:t>+4</m:t>
                        </m:r>
                      </m:e>
                    </m:d>
                    <m:d>
                      <m:dPr>
                        <m:ctrlPr>
                          <a:rPr lang="en-US" b="0" i="1" smtClean="0">
                            <a:latin typeface="Cambria Math" panose="02040503050406030204" pitchFamily="18" charset="0"/>
                          </a:rPr>
                        </m:ctrlPr>
                      </m:dPr>
                      <m:e>
                        <m:r>
                          <a:rPr lang="en-US" b="0" i="1" smtClean="0">
                            <a:latin typeface="Cambria Math" panose="02040503050406030204" pitchFamily="18" charset="0"/>
                          </a:rPr>
                          <m:t>𝑠</m:t>
                        </m:r>
                        <m:r>
                          <a:rPr lang="en-US" b="0" i="1" smtClean="0">
                            <a:latin typeface="Cambria Math" panose="02040503050406030204" pitchFamily="18" charset="0"/>
                          </a:rPr>
                          <m:t>+5</m:t>
                        </m:r>
                      </m:e>
                    </m:d>
                    <m:r>
                      <a:rPr lang="en-US" b="0" i="1" smtClean="0">
                        <a:latin typeface="Cambria Math" panose="02040503050406030204" pitchFamily="18" charset="0"/>
                      </a:rPr>
                      <m:t>]</m:t>
                    </m:r>
                  </m:oMath>
                </a14:m>
                <a:endParaRPr lang="en-VN" b="1" dirty="0">
                  <a:solidFill>
                    <a:srgbClr val="C00000"/>
                  </a:solidFill>
                </a:endParaRPr>
              </a:p>
            </p:txBody>
          </p:sp>
        </mc:Choice>
        <mc:Fallback>
          <p:sp>
            <p:nvSpPr>
              <p:cNvPr id="3" name="Content Placeholder 2">
                <a:extLst>
                  <a:ext uri="{FF2B5EF4-FFF2-40B4-BE49-F238E27FC236}">
                    <a16:creationId xmlns:a16="http://schemas.microsoft.com/office/drawing/2014/main" id="{B95A5526-834C-3FF8-A82A-2BF64ADE6EBF}"/>
                  </a:ext>
                </a:extLst>
              </p:cNvPr>
              <p:cNvSpPr>
                <a:spLocks noGrp="1" noRot="1" noChangeAspect="1" noMove="1" noResize="1" noEditPoints="1" noAdjustHandles="1" noChangeArrowheads="1" noChangeShapeType="1" noTextEdit="1"/>
              </p:cNvSpPr>
              <p:nvPr>
                <p:ph idx="1"/>
              </p:nvPr>
            </p:nvSpPr>
            <p:spPr>
              <a:blipFill>
                <a:blip r:embed="rId2"/>
                <a:stretch>
                  <a:fillRect l="-528"/>
                </a:stretch>
              </a:blipFill>
            </p:spPr>
            <p:txBody>
              <a:bodyPr/>
              <a:lstStyle/>
              <a:p>
                <a:r>
                  <a:rPr lang="en-VN">
                    <a:noFill/>
                  </a:rPr>
                  <a:t> </a:t>
                </a:r>
              </a:p>
            </p:txBody>
          </p:sp>
        </mc:Fallback>
      </mc:AlternateContent>
      <mc:AlternateContent xmlns:mc="http://schemas.openxmlformats.org/markup-compatibility/2006">
        <mc:Choice xmlns:a14="http://schemas.microsoft.com/office/drawing/2010/main" Requires="a14">
          <p:sp>
            <p:nvSpPr>
              <p:cNvPr id="4" name="TextBox 3">
                <a:extLst>
                  <a:ext uri="{FF2B5EF4-FFF2-40B4-BE49-F238E27FC236}">
                    <a16:creationId xmlns:a16="http://schemas.microsoft.com/office/drawing/2014/main" id="{7E57F886-F0ED-019E-54D1-DDBCA7984F25}"/>
                  </a:ext>
                </a:extLst>
              </p:cNvPr>
              <p:cNvSpPr txBox="1"/>
              <p:nvPr/>
            </p:nvSpPr>
            <p:spPr>
              <a:xfrm>
                <a:off x="1657350" y="1828800"/>
                <a:ext cx="9041130" cy="646331"/>
              </a:xfrm>
              <a:prstGeom prst="rect">
                <a:avLst/>
              </a:prstGeom>
              <a:noFill/>
            </p:spPr>
            <p:txBody>
              <a:bodyPr wrap="square" rtlCol="0">
                <a:spAutoFit/>
              </a:bodyPr>
              <a:lstStyle/>
              <a:p>
                <a:r>
                  <a:rPr lang="en-VN" dirty="0">
                    <a:latin typeface="Arial" panose="020B0604020202020204" pitchFamily="34" charset="0"/>
                    <a:cs typeface="Arial" panose="020B0604020202020204" pitchFamily="34" charset="0"/>
                  </a:rPr>
                  <a:t>Hệ thống không có điểm cực nằm bên phải của mặt phẳng s. Suy ra, hệ thống ổn định khi biên độ nhỏ hơn 1 đơn vị tại tần số mà pha là </a:t>
                </a:r>
                <a14:m>
                  <m:oMath xmlns:m="http://schemas.openxmlformats.org/officeDocument/2006/math">
                    <m:r>
                      <a:rPr lang="en-US" b="0" i="1" smtClean="0">
                        <a:latin typeface="Cambria Math" panose="02040503050406030204" pitchFamily="18" charset="0"/>
                        <a:cs typeface="Arial" panose="020B0604020202020204" pitchFamily="34" charset="0"/>
                      </a:rPr>
                      <m:t>180</m:t>
                    </m:r>
                    <m:r>
                      <a:rPr lang="en-US" b="0" i="1" smtClean="0">
                        <a:latin typeface="Cambria Math" panose="02040503050406030204" pitchFamily="18" charset="0"/>
                        <a:ea typeface="Cambria Math" panose="02040503050406030204" pitchFamily="18" charset="0"/>
                        <a:cs typeface="Arial" panose="020B0604020202020204" pitchFamily="34" charset="0"/>
                      </a:rPr>
                      <m:t>°</m:t>
                    </m:r>
                  </m:oMath>
                </a14:m>
                <a:r>
                  <a:rPr lang="en-VN" dirty="0">
                    <a:latin typeface="Arial" panose="020B0604020202020204" pitchFamily="34" charset="0"/>
                    <a:cs typeface="Arial" panose="020B0604020202020204" pitchFamily="34" charset="0"/>
                  </a:rPr>
                  <a:t>.</a:t>
                </a:r>
              </a:p>
            </p:txBody>
          </p:sp>
        </mc:Choice>
        <mc:Fallback>
          <p:sp>
            <p:nvSpPr>
              <p:cNvPr id="4" name="TextBox 3">
                <a:extLst>
                  <a:ext uri="{FF2B5EF4-FFF2-40B4-BE49-F238E27FC236}">
                    <a16:creationId xmlns:a16="http://schemas.microsoft.com/office/drawing/2014/main" id="{7E57F886-F0ED-019E-54D1-DDBCA7984F25}"/>
                  </a:ext>
                </a:extLst>
              </p:cNvPr>
              <p:cNvSpPr txBox="1">
                <a:spLocks noRot="1" noChangeAspect="1" noMove="1" noResize="1" noEditPoints="1" noAdjustHandles="1" noChangeArrowheads="1" noChangeShapeType="1" noTextEdit="1"/>
              </p:cNvSpPr>
              <p:nvPr/>
            </p:nvSpPr>
            <p:spPr>
              <a:xfrm>
                <a:off x="1657350" y="1828800"/>
                <a:ext cx="9041130" cy="646331"/>
              </a:xfrm>
              <a:prstGeom prst="rect">
                <a:avLst/>
              </a:prstGeom>
              <a:blipFill>
                <a:blip r:embed="rId3"/>
                <a:stretch>
                  <a:fillRect l="-561" t="-3922" b="-13725"/>
                </a:stretch>
              </a:blipFill>
            </p:spPr>
            <p:txBody>
              <a:bodyPr/>
              <a:lstStyle/>
              <a:p>
                <a:r>
                  <a:rPr lang="en-VN">
                    <a:noFill/>
                  </a:rPr>
                  <a:t> </a:t>
                </a:r>
              </a:p>
            </p:txBody>
          </p:sp>
        </mc:Fallback>
      </mc:AlternateContent>
      <p:pic>
        <p:nvPicPr>
          <p:cNvPr id="6" name="Picture 5">
            <a:extLst>
              <a:ext uri="{FF2B5EF4-FFF2-40B4-BE49-F238E27FC236}">
                <a16:creationId xmlns:a16="http://schemas.microsoft.com/office/drawing/2014/main" id="{6B5F6258-E099-5E69-BEB8-40A624E1BDFB}"/>
              </a:ext>
            </a:extLst>
          </p:cNvPr>
          <p:cNvPicPr>
            <a:picLocks noChangeAspect="1"/>
          </p:cNvPicPr>
          <p:nvPr/>
        </p:nvPicPr>
        <p:blipFill>
          <a:blip r:embed="rId4"/>
          <a:stretch>
            <a:fillRect/>
          </a:stretch>
        </p:blipFill>
        <p:spPr>
          <a:xfrm>
            <a:off x="240029" y="2475131"/>
            <a:ext cx="5447227" cy="4139644"/>
          </a:xfrm>
          <a:prstGeom prst="rect">
            <a:avLst/>
          </a:prstGeom>
        </p:spPr>
      </p:pic>
      <p:cxnSp>
        <p:nvCxnSpPr>
          <p:cNvPr id="8" name="Straight Connector 7">
            <a:extLst>
              <a:ext uri="{FF2B5EF4-FFF2-40B4-BE49-F238E27FC236}">
                <a16:creationId xmlns:a16="http://schemas.microsoft.com/office/drawing/2014/main" id="{C43C0918-44CD-2903-9033-1A86564D57A9}"/>
              </a:ext>
            </a:extLst>
          </p:cNvPr>
          <p:cNvCxnSpPr>
            <a:cxnSpLocks/>
          </p:cNvCxnSpPr>
          <p:nvPr/>
        </p:nvCxnSpPr>
        <p:spPr>
          <a:xfrm flipV="1">
            <a:off x="4171950" y="2475131"/>
            <a:ext cx="0" cy="3811369"/>
          </a:xfrm>
          <a:prstGeom prst="line">
            <a:avLst/>
          </a:prstGeom>
          <a:ln w="28575">
            <a:prstDash val="dash"/>
          </a:ln>
        </p:spPr>
        <p:style>
          <a:lnRef idx="1">
            <a:schemeClr val="accent1"/>
          </a:lnRef>
          <a:fillRef idx="0">
            <a:schemeClr val="accent1"/>
          </a:fillRef>
          <a:effectRef idx="0">
            <a:schemeClr val="accent1"/>
          </a:effectRef>
          <a:fontRef idx="minor">
            <a:schemeClr val="tx1"/>
          </a:fontRef>
        </p:style>
      </p:cxnSp>
      <p:cxnSp>
        <p:nvCxnSpPr>
          <p:cNvPr id="11" name="Straight Connector 10">
            <a:extLst>
              <a:ext uri="{FF2B5EF4-FFF2-40B4-BE49-F238E27FC236}">
                <a16:creationId xmlns:a16="http://schemas.microsoft.com/office/drawing/2014/main" id="{DCC8A813-B730-1CC7-F034-8EC6AA5964D1}"/>
              </a:ext>
            </a:extLst>
          </p:cNvPr>
          <p:cNvCxnSpPr>
            <a:cxnSpLocks/>
          </p:cNvCxnSpPr>
          <p:nvPr/>
        </p:nvCxnSpPr>
        <p:spPr>
          <a:xfrm>
            <a:off x="872490" y="5547360"/>
            <a:ext cx="5185410" cy="0"/>
          </a:xfrm>
          <a:prstGeom prst="line">
            <a:avLst/>
          </a:prstGeom>
          <a:ln w="28575">
            <a:prstDash val="dash"/>
          </a:ln>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37BB4D76-083F-8CB8-ACE3-D5384682BB29}"/>
              </a:ext>
            </a:extLst>
          </p:cNvPr>
          <p:cNvCxnSpPr>
            <a:cxnSpLocks/>
          </p:cNvCxnSpPr>
          <p:nvPr/>
        </p:nvCxnSpPr>
        <p:spPr>
          <a:xfrm>
            <a:off x="872490" y="2899410"/>
            <a:ext cx="5185410" cy="0"/>
          </a:xfrm>
          <a:prstGeom prst="line">
            <a:avLst/>
          </a:prstGeom>
          <a:ln w="28575">
            <a:prstDash val="dash"/>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mc:Choice xmlns:a14="http://schemas.microsoft.com/office/drawing/2010/main" Requires="a14">
          <p:sp>
            <p:nvSpPr>
              <p:cNvPr id="15" name="TextBox 14">
                <a:extLst>
                  <a:ext uri="{FF2B5EF4-FFF2-40B4-BE49-F238E27FC236}">
                    <a16:creationId xmlns:a16="http://schemas.microsoft.com/office/drawing/2014/main" id="{FFAB911D-8720-DD18-BFDD-53307182CDE6}"/>
                  </a:ext>
                </a:extLst>
              </p:cNvPr>
              <p:cNvSpPr txBox="1"/>
              <p:nvPr/>
            </p:nvSpPr>
            <p:spPr>
              <a:xfrm>
                <a:off x="6371393" y="2720340"/>
                <a:ext cx="5447227" cy="2308324"/>
              </a:xfrm>
              <a:prstGeom prst="rect">
                <a:avLst/>
              </a:prstGeom>
              <a:noFill/>
            </p:spPr>
            <p:txBody>
              <a:bodyPr wrap="square" rtlCol="0">
                <a:spAutoFit/>
              </a:bodyPr>
              <a:lstStyle/>
              <a:p>
                <a:r>
                  <a:rPr lang="en-VN" dirty="0">
                    <a:latin typeface="Arial" panose="020B0604020202020204" pitchFamily="34" charset="0"/>
                    <a:cs typeface="Arial" panose="020B0604020202020204" pitchFamily="34" charset="0"/>
                  </a:rPr>
                  <a:t>Đồ thị Bode biên độ bắt đầu từ </a:t>
                </a:r>
                <a14:m>
                  <m:oMath xmlns:m="http://schemas.openxmlformats.org/officeDocument/2006/math">
                    <m:r>
                      <a:rPr lang="en-US" b="0" i="1" smtClean="0">
                        <a:latin typeface="Cambria Math" panose="02040503050406030204" pitchFamily="18" charset="0"/>
                      </a:rPr>
                      <m:t>𝐾</m:t>
                    </m:r>
                    <m:r>
                      <a:rPr lang="en-US" b="0" i="1" smtClean="0">
                        <a:latin typeface="Cambria Math" panose="02040503050406030204" pitchFamily="18" charset="0"/>
                      </a:rPr>
                      <m:t>/40</m:t>
                    </m:r>
                  </m:oMath>
                </a14:m>
                <a:r>
                  <a:rPr lang="en-VN" dirty="0">
                    <a:latin typeface="Arial" panose="020B0604020202020204" pitchFamily="34" charset="0"/>
                    <a:cs typeface="Arial" panose="020B0604020202020204" pitchFamily="34" charset="0"/>
                  </a:rPr>
                  <a:t>. </a:t>
                </a:r>
              </a:p>
              <a:p>
                <a:r>
                  <a:rPr lang="en-VN" dirty="0">
                    <a:latin typeface="Arial" panose="020B0604020202020204" pitchFamily="34" charset="0"/>
                    <a:cs typeface="Arial" panose="020B0604020202020204" pitchFamily="34" charset="0"/>
                  </a:rPr>
                  <a:t>Để đơn giản hoá, vẽ đồ thị Bode với </a:t>
                </a:r>
                <a14:m>
                  <m:oMath xmlns:m="http://schemas.openxmlformats.org/officeDocument/2006/math">
                    <m:r>
                      <a:rPr lang="en-US" b="0" i="1" smtClean="0">
                        <a:latin typeface="Cambria Math" panose="02040503050406030204" pitchFamily="18" charset="0"/>
                        <a:cs typeface="Arial" panose="020B0604020202020204" pitchFamily="34" charset="0"/>
                      </a:rPr>
                      <m:t>𝐾</m:t>
                    </m:r>
                    <m:r>
                      <a:rPr lang="en-US" b="0" i="1" smtClean="0">
                        <a:latin typeface="Cambria Math" panose="02040503050406030204" pitchFamily="18" charset="0"/>
                        <a:cs typeface="Arial" panose="020B0604020202020204" pitchFamily="34" charset="0"/>
                      </a:rPr>
                      <m:t>=40</m:t>
                    </m:r>
                  </m:oMath>
                </a14:m>
                <a:endParaRPr lang="en-VN" dirty="0">
                  <a:latin typeface="Arial" panose="020B0604020202020204" pitchFamily="34" charset="0"/>
                  <a:cs typeface="Arial" panose="020B0604020202020204" pitchFamily="34" charset="0"/>
                </a:endParaRPr>
              </a:p>
              <a:p>
                <a:r>
                  <a:rPr lang="en-VN" dirty="0">
                    <a:latin typeface="Arial" panose="020B0604020202020204" pitchFamily="34" charset="0"/>
                    <a:cs typeface="Arial" panose="020B0604020202020204" pitchFamily="34" charset="0"/>
                  </a:rPr>
                  <a:t>Tần số tại đó </a:t>
                </a:r>
                <a14:m>
                  <m:oMath xmlns:m="http://schemas.openxmlformats.org/officeDocument/2006/math">
                    <m:r>
                      <a:rPr lang="en-US" b="0" i="1" smtClean="0">
                        <a:latin typeface="Cambria Math" panose="02040503050406030204" pitchFamily="18" charset="0"/>
                        <a:cs typeface="Arial" panose="020B0604020202020204" pitchFamily="34" charset="0"/>
                      </a:rPr>
                      <m:t>𝜔</m:t>
                    </m:r>
                    <m:r>
                      <a:rPr lang="en-US" b="0" i="1" smtClean="0">
                        <a:latin typeface="Cambria Math" panose="02040503050406030204" pitchFamily="18" charset="0"/>
                        <a:cs typeface="Arial" panose="020B0604020202020204" pitchFamily="34" charset="0"/>
                      </a:rPr>
                      <m:t>=180°</m:t>
                    </m:r>
                  </m:oMath>
                </a14:m>
                <a:r>
                  <a:rPr lang="en-VN" dirty="0">
                    <a:latin typeface="Arial" panose="020B0604020202020204" pitchFamily="34" charset="0"/>
                    <a:cs typeface="Arial" panose="020B0604020202020204" pitchFamily="34" charset="0"/>
                  </a:rPr>
                  <a:t> là khoảng 7 rad/s, gióng lên đồ thị Bode biên độ, có dự trữ gia lượng là 20dB.</a:t>
                </a:r>
              </a:p>
              <a:p>
                <a:r>
                  <a:rPr lang="en-VN" dirty="0">
                    <a:latin typeface="Arial" panose="020B0604020202020204" pitchFamily="34" charset="0"/>
                    <a:cs typeface="Arial" panose="020B0604020202020204" pitchFamily="34" charset="0"/>
                  </a:rPr>
                  <a:t>Do đồ thị Bode được vẽ với </a:t>
                </a:r>
                <a14:m>
                  <m:oMath xmlns:m="http://schemas.openxmlformats.org/officeDocument/2006/math">
                    <m:r>
                      <a:rPr lang="en-US" b="0" i="1" smtClean="0">
                        <a:latin typeface="Cambria Math" panose="02040503050406030204" pitchFamily="18" charset="0"/>
                        <a:cs typeface="Arial" panose="020B0604020202020204" pitchFamily="34" charset="0"/>
                      </a:rPr>
                      <m:t>𝐾</m:t>
                    </m:r>
                    <m:r>
                      <a:rPr lang="en-US" b="0" i="1" smtClean="0">
                        <a:latin typeface="Cambria Math" panose="02040503050406030204" pitchFamily="18" charset="0"/>
                        <a:cs typeface="Arial" panose="020B0604020202020204" pitchFamily="34" charset="0"/>
                      </a:rPr>
                      <m:t>=40</m:t>
                    </m:r>
                  </m:oMath>
                </a14:m>
                <a:r>
                  <a:rPr lang="en-VN" dirty="0">
                    <a:latin typeface="Arial" panose="020B0604020202020204" pitchFamily="34" charset="0"/>
                    <a:cs typeface="Arial" panose="020B0604020202020204" pitchFamily="34" charset="0"/>
                  </a:rPr>
                  <a:t> nên biên độ ổn định là 40.</a:t>
                </a:r>
              </a:p>
              <a:p>
                <a:r>
                  <a:rPr lang="en-VN" dirty="0">
                    <a:latin typeface="Arial" panose="020B0604020202020204" pitchFamily="34" charset="0"/>
                    <a:cs typeface="Arial" panose="020B0604020202020204" pitchFamily="34" charset="0"/>
                  </a:rPr>
                  <a:t>Suy ra điều kiện của K: </a:t>
                </a:r>
                <a14:m>
                  <m:oMath xmlns:m="http://schemas.openxmlformats.org/officeDocument/2006/math">
                    <m:r>
                      <a:rPr lang="en-US" b="0" i="1" smtClean="0">
                        <a:latin typeface="Cambria Math" panose="02040503050406030204" pitchFamily="18" charset="0"/>
                        <a:cs typeface="Arial" panose="020B0604020202020204" pitchFamily="34" charset="0"/>
                      </a:rPr>
                      <m:t>40∗10=400</m:t>
                    </m:r>
                  </m:oMath>
                </a14:m>
                <a:endParaRPr lang="en-VN" dirty="0">
                  <a:latin typeface="Arial" panose="020B0604020202020204" pitchFamily="34" charset="0"/>
                  <a:cs typeface="Arial" panose="020B0604020202020204" pitchFamily="34" charset="0"/>
                </a:endParaRPr>
              </a:p>
              <a:p>
                <a:r>
                  <a:rPr lang="en-VN" dirty="0">
                    <a:latin typeface="Arial" panose="020B0604020202020204" pitchFamily="34" charset="0"/>
                    <a:cs typeface="Arial" panose="020B0604020202020204" pitchFamily="34" charset="0"/>
                  </a:rPr>
                  <a:t>Giá trị của K để hệ thống ổn định: </a:t>
                </a:r>
                <a14:m>
                  <m:oMath xmlns:m="http://schemas.openxmlformats.org/officeDocument/2006/math">
                    <m:r>
                      <a:rPr lang="en-US" b="0" i="1" smtClean="0">
                        <a:latin typeface="Cambria Math" panose="02040503050406030204" pitchFamily="18" charset="0"/>
                        <a:cs typeface="Arial" panose="020B0604020202020204" pitchFamily="34" charset="0"/>
                      </a:rPr>
                      <m:t>0&lt;</m:t>
                    </m:r>
                    <m:r>
                      <a:rPr lang="en-US" b="0" i="1" smtClean="0">
                        <a:latin typeface="Cambria Math" panose="02040503050406030204" pitchFamily="18" charset="0"/>
                        <a:cs typeface="Arial" panose="020B0604020202020204" pitchFamily="34" charset="0"/>
                      </a:rPr>
                      <m:t>𝐾</m:t>
                    </m:r>
                    <m:r>
                      <a:rPr lang="en-US" b="0" i="1" smtClean="0">
                        <a:latin typeface="Cambria Math" panose="02040503050406030204" pitchFamily="18" charset="0"/>
                        <a:cs typeface="Arial" panose="020B0604020202020204" pitchFamily="34" charset="0"/>
                      </a:rPr>
                      <m:t>&lt;400</m:t>
                    </m:r>
                  </m:oMath>
                </a14:m>
                <a:endParaRPr lang="en-VN" dirty="0">
                  <a:latin typeface="Arial" panose="020B0604020202020204" pitchFamily="34" charset="0"/>
                  <a:cs typeface="Arial" panose="020B0604020202020204" pitchFamily="34" charset="0"/>
                </a:endParaRPr>
              </a:p>
            </p:txBody>
          </p:sp>
        </mc:Choice>
        <mc:Fallback>
          <p:sp>
            <p:nvSpPr>
              <p:cNvPr id="15" name="TextBox 14">
                <a:extLst>
                  <a:ext uri="{FF2B5EF4-FFF2-40B4-BE49-F238E27FC236}">
                    <a16:creationId xmlns:a16="http://schemas.microsoft.com/office/drawing/2014/main" id="{FFAB911D-8720-DD18-BFDD-53307182CDE6}"/>
                  </a:ext>
                </a:extLst>
              </p:cNvPr>
              <p:cNvSpPr txBox="1">
                <a:spLocks noRot="1" noChangeAspect="1" noMove="1" noResize="1" noEditPoints="1" noAdjustHandles="1" noChangeArrowheads="1" noChangeShapeType="1" noTextEdit="1"/>
              </p:cNvSpPr>
              <p:nvPr/>
            </p:nvSpPr>
            <p:spPr>
              <a:xfrm>
                <a:off x="6371393" y="2720340"/>
                <a:ext cx="5447227" cy="2308324"/>
              </a:xfrm>
              <a:prstGeom prst="rect">
                <a:avLst/>
              </a:prstGeom>
              <a:blipFill>
                <a:blip r:embed="rId5"/>
                <a:stretch>
                  <a:fillRect l="-930" t="-1099" r="-698" b="-3846"/>
                </a:stretch>
              </a:blipFill>
            </p:spPr>
            <p:txBody>
              <a:bodyPr/>
              <a:lstStyle/>
              <a:p>
                <a:r>
                  <a:rPr lang="en-VN">
                    <a:noFill/>
                  </a:rPr>
                  <a:t> </a:t>
                </a:r>
              </a:p>
            </p:txBody>
          </p:sp>
        </mc:Fallback>
      </mc:AlternateContent>
      <p:sp>
        <p:nvSpPr>
          <p:cNvPr id="16" name="Oval 15">
            <a:extLst>
              <a:ext uri="{FF2B5EF4-FFF2-40B4-BE49-F238E27FC236}">
                <a16:creationId xmlns:a16="http://schemas.microsoft.com/office/drawing/2014/main" id="{7BE8A430-AD7D-7A82-1F4D-AE61A9AAA86A}"/>
              </a:ext>
            </a:extLst>
          </p:cNvPr>
          <p:cNvSpPr/>
          <p:nvPr/>
        </p:nvSpPr>
        <p:spPr>
          <a:xfrm>
            <a:off x="240029" y="2953286"/>
            <a:ext cx="354331" cy="826770"/>
          </a:xfrm>
          <a:prstGeom prst="ellipse">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VN"/>
          </a:p>
        </p:txBody>
      </p:sp>
    </p:spTree>
    <p:extLst>
      <p:ext uri="{BB962C8B-B14F-4D97-AF65-F5344CB8AC3E}">
        <p14:creationId xmlns:p14="http://schemas.microsoft.com/office/powerpoint/2010/main" val="453521538"/>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6CBECDD-2A2E-FA31-41D9-ED2A3A1DB6CC}"/>
              </a:ext>
            </a:extLst>
          </p:cNvPr>
          <p:cNvSpPr>
            <a:spLocks noGrp="1"/>
          </p:cNvSpPr>
          <p:nvPr>
            <p:ph type="title"/>
          </p:nvPr>
        </p:nvSpPr>
        <p:spPr/>
        <p:txBody>
          <a:bodyPr/>
          <a:lstStyle/>
          <a:p>
            <a:r>
              <a:rPr lang="en-VN" dirty="0"/>
              <a:t>Bài tập</a:t>
            </a:r>
          </a:p>
        </p:txBody>
      </p:sp>
      <p:sp>
        <p:nvSpPr>
          <p:cNvPr id="3" name="Content Placeholder 2">
            <a:extLst>
              <a:ext uri="{FF2B5EF4-FFF2-40B4-BE49-F238E27FC236}">
                <a16:creationId xmlns:a16="http://schemas.microsoft.com/office/drawing/2014/main" id="{B31DDEA9-A6D7-2CD1-E5C2-03549B82E98E}"/>
              </a:ext>
            </a:extLst>
          </p:cNvPr>
          <p:cNvSpPr>
            <a:spLocks noGrp="1"/>
          </p:cNvSpPr>
          <p:nvPr>
            <p:ph idx="1"/>
          </p:nvPr>
        </p:nvSpPr>
        <p:spPr/>
        <p:txBody>
          <a:bodyPr/>
          <a:lstStyle/>
          <a:p>
            <a:endParaRPr lang="en-VN"/>
          </a:p>
        </p:txBody>
      </p:sp>
    </p:spTree>
    <p:extLst>
      <p:ext uri="{BB962C8B-B14F-4D97-AF65-F5344CB8AC3E}">
        <p14:creationId xmlns:p14="http://schemas.microsoft.com/office/powerpoint/2010/main" val="1753571710"/>
      </p:ext>
    </p:extLst>
  </p:cSld>
  <p:clrMapOvr>
    <a:masterClrMapping/>
  </p:clrMapOvr>
</p:sld>
</file>

<file path=ppt/theme/theme1.xml><?xml version="1.0" encoding="utf-8"?>
<a:theme xmlns:a="http://schemas.openxmlformats.org/drawingml/2006/main" name="Gallery">
  <a:themeElements>
    <a:clrScheme name="Gallery">
      <a:dk1>
        <a:sysClr val="windowText" lastClr="000000"/>
      </a:dk1>
      <a:lt1>
        <a:sysClr val="window" lastClr="FFFFFF"/>
      </a:lt1>
      <a:dk2>
        <a:srgbClr val="454545"/>
      </a:dk2>
      <a:lt2>
        <a:srgbClr val="DFDBD5"/>
      </a:lt2>
      <a:accent1>
        <a:srgbClr val="B71E42"/>
      </a:accent1>
      <a:accent2>
        <a:srgbClr val="DE478E"/>
      </a:accent2>
      <a:accent3>
        <a:srgbClr val="BC72F0"/>
      </a:accent3>
      <a:accent4>
        <a:srgbClr val="795FAF"/>
      </a:accent4>
      <a:accent5>
        <a:srgbClr val="586EA6"/>
      </a:accent5>
      <a:accent6>
        <a:srgbClr val="6892A0"/>
      </a:accent6>
      <a:hlink>
        <a:srgbClr val="FA2B5C"/>
      </a:hlink>
      <a:folHlink>
        <a:srgbClr val="BC658E"/>
      </a:folHlink>
    </a:clrScheme>
    <a:fontScheme name="Gallery">
      <a:majorFont>
        <a:latin typeface="Gill Sans MT" panose="020B0502020104020203"/>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Gill Sans MT" panose="020B0502020104020203"/>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Gallery">
      <a:fillStyleLst>
        <a:solidFill>
          <a:schemeClr val="phClr"/>
        </a:solidFill>
        <a:gradFill rotWithShape="1">
          <a:gsLst>
            <a:gs pos="0">
              <a:schemeClr val="phClr">
                <a:tint val="54000"/>
                <a:alpha val="100000"/>
                <a:satMod val="105000"/>
                <a:lumMod val="110000"/>
              </a:schemeClr>
            </a:gs>
            <a:gs pos="100000">
              <a:schemeClr val="phClr">
                <a:tint val="78000"/>
                <a:alpha val="92000"/>
                <a:satMod val="109000"/>
                <a:lumMod val="100000"/>
              </a:schemeClr>
            </a:gs>
          </a:gsLst>
          <a:lin ang="5400000" scaled="0"/>
        </a:gradFill>
        <a:gradFill rotWithShape="1">
          <a:gsLst>
            <a:gs pos="0">
              <a:schemeClr val="phClr">
                <a:tint val="98000"/>
                <a:satMod val="110000"/>
                <a:lumMod val="104000"/>
              </a:schemeClr>
            </a:gs>
            <a:gs pos="69000">
              <a:schemeClr val="phClr">
                <a:shade val="88000"/>
                <a:satMod val="130000"/>
                <a:lumMod val="92000"/>
              </a:schemeClr>
            </a:gs>
            <a:gs pos="100000">
              <a:schemeClr val="phClr">
                <a:shade val="78000"/>
                <a:satMod val="130000"/>
                <a:lumMod val="92000"/>
              </a:schemeClr>
            </a:gs>
          </a:gsLst>
          <a:lin ang="5400000" scaled="0"/>
        </a:gradFill>
      </a:fillStyleLst>
      <a:lnStyleLst>
        <a:ln w="9525" cap="flat" cmpd="sng" algn="ctr">
          <a:solidFill>
            <a:schemeClr val="phClr"/>
          </a:solidFill>
          <a:prstDash val="solid"/>
        </a:ln>
        <a:ln w="15875" cap="flat" cmpd="sng" algn="ctr">
          <a:solidFill>
            <a:schemeClr val="phClr"/>
          </a:solidFill>
          <a:prstDash val="solid"/>
        </a:ln>
        <a:ln w="22225" cap="flat" cmpd="sng" algn="ctr">
          <a:solidFill>
            <a:schemeClr val="phClr"/>
          </a:solidFill>
          <a:prstDash val="solid"/>
        </a:ln>
      </a:lnStyleLst>
      <a:effectStyleLst>
        <a:effectStyle>
          <a:effectLst/>
        </a:effectStyle>
        <a:effectStyle>
          <a:effectLst/>
        </a:effectStyle>
        <a:effectStyle>
          <a:effectLst>
            <a:outerShdw blurRad="50800" dist="50800" dir="5400000" sx="96000" sy="96000" rotWithShape="0">
              <a:srgbClr val="000000">
                <a:alpha val="48000"/>
              </a:srgbClr>
            </a:outerShdw>
          </a:effectLst>
          <a:scene3d>
            <a:camera prst="orthographicFront">
              <a:rot lat="0" lon="0" rev="0"/>
            </a:camera>
            <a:lightRig rig="balanced" dir="t">
              <a:rot lat="0" lon="0" rev="1080000"/>
            </a:lightRig>
          </a:scene3d>
          <a:sp3d>
            <a:bevelT w="38100" h="12700" prst="softRound"/>
          </a:sp3d>
        </a:effectStyle>
      </a:effectStyleLst>
      <a:bgFillStyleLst>
        <a:solidFill>
          <a:schemeClr val="phClr"/>
        </a:solidFill>
        <a:solidFill>
          <a:schemeClr val="phClr"/>
        </a:solidFill>
        <a:gradFill rotWithShape="1">
          <a:gsLst>
            <a:gs pos="0">
              <a:schemeClr val="phClr">
                <a:tint val="94000"/>
                <a:satMod val="80000"/>
                <a:lumMod val="106000"/>
              </a:schemeClr>
            </a:gs>
            <a:gs pos="100000">
              <a:schemeClr val="phClr">
                <a:shade val="8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Gallery" id="{BBFCD31E-59A1-489D-B089-A3EAD7CAE12E}" vid="{F5E91637-A7B6-4E27-B710-77DA7014EE1E}"/>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{DA89C2F4-FBD1-684E-A465-9AFB9D00BEE5}tf10001119</Template>
  <TotalTime>2490</TotalTime>
  <Words>2859</Words>
  <Application>Microsoft Macintosh PowerPoint</Application>
  <PresentationFormat>Widescreen</PresentationFormat>
  <Paragraphs>143</Paragraphs>
  <Slides>23</Slides>
  <Notes>2</Notes>
  <HiddenSlides>0</HiddenSlides>
  <MMClips>0</MMClips>
  <ScaleCrop>false</ScaleCrop>
  <HeadingPairs>
    <vt:vector size="8" baseType="variant">
      <vt:variant>
        <vt:lpstr>Fonts Used</vt:lpstr>
      </vt:variant>
      <vt:variant>
        <vt:i4>4</vt:i4>
      </vt:variant>
      <vt:variant>
        <vt:lpstr>Theme</vt:lpstr>
      </vt:variant>
      <vt:variant>
        <vt:i4>1</vt:i4>
      </vt:variant>
      <vt:variant>
        <vt:lpstr>Embedded OLE Servers</vt:lpstr>
      </vt:variant>
      <vt:variant>
        <vt:i4>1</vt:i4>
      </vt:variant>
      <vt:variant>
        <vt:lpstr>Slide Titles</vt:lpstr>
      </vt:variant>
      <vt:variant>
        <vt:i4>23</vt:i4>
      </vt:variant>
    </vt:vector>
  </HeadingPairs>
  <TitlesOfParts>
    <vt:vector size="29" baseType="lpstr">
      <vt:lpstr>Arial</vt:lpstr>
      <vt:lpstr>Calibri</vt:lpstr>
      <vt:lpstr>Cambria Math</vt:lpstr>
      <vt:lpstr>Gill Sans MT</vt:lpstr>
      <vt:lpstr>Gallery</vt:lpstr>
      <vt:lpstr>Microsoft Word Picture</vt:lpstr>
      <vt:lpstr>CHƯƠNG 10: PHƯƠNG PHÁP ĐÁP ỨNG TẦN SỐ</vt:lpstr>
      <vt:lpstr>GIỚI THIỆU</vt:lpstr>
      <vt:lpstr>ÁNH XẠ CỦA CHU TUYẾN TRONG MẶT PHẲNG S</vt:lpstr>
      <vt:lpstr>ÁNH XẠ CỦA CHU TUYẾN TRONG MẶT PHẲNG S</vt:lpstr>
      <vt:lpstr>ÁNH XẠ CỦA CHU TUYẾN TRONG MẶT PHẲNG S</vt:lpstr>
      <vt:lpstr>ÁNH XẠ CỦA CHU TUYẾN TRONG MẶT PHẲNG S</vt:lpstr>
      <vt:lpstr>ÁNH XẠ CỦA CHU TUYẾN TRONG MẶT PHẲNG S</vt:lpstr>
      <vt:lpstr>ĐIỀU KIỆN ỔN ĐỊNH NYQUIST</vt:lpstr>
      <vt:lpstr>ĐIỀU KIỆN ỔN ĐỊNH NYQUIST</vt:lpstr>
      <vt:lpstr>ĐIỀU KIỆN ỔN ĐỊNH NYQUIST</vt:lpstr>
      <vt:lpstr>ĐỒ THỊ NYQUIST</vt:lpstr>
      <vt:lpstr>ĐỒ THỊ NYQUIST</vt:lpstr>
      <vt:lpstr>ĐỒ THỊ NYQUIST</vt:lpstr>
      <vt:lpstr>ĐIỀU KIỆN ỔN ĐỊNH NYQUIST</vt:lpstr>
      <vt:lpstr>ĐIỀU KIỆN ỔN ĐỊNH NYQUIST</vt:lpstr>
      <vt:lpstr>ĐIỀU KIỆN ỔN ĐỊNH NYQUIST</vt:lpstr>
      <vt:lpstr>ĐIỀU KIỆN ỔN ĐỊNH NYQUIST</vt:lpstr>
      <vt:lpstr>DỰ TRỮ GIA LƯỢNG VÀ DỰ TRỮ PHA</vt:lpstr>
      <vt:lpstr>DỰ TRỮ GIA LƯỢNG VÀ DỰ TRỮ PHA</vt:lpstr>
      <vt:lpstr>DỰ TRỮ GIA LƯỢNG VÀ DỰ TRỮ PHA</vt:lpstr>
      <vt:lpstr>DỰ TRỮ GIA LƯỢNG VÀ DỰ TRỮ PHA</vt:lpstr>
      <vt:lpstr>DỰ TRỮ GIA LƯỢNG VÀ DỰ TRỮ PHA</vt:lpstr>
      <vt:lpstr>Bài tập</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CHƯƠNG 2: MÔ HÌNH TRONG MIỀN TẦN SỐ</dc:title>
  <dc:creator>Nguyễn Thu Hằng</dc:creator>
  <cp:lastModifiedBy>Nguyễn Thu Hằng</cp:lastModifiedBy>
  <cp:revision>10</cp:revision>
  <dcterms:created xsi:type="dcterms:W3CDTF">2023-08-28T11:08:29Z</dcterms:created>
  <dcterms:modified xsi:type="dcterms:W3CDTF">2023-12-14T16:08:06Z</dcterms:modified>
</cp:coreProperties>
</file>