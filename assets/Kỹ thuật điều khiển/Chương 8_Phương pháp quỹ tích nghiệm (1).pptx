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notesMasterIdLst>
    <p:notesMasterId r:id="rId28"/>
  </p:notesMasterIdLst>
  <p:sldIdLst>
    <p:sldId id="256" r:id="rId2"/>
    <p:sldId id="258" r:id="rId3"/>
    <p:sldId id="274" r:id="rId4"/>
    <p:sldId id="275" r:id="rId5"/>
    <p:sldId id="276" r:id="rId6"/>
    <p:sldId id="277" r:id="rId7"/>
    <p:sldId id="278" r:id="rId8"/>
    <p:sldId id="279" r:id="rId9"/>
    <p:sldId id="280" r:id="rId10"/>
    <p:sldId id="281" r:id="rId11"/>
    <p:sldId id="284" r:id="rId12"/>
    <p:sldId id="285" r:id="rId13"/>
    <p:sldId id="282" r:id="rId14"/>
    <p:sldId id="283" r:id="rId15"/>
    <p:sldId id="286" r:id="rId16"/>
    <p:sldId id="287" r:id="rId17"/>
    <p:sldId id="288" r:id="rId18"/>
    <p:sldId id="289" r:id="rId19"/>
    <p:sldId id="290" r:id="rId20"/>
    <p:sldId id="291" r:id="rId21"/>
    <p:sldId id="292" r:id="rId22"/>
    <p:sldId id="293" r:id="rId23"/>
    <p:sldId id="294" r:id="rId24"/>
    <p:sldId id="295" r:id="rId25"/>
    <p:sldId id="296" r:id="rId26"/>
    <p:sldId id="27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9256"/>
  </p:normalViewPr>
  <p:slideViewPr>
    <p:cSldViewPr snapToGrid="0">
      <p:cViewPr varScale="1">
        <p:scale>
          <a:sx n="108" d="100"/>
          <a:sy n="108" d="100"/>
        </p:scale>
        <p:origin x="6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7117A9-C5FE-9547-BE33-9079660B3BBF}" type="datetimeFigureOut">
              <a:rPr lang="en-VN" smtClean="0"/>
              <a:t>31/10/2023</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575F00-99DD-8C4D-8BF7-67178BB10A31}" type="slidenum">
              <a:rPr lang="en-VN" smtClean="0"/>
              <a:t>‹#›</a:t>
            </a:fld>
            <a:endParaRPr lang="en-VN"/>
          </a:p>
        </p:txBody>
      </p:sp>
    </p:spTree>
    <p:extLst>
      <p:ext uri="{BB962C8B-B14F-4D97-AF65-F5344CB8AC3E}">
        <p14:creationId xmlns:p14="http://schemas.microsoft.com/office/powerpoint/2010/main" val="3623748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VN" dirty="0"/>
              <a:t>Các điểm cực bắt đầu di chuyển khi K thay đổi. 1 + KN(s)/D(s)=0. Khi K = 0, D(s) = 0</a:t>
            </a:r>
          </a:p>
          <a:p>
            <a:pPr marL="228600" indent="-228600">
              <a:buAutoNum type="arabicPeriod"/>
            </a:pPr>
            <a:r>
              <a:rPr lang="en-VN" dirty="0"/>
              <a:t>Các nghiệm nếu là nghiệm phức thì đều là liên hợp </a:t>
            </a:r>
          </a:p>
          <a:p>
            <a:pPr marL="228600" indent="-228600">
              <a:buAutoNum type="arabicPeriod"/>
            </a:pPr>
            <a:endParaRPr lang="en-VN" dirty="0"/>
          </a:p>
        </p:txBody>
      </p:sp>
      <p:sp>
        <p:nvSpPr>
          <p:cNvPr id="4" name="Slide Number Placeholder 3"/>
          <p:cNvSpPr>
            <a:spLocks noGrp="1"/>
          </p:cNvSpPr>
          <p:nvPr>
            <p:ph type="sldNum" sz="quarter" idx="5"/>
          </p:nvPr>
        </p:nvSpPr>
        <p:spPr/>
        <p:txBody>
          <a:bodyPr/>
          <a:lstStyle/>
          <a:p>
            <a:fld id="{11575F00-99DD-8C4D-8BF7-67178BB10A31}" type="slidenum">
              <a:rPr lang="en-VN" smtClean="0"/>
              <a:t>10</a:t>
            </a:fld>
            <a:endParaRPr lang="en-VN"/>
          </a:p>
        </p:txBody>
      </p:sp>
    </p:spTree>
    <p:extLst>
      <p:ext uri="{BB962C8B-B14F-4D97-AF65-F5344CB8AC3E}">
        <p14:creationId xmlns:p14="http://schemas.microsoft.com/office/powerpoint/2010/main" val="2364688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31/10/2023</a:t>
            </a:fld>
            <a:endParaRPr lang="en-VN"/>
          </a:p>
        </p:txBody>
      </p:sp>
      <p:sp>
        <p:nvSpPr>
          <p:cNvPr id="5" name="Footer Placeholder 4"/>
          <p:cNvSpPr>
            <a:spLocks noGrp="1"/>
          </p:cNvSpPr>
          <p:nvPr>
            <p:ph type="ftr" sz="quarter" idx="11"/>
          </p:nvPr>
        </p:nvSpPr>
        <p:spPr>
          <a:xfrm>
            <a:off x="2416500" y="329307"/>
            <a:ext cx="4973915" cy="309201"/>
          </a:xfrm>
        </p:spPr>
        <p:txBody>
          <a:bodyPr/>
          <a:lstStyle/>
          <a:p>
            <a:endParaRPr lang="en-VN"/>
          </a:p>
        </p:txBody>
      </p:sp>
      <p:sp>
        <p:nvSpPr>
          <p:cNvPr id="6" name="Slide Number Placeholder 5"/>
          <p:cNvSpPr>
            <a:spLocks noGrp="1"/>
          </p:cNvSpPr>
          <p:nvPr>
            <p:ph type="sldNum" sz="quarter" idx="12"/>
          </p:nvPr>
        </p:nvSpPr>
        <p:spPr>
          <a:xfrm>
            <a:off x="1437664" y="798973"/>
            <a:ext cx="811019" cy="503578"/>
          </a:xfrm>
        </p:spPr>
        <p:txBody>
          <a:bodyPr/>
          <a:lstStyle/>
          <a:p>
            <a:fld id="{AB7131A4-70E5-2C47-979D-CC0A508A1115}" type="slidenum">
              <a:rPr lang="en-VN" smtClean="0"/>
              <a:t>‹#›</a:t>
            </a:fld>
            <a:endParaRPr lang="en-V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4653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198069"/>
            <a:ext cx="9603275" cy="674212"/>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1451579" y="1244014"/>
            <a:ext cx="9603275" cy="4444399"/>
          </a:xfrm>
        </p:spPr>
        <p:txBody>
          <a:bodyPr ancho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480060" y="479993"/>
            <a:ext cx="811019" cy="503578"/>
          </a:xfrm>
        </p:spPr>
        <p:txBody>
          <a:bodyPr/>
          <a:lstStyle>
            <a:lvl1pPr>
              <a:defRPr>
                <a:latin typeface="Arial" panose="020B0604020202020204" pitchFamily="34" charset="0"/>
                <a:cs typeface="Arial" panose="020B0604020202020204" pitchFamily="34" charset="0"/>
              </a:defRPr>
            </a:lvl1pPr>
          </a:lstStyle>
          <a:p>
            <a:fld id="{AB7131A4-70E5-2C47-979D-CC0A508A1115}" type="slidenum">
              <a:rPr lang="en-VN" smtClean="0"/>
              <a:pPr/>
              <a:t>‹#›</a:t>
            </a:fld>
            <a:endParaRPr lang="en-VN"/>
          </a:p>
        </p:txBody>
      </p:sp>
      <p:cxnSp>
        <p:nvCxnSpPr>
          <p:cNvPr id="33" name="Straight Connector 32"/>
          <p:cNvCxnSpPr/>
          <p:nvPr/>
        </p:nvCxnSpPr>
        <p:spPr>
          <a:xfrm>
            <a:off x="1447332" y="983571"/>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871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F61E88-A186-394E-83B0-C95AB89BE3CE}" type="datetimeFigureOut">
              <a:rPr lang="en-VN" smtClean="0"/>
              <a:t>31/10/2023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645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F61E88-A186-394E-83B0-C95AB89BE3CE}" type="datetimeFigureOut">
              <a:rPr lang="en-VN" smtClean="0"/>
              <a:t>31/10/2023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319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F61E88-A186-394E-83B0-C95AB89BE3CE}" type="datetimeFigureOut">
              <a:rPr lang="en-VN" smtClean="0"/>
              <a:t>31/10/2023</a:t>
            </a:fld>
            <a:endParaRPr lang="en-VN"/>
          </a:p>
        </p:txBody>
      </p:sp>
      <p:sp>
        <p:nvSpPr>
          <p:cNvPr id="8" name="Footer Placeholder 7"/>
          <p:cNvSpPr>
            <a:spLocks noGrp="1"/>
          </p:cNvSpPr>
          <p:nvPr>
            <p:ph type="ftr" sz="quarter" idx="11"/>
          </p:nvPr>
        </p:nvSpPr>
        <p:spPr/>
        <p:txBody>
          <a:bodyPr/>
          <a:lstStyle/>
          <a:p>
            <a:endParaRPr lang="en-VN"/>
          </a:p>
        </p:txBody>
      </p:sp>
      <p:sp>
        <p:nvSpPr>
          <p:cNvPr id="9" name="Slide Number Placeholder 8"/>
          <p:cNvSpPr>
            <a:spLocks noGrp="1"/>
          </p:cNvSpPr>
          <p:nvPr>
            <p:ph type="sldNum" sz="quarter" idx="12"/>
          </p:nvPr>
        </p:nvSpPr>
        <p:spPr/>
        <p:txBody>
          <a:bodyPr/>
          <a:lstStyle/>
          <a:p>
            <a:fld id="{AB7131A4-70E5-2C47-979D-CC0A508A1115}" type="slidenum">
              <a:rPr lang="en-VN" smtClean="0"/>
              <a:t>‹#›</a:t>
            </a:fld>
            <a:endParaRPr lang="en-V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071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F61E88-A186-394E-83B0-C95AB89BE3CE}" type="datetimeFigureOut">
              <a:rPr lang="en-VN" smtClean="0"/>
              <a:t>31/10/2023</a:t>
            </a:fld>
            <a:endParaRPr lang="en-VN"/>
          </a:p>
        </p:txBody>
      </p:sp>
      <p:sp>
        <p:nvSpPr>
          <p:cNvPr id="4" name="Footer Placeholder 3"/>
          <p:cNvSpPr>
            <a:spLocks noGrp="1"/>
          </p:cNvSpPr>
          <p:nvPr>
            <p:ph type="ftr" sz="quarter" idx="11"/>
          </p:nvPr>
        </p:nvSpPr>
        <p:spPr/>
        <p:txBody>
          <a:bodyPr/>
          <a:lstStyle/>
          <a:p>
            <a:endParaRPr lang="en-VN"/>
          </a:p>
        </p:txBody>
      </p:sp>
      <p:sp>
        <p:nvSpPr>
          <p:cNvPr id="5" name="Slide Number Placeholder 4"/>
          <p:cNvSpPr>
            <a:spLocks noGrp="1"/>
          </p:cNvSpPr>
          <p:nvPr>
            <p:ph type="sldNum" sz="quarter" idx="12"/>
          </p:nvPr>
        </p:nvSpPr>
        <p:spPr/>
        <p:txBody>
          <a:bodyPr/>
          <a:lstStyle/>
          <a:p>
            <a:fld id="{AB7131A4-70E5-2C47-979D-CC0A508A1115}" type="slidenum">
              <a:rPr lang="en-VN" smtClean="0"/>
              <a:t>‹#›</a:t>
            </a:fld>
            <a:endParaRPr lang="en-V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69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1E88-A186-394E-83B0-C95AB89BE3CE}" type="datetimeFigureOut">
              <a:rPr lang="en-VN" smtClean="0"/>
              <a:t>31/10/2023</a:t>
            </a:fld>
            <a:endParaRPr lang="en-VN"/>
          </a:p>
        </p:txBody>
      </p:sp>
      <p:sp>
        <p:nvSpPr>
          <p:cNvPr id="3" name="Footer Placeholder 2"/>
          <p:cNvSpPr>
            <a:spLocks noGrp="1"/>
          </p:cNvSpPr>
          <p:nvPr>
            <p:ph type="ftr" sz="quarter" idx="11"/>
          </p:nvPr>
        </p:nvSpPr>
        <p:spPr/>
        <p:txBody>
          <a:bodyPr/>
          <a:lstStyle/>
          <a:p>
            <a:endParaRPr lang="en-VN"/>
          </a:p>
        </p:txBody>
      </p:sp>
      <p:sp>
        <p:nvSpPr>
          <p:cNvPr id="4" name="Slide Number Placeholder 3"/>
          <p:cNvSpPr>
            <a:spLocks noGrp="1"/>
          </p:cNvSpPr>
          <p:nvPr>
            <p:ph type="sldNum" sz="quarter" idx="12"/>
          </p:nvPr>
        </p:nvSpPr>
        <p:spPr/>
        <p:txBody>
          <a:bodyPr/>
          <a:lstStyle/>
          <a:p>
            <a:fld id="{AB7131A4-70E5-2C47-979D-CC0A508A1115}" type="slidenum">
              <a:rPr lang="en-VN" smtClean="0"/>
              <a:t>‹#›</a:t>
            </a:fld>
            <a:endParaRPr lang="en-VN"/>
          </a:p>
        </p:txBody>
      </p:sp>
    </p:spTree>
    <p:extLst>
      <p:ext uri="{BB962C8B-B14F-4D97-AF65-F5344CB8AC3E}">
        <p14:creationId xmlns:p14="http://schemas.microsoft.com/office/powerpoint/2010/main" val="3528770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F61E88-A186-394E-83B0-C95AB89BE3CE}" type="datetimeFigureOut">
              <a:rPr lang="en-VN" smtClean="0"/>
              <a:t>31/10/2023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33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EF61E88-A186-394E-83B0-C95AB89BE3CE}" type="datetimeFigureOut">
              <a:rPr lang="en-VN" smtClean="0"/>
              <a:t>31/10/2023</a:t>
            </a:fld>
            <a:endParaRPr lang="en-VN"/>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0226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31/10/2023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003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31/10/2023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6921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EF61E88-A186-394E-83B0-C95AB89BE3CE}" type="datetimeFigureOut">
              <a:rPr lang="en-VN" smtClean="0"/>
              <a:t>31/10/2023</a:t>
            </a:fld>
            <a:endParaRPr lang="en-V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VN"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B7131A4-70E5-2C47-979D-CC0A508A1115}" type="slidenum">
              <a:rPr lang="en-VN" smtClean="0"/>
              <a:t>‹#›</a:t>
            </a:fld>
            <a:endParaRPr lang="en-V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15930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0.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emf"/><Relationship Id="rId7" Type="http://schemas.openxmlformats.org/officeDocument/2006/relationships/image" Target="../media/image28.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7.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3693-A035-3C4E-7F71-6028A05A4966}"/>
              </a:ext>
            </a:extLst>
          </p:cNvPr>
          <p:cNvSpPr>
            <a:spLocks noGrp="1"/>
          </p:cNvSpPr>
          <p:nvPr>
            <p:ph type="ctrTitle"/>
          </p:nvPr>
        </p:nvSpPr>
        <p:spPr>
          <a:xfrm>
            <a:off x="2000924" y="802298"/>
            <a:ext cx="9301356" cy="2541431"/>
          </a:xfrm>
        </p:spPr>
        <p:txBody>
          <a:bodyPr>
            <a:normAutofit fontScale="90000"/>
          </a:bodyPr>
          <a:lstStyle/>
          <a:p>
            <a:r>
              <a:rPr lang="en-VN" dirty="0">
                <a:latin typeface="Arial" panose="020B0604020202020204" pitchFamily="34" charset="0"/>
                <a:cs typeface="Arial" panose="020B0604020202020204" pitchFamily="34" charset="0"/>
              </a:rPr>
              <a:t>CHƯƠNG 8: PHƯƠNG PHÁP QUỸ TÍCH NGHIỆM</a:t>
            </a:r>
          </a:p>
        </p:txBody>
      </p:sp>
      <p:sp>
        <p:nvSpPr>
          <p:cNvPr id="3" name="Subtitle 2">
            <a:extLst>
              <a:ext uri="{FF2B5EF4-FFF2-40B4-BE49-F238E27FC236}">
                <a16:creationId xmlns:a16="http://schemas.microsoft.com/office/drawing/2014/main" id="{AFEE02D5-7413-F104-1030-A7A1F479E957}"/>
              </a:ext>
            </a:extLst>
          </p:cNvPr>
          <p:cNvSpPr>
            <a:spLocks noGrp="1"/>
          </p:cNvSpPr>
          <p:nvPr>
            <p:ph type="subTitle" idx="1"/>
          </p:nvPr>
        </p:nvSpPr>
        <p:spPr/>
        <p:txBody>
          <a:bodyPr>
            <a:normAutofit/>
          </a:bodyPr>
          <a:lstStyle/>
          <a:p>
            <a:r>
              <a:rPr kumimoji="0" lang="en-VN" altLang="en-VN" sz="3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Root Locus Techniques</a:t>
            </a:r>
          </a:p>
        </p:txBody>
      </p:sp>
      <p:pic>
        <p:nvPicPr>
          <p:cNvPr id="1025" name="Picture 1" descr="page53image1145757968">
            <a:extLst>
              <a:ext uri="{FF2B5EF4-FFF2-40B4-BE49-F238E27FC236}">
                <a16:creationId xmlns:a16="http://schemas.microsoft.com/office/drawing/2014/main" id="{93647881-E3F9-0241-C1ED-5F534C8192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19800" cy="44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696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6F87F-9540-6807-463C-A18DC1A6FD3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G</a:t>
            </a:r>
            <a:r>
              <a:rPr lang="en-VN" dirty="0">
                <a:latin typeface="Arial" panose="020B0604020202020204" pitchFamily="34" charset="0"/>
                <a:cs typeface="Arial" panose="020B0604020202020204" pitchFamily="34" charset="0"/>
              </a:rPr>
              <a:t>iới thiệu</a:t>
            </a:r>
            <a:endParaRPr lang="en-VN" dirty="0"/>
          </a:p>
        </p:txBody>
      </p:sp>
      <p:sp>
        <p:nvSpPr>
          <p:cNvPr id="3" name="Content Placeholder 2">
            <a:extLst>
              <a:ext uri="{FF2B5EF4-FFF2-40B4-BE49-F238E27FC236}">
                <a16:creationId xmlns:a16="http://schemas.microsoft.com/office/drawing/2014/main" id="{51FFE0DA-2280-E682-2A9C-68F2365493EE}"/>
              </a:ext>
            </a:extLst>
          </p:cNvPr>
          <p:cNvSpPr>
            <a:spLocks noGrp="1"/>
          </p:cNvSpPr>
          <p:nvPr>
            <p:ph idx="1"/>
          </p:nvPr>
        </p:nvSpPr>
        <p:spPr>
          <a:xfrm>
            <a:off x="1451579" y="1244014"/>
            <a:ext cx="9603275" cy="4444399"/>
          </a:xfrm>
        </p:spPr>
        <p:txBody>
          <a:bodyPr/>
          <a:lstStyle/>
          <a:p>
            <a:r>
              <a:rPr lang="vi-VN" dirty="0">
                <a:latin typeface="Arial" panose="020B0604020202020204" pitchFamily="34" charset="0"/>
                <a:cs typeface="Arial" panose="020B0604020202020204" pitchFamily="34" charset="0"/>
              </a:rPr>
              <a:t>Tính ổn định tương đối và hiệu suất nhất thời liên quan đến vị trí các nghiệm của phương trình đặc trưng.</a:t>
            </a:r>
          </a:p>
          <a:p>
            <a:r>
              <a:rPr lang="en-VN" dirty="0"/>
              <a:t>Phương pháp quỹ tích nghiệm được Evans giới thiệu năm 1948.</a:t>
            </a:r>
          </a:p>
          <a:p>
            <a:r>
              <a:rPr lang="en-VN" dirty="0"/>
              <a:t>Đồ thị thể hiện quỹ tích </a:t>
            </a:r>
            <a:r>
              <a:rPr lang="en-US" altLang="en-US" sz="2000" dirty="0" err="1"/>
              <a:t>của</a:t>
            </a:r>
            <a:r>
              <a:rPr lang="en-US" altLang="en-US" sz="2000" dirty="0"/>
              <a:t> </a:t>
            </a:r>
            <a:r>
              <a:rPr lang="en-US" altLang="en-US" sz="2000" dirty="0" err="1"/>
              <a:t>các</a:t>
            </a:r>
            <a:r>
              <a:rPr lang="en-US" altLang="en-US" sz="2000" dirty="0"/>
              <a:t> </a:t>
            </a:r>
            <a:r>
              <a:rPr lang="en-US" altLang="en-US" sz="2000" dirty="0" err="1"/>
              <a:t>nghiệm</a:t>
            </a:r>
            <a:r>
              <a:rPr lang="en-US" altLang="en-US" sz="2000" dirty="0"/>
              <a:t> </a:t>
            </a:r>
            <a:r>
              <a:rPr lang="en-US" altLang="en-US" sz="2000" dirty="0" err="1"/>
              <a:t>trong</a:t>
            </a:r>
            <a:r>
              <a:rPr lang="en-US" altLang="en-US" sz="2000" dirty="0"/>
              <a:t> </a:t>
            </a:r>
            <a:r>
              <a:rPr lang="en-US" altLang="en-US" sz="2000" dirty="0" err="1"/>
              <a:t>mặt</a:t>
            </a:r>
            <a:r>
              <a:rPr lang="en-US" altLang="en-US" sz="2000" dirty="0"/>
              <a:t> </a:t>
            </a:r>
            <a:r>
              <a:rPr lang="en-US" altLang="en-US" sz="2000" dirty="0" err="1"/>
              <a:t>phẳng</a:t>
            </a:r>
            <a:r>
              <a:rPr lang="en-US" altLang="en-US" sz="2000" dirty="0"/>
              <a:t> s </a:t>
            </a:r>
            <a:r>
              <a:rPr lang="en-US" altLang="en-US" sz="2000" dirty="0" err="1"/>
              <a:t>khi</a:t>
            </a:r>
            <a:r>
              <a:rPr lang="en-US" altLang="en-US" sz="2000" dirty="0"/>
              <a:t> </a:t>
            </a:r>
            <a:r>
              <a:rPr lang="en-US" altLang="en-US" sz="2000" dirty="0" err="1"/>
              <a:t>các</a:t>
            </a:r>
            <a:r>
              <a:rPr lang="en-US" altLang="en-US" sz="2000" dirty="0"/>
              <a:t> </a:t>
            </a:r>
            <a:r>
              <a:rPr lang="en-US" altLang="en-US" sz="2000" dirty="0" err="1"/>
              <a:t>tham</a:t>
            </a:r>
            <a:r>
              <a:rPr lang="en-US" altLang="en-US" sz="2000" dirty="0"/>
              <a:t> </a:t>
            </a:r>
            <a:r>
              <a:rPr lang="en-US" altLang="en-US" sz="2000" dirty="0" err="1"/>
              <a:t>số</a:t>
            </a:r>
            <a:r>
              <a:rPr lang="en-US" altLang="en-US" sz="2000" dirty="0"/>
              <a:t> </a:t>
            </a:r>
            <a:r>
              <a:rPr lang="en-US" altLang="en-US" sz="2000" dirty="0" err="1"/>
              <a:t>thay</a:t>
            </a:r>
            <a:r>
              <a:rPr lang="en-US" altLang="en-US" sz="2000" dirty="0"/>
              <a:t> </a:t>
            </a:r>
            <a:r>
              <a:rPr lang="en-US" altLang="en-US" sz="2000" dirty="0" err="1"/>
              <a:t>đổi</a:t>
            </a:r>
            <a:r>
              <a:rPr lang="en-US" altLang="en-US" sz="2000" dirty="0"/>
              <a:t> </a:t>
            </a:r>
            <a:r>
              <a:rPr lang="en-US" altLang="en-US" sz="2000" dirty="0" err="1"/>
              <a:t>từ</a:t>
            </a:r>
            <a:r>
              <a:rPr lang="en-US" altLang="en-US" sz="2000" dirty="0"/>
              <a:t> 0 </a:t>
            </a:r>
            <a:r>
              <a:rPr lang="en-US" altLang="en-US" sz="2000" dirty="0" err="1"/>
              <a:t>đến</a:t>
            </a:r>
            <a:r>
              <a:rPr lang="en-US" altLang="en-US" sz="2000" dirty="0"/>
              <a:t> </a:t>
            </a:r>
            <a:r>
              <a:rPr lang="en-US" altLang="en-US" dirty="0">
                <a:cs typeface="Tahoma" panose="020B0604030504040204" pitchFamily="34" charset="0"/>
              </a:rPr>
              <a:t>∞.</a:t>
            </a:r>
          </a:p>
          <a:p>
            <a:pPr marL="0" indent="0">
              <a:buNone/>
            </a:pPr>
            <a:r>
              <a:rPr lang="en-US" altLang="en-US" dirty="0">
                <a:cs typeface="Tahoma" panose="020B0604030504040204" pitchFamily="34" charset="0"/>
              </a:rPr>
              <a:t>➔ </a:t>
            </a:r>
            <a:r>
              <a:rPr lang="en-US" altLang="en-US" dirty="0" err="1">
                <a:cs typeface="Tahoma" panose="020B0604030504040204" pitchFamily="34" charset="0"/>
              </a:rPr>
              <a:t>Tính</a:t>
            </a:r>
            <a:r>
              <a:rPr lang="en-US" altLang="en-US" dirty="0">
                <a:cs typeface="Tahoma" panose="020B0604030504040204" pitchFamily="34" charset="0"/>
              </a:rPr>
              <a:t> </a:t>
            </a:r>
            <a:r>
              <a:rPr lang="en-US" altLang="en-US" dirty="0" err="1">
                <a:cs typeface="Tahoma" panose="020B0604030504040204" pitchFamily="34" charset="0"/>
              </a:rPr>
              <a:t>ổn</a:t>
            </a:r>
            <a:r>
              <a:rPr lang="en-US" altLang="en-US" dirty="0">
                <a:cs typeface="Tahoma" panose="020B0604030504040204" pitchFamily="34" charset="0"/>
              </a:rPr>
              <a:t> </a:t>
            </a:r>
            <a:r>
              <a:rPr lang="en-US" altLang="en-US" dirty="0" err="1">
                <a:cs typeface="Tahoma" panose="020B0604030504040204" pitchFamily="34" charset="0"/>
              </a:rPr>
              <a:t>định</a:t>
            </a:r>
            <a:r>
              <a:rPr lang="en-US" altLang="en-US" dirty="0">
                <a:cs typeface="Tahoma" panose="020B0604030504040204" pitchFamily="34" charset="0"/>
              </a:rPr>
              <a:t> </a:t>
            </a:r>
            <a:r>
              <a:rPr lang="en-US" altLang="en-US" dirty="0" err="1">
                <a:cs typeface="Tahoma" panose="020B0604030504040204" pitchFamily="34" charset="0"/>
              </a:rPr>
              <a:t>và</a:t>
            </a:r>
            <a:r>
              <a:rPr lang="en-US" altLang="en-US" dirty="0">
                <a:cs typeface="Tahoma" panose="020B0604030504040204" pitchFamily="34" charset="0"/>
              </a:rPr>
              <a:t> </a:t>
            </a:r>
            <a:r>
              <a:rPr lang="en-US" altLang="en-US" dirty="0" err="1">
                <a:cs typeface="Tahoma" panose="020B0604030504040204" pitchFamily="34" charset="0"/>
              </a:rPr>
              <a:t>hiệu</a:t>
            </a:r>
            <a:r>
              <a:rPr lang="en-US" altLang="en-US" dirty="0">
                <a:cs typeface="Tahoma" panose="020B0604030504040204" pitchFamily="34" charset="0"/>
              </a:rPr>
              <a:t> </a:t>
            </a:r>
            <a:r>
              <a:rPr lang="en-US" altLang="en-US" dirty="0" err="1">
                <a:cs typeface="Tahoma" panose="020B0604030504040204" pitchFamily="34" charset="0"/>
              </a:rPr>
              <a:t>suất</a:t>
            </a:r>
            <a:r>
              <a:rPr lang="en-US" altLang="en-US" dirty="0">
                <a:cs typeface="Tahoma" panose="020B0604030504040204" pitchFamily="34" charset="0"/>
              </a:rPr>
              <a:t> </a:t>
            </a:r>
            <a:r>
              <a:rPr lang="en-US" altLang="en-US" dirty="0" err="1">
                <a:cs typeface="Tahoma" panose="020B0604030504040204" pitchFamily="34" charset="0"/>
              </a:rPr>
              <a:t>của</a:t>
            </a:r>
            <a:r>
              <a:rPr lang="en-US" altLang="en-US" dirty="0">
                <a:cs typeface="Tahoma" panose="020B0604030504040204" pitchFamily="34" charset="0"/>
              </a:rPr>
              <a:t> </a:t>
            </a:r>
            <a:r>
              <a:rPr lang="en-US" altLang="en-US" dirty="0" err="1">
                <a:cs typeface="Tahoma" panose="020B0604030504040204" pitchFamily="34" charset="0"/>
              </a:rPr>
              <a:t>hệ</a:t>
            </a:r>
            <a:r>
              <a:rPr lang="en-US" altLang="en-US" dirty="0">
                <a:cs typeface="Tahoma" panose="020B0604030504040204" pitchFamily="34" charset="0"/>
              </a:rPr>
              <a:t> </a:t>
            </a:r>
            <a:r>
              <a:rPr lang="en-US" altLang="en-US" dirty="0" err="1">
                <a:cs typeface="Tahoma" panose="020B0604030504040204" pitchFamily="34" charset="0"/>
              </a:rPr>
              <a:t>thống</a:t>
            </a:r>
            <a:r>
              <a:rPr lang="en-US" altLang="en-US" dirty="0">
                <a:cs typeface="Tahoma" panose="020B0604030504040204" pitchFamily="34" charset="0"/>
              </a:rPr>
              <a:t> </a:t>
            </a:r>
            <a:r>
              <a:rPr lang="en-US" altLang="en-US" dirty="0" err="1">
                <a:cs typeface="Tahoma" panose="020B0604030504040204" pitchFamily="34" charset="0"/>
              </a:rPr>
              <a:t>với</a:t>
            </a:r>
            <a:r>
              <a:rPr lang="en-US" altLang="en-US" dirty="0">
                <a:cs typeface="Tahoma" panose="020B0604030504040204" pitchFamily="34" charset="0"/>
              </a:rPr>
              <a:t> </a:t>
            </a:r>
            <a:r>
              <a:rPr lang="en-US" altLang="en-US" dirty="0" err="1">
                <a:cs typeface="Tahoma" panose="020B0604030504040204" pitchFamily="34" charset="0"/>
              </a:rPr>
              <a:t>sự</a:t>
            </a:r>
            <a:r>
              <a:rPr lang="en-US" altLang="en-US" dirty="0">
                <a:cs typeface="Tahoma" panose="020B0604030504040204" pitchFamily="34" charset="0"/>
              </a:rPr>
              <a:t> </a:t>
            </a:r>
            <a:r>
              <a:rPr lang="en-US" altLang="en-US" dirty="0" err="1">
                <a:cs typeface="Tahoma" panose="020B0604030504040204" pitchFamily="34" charset="0"/>
              </a:rPr>
              <a:t>thay</a:t>
            </a:r>
            <a:r>
              <a:rPr lang="en-US" altLang="en-US" dirty="0">
                <a:cs typeface="Tahoma" panose="020B0604030504040204" pitchFamily="34" charset="0"/>
              </a:rPr>
              <a:t> </a:t>
            </a:r>
            <a:r>
              <a:rPr lang="en-US" altLang="en-US" dirty="0" err="1">
                <a:cs typeface="Tahoma" panose="020B0604030504040204" pitchFamily="34" charset="0"/>
              </a:rPr>
              <a:t>đổi</a:t>
            </a:r>
            <a:r>
              <a:rPr lang="en-US" altLang="en-US" dirty="0">
                <a:cs typeface="Tahoma" panose="020B0604030504040204" pitchFamily="34" charset="0"/>
              </a:rPr>
              <a:t> </a:t>
            </a:r>
            <a:r>
              <a:rPr lang="en-US" altLang="en-US" dirty="0" err="1">
                <a:cs typeface="Tahoma" panose="020B0604030504040204" pitchFamily="34" charset="0"/>
              </a:rPr>
              <a:t>của</a:t>
            </a:r>
            <a:r>
              <a:rPr lang="en-US" altLang="en-US" dirty="0">
                <a:cs typeface="Tahoma" panose="020B0604030504040204" pitchFamily="34" charset="0"/>
              </a:rPr>
              <a:t> </a:t>
            </a:r>
            <a:r>
              <a:rPr lang="en-US" altLang="en-US" dirty="0" err="1">
                <a:cs typeface="Tahoma" panose="020B0604030504040204" pitchFamily="34" charset="0"/>
              </a:rPr>
              <a:t>các</a:t>
            </a:r>
            <a:r>
              <a:rPr lang="en-US" altLang="en-US" dirty="0">
                <a:cs typeface="Tahoma" panose="020B0604030504040204" pitchFamily="34" charset="0"/>
              </a:rPr>
              <a:t> </a:t>
            </a:r>
            <a:r>
              <a:rPr lang="en-US" altLang="en-US" dirty="0" err="1">
                <a:cs typeface="Tahoma" panose="020B0604030504040204" pitchFamily="34" charset="0"/>
              </a:rPr>
              <a:t>tham</a:t>
            </a:r>
            <a:r>
              <a:rPr lang="en-US" altLang="en-US" dirty="0">
                <a:cs typeface="Tahoma" panose="020B0604030504040204" pitchFamily="34" charset="0"/>
              </a:rPr>
              <a:t> </a:t>
            </a:r>
            <a:r>
              <a:rPr lang="en-US" altLang="en-US" dirty="0" err="1">
                <a:cs typeface="Tahoma" panose="020B0604030504040204" pitchFamily="34" charset="0"/>
              </a:rPr>
              <a:t>số</a:t>
            </a:r>
            <a:r>
              <a:rPr lang="en-US" altLang="en-US" dirty="0">
                <a:cs typeface="Tahoma" panose="020B0604030504040204" pitchFamily="34" charset="0"/>
              </a:rPr>
              <a:t>.</a:t>
            </a:r>
          </a:p>
          <a:p>
            <a:r>
              <a:rPr lang="en-US" altLang="en-US" dirty="0" err="1">
                <a:cs typeface="Tahoma" panose="020B0604030504040204" pitchFamily="34" charset="0"/>
              </a:rPr>
              <a:t>Có</a:t>
            </a:r>
            <a:r>
              <a:rPr lang="en-US" altLang="en-US" dirty="0">
                <a:cs typeface="Tahoma" panose="020B0604030504040204" pitchFamily="34" charset="0"/>
              </a:rPr>
              <a:t> </a:t>
            </a:r>
            <a:r>
              <a:rPr lang="en-US" altLang="en-US" dirty="0" err="1">
                <a:cs typeface="Tahoma" panose="020B0604030504040204" pitchFamily="34" charset="0"/>
              </a:rPr>
              <a:t>thể</a:t>
            </a:r>
            <a:r>
              <a:rPr lang="en-US" altLang="en-US" dirty="0">
                <a:cs typeface="Tahoma" panose="020B0604030504040204" pitchFamily="34" charset="0"/>
              </a:rPr>
              <a:t> </a:t>
            </a:r>
            <a:r>
              <a:rPr lang="en-US" altLang="en-US" dirty="0" err="1">
                <a:cs typeface="Tahoma" panose="020B0604030504040204" pitchFamily="34" charset="0"/>
              </a:rPr>
              <a:t>áp</a:t>
            </a:r>
            <a:r>
              <a:rPr lang="en-US" altLang="en-US" dirty="0">
                <a:cs typeface="Tahoma" panose="020B0604030504040204" pitchFamily="34" charset="0"/>
              </a:rPr>
              <a:t> </a:t>
            </a:r>
            <a:r>
              <a:rPr lang="en-US" altLang="en-US" dirty="0" err="1">
                <a:cs typeface="Tahoma" panose="020B0604030504040204" pitchFamily="34" charset="0"/>
              </a:rPr>
              <a:t>dụng</a:t>
            </a:r>
            <a:r>
              <a:rPr lang="en-US" altLang="en-US" dirty="0">
                <a:cs typeface="Tahoma" panose="020B0604030504040204" pitchFamily="34" charset="0"/>
              </a:rPr>
              <a:t> </a:t>
            </a:r>
            <a:r>
              <a:rPr lang="en-US" altLang="en-US" dirty="0" err="1">
                <a:cs typeface="Tahoma" panose="020B0604030504040204" pitchFamily="34" charset="0"/>
              </a:rPr>
              <a:t>với</a:t>
            </a:r>
            <a:r>
              <a:rPr lang="en-US" altLang="en-US" dirty="0">
                <a:cs typeface="Tahoma" panose="020B0604030504040204" pitchFamily="34" charset="0"/>
              </a:rPr>
              <a:t> </a:t>
            </a:r>
            <a:r>
              <a:rPr lang="en-US" altLang="en-US" dirty="0" err="1">
                <a:cs typeface="Tahoma" panose="020B0604030504040204" pitchFamily="34" charset="0"/>
              </a:rPr>
              <a:t>các</a:t>
            </a:r>
            <a:r>
              <a:rPr lang="en-US" altLang="en-US" dirty="0">
                <a:cs typeface="Tahoma" panose="020B0604030504040204" pitchFamily="34" charset="0"/>
              </a:rPr>
              <a:t> </a:t>
            </a:r>
            <a:r>
              <a:rPr lang="en-US" altLang="en-US" dirty="0" err="1">
                <a:cs typeface="Tahoma" panose="020B0604030504040204" pitchFamily="34" charset="0"/>
              </a:rPr>
              <a:t>hệ</a:t>
            </a:r>
            <a:r>
              <a:rPr lang="en-US" altLang="en-US" dirty="0">
                <a:cs typeface="Tahoma" panose="020B0604030504040204" pitchFamily="34" charset="0"/>
              </a:rPr>
              <a:t> </a:t>
            </a:r>
            <a:r>
              <a:rPr lang="en-US" altLang="en-US" dirty="0" err="1">
                <a:cs typeface="Tahoma" panose="020B0604030504040204" pitchFamily="34" charset="0"/>
              </a:rPr>
              <a:t>thống</a:t>
            </a:r>
            <a:r>
              <a:rPr lang="en-US" altLang="en-US" dirty="0">
                <a:cs typeface="Tahoma" panose="020B0604030504040204" pitchFamily="34" charset="0"/>
              </a:rPr>
              <a:t> </a:t>
            </a:r>
            <a:r>
              <a:rPr lang="en-US" altLang="en-US" dirty="0" err="1">
                <a:cs typeface="Tahoma" panose="020B0604030504040204" pitchFamily="34" charset="0"/>
              </a:rPr>
              <a:t>có</a:t>
            </a:r>
            <a:r>
              <a:rPr lang="en-US" altLang="en-US" dirty="0">
                <a:cs typeface="Tahoma" panose="020B0604030504040204" pitchFamily="34" charset="0"/>
              </a:rPr>
              <a:t> </a:t>
            </a:r>
            <a:r>
              <a:rPr lang="en-US" altLang="en-US" dirty="0" err="1">
                <a:cs typeface="Tahoma" panose="020B0604030504040204" pitchFamily="34" charset="0"/>
              </a:rPr>
              <a:t>bậc</a:t>
            </a:r>
            <a:r>
              <a:rPr lang="en-US" altLang="en-US" dirty="0">
                <a:cs typeface="Tahoma" panose="020B0604030504040204" pitchFamily="34" charset="0"/>
              </a:rPr>
              <a:t> </a:t>
            </a:r>
            <a:r>
              <a:rPr lang="en-US" altLang="en-US" dirty="0" err="1">
                <a:cs typeface="Tahoma" panose="020B0604030504040204" pitchFamily="34" charset="0"/>
              </a:rPr>
              <a:t>lớn</a:t>
            </a:r>
            <a:r>
              <a:rPr lang="en-US" altLang="en-US" dirty="0">
                <a:cs typeface="Tahoma" panose="020B0604030504040204" pitchFamily="34" charset="0"/>
              </a:rPr>
              <a:t> </a:t>
            </a:r>
            <a:r>
              <a:rPr lang="en-US" altLang="en-US" dirty="0" err="1">
                <a:cs typeface="Tahoma" panose="020B0604030504040204" pitchFamily="34" charset="0"/>
              </a:rPr>
              <a:t>hơn</a:t>
            </a:r>
            <a:r>
              <a:rPr lang="en-US" altLang="en-US" dirty="0">
                <a:cs typeface="Tahoma" panose="020B0604030504040204" pitchFamily="34" charset="0"/>
              </a:rPr>
              <a:t> 2, </a:t>
            </a:r>
            <a:r>
              <a:rPr lang="en-US" altLang="en-US" dirty="0" err="1">
                <a:cs typeface="Tahoma" panose="020B0604030504040204" pitchFamily="34" charset="0"/>
              </a:rPr>
              <a:t>các</a:t>
            </a:r>
            <a:r>
              <a:rPr lang="en-US" altLang="en-US" dirty="0">
                <a:cs typeface="Tahoma" panose="020B0604030504040204" pitchFamily="34" charset="0"/>
              </a:rPr>
              <a:t> </a:t>
            </a:r>
            <a:r>
              <a:rPr lang="en-US" altLang="en-US" dirty="0" err="1">
                <a:cs typeface="Tahoma" panose="020B0604030504040204" pitchFamily="34" charset="0"/>
              </a:rPr>
              <a:t>hệ</a:t>
            </a:r>
            <a:r>
              <a:rPr lang="en-US" altLang="en-US" dirty="0">
                <a:cs typeface="Tahoma" panose="020B0604030504040204" pitchFamily="34" charset="0"/>
              </a:rPr>
              <a:t> </a:t>
            </a:r>
            <a:r>
              <a:rPr lang="en-US" altLang="en-US" dirty="0" err="1">
                <a:cs typeface="Tahoma" panose="020B0604030504040204" pitchFamily="34" charset="0"/>
              </a:rPr>
              <a:t>thống</a:t>
            </a:r>
            <a:r>
              <a:rPr lang="en-US" altLang="en-US" dirty="0">
                <a:cs typeface="Tahoma" panose="020B0604030504040204" pitchFamily="34" charset="0"/>
              </a:rPr>
              <a:t> </a:t>
            </a:r>
            <a:r>
              <a:rPr lang="en-US" altLang="en-US" dirty="0" err="1">
                <a:cs typeface="Tahoma" panose="020B0604030504040204" pitchFamily="34" charset="0"/>
              </a:rPr>
              <a:t>phản</a:t>
            </a:r>
            <a:r>
              <a:rPr lang="en-US" altLang="en-US" dirty="0">
                <a:cs typeface="Tahoma" panose="020B0604030504040204" pitchFamily="34" charset="0"/>
              </a:rPr>
              <a:t> </a:t>
            </a:r>
            <a:r>
              <a:rPr lang="en-US" altLang="en-US" dirty="0" err="1">
                <a:cs typeface="Tahoma" panose="020B0604030504040204" pitchFamily="34" charset="0"/>
              </a:rPr>
              <a:t>hồi</a:t>
            </a:r>
            <a:r>
              <a:rPr lang="en-US" altLang="en-US" dirty="0">
                <a:cs typeface="Tahoma" panose="020B0604030504040204" pitchFamily="34" charset="0"/>
              </a:rPr>
              <a:t> 1 </a:t>
            </a:r>
            <a:r>
              <a:rPr lang="en-US" altLang="en-US" dirty="0" err="1">
                <a:cs typeface="Tahoma" panose="020B0604030504040204" pitchFamily="34" charset="0"/>
              </a:rPr>
              <a:t>vòng</a:t>
            </a:r>
            <a:r>
              <a:rPr lang="en-US" altLang="en-US" dirty="0">
                <a:cs typeface="Tahoma" panose="020B0604030504040204" pitchFamily="34" charset="0"/>
              </a:rPr>
              <a:t>, </a:t>
            </a:r>
            <a:r>
              <a:rPr lang="en-US" altLang="en-US" dirty="0" err="1">
                <a:cs typeface="Tahoma" panose="020B0604030504040204" pitchFamily="34" charset="0"/>
              </a:rPr>
              <a:t>nhiều</a:t>
            </a:r>
            <a:r>
              <a:rPr lang="en-US" altLang="en-US" dirty="0">
                <a:cs typeface="Tahoma" panose="020B0604030504040204" pitchFamily="34" charset="0"/>
              </a:rPr>
              <a:t> </a:t>
            </a:r>
            <a:r>
              <a:rPr lang="en-US" altLang="en-US" dirty="0" err="1">
                <a:cs typeface="Tahoma" panose="020B0604030504040204" pitchFamily="34" charset="0"/>
              </a:rPr>
              <a:t>vòng</a:t>
            </a:r>
            <a:r>
              <a:rPr lang="en-US" altLang="en-US" dirty="0">
                <a:cs typeface="Tahoma" panose="020B0604030504040204" pitchFamily="34" charset="0"/>
              </a:rPr>
              <a:t>.</a:t>
            </a:r>
          </a:p>
          <a:p>
            <a:pPr algn="l" eaLnBrk="1" hangingPunct="1">
              <a:spcBef>
                <a:spcPct val="50000"/>
              </a:spcBef>
              <a:buFont typeface="Wingdings" pitchFamily="2" charset="2"/>
              <a:buChar char="Ø"/>
            </a:pPr>
            <a:endParaRPr lang="en-US" altLang="en-US" sz="2000" dirty="0">
              <a:cs typeface="Tahoma" panose="020B0604030504040204" pitchFamily="34" charset="0"/>
            </a:endParaRPr>
          </a:p>
          <a:p>
            <a:endParaRPr lang="en-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1175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6F0E3-E6EF-F386-9DDB-0BFF3B303F7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G</a:t>
            </a:r>
            <a:r>
              <a:rPr lang="en-VN" dirty="0">
                <a:latin typeface="Arial" panose="020B0604020202020204" pitchFamily="34" charset="0"/>
                <a:cs typeface="Arial" panose="020B0604020202020204" pitchFamily="34" charset="0"/>
              </a:rPr>
              <a:t>iới thiệu</a:t>
            </a:r>
            <a:endParaRPr lang="en-VN" dirty="0"/>
          </a:p>
        </p:txBody>
      </p:sp>
      <p:sp>
        <p:nvSpPr>
          <p:cNvPr id="3" name="Content Placeholder 2">
            <a:extLst>
              <a:ext uri="{FF2B5EF4-FFF2-40B4-BE49-F238E27FC236}">
                <a16:creationId xmlns:a16="http://schemas.microsoft.com/office/drawing/2014/main" id="{F0F89DA3-485A-2362-2F62-3E04D4979609}"/>
              </a:ext>
            </a:extLst>
          </p:cNvPr>
          <p:cNvSpPr>
            <a:spLocks noGrp="1"/>
          </p:cNvSpPr>
          <p:nvPr>
            <p:ph idx="1"/>
          </p:nvPr>
        </p:nvSpPr>
        <p:spPr/>
        <p:txBody>
          <a:bodyPr/>
          <a:lstStyle/>
          <a:p>
            <a:r>
              <a:rPr lang="en-VN" dirty="0"/>
              <a:t>Biểu diễn vector của một số phức:</a:t>
            </a:r>
          </a:p>
          <a:p>
            <a:pPr marL="0" indent="0">
              <a:buNone/>
            </a:pPr>
            <a:endParaRPr lang="en-VN" dirty="0"/>
          </a:p>
        </p:txBody>
      </p:sp>
      <p:pic>
        <p:nvPicPr>
          <p:cNvPr id="5" name="Picture 4">
            <a:extLst>
              <a:ext uri="{FF2B5EF4-FFF2-40B4-BE49-F238E27FC236}">
                <a16:creationId xmlns:a16="http://schemas.microsoft.com/office/drawing/2014/main" id="{4B3DB574-589E-14D0-114C-5264CD7B3A77}"/>
              </a:ext>
            </a:extLst>
          </p:cNvPr>
          <p:cNvPicPr>
            <a:picLocks noChangeAspect="1"/>
          </p:cNvPicPr>
          <p:nvPr/>
        </p:nvPicPr>
        <p:blipFill>
          <a:blip r:embed="rId2"/>
          <a:stretch>
            <a:fillRect/>
          </a:stretch>
        </p:blipFill>
        <p:spPr>
          <a:xfrm>
            <a:off x="1828096" y="1947134"/>
            <a:ext cx="7772400" cy="4585931"/>
          </a:xfrm>
          <a:prstGeom prst="rect">
            <a:avLst/>
          </a:prstGeom>
        </p:spPr>
      </p:pic>
    </p:spTree>
    <p:extLst>
      <p:ext uri="{BB962C8B-B14F-4D97-AF65-F5344CB8AC3E}">
        <p14:creationId xmlns:p14="http://schemas.microsoft.com/office/powerpoint/2010/main" val="4145414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0563A-2659-1883-D338-CA2842F0B5AA}"/>
              </a:ext>
            </a:extLst>
          </p:cNvPr>
          <p:cNvSpPr>
            <a:spLocks noGrp="1"/>
          </p:cNvSpPr>
          <p:nvPr>
            <p:ph type="title"/>
          </p:nvPr>
        </p:nvSpPr>
        <p:spPr/>
        <p:txBody>
          <a:bodyPr/>
          <a:lstStyle/>
          <a:p>
            <a:r>
              <a:rPr lang="en-US" dirty="0"/>
              <a:t>G</a:t>
            </a:r>
            <a:r>
              <a:rPr lang="en-VN" dirty="0"/>
              <a:t>iới thiệu</a:t>
            </a:r>
          </a:p>
        </p:txBody>
      </p:sp>
      <p:pic>
        <p:nvPicPr>
          <p:cNvPr id="5" name="Content Placeholder 4">
            <a:extLst>
              <a:ext uri="{FF2B5EF4-FFF2-40B4-BE49-F238E27FC236}">
                <a16:creationId xmlns:a16="http://schemas.microsoft.com/office/drawing/2014/main" id="{0DF972E5-5A23-AEFF-1BA2-D358D9055614}"/>
              </a:ext>
            </a:extLst>
          </p:cNvPr>
          <p:cNvPicPr>
            <a:picLocks noGrp="1" noChangeAspect="1"/>
          </p:cNvPicPr>
          <p:nvPr>
            <p:ph idx="1"/>
          </p:nvPr>
        </p:nvPicPr>
        <p:blipFill>
          <a:blip r:embed="rId2"/>
          <a:stretch>
            <a:fillRect/>
          </a:stretch>
        </p:blipFill>
        <p:spPr>
          <a:xfrm>
            <a:off x="2810167" y="1244600"/>
            <a:ext cx="6885990" cy="4443413"/>
          </a:xfrm>
        </p:spPr>
      </p:pic>
    </p:spTree>
    <p:extLst>
      <p:ext uri="{BB962C8B-B14F-4D97-AF65-F5344CB8AC3E}">
        <p14:creationId xmlns:p14="http://schemas.microsoft.com/office/powerpoint/2010/main" val="3575299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E6B9-8A8F-7BE8-2599-3D4362F2D882}"/>
              </a:ext>
            </a:extLst>
          </p:cNvPr>
          <p:cNvSpPr>
            <a:spLocks noGrp="1"/>
          </p:cNvSpPr>
          <p:nvPr>
            <p:ph type="title"/>
          </p:nvPr>
        </p:nvSpPr>
        <p:spPr/>
        <p:txBody>
          <a:bodyPr/>
          <a:lstStyle/>
          <a:p>
            <a:r>
              <a:rPr lang="en-VN" dirty="0"/>
              <a:t>GIỚI THIỆU</a:t>
            </a:r>
          </a:p>
        </p:txBody>
      </p:sp>
      <p:pic>
        <p:nvPicPr>
          <p:cNvPr id="5" name="Content Placeholder 4">
            <a:extLst>
              <a:ext uri="{FF2B5EF4-FFF2-40B4-BE49-F238E27FC236}">
                <a16:creationId xmlns:a16="http://schemas.microsoft.com/office/drawing/2014/main" id="{85965AEA-E8A9-5814-C82F-361A57752ECE}"/>
              </a:ext>
            </a:extLst>
          </p:cNvPr>
          <p:cNvPicPr>
            <a:picLocks noGrp="1" noChangeAspect="1"/>
          </p:cNvPicPr>
          <p:nvPr>
            <p:ph idx="1"/>
          </p:nvPr>
        </p:nvPicPr>
        <p:blipFill>
          <a:blip r:embed="rId2"/>
          <a:stretch>
            <a:fillRect/>
          </a:stretch>
        </p:blipFill>
        <p:spPr>
          <a:xfrm>
            <a:off x="5168937" y="1394936"/>
            <a:ext cx="1854125" cy="678833"/>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505B3F2-2EE1-241E-4E1F-FCA3B489B9D7}"/>
                  </a:ext>
                </a:extLst>
              </p:cNvPr>
              <p:cNvSpPr txBox="1"/>
              <p:nvPr/>
            </p:nvSpPr>
            <p:spPr>
              <a:xfrm>
                <a:off x="1592132" y="2073769"/>
                <a:ext cx="9348395"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Tìm </a:t>
                </a:r>
                <a14:m>
                  <m:oMath xmlns:m="http://schemas.openxmlformats.org/officeDocument/2006/math">
                    <m:r>
                      <a:rPr lang="en-US" b="0" i="1" smtClean="0">
                        <a:latin typeface="Cambria Math" panose="02040503050406030204" pitchFamily="18" charset="0"/>
                        <a:cs typeface="Arial" panose="020B0604020202020204" pitchFamily="34" charset="0"/>
                      </a:rPr>
                      <m:t>𝐹</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m:t>
                    </m:r>
                    <m:r>
                      <a:rPr lang="en-US" b="0" i="1" smtClean="0">
                        <a:latin typeface="Cambria Math" panose="02040503050406030204" pitchFamily="18" charset="0"/>
                        <a:cs typeface="Arial" panose="020B0604020202020204" pitchFamily="34" charset="0"/>
                      </a:rPr>
                      <m:t>)</m:t>
                    </m:r>
                  </m:oMath>
                </a14:m>
                <a:r>
                  <a:rPr lang="en-VN" dirty="0">
                    <a:latin typeface="Arial" panose="020B0604020202020204" pitchFamily="34" charset="0"/>
                    <a:cs typeface="Arial" panose="020B0604020202020204" pitchFamily="34" charset="0"/>
                  </a:rPr>
                  <a:t> tại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=−3+</m:t>
                    </m:r>
                    <m:r>
                      <a:rPr lang="en-US" b="0" i="1" smtClean="0">
                        <a:latin typeface="Cambria Math" panose="02040503050406030204" pitchFamily="18" charset="0"/>
                      </a:rPr>
                      <m:t>𝑗</m:t>
                    </m:r>
                    <m:r>
                      <a:rPr lang="en-US" b="0" i="1" smtClean="0">
                        <a:latin typeface="Cambria Math" panose="02040503050406030204" pitchFamily="18" charset="0"/>
                      </a:rPr>
                      <m:t>4</m:t>
                    </m:r>
                  </m:oMath>
                </a14:m>
                <a:endParaRPr lang="en-VN"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4505B3F2-2EE1-241E-4E1F-FCA3B489B9D7}"/>
                  </a:ext>
                </a:extLst>
              </p:cNvPr>
              <p:cNvSpPr txBox="1">
                <a:spLocks noRot="1" noChangeAspect="1" noMove="1" noResize="1" noEditPoints="1" noAdjustHandles="1" noChangeArrowheads="1" noChangeShapeType="1" noTextEdit="1"/>
              </p:cNvSpPr>
              <p:nvPr/>
            </p:nvSpPr>
            <p:spPr>
              <a:xfrm>
                <a:off x="1592132" y="2073769"/>
                <a:ext cx="9348395" cy="369332"/>
              </a:xfrm>
              <a:prstGeom prst="rect">
                <a:avLst/>
              </a:prstGeom>
              <a:blipFill>
                <a:blip r:embed="rId3"/>
                <a:stretch>
                  <a:fillRect l="-543" t="-6667" b="-26667"/>
                </a:stretch>
              </a:blipFill>
            </p:spPr>
            <p:txBody>
              <a:bodyPr/>
              <a:lstStyle/>
              <a:p>
                <a:r>
                  <a:rPr lang="en-VN">
                    <a:noFill/>
                  </a:rPr>
                  <a:t> </a:t>
                </a:r>
              </a:p>
            </p:txBody>
          </p:sp>
        </mc:Fallback>
      </mc:AlternateContent>
      <p:pic>
        <p:nvPicPr>
          <p:cNvPr id="8" name="Picture 7">
            <a:extLst>
              <a:ext uri="{FF2B5EF4-FFF2-40B4-BE49-F238E27FC236}">
                <a16:creationId xmlns:a16="http://schemas.microsoft.com/office/drawing/2014/main" id="{6CE03723-5B53-2E3B-7688-3A7C9E48698E}"/>
              </a:ext>
            </a:extLst>
          </p:cNvPr>
          <p:cNvPicPr>
            <a:picLocks noChangeAspect="1"/>
          </p:cNvPicPr>
          <p:nvPr/>
        </p:nvPicPr>
        <p:blipFill>
          <a:blip r:embed="rId4"/>
          <a:stretch>
            <a:fillRect/>
          </a:stretch>
        </p:blipFill>
        <p:spPr>
          <a:xfrm>
            <a:off x="8903220" y="2443101"/>
            <a:ext cx="2268671" cy="3399516"/>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DECD0F0-4841-DA77-6ACE-97A26B60AD0A}"/>
                  </a:ext>
                </a:extLst>
              </p:cNvPr>
              <p:cNvSpPr txBox="1"/>
              <p:nvPr/>
            </p:nvSpPr>
            <p:spPr>
              <a:xfrm>
                <a:off x="1592132" y="2596424"/>
                <a:ext cx="6755802" cy="1887633"/>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Vector từ điểm không tại -1: </a:t>
                </a:r>
                <a14:m>
                  <m:oMath xmlns:m="http://schemas.openxmlformats.org/officeDocument/2006/math">
                    <m:rad>
                      <m:radPr>
                        <m:degHide m:val="on"/>
                        <m:ctrlPr>
                          <a:rPr lang="en-VN" i="1" smtClean="0">
                            <a:latin typeface="Cambria Math" panose="02040503050406030204" pitchFamily="18" charset="0"/>
                          </a:rPr>
                        </m:ctrlPr>
                      </m:radPr>
                      <m:deg/>
                      <m:e>
                        <m:r>
                          <a:rPr lang="en-US" b="0" i="1" smtClean="0">
                            <a:latin typeface="Cambria Math" panose="02040503050406030204" pitchFamily="18" charset="0"/>
                          </a:rPr>
                          <m:t>20</m:t>
                        </m:r>
                      </m:e>
                    </m:rad>
                    <m:r>
                      <a:rPr lang="en-V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116.6°</m:t>
                    </m:r>
                  </m:oMath>
                </a14:m>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Vector từ điểm cực tại gốc toạ độ: </a:t>
                </a:r>
                <a14:m>
                  <m:oMath xmlns:m="http://schemas.openxmlformats.org/officeDocument/2006/math">
                    <m:r>
                      <a:rPr lang="en-US" b="0" i="0" smtClean="0">
                        <a:latin typeface="Cambria Math" panose="02040503050406030204" pitchFamily="18" charset="0"/>
                        <a:ea typeface="Cambria Math" panose="02040503050406030204" pitchFamily="18" charset="0"/>
                      </a:rPr>
                      <m:t>5</m:t>
                    </m:r>
                    <m:r>
                      <a:rPr lang="en-V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126.9°</m:t>
                    </m:r>
                  </m:oMath>
                </a14:m>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Vector từ điểm cực tại -2: </a:t>
                </a:r>
                <a14:m>
                  <m:oMath xmlns:m="http://schemas.openxmlformats.org/officeDocument/2006/math">
                    <m:rad>
                      <m:radPr>
                        <m:degHide m:val="on"/>
                        <m:ctrlPr>
                          <a:rPr lang="en-VN" i="1" smtClean="0">
                            <a:latin typeface="Cambria Math" panose="02040503050406030204" pitchFamily="18" charset="0"/>
                          </a:rPr>
                        </m:ctrlPr>
                      </m:radPr>
                      <m:deg/>
                      <m:e>
                        <m:r>
                          <a:rPr lang="en-US" b="0" i="1" smtClean="0">
                            <a:latin typeface="Cambria Math" panose="02040503050406030204" pitchFamily="18" charset="0"/>
                          </a:rPr>
                          <m:t>17</m:t>
                        </m:r>
                      </m:e>
                    </m:rad>
                    <m:r>
                      <a:rPr lang="en-V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104°</m:t>
                    </m:r>
                  </m:oMath>
                </a14:m>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Suy ra:</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𝑀</m:t>
                      </m:r>
                      <m:r>
                        <a:rPr lang="en-VN"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ad>
                            <m:radPr>
                              <m:degHide m:val="on"/>
                              <m:ctrlPr>
                                <a:rPr lang="en-VN" i="1">
                                  <a:latin typeface="Cambria Math" panose="02040503050406030204" pitchFamily="18" charset="0"/>
                                </a:rPr>
                              </m:ctrlPr>
                            </m:radPr>
                            <m:deg/>
                            <m:e>
                              <m:r>
                                <a:rPr lang="en-US" i="1">
                                  <a:latin typeface="Cambria Math" panose="02040503050406030204" pitchFamily="18" charset="0"/>
                                </a:rPr>
                                <m:t>20</m:t>
                              </m:r>
                            </m:e>
                          </m:rad>
                        </m:num>
                        <m:den>
                          <m:r>
                            <a:rPr lang="en-US" b="0" i="1" smtClean="0">
                              <a:latin typeface="Cambria Math" panose="02040503050406030204" pitchFamily="18" charset="0"/>
                              <a:ea typeface="Cambria Math" panose="02040503050406030204" pitchFamily="18" charset="0"/>
                            </a:rPr>
                            <m:t>5</m:t>
                          </m:r>
                          <m:rad>
                            <m:radPr>
                              <m:degHide m:val="on"/>
                              <m:ctrlPr>
                                <a:rPr lang="en-VN" i="1">
                                  <a:latin typeface="Cambria Math" panose="02040503050406030204" pitchFamily="18" charset="0"/>
                                </a:rPr>
                              </m:ctrlPr>
                            </m:radPr>
                            <m:deg/>
                            <m:e>
                              <m:r>
                                <a:rPr lang="en-US" i="1">
                                  <a:latin typeface="Cambria Math" panose="02040503050406030204" pitchFamily="18" charset="0"/>
                                </a:rPr>
                                <m:t>17</m:t>
                              </m:r>
                            </m:e>
                          </m:rad>
                        </m:den>
                      </m:f>
                      <m:r>
                        <a:rPr lang="en-VN"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116.6°</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126.9°</m:t>
                      </m:r>
                      <m:r>
                        <a:rPr lang="en-US" b="0" i="1" smtClean="0">
                          <a:latin typeface="Cambria Math" panose="02040503050406030204" pitchFamily="18" charset="0"/>
                          <a:ea typeface="Cambria Math" panose="02040503050406030204" pitchFamily="18" charset="0"/>
                        </a:rPr>
                        <m:t>−104°=0.217</m:t>
                      </m:r>
                      <m:r>
                        <a:rPr lang="en-VN"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−114.3°</m:t>
                      </m:r>
                    </m:oMath>
                  </m:oMathPara>
                </a14:m>
                <a:endParaRPr lang="en-VN"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DDECD0F0-4841-DA77-6ACE-97A26B60AD0A}"/>
                  </a:ext>
                </a:extLst>
              </p:cNvPr>
              <p:cNvSpPr txBox="1">
                <a:spLocks noRot="1" noChangeAspect="1" noMove="1" noResize="1" noEditPoints="1" noAdjustHandles="1" noChangeArrowheads="1" noChangeShapeType="1" noTextEdit="1"/>
              </p:cNvSpPr>
              <p:nvPr/>
            </p:nvSpPr>
            <p:spPr>
              <a:xfrm>
                <a:off x="1592132" y="2596424"/>
                <a:ext cx="6755802" cy="1887633"/>
              </a:xfrm>
              <a:prstGeom prst="rect">
                <a:avLst/>
              </a:prstGeom>
              <a:blipFill>
                <a:blip r:embed="rId5"/>
                <a:stretch>
                  <a:fillRect l="-750"/>
                </a:stretch>
              </a:blipFill>
            </p:spPr>
            <p:txBody>
              <a:bodyPr/>
              <a:lstStyle/>
              <a:p>
                <a:r>
                  <a:rPr lang="en-VN">
                    <a:noFill/>
                  </a:rPr>
                  <a:t> </a:t>
                </a:r>
              </a:p>
            </p:txBody>
          </p:sp>
        </mc:Fallback>
      </mc:AlternateContent>
    </p:spTree>
    <p:extLst>
      <p:ext uri="{BB962C8B-B14F-4D97-AF65-F5344CB8AC3E}">
        <p14:creationId xmlns:p14="http://schemas.microsoft.com/office/powerpoint/2010/main" val="3058157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219C1-6334-048C-442D-69BEC5FB831C}"/>
              </a:ext>
            </a:extLst>
          </p:cNvPr>
          <p:cNvSpPr>
            <a:spLocks noGrp="1"/>
          </p:cNvSpPr>
          <p:nvPr>
            <p:ph type="title"/>
          </p:nvPr>
        </p:nvSpPr>
        <p:spPr/>
        <p:txBody>
          <a:bodyPr/>
          <a:lstStyle/>
          <a:p>
            <a:r>
              <a:rPr lang="en-VN" dirty="0"/>
              <a:t>QUỸ TÍCH NGHIỆM</a:t>
            </a:r>
          </a:p>
        </p:txBody>
      </p:sp>
      <p:pic>
        <p:nvPicPr>
          <p:cNvPr id="5" name="Content Placeholder 4">
            <a:extLst>
              <a:ext uri="{FF2B5EF4-FFF2-40B4-BE49-F238E27FC236}">
                <a16:creationId xmlns:a16="http://schemas.microsoft.com/office/drawing/2014/main" id="{67BAD9A0-B60C-A0C6-94B5-C31D054E102C}"/>
              </a:ext>
            </a:extLst>
          </p:cNvPr>
          <p:cNvPicPr>
            <a:picLocks noGrp="1" noChangeAspect="1"/>
          </p:cNvPicPr>
          <p:nvPr>
            <p:ph idx="1"/>
          </p:nvPr>
        </p:nvPicPr>
        <p:blipFill rotWithShape="1">
          <a:blip r:embed="rId2"/>
          <a:srcRect t="5158"/>
          <a:stretch/>
        </p:blipFill>
        <p:spPr>
          <a:xfrm>
            <a:off x="311972" y="2009238"/>
            <a:ext cx="6017264" cy="2839523"/>
          </a:xfrm>
        </p:spPr>
      </p:pic>
      <p:pic>
        <p:nvPicPr>
          <p:cNvPr id="7" name="Picture 6">
            <a:extLst>
              <a:ext uri="{FF2B5EF4-FFF2-40B4-BE49-F238E27FC236}">
                <a16:creationId xmlns:a16="http://schemas.microsoft.com/office/drawing/2014/main" id="{E515D38E-CF28-04C7-70F7-4EC1D6C64472}"/>
              </a:ext>
            </a:extLst>
          </p:cNvPr>
          <p:cNvPicPr>
            <a:picLocks noChangeAspect="1"/>
          </p:cNvPicPr>
          <p:nvPr/>
        </p:nvPicPr>
        <p:blipFill>
          <a:blip r:embed="rId3"/>
          <a:stretch>
            <a:fillRect/>
          </a:stretch>
        </p:blipFill>
        <p:spPr>
          <a:xfrm>
            <a:off x="6844702" y="1275309"/>
            <a:ext cx="5035326" cy="4525916"/>
          </a:xfrm>
          <a:prstGeom prst="rect">
            <a:avLst/>
          </a:prstGeom>
        </p:spPr>
      </p:pic>
    </p:spTree>
    <p:extLst>
      <p:ext uri="{BB962C8B-B14F-4D97-AF65-F5344CB8AC3E}">
        <p14:creationId xmlns:p14="http://schemas.microsoft.com/office/powerpoint/2010/main" val="3389087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5117E-A465-E735-1289-FBB143E30587}"/>
              </a:ext>
            </a:extLst>
          </p:cNvPr>
          <p:cNvSpPr>
            <a:spLocks noGrp="1"/>
          </p:cNvSpPr>
          <p:nvPr>
            <p:ph type="title"/>
          </p:nvPr>
        </p:nvSpPr>
        <p:spPr/>
        <p:txBody>
          <a:bodyPr/>
          <a:lstStyle/>
          <a:p>
            <a:r>
              <a:rPr lang="en-VN" dirty="0"/>
              <a:t>QUỸ TÍCH NGHIỆM</a:t>
            </a:r>
          </a:p>
        </p:txBody>
      </p:sp>
      <p:pic>
        <p:nvPicPr>
          <p:cNvPr id="5" name="Content Placeholder 4">
            <a:extLst>
              <a:ext uri="{FF2B5EF4-FFF2-40B4-BE49-F238E27FC236}">
                <a16:creationId xmlns:a16="http://schemas.microsoft.com/office/drawing/2014/main" id="{207CB759-9463-D6ED-2EC8-E54ACAB11E70}"/>
              </a:ext>
            </a:extLst>
          </p:cNvPr>
          <p:cNvPicPr>
            <a:picLocks noGrp="1" noChangeAspect="1"/>
          </p:cNvPicPr>
          <p:nvPr>
            <p:ph idx="1"/>
          </p:nvPr>
        </p:nvPicPr>
        <p:blipFill>
          <a:blip r:embed="rId2"/>
          <a:stretch>
            <a:fillRect/>
          </a:stretch>
        </p:blipFill>
        <p:spPr>
          <a:xfrm>
            <a:off x="3010658" y="1207293"/>
            <a:ext cx="4589804" cy="4443413"/>
          </a:xfrm>
        </p:spPr>
      </p:pic>
      <p:pic>
        <p:nvPicPr>
          <p:cNvPr id="7" name="Picture 6">
            <a:extLst>
              <a:ext uri="{FF2B5EF4-FFF2-40B4-BE49-F238E27FC236}">
                <a16:creationId xmlns:a16="http://schemas.microsoft.com/office/drawing/2014/main" id="{156A6D58-6B0B-942C-AF67-B26F6EF487AD}"/>
              </a:ext>
            </a:extLst>
          </p:cNvPr>
          <p:cNvPicPr>
            <a:picLocks noChangeAspect="1"/>
          </p:cNvPicPr>
          <p:nvPr/>
        </p:nvPicPr>
        <p:blipFill rotWithShape="1">
          <a:blip r:embed="rId3"/>
          <a:srcRect l="2886"/>
          <a:stretch/>
        </p:blipFill>
        <p:spPr>
          <a:xfrm>
            <a:off x="7680961" y="1207293"/>
            <a:ext cx="4464544" cy="4443412"/>
          </a:xfrm>
          <a:prstGeom prst="rect">
            <a:avLst/>
          </a:prstGeom>
        </p:spPr>
      </p:pic>
      <p:pic>
        <p:nvPicPr>
          <p:cNvPr id="8" name="Picture 7">
            <a:extLst>
              <a:ext uri="{FF2B5EF4-FFF2-40B4-BE49-F238E27FC236}">
                <a16:creationId xmlns:a16="http://schemas.microsoft.com/office/drawing/2014/main" id="{16283294-AC1D-045D-BEAE-ACB82E344132}"/>
              </a:ext>
            </a:extLst>
          </p:cNvPr>
          <p:cNvPicPr>
            <a:picLocks noChangeAspect="1"/>
          </p:cNvPicPr>
          <p:nvPr/>
        </p:nvPicPr>
        <p:blipFill>
          <a:blip r:embed="rId4"/>
          <a:stretch>
            <a:fillRect/>
          </a:stretch>
        </p:blipFill>
        <p:spPr>
          <a:xfrm>
            <a:off x="46495" y="1207293"/>
            <a:ext cx="2883664" cy="2591932"/>
          </a:xfrm>
          <a:prstGeom prst="rect">
            <a:avLst/>
          </a:prstGeom>
        </p:spPr>
      </p:pic>
      <p:sp>
        <p:nvSpPr>
          <p:cNvPr id="3" name="TextBox 2">
            <a:extLst>
              <a:ext uri="{FF2B5EF4-FFF2-40B4-BE49-F238E27FC236}">
                <a16:creationId xmlns:a16="http://schemas.microsoft.com/office/drawing/2014/main" id="{4D32DBB7-21E9-D9CA-A13C-E89F96AAA8A9}"/>
              </a:ext>
            </a:extLst>
          </p:cNvPr>
          <p:cNvSpPr txBox="1"/>
          <p:nvPr/>
        </p:nvSpPr>
        <p:spPr>
          <a:xfrm>
            <a:off x="46495" y="3799225"/>
            <a:ext cx="2883664" cy="2462213"/>
          </a:xfrm>
          <a:prstGeom prst="rect">
            <a:avLst/>
          </a:prstGeom>
          <a:noFill/>
        </p:spPr>
        <p:txBody>
          <a:bodyPr wrap="square" rtlCol="0">
            <a:spAutoFit/>
          </a:bodyPr>
          <a:lstStyle/>
          <a:p>
            <a:r>
              <a:rPr lang="en-VN" sz="1400" dirty="0">
                <a:latin typeface="Arial" panose="020B0604020202020204" pitchFamily="34" charset="0"/>
                <a:cs typeface="Arial" panose="020B0604020202020204" pitchFamily="34" charset="0"/>
              </a:rPr>
              <a:t>K&lt;25: Overdamped.</a:t>
            </a:r>
          </a:p>
          <a:p>
            <a:r>
              <a:rPr lang="en-VN" sz="1400" dirty="0">
                <a:latin typeface="Arial" panose="020B0604020202020204" pitchFamily="34" charset="0"/>
                <a:cs typeface="Arial" panose="020B0604020202020204" pitchFamily="34" charset="0"/>
              </a:rPr>
              <a:t>K=25: Critically damped.</a:t>
            </a:r>
          </a:p>
          <a:p>
            <a:r>
              <a:rPr lang="en-VN" sz="1400" dirty="0">
                <a:latin typeface="Arial" panose="020B0604020202020204" pitchFamily="34" charset="0"/>
                <a:cs typeface="Arial" panose="020B0604020202020204" pitchFamily="34" charset="0"/>
              </a:rPr>
              <a:t>K&gt;25: Underdamped.</a:t>
            </a:r>
          </a:p>
          <a:p>
            <a:r>
              <a:rPr lang="en-VN" sz="1400" dirty="0">
                <a:latin typeface="Arial" panose="020B0604020202020204" pitchFamily="34" charset="0"/>
                <a:cs typeface="Arial" panose="020B0604020202020204" pitchFamily="34" charset="0"/>
              </a:rPr>
              <a:t>Phần thực của nghiệm không thay đổi ➔ T</a:t>
            </a:r>
            <a:r>
              <a:rPr lang="en-VN" sz="1400" baseline="-25000" dirty="0">
                <a:latin typeface="Arial" panose="020B0604020202020204" pitchFamily="34" charset="0"/>
                <a:cs typeface="Arial" panose="020B0604020202020204" pitchFamily="34" charset="0"/>
              </a:rPr>
              <a:t>s </a:t>
            </a:r>
            <a:r>
              <a:rPr lang="en-VN" sz="1400" dirty="0">
                <a:latin typeface="Arial" panose="020B0604020202020204" pitchFamily="34" charset="0"/>
                <a:cs typeface="Arial" panose="020B0604020202020204" pitchFamily="34" charset="0"/>
              </a:rPr>
              <a:t>không thay đổi.</a:t>
            </a:r>
          </a:p>
          <a:p>
            <a:r>
              <a:rPr lang="en-VN" sz="1400" dirty="0">
                <a:latin typeface="Arial" panose="020B0604020202020204" pitchFamily="34" charset="0"/>
                <a:cs typeface="Arial" panose="020B0604020202020204" pitchFamily="34" charset="0"/>
              </a:rPr>
              <a:t>Khi K tăng, tỷ số cản giảm, %OS tăng, tần số dao động tăng, T</a:t>
            </a:r>
            <a:r>
              <a:rPr lang="en-VN" sz="1400" baseline="-25000" dirty="0">
                <a:latin typeface="Arial" panose="020B0604020202020204" pitchFamily="34" charset="0"/>
                <a:cs typeface="Arial" panose="020B0604020202020204" pitchFamily="34" charset="0"/>
              </a:rPr>
              <a:t>p</a:t>
            </a:r>
            <a:r>
              <a:rPr lang="en-VN" sz="1400" dirty="0">
                <a:latin typeface="Arial" panose="020B0604020202020204" pitchFamily="34" charset="0"/>
                <a:cs typeface="Arial" panose="020B0604020202020204" pitchFamily="34" charset="0"/>
              </a:rPr>
              <a:t> giảm.</a:t>
            </a:r>
          </a:p>
          <a:p>
            <a:r>
              <a:rPr lang="en-VN" sz="1400" dirty="0">
                <a:latin typeface="Arial" panose="020B0604020202020204" pitchFamily="34" charset="0"/>
                <a:cs typeface="Arial" panose="020B0604020202020204" pitchFamily="34" charset="0"/>
              </a:rPr>
              <a:t>Hệ thống ổn định với mọi giá trị của K.</a:t>
            </a:r>
          </a:p>
          <a:p>
            <a:endParaRPr lang="en-V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4564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4B452-4C96-EF85-5D2C-9D0B6412CD60}"/>
              </a:ext>
            </a:extLst>
          </p:cNvPr>
          <p:cNvSpPr>
            <a:spLocks noGrp="1"/>
          </p:cNvSpPr>
          <p:nvPr>
            <p:ph type="title"/>
          </p:nvPr>
        </p:nvSpPr>
        <p:spPr/>
        <p:txBody>
          <a:bodyPr/>
          <a:lstStyle/>
          <a:p>
            <a:r>
              <a:rPr lang="en-VN" dirty="0"/>
              <a:t>QUỸ TÍCH NGHIỆM</a:t>
            </a:r>
          </a:p>
        </p:txBody>
      </p:sp>
      <p:pic>
        <p:nvPicPr>
          <p:cNvPr id="5" name="Content Placeholder 4">
            <a:extLst>
              <a:ext uri="{FF2B5EF4-FFF2-40B4-BE49-F238E27FC236}">
                <a16:creationId xmlns:a16="http://schemas.microsoft.com/office/drawing/2014/main" id="{8B19C2E1-C676-C43D-3980-B79C1FA78B95}"/>
              </a:ext>
            </a:extLst>
          </p:cNvPr>
          <p:cNvPicPr>
            <a:picLocks noGrp="1" noChangeAspect="1"/>
          </p:cNvPicPr>
          <p:nvPr>
            <p:ph idx="1"/>
          </p:nvPr>
        </p:nvPicPr>
        <p:blipFill>
          <a:blip r:embed="rId2"/>
          <a:stretch>
            <a:fillRect/>
          </a:stretch>
        </p:blipFill>
        <p:spPr>
          <a:xfrm>
            <a:off x="6712030" y="1328794"/>
            <a:ext cx="2312651" cy="719891"/>
          </a:xfrm>
        </p:spPr>
      </p:pic>
      <p:pic>
        <p:nvPicPr>
          <p:cNvPr id="7" name="Picture 6">
            <a:extLst>
              <a:ext uri="{FF2B5EF4-FFF2-40B4-BE49-F238E27FC236}">
                <a16:creationId xmlns:a16="http://schemas.microsoft.com/office/drawing/2014/main" id="{A44C333B-BC86-1EA9-3F1E-7032475F9D04}"/>
              </a:ext>
            </a:extLst>
          </p:cNvPr>
          <p:cNvPicPr>
            <a:picLocks noChangeAspect="1"/>
          </p:cNvPicPr>
          <p:nvPr/>
        </p:nvPicPr>
        <p:blipFill>
          <a:blip r:embed="rId3"/>
          <a:stretch>
            <a:fillRect/>
          </a:stretch>
        </p:blipFill>
        <p:spPr>
          <a:xfrm>
            <a:off x="5423730" y="2421901"/>
            <a:ext cx="5722171" cy="462958"/>
          </a:xfrm>
          <a:prstGeom prst="rect">
            <a:avLst/>
          </a:prstGeom>
        </p:spPr>
      </p:pic>
      <p:pic>
        <p:nvPicPr>
          <p:cNvPr id="11" name="Picture 10">
            <a:extLst>
              <a:ext uri="{FF2B5EF4-FFF2-40B4-BE49-F238E27FC236}">
                <a16:creationId xmlns:a16="http://schemas.microsoft.com/office/drawing/2014/main" id="{2D704852-994B-A5A3-3130-C8B6E4B5DC05}"/>
              </a:ext>
            </a:extLst>
          </p:cNvPr>
          <p:cNvPicPr>
            <a:picLocks noChangeAspect="1"/>
          </p:cNvPicPr>
          <p:nvPr/>
        </p:nvPicPr>
        <p:blipFill rotWithShape="1">
          <a:blip r:embed="rId4"/>
          <a:srcRect t="1" b="1286"/>
          <a:stretch/>
        </p:blipFill>
        <p:spPr>
          <a:xfrm>
            <a:off x="5713388" y="3259546"/>
            <a:ext cx="1748566" cy="444596"/>
          </a:xfrm>
          <a:prstGeom prst="rect">
            <a:avLst/>
          </a:prstGeom>
        </p:spPr>
      </p:pic>
      <p:pic>
        <p:nvPicPr>
          <p:cNvPr id="13" name="Picture 12">
            <a:extLst>
              <a:ext uri="{FF2B5EF4-FFF2-40B4-BE49-F238E27FC236}">
                <a16:creationId xmlns:a16="http://schemas.microsoft.com/office/drawing/2014/main" id="{C9A403E0-DC36-234C-C132-DF6CFC1926AB}"/>
              </a:ext>
            </a:extLst>
          </p:cNvPr>
          <p:cNvPicPr>
            <a:picLocks noChangeAspect="1"/>
          </p:cNvPicPr>
          <p:nvPr/>
        </p:nvPicPr>
        <p:blipFill>
          <a:blip r:embed="rId5"/>
          <a:stretch>
            <a:fillRect/>
          </a:stretch>
        </p:blipFill>
        <p:spPr>
          <a:xfrm>
            <a:off x="8274760" y="3258810"/>
            <a:ext cx="2809838" cy="444595"/>
          </a:xfrm>
          <a:prstGeom prst="rect">
            <a:avLst/>
          </a:prstGeom>
        </p:spPr>
      </p:pic>
      <p:pic>
        <p:nvPicPr>
          <p:cNvPr id="15" name="Picture 14">
            <a:extLst>
              <a:ext uri="{FF2B5EF4-FFF2-40B4-BE49-F238E27FC236}">
                <a16:creationId xmlns:a16="http://schemas.microsoft.com/office/drawing/2014/main" id="{3B1BAFB3-03DB-3A19-700F-056CB0E9F54B}"/>
              </a:ext>
            </a:extLst>
          </p:cNvPr>
          <p:cNvPicPr>
            <a:picLocks noChangeAspect="1"/>
          </p:cNvPicPr>
          <p:nvPr/>
        </p:nvPicPr>
        <p:blipFill>
          <a:blip r:embed="rId6"/>
          <a:stretch>
            <a:fillRect/>
          </a:stretch>
        </p:blipFill>
        <p:spPr>
          <a:xfrm>
            <a:off x="7190546" y="4256729"/>
            <a:ext cx="1670052" cy="679770"/>
          </a:xfrm>
          <a:prstGeom prst="rect">
            <a:avLst/>
          </a:prstGeom>
        </p:spPr>
      </p:pic>
      <p:pic>
        <p:nvPicPr>
          <p:cNvPr id="4" name="Picture 3">
            <a:extLst>
              <a:ext uri="{FF2B5EF4-FFF2-40B4-BE49-F238E27FC236}">
                <a16:creationId xmlns:a16="http://schemas.microsoft.com/office/drawing/2014/main" id="{3B370B6F-EA85-6C9D-C0F1-1C47FD966891}"/>
              </a:ext>
            </a:extLst>
          </p:cNvPr>
          <p:cNvPicPr>
            <a:picLocks noChangeAspect="1"/>
          </p:cNvPicPr>
          <p:nvPr/>
        </p:nvPicPr>
        <p:blipFill>
          <a:blip r:embed="rId7"/>
          <a:stretch>
            <a:fillRect/>
          </a:stretch>
        </p:blipFill>
        <p:spPr>
          <a:xfrm>
            <a:off x="541866" y="1916081"/>
            <a:ext cx="4237942" cy="2340648"/>
          </a:xfrm>
          <a:prstGeom prst="rect">
            <a:avLst/>
          </a:prstGeom>
        </p:spPr>
      </p:pic>
    </p:spTree>
    <p:extLst>
      <p:ext uri="{BB962C8B-B14F-4D97-AF65-F5344CB8AC3E}">
        <p14:creationId xmlns:p14="http://schemas.microsoft.com/office/powerpoint/2010/main" val="4292086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72AA6-6747-9EE1-AA26-20C1898FDCD6}"/>
              </a:ext>
            </a:extLst>
          </p:cNvPr>
          <p:cNvSpPr>
            <a:spLocks noGrp="1"/>
          </p:cNvSpPr>
          <p:nvPr>
            <p:ph type="title"/>
          </p:nvPr>
        </p:nvSpPr>
        <p:spPr/>
        <p:txBody>
          <a:bodyPr/>
          <a:lstStyle/>
          <a:p>
            <a:r>
              <a:rPr lang="en-VN" dirty="0"/>
              <a:t>QUỸ TÍCH NGHIỆM</a:t>
            </a:r>
          </a:p>
        </p:txBody>
      </p:sp>
      <p:pic>
        <p:nvPicPr>
          <p:cNvPr id="5" name="Content Placeholder 4">
            <a:extLst>
              <a:ext uri="{FF2B5EF4-FFF2-40B4-BE49-F238E27FC236}">
                <a16:creationId xmlns:a16="http://schemas.microsoft.com/office/drawing/2014/main" id="{4995CA45-67CC-AF1C-0D97-6865B4534680}"/>
              </a:ext>
            </a:extLst>
          </p:cNvPr>
          <p:cNvPicPr>
            <a:picLocks noGrp="1" noChangeAspect="1"/>
          </p:cNvPicPr>
          <p:nvPr>
            <p:ph idx="1"/>
          </p:nvPr>
        </p:nvPicPr>
        <p:blipFill>
          <a:blip r:embed="rId2"/>
          <a:stretch>
            <a:fillRect/>
          </a:stretch>
        </p:blipFill>
        <p:spPr>
          <a:xfrm>
            <a:off x="1270000" y="1079293"/>
            <a:ext cx="5192870" cy="3203312"/>
          </a:xfrm>
        </p:spPr>
      </p:pic>
      <p:pic>
        <p:nvPicPr>
          <p:cNvPr id="7" name="Picture 6">
            <a:extLst>
              <a:ext uri="{FF2B5EF4-FFF2-40B4-BE49-F238E27FC236}">
                <a16:creationId xmlns:a16="http://schemas.microsoft.com/office/drawing/2014/main" id="{57642DE9-1EBF-C802-B6BE-533E252E7AC2}"/>
              </a:ext>
            </a:extLst>
          </p:cNvPr>
          <p:cNvPicPr>
            <a:picLocks noChangeAspect="1"/>
          </p:cNvPicPr>
          <p:nvPr/>
        </p:nvPicPr>
        <p:blipFill>
          <a:blip r:embed="rId3"/>
          <a:stretch>
            <a:fillRect/>
          </a:stretch>
        </p:blipFill>
        <p:spPr>
          <a:xfrm>
            <a:off x="7084823" y="1079292"/>
            <a:ext cx="3970031" cy="320598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64BB7C4-8F3A-DF7A-503E-FF39ACD88D90}"/>
                  </a:ext>
                </a:extLst>
              </p:cNvPr>
              <p:cNvSpPr txBox="1"/>
              <p:nvPr/>
            </p:nvSpPr>
            <p:spPr>
              <a:xfrm>
                <a:off x="2114550" y="4399560"/>
                <a:ext cx="7962900" cy="533608"/>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Xét các điểm: </a:t>
                </a:r>
                <a14:m>
                  <m:oMath xmlns:m="http://schemas.openxmlformats.org/officeDocument/2006/math">
                    <m:r>
                      <a:rPr lang="en-US" b="0" i="1" smtClean="0">
                        <a:latin typeface="Cambria Math" panose="02040503050406030204" pitchFamily="18" charset="0"/>
                      </a:rPr>
                      <m:t>−2+3</m:t>
                    </m:r>
                    <m:r>
                      <a:rPr lang="en-US" b="0" i="1" smtClean="0">
                        <a:latin typeface="Cambria Math" panose="02040503050406030204" pitchFamily="18" charset="0"/>
                      </a:rPr>
                      <m:t>𝑗</m:t>
                    </m:r>
                  </m:oMath>
                </a14:m>
                <a:r>
                  <a:rPr lang="en-VN" dirty="0">
                    <a:latin typeface="Arial" panose="020B0604020202020204" pitchFamily="34" charset="0"/>
                    <a:cs typeface="Arial" panose="020B0604020202020204" pitchFamily="34" charset="0"/>
                  </a:rPr>
                  <a:t> và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𝑗</m:t>
                    </m:r>
                    <m:r>
                      <a:rPr lang="en-US" b="0" i="1" smtClean="0">
                        <a:latin typeface="Cambria Math" panose="02040503050406030204" pitchFamily="18" charset="0"/>
                      </a:rPr>
                      <m:t>(</m:t>
                    </m:r>
                    <m:f>
                      <m:fPr>
                        <m:ctrlPr>
                          <a:rPr lang="en-US" b="0" i="1" smtClean="0">
                            <a:latin typeface="Cambria Math" panose="02040503050406030204" pitchFamily="18" charset="0"/>
                          </a:rPr>
                        </m:ctrlPr>
                      </m:fPr>
                      <m:num>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num>
                      <m:den>
                        <m:r>
                          <a:rPr lang="en-US" b="0" i="1" smtClean="0">
                            <a:latin typeface="Cambria Math" panose="02040503050406030204" pitchFamily="18" charset="0"/>
                          </a:rPr>
                          <m:t>2</m:t>
                        </m:r>
                      </m:den>
                    </m:f>
                    <m:r>
                      <a:rPr lang="en-US" b="0" i="1" smtClean="0">
                        <a:latin typeface="Cambria Math" panose="02040503050406030204" pitchFamily="18" charset="0"/>
                      </a:rPr>
                      <m:t>)</m:t>
                    </m:r>
                  </m:oMath>
                </a14:m>
                <a:endParaRPr lang="en-VN"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A64BB7C4-8F3A-DF7A-503E-FF39ACD88D90}"/>
                  </a:ext>
                </a:extLst>
              </p:cNvPr>
              <p:cNvSpPr txBox="1">
                <a:spLocks noRot="1" noChangeAspect="1" noMove="1" noResize="1" noEditPoints="1" noAdjustHandles="1" noChangeArrowheads="1" noChangeShapeType="1" noTextEdit="1"/>
              </p:cNvSpPr>
              <p:nvPr/>
            </p:nvSpPr>
            <p:spPr>
              <a:xfrm>
                <a:off x="2114550" y="4399560"/>
                <a:ext cx="7962900" cy="533608"/>
              </a:xfrm>
              <a:prstGeom prst="rect">
                <a:avLst/>
              </a:prstGeom>
              <a:blipFill>
                <a:blip r:embed="rId4"/>
                <a:stretch>
                  <a:fillRect l="-637" b="-465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66C4E4C-ECF6-D6FF-C98B-A72D9B018461}"/>
                  </a:ext>
                </a:extLst>
              </p:cNvPr>
              <p:cNvSpPr txBox="1"/>
              <p:nvPr/>
            </p:nvSpPr>
            <p:spPr>
              <a:xfrm>
                <a:off x="2113120" y="4933168"/>
                <a:ext cx="7962900" cy="810607"/>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−2+3</m:t>
                    </m:r>
                    <m:r>
                      <a:rPr lang="en-US" b="0" i="1" smtClean="0">
                        <a:latin typeface="Cambria Math" panose="02040503050406030204" pitchFamily="18" charset="0"/>
                      </a:rPr>
                      <m:t>𝑗</m:t>
                    </m:r>
                  </m:oMath>
                </a14:m>
                <a:r>
                  <a:rPr lang="en-VN" dirty="0">
                    <a:latin typeface="Arial" panose="020B0604020202020204" pitchFamily="34" charset="0"/>
                    <a:cs typeface="Arial" panose="020B0604020202020204" pitchFamily="34" charset="0"/>
                  </a:rPr>
                  <a:t> không nằm trên quỹ tích nghiệm</a:t>
                </a:r>
              </a:p>
              <a:p>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𝑗</m:t>
                    </m:r>
                    <m:r>
                      <a:rPr lang="en-US" b="0" i="1" smtClean="0">
                        <a:latin typeface="Cambria Math" panose="02040503050406030204" pitchFamily="18" charset="0"/>
                      </a:rPr>
                      <m:t>(</m:t>
                    </m:r>
                    <m:f>
                      <m:fPr>
                        <m:ctrlPr>
                          <a:rPr lang="en-US" b="0" i="1" smtClean="0">
                            <a:latin typeface="Cambria Math" panose="02040503050406030204" pitchFamily="18" charset="0"/>
                          </a:rPr>
                        </m:ctrlPr>
                      </m:fPr>
                      <m:num>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num>
                      <m:den>
                        <m:r>
                          <a:rPr lang="en-US" b="0" i="1" smtClean="0">
                            <a:latin typeface="Cambria Math" panose="02040503050406030204" pitchFamily="18" charset="0"/>
                          </a:rPr>
                          <m:t>2</m:t>
                        </m:r>
                      </m:den>
                    </m:f>
                    <m:r>
                      <a:rPr lang="en-US" b="0" i="1" smtClean="0">
                        <a:latin typeface="Cambria Math" panose="02040503050406030204" pitchFamily="18" charset="0"/>
                      </a:rPr>
                      <m:t>)</m:t>
                    </m:r>
                  </m:oMath>
                </a14:m>
                <a:r>
                  <a:rPr lang="en-VN" dirty="0">
                    <a:latin typeface="Arial" panose="020B0604020202020204" pitchFamily="34" charset="0"/>
                    <a:cs typeface="Arial" panose="020B0604020202020204" pitchFamily="34" charset="0"/>
                  </a:rPr>
                  <a:t> nằm trên quỹ tích nghiệm. Giá trị của </a:t>
                </a:r>
                <a14:m>
                  <m:oMath xmlns:m="http://schemas.openxmlformats.org/officeDocument/2006/math">
                    <m:r>
                      <a:rPr lang="en-US" b="0" i="1" smtClean="0">
                        <a:latin typeface="Cambria Math" panose="02040503050406030204" pitchFamily="18" charset="0"/>
                        <a:cs typeface="Arial" panose="020B0604020202020204" pitchFamily="34" charset="0"/>
                      </a:rPr>
                      <m:t>𝐾</m:t>
                    </m:r>
                  </m:oMath>
                </a14:m>
                <a:r>
                  <a:rPr lang="en-VN" dirty="0">
                    <a:latin typeface="Arial" panose="020B0604020202020204" pitchFamily="34" charset="0"/>
                    <a:cs typeface="Arial" panose="020B0604020202020204" pitchFamily="34" charset="0"/>
                  </a:rPr>
                  <a:t> trong trường hợp này: </a:t>
                </a:r>
              </a:p>
            </p:txBody>
          </p:sp>
        </mc:Choice>
        <mc:Fallback xmlns="">
          <p:sp>
            <p:nvSpPr>
              <p:cNvPr id="9" name="TextBox 8">
                <a:extLst>
                  <a:ext uri="{FF2B5EF4-FFF2-40B4-BE49-F238E27FC236}">
                    <a16:creationId xmlns:a16="http://schemas.microsoft.com/office/drawing/2014/main" id="{C66C4E4C-ECF6-D6FF-C98B-A72D9B018461}"/>
                  </a:ext>
                </a:extLst>
              </p:cNvPr>
              <p:cNvSpPr txBox="1">
                <a:spLocks noRot="1" noChangeAspect="1" noMove="1" noResize="1" noEditPoints="1" noAdjustHandles="1" noChangeArrowheads="1" noChangeShapeType="1" noTextEdit="1"/>
              </p:cNvSpPr>
              <p:nvPr/>
            </p:nvSpPr>
            <p:spPr>
              <a:xfrm>
                <a:off x="2113120" y="4933168"/>
                <a:ext cx="7962900" cy="810607"/>
              </a:xfrm>
              <a:prstGeom prst="rect">
                <a:avLst/>
              </a:prstGeom>
              <a:blipFill>
                <a:blip r:embed="rId5"/>
                <a:stretch>
                  <a:fillRect t="-3077" b="-3077"/>
                </a:stretch>
              </a:blipFill>
            </p:spPr>
            <p:txBody>
              <a:bodyPr/>
              <a:lstStyle/>
              <a:p>
                <a:r>
                  <a:rPr lang="en-VN">
                    <a:noFill/>
                  </a:rPr>
                  <a:t> </a:t>
                </a:r>
              </a:p>
            </p:txBody>
          </p:sp>
        </mc:Fallback>
      </mc:AlternateContent>
      <p:pic>
        <p:nvPicPr>
          <p:cNvPr id="11" name="Picture 10">
            <a:extLst>
              <a:ext uri="{FF2B5EF4-FFF2-40B4-BE49-F238E27FC236}">
                <a16:creationId xmlns:a16="http://schemas.microsoft.com/office/drawing/2014/main" id="{32681C23-680D-AA80-643D-FB6E0B6BE0CE}"/>
              </a:ext>
            </a:extLst>
          </p:cNvPr>
          <p:cNvPicPr>
            <a:picLocks noChangeAspect="1"/>
          </p:cNvPicPr>
          <p:nvPr/>
        </p:nvPicPr>
        <p:blipFill>
          <a:blip r:embed="rId6"/>
          <a:stretch>
            <a:fillRect/>
          </a:stretch>
        </p:blipFill>
        <p:spPr>
          <a:xfrm>
            <a:off x="2726610" y="5817112"/>
            <a:ext cx="3560920" cy="697067"/>
          </a:xfrm>
          <a:prstGeom prst="rect">
            <a:avLst/>
          </a:prstGeom>
        </p:spPr>
      </p:pic>
      <p:pic>
        <p:nvPicPr>
          <p:cNvPr id="13" name="Picture 12">
            <a:extLst>
              <a:ext uri="{FF2B5EF4-FFF2-40B4-BE49-F238E27FC236}">
                <a16:creationId xmlns:a16="http://schemas.microsoft.com/office/drawing/2014/main" id="{2F55A3ED-FBC1-19FA-2016-10BD9102CDC5}"/>
              </a:ext>
            </a:extLst>
          </p:cNvPr>
          <p:cNvPicPr>
            <a:picLocks noChangeAspect="1"/>
          </p:cNvPicPr>
          <p:nvPr/>
        </p:nvPicPr>
        <p:blipFill>
          <a:blip r:embed="rId7"/>
          <a:stretch>
            <a:fillRect/>
          </a:stretch>
        </p:blipFill>
        <p:spPr>
          <a:xfrm>
            <a:off x="6616700" y="5740704"/>
            <a:ext cx="2628900" cy="787096"/>
          </a:xfrm>
          <a:prstGeom prst="rect">
            <a:avLst/>
          </a:prstGeom>
        </p:spPr>
      </p:pic>
      <p:cxnSp>
        <p:nvCxnSpPr>
          <p:cNvPr id="4" name="Straight Arrow Connector 3">
            <a:extLst>
              <a:ext uri="{FF2B5EF4-FFF2-40B4-BE49-F238E27FC236}">
                <a16:creationId xmlns:a16="http://schemas.microsoft.com/office/drawing/2014/main" id="{B87E9BF7-1F74-E546-16B1-6213ED6E2590}"/>
              </a:ext>
            </a:extLst>
          </p:cNvPr>
          <p:cNvCxnSpPr/>
          <p:nvPr/>
        </p:nvCxnSpPr>
        <p:spPr>
          <a:xfrm flipH="1">
            <a:off x="1451579" y="3716215"/>
            <a:ext cx="13736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74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par>
                                <p:cTn id="11" presetID="3" presetClass="entr" presetSubtype="1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linds(horizontal)">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D829-FF43-266F-354D-62913655715B}"/>
              </a:ext>
            </a:extLst>
          </p:cNvPr>
          <p:cNvSpPr>
            <a:spLocks noGrp="1"/>
          </p:cNvSpPr>
          <p:nvPr>
            <p:ph type="title"/>
          </p:nvPr>
        </p:nvSpPr>
        <p:spPr/>
        <p:txBody>
          <a:bodyPr/>
          <a:lstStyle/>
          <a:p>
            <a:r>
              <a:rPr lang="en-VN" dirty="0"/>
              <a:t>QUỸ TÍCH NGHIỆM</a:t>
            </a:r>
          </a:p>
        </p:txBody>
      </p:sp>
      <p:sp>
        <p:nvSpPr>
          <p:cNvPr id="3" name="Content Placeholder 2">
            <a:extLst>
              <a:ext uri="{FF2B5EF4-FFF2-40B4-BE49-F238E27FC236}">
                <a16:creationId xmlns:a16="http://schemas.microsoft.com/office/drawing/2014/main" id="{6D73A793-1E56-9282-5688-69A28D227793}"/>
              </a:ext>
            </a:extLst>
          </p:cNvPr>
          <p:cNvSpPr>
            <a:spLocks noGrp="1"/>
          </p:cNvSpPr>
          <p:nvPr>
            <p:ph idx="1"/>
          </p:nvPr>
        </p:nvSpPr>
        <p:spPr>
          <a:xfrm>
            <a:off x="1451579" y="1178300"/>
            <a:ext cx="9603275" cy="4444399"/>
          </a:xfrm>
        </p:spPr>
        <p:txBody>
          <a:bodyPr/>
          <a:lstStyle/>
          <a:p>
            <a:pPr marL="457200" indent="-457200">
              <a:buAutoNum type="arabicPeriod"/>
            </a:pPr>
            <a:r>
              <a:rPr lang="en-VN" dirty="0"/>
              <a:t>Số nhánh của quỹ tích nghiệm bằng số điểm cực của hệ thống vòng kín.</a:t>
            </a:r>
          </a:p>
          <a:p>
            <a:pPr marL="457200" indent="-457200">
              <a:buAutoNum type="arabicPeriod"/>
            </a:pPr>
            <a:r>
              <a:rPr lang="en-VN" dirty="0"/>
              <a:t>Quỹ tích nghiệm đối xứng nhau qua trục thực.</a:t>
            </a:r>
          </a:p>
          <a:p>
            <a:pPr marL="457200" indent="-457200">
              <a:buAutoNum type="arabicPeriod"/>
            </a:pPr>
            <a:r>
              <a:rPr lang="en-VN" dirty="0"/>
              <a:t>Trên trục thực, với K&gt;0, quỹ tích nghiệm xuất hiện bên trái của điểm cực vòng hở và/hoặc điểm không vòng hở thứ lẻ.</a:t>
            </a:r>
          </a:p>
          <a:p>
            <a:pPr marL="457200" indent="-457200">
              <a:buAutoNum type="arabicPeriod"/>
            </a:pPr>
            <a:r>
              <a:rPr lang="en-VN" dirty="0"/>
              <a:t>Quỹ tích nghiệm bắt đầu từ điểm cực của G(s)H(s) và kết thúc tại điểm không của G(s)H(s).</a:t>
            </a:r>
          </a:p>
          <a:p>
            <a:pPr marL="457200" indent="-457200">
              <a:buAutoNum type="arabicPeriod"/>
            </a:pPr>
            <a:r>
              <a:rPr lang="en-VN" dirty="0"/>
              <a:t>Quỹ tích nghiệm tiệm cận đường thẳng khi nó tiến tới vô cùng. Phương trình của đường tiệm cận được thể hiện qua điểm cắt trục thực và góc tạo bởi trục thực theo công thức sau:</a:t>
            </a:r>
          </a:p>
        </p:txBody>
      </p:sp>
      <p:pic>
        <p:nvPicPr>
          <p:cNvPr id="5" name="Picture 4">
            <a:extLst>
              <a:ext uri="{FF2B5EF4-FFF2-40B4-BE49-F238E27FC236}">
                <a16:creationId xmlns:a16="http://schemas.microsoft.com/office/drawing/2014/main" id="{2DC83542-9D9F-3110-F240-0720BCC6C533}"/>
              </a:ext>
            </a:extLst>
          </p:cNvPr>
          <p:cNvPicPr>
            <a:picLocks noChangeAspect="1"/>
          </p:cNvPicPr>
          <p:nvPr/>
        </p:nvPicPr>
        <p:blipFill>
          <a:blip r:embed="rId3"/>
          <a:stretch>
            <a:fillRect/>
          </a:stretch>
        </p:blipFill>
        <p:spPr>
          <a:xfrm>
            <a:off x="4324824" y="5061126"/>
            <a:ext cx="3587750" cy="804333"/>
          </a:xfrm>
          <a:prstGeom prst="rect">
            <a:avLst/>
          </a:prstGeom>
        </p:spPr>
      </p:pic>
      <p:pic>
        <p:nvPicPr>
          <p:cNvPr id="7" name="Picture 6">
            <a:extLst>
              <a:ext uri="{FF2B5EF4-FFF2-40B4-BE49-F238E27FC236}">
                <a16:creationId xmlns:a16="http://schemas.microsoft.com/office/drawing/2014/main" id="{5863B78A-1202-2711-19D8-8F35DB7665EA}"/>
              </a:ext>
            </a:extLst>
          </p:cNvPr>
          <p:cNvPicPr>
            <a:picLocks noChangeAspect="1"/>
          </p:cNvPicPr>
          <p:nvPr/>
        </p:nvPicPr>
        <p:blipFill rotWithShape="1">
          <a:blip r:embed="rId4"/>
          <a:srcRect r="969"/>
          <a:stretch/>
        </p:blipFill>
        <p:spPr>
          <a:xfrm>
            <a:off x="4302125" y="5928719"/>
            <a:ext cx="3610449" cy="88039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52643F9-9E0E-82ED-02B8-D8B37EB44817}"/>
                  </a:ext>
                </a:extLst>
              </p:cNvPr>
              <p:cNvSpPr txBox="1"/>
              <p:nvPr/>
            </p:nvSpPr>
            <p:spPr>
              <a:xfrm>
                <a:off x="8275491" y="5226748"/>
                <a:ext cx="3797085"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a:t>
                </a:r>
                <a:r>
                  <a:rPr lang="en-VN" dirty="0">
                    <a:latin typeface="Arial" panose="020B0604020202020204" pitchFamily="34" charset="0"/>
                    <a:cs typeface="Arial" panose="020B0604020202020204" pitchFamily="34" charset="0"/>
                  </a:rPr>
                  <a:t>rong đó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 ±2, ±3,…</m:t>
                    </m:r>
                  </m:oMath>
                </a14:m>
                <a:r>
                  <a:rPr lang="en-VN" dirty="0">
                    <a:latin typeface="Arial" panose="020B0604020202020204" pitchFamily="34" charset="0"/>
                    <a:cs typeface="Arial" panose="020B0604020202020204" pitchFamily="34" charset="0"/>
                  </a:rPr>
                  <a:t>; góc được tính theo rad, tạo với chiều dương của trục thực. </a:t>
                </a:r>
              </a:p>
            </p:txBody>
          </p:sp>
        </mc:Choice>
        <mc:Fallback xmlns="">
          <p:sp>
            <p:nvSpPr>
              <p:cNvPr id="8" name="TextBox 7">
                <a:extLst>
                  <a:ext uri="{FF2B5EF4-FFF2-40B4-BE49-F238E27FC236}">
                    <a16:creationId xmlns:a16="http://schemas.microsoft.com/office/drawing/2014/main" id="{152643F9-9E0E-82ED-02B8-D8B37EB44817}"/>
                  </a:ext>
                </a:extLst>
              </p:cNvPr>
              <p:cNvSpPr txBox="1">
                <a:spLocks noRot="1" noChangeAspect="1" noMove="1" noResize="1" noEditPoints="1" noAdjustHandles="1" noChangeArrowheads="1" noChangeShapeType="1" noTextEdit="1"/>
              </p:cNvSpPr>
              <p:nvPr/>
            </p:nvSpPr>
            <p:spPr>
              <a:xfrm>
                <a:off x="8275491" y="5226748"/>
                <a:ext cx="3797085" cy="923330"/>
              </a:xfrm>
              <a:prstGeom prst="rect">
                <a:avLst/>
              </a:prstGeom>
              <a:blipFill>
                <a:blip r:embed="rId5"/>
                <a:stretch>
                  <a:fillRect l="-1333" t="-2703" b="-9459"/>
                </a:stretch>
              </a:blipFill>
            </p:spPr>
            <p:txBody>
              <a:bodyPr/>
              <a:lstStyle/>
              <a:p>
                <a:r>
                  <a:rPr lang="en-VN">
                    <a:noFill/>
                  </a:rPr>
                  <a:t> </a:t>
                </a:r>
              </a:p>
            </p:txBody>
          </p:sp>
        </mc:Fallback>
      </mc:AlternateContent>
    </p:spTree>
    <p:extLst>
      <p:ext uri="{BB962C8B-B14F-4D97-AF65-F5344CB8AC3E}">
        <p14:creationId xmlns:p14="http://schemas.microsoft.com/office/powerpoint/2010/main" val="1164783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F006-5A7C-2867-3590-0B67D726F755}"/>
              </a:ext>
            </a:extLst>
          </p:cNvPr>
          <p:cNvSpPr>
            <a:spLocks noGrp="1"/>
          </p:cNvSpPr>
          <p:nvPr>
            <p:ph type="title"/>
          </p:nvPr>
        </p:nvSpPr>
        <p:spPr/>
        <p:txBody>
          <a:bodyPr/>
          <a:lstStyle/>
          <a:p>
            <a:r>
              <a:rPr lang="en-VN" dirty="0"/>
              <a:t>QUỸ TÍCH NGHIỆM</a:t>
            </a:r>
          </a:p>
        </p:txBody>
      </p:sp>
      <p:sp>
        <p:nvSpPr>
          <p:cNvPr id="3" name="Content Placeholder 2">
            <a:extLst>
              <a:ext uri="{FF2B5EF4-FFF2-40B4-BE49-F238E27FC236}">
                <a16:creationId xmlns:a16="http://schemas.microsoft.com/office/drawing/2014/main" id="{65D5EC12-DD3A-3135-E6A6-480538027773}"/>
              </a:ext>
            </a:extLst>
          </p:cNvPr>
          <p:cNvSpPr>
            <a:spLocks noGrp="1"/>
          </p:cNvSpPr>
          <p:nvPr>
            <p:ph idx="1"/>
          </p:nvPr>
        </p:nvSpPr>
        <p:spPr>
          <a:xfrm>
            <a:off x="1451578" y="1076746"/>
            <a:ext cx="9603275" cy="5415917"/>
          </a:xfrm>
        </p:spPr>
        <p:txBody>
          <a:bodyPr>
            <a:normAutofit/>
          </a:bodyPr>
          <a:lstStyle/>
          <a:p>
            <a:r>
              <a:rPr lang="en-VN" sz="1800" dirty="0"/>
              <a:t>CÁC BƯỚC VẼ QUỸ TÍCH NGHIỆM:</a:t>
            </a:r>
          </a:p>
          <a:p>
            <a:pPr algn="l" eaLnBrk="1" hangingPunct="1">
              <a:spcBef>
                <a:spcPct val="50000"/>
              </a:spcBef>
              <a:buFont typeface="Wingdings" pitchFamily="2" charset="2"/>
              <a:buChar char="Ø"/>
            </a:pPr>
            <a:r>
              <a:rPr lang="en-US" altLang="en-US" sz="1800" u="sng" dirty="0" err="1"/>
              <a:t>B</a:t>
            </a:r>
            <a:r>
              <a:rPr lang="en-US" altLang="en-US" sz="1600" u="sng" dirty="0" err="1"/>
              <a:t>ước</a:t>
            </a:r>
            <a:r>
              <a:rPr lang="en-US" altLang="en-US" sz="1600" u="sng" dirty="0"/>
              <a:t> 1:</a:t>
            </a:r>
            <a:r>
              <a:rPr lang="en-US" altLang="en-US" sz="1600" dirty="0"/>
              <a:t> </a:t>
            </a:r>
            <a:r>
              <a:rPr lang="en-US" altLang="en-US" sz="1600" dirty="0" err="1"/>
              <a:t>Đưa</a:t>
            </a:r>
            <a:r>
              <a:rPr lang="en-US" altLang="en-US" sz="1600" dirty="0"/>
              <a:t> </a:t>
            </a:r>
            <a:r>
              <a:rPr lang="en-US" altLang="en-US" sz="1600" dirty="0" err="1"/>
              <a:t>phương</a:t>
            </a:r>
            <a:r>
              <a:rPr lang="en-US" altLang="en-US" sz="1600" dirty="0"/>
              <a:t> </a:t>
            </a:r>
            <a:r>
              <a:rPr lang="en-US" altLang="en-US" sz="1600" dirty="0" err="1"/>
              <a:t>trình</a:t>
            </a:r>
            <a:r>
              <a:rPr lang="en-US" altLang="en-US" sz="1600" dirty="0"/>
              <a:t> </a:t>
            </a:r>
            <a:r>
              <a:rPr lang="en-US" altLang="en-US" sz="1600" dirty="0" err="1"/>
              <a:t>đặc</a:t>
            </a:r>
            <a:r>
              <a:rPr lang="en-US" altLang="en-US" sz="1600" dirty="0"/>
              <a:t> </a:t>
            </a:r>
            <a:r>
              <a:rPr lang="en-US" altLang="en-US" sz="1600" dirty="0" err="1"/>
              <a:t>trưng</a:t>
            </a:r>
            <a:r>
              <a:rPr lang="en-US" altLang="en-US" sz="1600" dirty="0"/>
              <a:t> </a:t>
            </a:r>
            <a:r>
              <a:rPr lang="en-US" altLang="en-US" sz="1600" dirty="0" err="1"/>
              <a:t>về</a:t>
            </a:r>
            <a:r>
              <a:rPr lang="en-US" altLang="en-US" sz="1600" dirty="0"/>
              <a:t> </a:t>
            </a:r>
            <a:r>
              <a:rPr lang="en-US" altLang="en-US" sz="1600" dirty="0" err="1"/>
              <a:t>dạng</a:t>
            </a:r>
            <a:r>
              <a:rPr lang="en-US" altLang="en-US" sz="1600" dirty="0"/>
              <a:t>: Q(s)=1+KP(s)=0</a:t>
            </a:r>
          </a:p>
          <a:p>
            <a:pPr algn="l" eaLnBrk="1" hangingPunct="1">
              <a:spcBef>
                <a:spcPct val="50000"/>
              </a:spcBef>
              <a:buFont typeface="Wingdings" pitchFamily="2" charset="2"/>
              <a:buChar char="Ø"/>
            </a:pPr>
            <a:r>
              <a:rPr lang="en-US" altLang="en-US" sz="1800" u="sng" dirty="0" err="1"/>
              <a:t>B</a:t>
            </a:r>
            <a:r>
              <a:rPr lang="en-US" altLang="en-US" sz="1600" u="sng" dirty="0" err="1"/>
              <a:t>ước</a:t>
            </a:r>
            <a:r>
              <a:rPr lang="en-US" altLang="en-US" sz="1600" u="sng" dirty="0"/>
              <a:t> 2:</a:t>
            </a:r>
            <a:r>
              <a:rPr lang="en-US" altLang="en-US" sz="1600" dirty="0"/>
              <a:t> </a:t>
            </a:r>
            <a:r>
              <a:rPr lang="en-US" altLang="en-US" sz="1600" dirty="0" err="1"/>
              <a:t>Xác</a:t>
            </a:r>
            <a:r>
              <a:rPr lang="en-US" altLang="en-US" sz="1600" dirty="0"/>
              <a:t> </a:t>
            </a:r>
            <a:r>
              <a:rPr lang="en-US" altLang="en-US" sz="1600" dirty="0" err="1"/>
              <a:t>định</a:t>
            </a:r>
            <a:r>
              <a:rPr lang="en-US" altLang="en-US" sz="1600" dirty="0"/>
              <a:t> </a:t>
            </a:r>
            <a:r>
              <a:rPr lang="en-US" altLang="en-US" sz="1600" dirty="0" err="1"/>
              <a:t>vị</a:t>
            </a:r>
            <a:r>
              <a:rPr lang="en-US" altLang="en-US" sz="1600" dirty="0"/>
              <a:t> </a:t>
            </a:r>
            <a:r>
              <a:rPr lang="en-US" altLang="en-US" sz="1600" dirty="0" err="1"/>
              <a:t>trí</a:t>
            </a:r>
            <a:r>
              <a:rPr lang="en-US" altLang="en-US" sz="1600" dirty="0"/>
              <a:t> </a:t>
            </a:r>
            <a:r>
              <a:rPr lang="en-US" altLang="en-US" sz="1600" dirty="0" err="1"/>
              <a:t>các</a:t>
            </a:r>
            <a:r>
              <a:rPr lang="en-US" altLang="en-US" sz="1600" dirty="0"/>
              <a:t> </a:t>
            </a:r>
            <a:r>
              <a:rPr lang="en-US" altLang="en-US" sz="1600" dirty="0" err="1"/>
              <a:t>điểm</a:t>
            </a:r>
            <a:r>
              <a:rPr lang="en-US" altLang="en-US" sz="1600" dirty="0"/>
              <a:t> </a:t>
            </a:r>
            <a:r>
              <a:rPr lang="en-US" altLang="en-US" sz="1600" dirty="0" err="1"/>
              <a:t>cực</a:t>
            </a:r>
            <a:r>
              <a:rPr lang="en-US" altLang="en-US" sz="1600" dirty="0"/>
              <a:t> </a:t>
            </a:r>
            <a:r>
              <a:rPr lang="en-US" altLang="en-US" sz="1600" dirty="0" err="1"/>
              <a:t>và</a:t>
            </a:r>
            <a:r>
              <a:rPr lang="en-US" altLang="en-US" sz="1600" dirty="0"/>
              <a:t> </a:t>
            </a:r>
            <a:r>
              <a:rPr lang="en-US" altLang="en-US" sz="1600" dirty="0" err="1"/>
              <a:t>điểm</a:t>
            </a:r>
            <a:r>
              <a:rPr lang="en-US" altLang="en-US" sz="1600" dirty="0"/>
              <a:t> </a:t>
            </a:r>
            <a:r>
              <a:rPr lang="en-US" altLang="en-US" sz="1600" dirty="0" err="1"/>
              <a:t>không</a:t>
            </a:r>
            <a:r>
              <a:rPr lang="en-US" altLang="en-US" sz="1600" dirty="0"/>
              <a:t> </a:t>
            </a:r>
            <a:r>
              <a:rPr lang="en-US" altLang="en-US" sz="1600" dirty="0" err="1"/>
              <a:t>của</a:t>
            </a:r>
            <a:r>
              <a:rPr lang="en-US" altLang="en-US" sz="1600" dirty="0"/>
              <a:t> P(s)</a:t>
            </a:r>
          </a:p>
          <a:p>
            <a:pPr algn="l" eaLnBrk="1" hangingPunct="1">
              <a:spcBef>
                <a:spcPct val="50000"/>
              </a:spcBef>
              <a:buFont typeface="Wingdings" pitchFamily="2" charset="2"/>
              <a:buChar char="Ø"/>
            </a:pPr>
            <a:r>
              <a:rPr lang="en-US" altLang="en-US" sz="1800" u="sng" dirty="0" err="1"/>
              <a:t>B</a:t>
            </a:r>
            <a:r>
              <a:rPr lang="en-US" altLang="en-US" sz="1600" u="sng" dirty="0" err="1"/>
              <a:t>ước</a:t>
            </a:r>
            <a:r>
              <a:rPr lang="en-US" altLang="en-US" sz="1600" u="sng" dirty="0"/>
              <a:t> 3:</a:t>
            </a:r>
            <a:r>
              <a:rPr lang="en-US" altLang="en-US" sz="1600" dirty="0"/>
              <a:t> </a:t>
            </a:r>
            <a:r>
              <a:rPr lang="en-US" altLang="en-US" sz="1600" dirty="0" err="1"/>
              <a:t>Xác</a:t>
            </a:r>
            <a:r>
              <a:rPr lang="en-US" altLang="en-US" sz="1600" dirty="0"/>
              <a:t> </a:t>
            </a:r>
            <a:r>
              <a:rPr lang="en-US" altLang="en-US" sz="1600" dirty="0" err="1"/>
              <a:t>định</a:t>
            </a:r>
            <a:r>
              <a:rPr lang="en-US" altLang="en-US" sz="1600" dirty="0"/>
              <a:t> </a:t>
            </a:r>
            <a:r>
              <a:rPr lang="en-US" altLang="en-US" sz="1600" dirty="0" err="1"/>
              <a:t>đoạn</a:t>
            </a:r>
            <a:r>
              <a:rPr lang="en-US" altLang="en-US" sz="1600" dirty="0"/>
              <a:t> </a:t>
            </a:r>
            <a:r>
              <a:rPr lang="en-US" altLang="en-US" sz="1600" dirty="0" err="1"/>
              <a:t>của</a:t>
            </a:r>
            <a:r>
              <a:rPr lang="en-US" altLang="en-US" sz="1600" dirty="0"/>
              <a:t> </a:t>
            </a:r>
            <a:r>
              <a:rPr lang="en-US" altLang="en-US" sz="1600" dirty="0" err="1"/>
              <a:t>các</a:t>
            </a:r>
            <a:r>
              <a:rPr lang="en-US" altLang="en-US" sz="1600" dirty="0"/>
              <a:t> </a:t>
            </a:r>
            <a:r>
              <a:rPr lang="en-US" altLang="en-US" sz="1600" dirty="0" err="1"/>
              <a:t>đường</a:t>
            </a:r>
            <a:r>
              <a:rPr lang="en-US" altLang="en-US" sz="1600" dirty="0"/>
              <a:t> </a:t>
            </a:r>
            <a:r>
              <a:rPr lang="en-US" altLang="en-US" sz="1600" dirty="0" err="1"/>
              <a:t>quỹ</a:t>
            </a:r>
            <a:r>
              <a:rPr lang="en-US" altLang="en-US" sz="1600" dirty="0"/>
              <a:t> </a:t>
            </a:r>
            <a:r>
              <a:rPr lang="en-US" altLang="en-US" sz="1600" dirty="0" err="1"/>
              <a:t>tích</a:t>
            </a:r>
            <a:r>
              <a:rPr lang="en-US" altLang="en-US" sz="1600" dirty="0"/>
              <a:t> </a:t>
            </a:r>
            <a:r>
              <a:rPr lang="en-US" altLang="en-US" sz="1600" dirty="0" err="1"/>
              <a:t>nằm</a:t>
            </a:r>
            <a:r>
              <a:rPr lang="en-US" altLang="en-US" sz="1600" dirty="0"/>
              <a:t> </a:t>
            </a:r>
            <a:r>
              <a:rPr lang="en-US" altLang="en-US" sz="1600" dirty="0" err="1"/>
              <a:t>trên</a:t>
            </a:r>
            <a:r>
              <a:rPr lang="en-US" altLang="en-US" sz="1600" dirty="0"/>
              <a:t> </a:t>
            </a:r>
            <a:r>
              <a:rPr lang="en-US" altLang="en-US" sz="1600" dirty="0" err="1"/>
              <a:t>trục</a:t>
            </a:r>
            <a:r>
              <a:rPr lang="en-US" altLang="en-US" sz="1600" dirty="0"/>
              <a:t> </a:t>
            </a:r>
            <a:r>
              <a:rPr lang="en-US" altLang="en-US" sz="1600" dirty="0" err="1"/>
              <a:t>thực</a:t>
            </a:r>
            <a:endParaRPr lang="en-US" altLang="en-US" sz="1600" dirty="0"/>
          </a:p>
          <a:p>
            <a:pPr algn="l" eaLnBrk="1" hangingPunct="1">
              <a:spcBef>
                <a:spcPct val="50000"/>
              </a:spcBef>
              <a:buFont typeface="Wingdings" pitchFamily="2" charset="2"/>
              <a:buChar char="Ø"/>
            </a:pPr>
            <a:r>
              <a:rPr lang="en-US" altLang="en-US" sz="1600" u="sng" dirty="0" err="1"/>
              <a:t>Bước</a:t>
            </a:r>
            <a:r>
              <a:rPr lang="en-US" altLang="en-US" sz="1600" u="sng" dirty="0"/>
              <a:t> 4: </a:t>
            </a:r>
            <a:r>
              <a:rPr lang="en-US" altLang="en-US" sz="1600" dirty="0" err="1"/>
              <a:t>Xác</a:t>
            </a:r>
            <a:r>
              <a:rPr lang="en-US" altLang="en-US" sz="1600" dirty="0"/>
              <a:t> </a:t>
            </a:r>
            <a:r>
              <a:rPr lang="en-US" altLang="en-US" sz="1600" dirty="0" err="1"/>
              <a:t>định</a:t>
            </a:r>
            <a:r>
              <a:rPr lang="en-US" altLang="en-US" sz="1600" dirty="0"/>
              <a:t> </a:t>
            </a:r>
            <a:r>
              <a:rPr lang="en-US" altLang="en-US" sz="1600" dirty="0" err="1"/>
              <a:t>số</a:t>
            </a:r>
            <a:r>
              <a:rPr lang="en-US" altLang="en-US" sz="1600" dirty="0"/>
              <a:t> </a:t>
            </a:r>
            <a:r>
              <a:rPr lang="en-US" altLang="en-US" sz="1600" dirty="0" err="1"/>
              <a:t>đường</a:t>
            </a:r>
            <a:r>
              <a:rPr lang="en-US" altLang="en-US" sz="1600" dirty="0"/>
              <a:t> </a:t>
            </a:r>
            <a:r>
              <a:rPr lang="en-US" altLang="en-US" sz="1600" dirty="0" err="1"/>
              <a:t>quỹ</a:t>
            </a:r>
            <a:r>
              <a:rPr lang="en-US" altLang="en-US" sz="1600" dirty="0"/>
              <a:t> </a:t>
            </a:r>
            <a:r>
              <a:rPr lang="en-US" altLang="en-US" sz="1600" dirty="0" err="1"/>
              <a:t>tích</a:t>
            </a:r>
            <a:endParaRPr lang="en-US" altLang="en-US" sz="1600" dirty="0"/>
          </a:p>
          <a:p>
            <a:pPr algn="l" eaLnBrk="1" hangingPunct="1">
              <a:spcBef>
                <a:spcPct val="50000"/>
              </a:spcBef>
              <a:buFontTx/>
              <a:buChar char="-"/>
            </a:pPr>
            <a:r>
              <a:rPr lang="en-US" altLang="en-US" sz="1600" dirty="0"/>
              <a:t> </a:t>
            </a:r>
            <a:r>
              <a:rPr lang="en-US" altLang="en-US" sz="1600" dirty="0" err="1"/>
              <a:t>Số</a:t>
            </a:r>
            <a:r>
              <a:rPr lang="en-US" altLang="en-US" sz="1600" dirty="0"/>
              <a:t> </a:t>
            </a:r>
            <a:r>
              <a:rPr lang="en-US" altLang="en-US" sz="1600" dirty="0" err="1"/>
              <a:t>đường</a:t>
            </a:r>
            <a:r>
              <a:rPr lang="en-US" altLang="en-US" sz="1600" dirty="0"/>
              <a:t> </a:t>
            </a:r>
            <a:r>
              <a:rPr lang="en-US" altLang="en-US" sz="1600" dirty="0" err="1"/>
              <a:t>quỹ</a:t>
            </a:r>
            <a:r>
              <a:rPr lang="en-US" altLang="en-US" sz="1600" dirty="0"/>
              <a:t> </a:t>
            </a:r>
            <a:r>
              <a:rPr lang="en-US" altLang="en-US" sz="1600" dirty="0" err="1"/>
              <a:t>tích</a:t>
            </a:r>
            <a:r>
              <a:rPr lang="en-US" altLang="en-US" sz="1600" dirty="0"/>
              <a:t> = </a:t>
            </a:r>
            <a:r>
              <a:rPr lang="en-US" altLang="en-US" sz="1600" dirty="0" err="1"/>
              <a:t>số</a:t>
            </a:r>
            <a:r>
              <a:rPr lang="en-US" altLang="en-US" sz="1600" dirty="0"/>
              <a:t> </a:t>
            </a:r>
            <a:r>
              <a:rPr lang="en-US" altLang="en-US" sz="1600" dirty="0" err="1"/>
              <a:t>nghiệm</a:t>
            </a:r>
            <a:r>
              <a:rPr lang="en-US" altLang="en-US" sz="1600" dirty="0"/>
              <a:t> </a:t>
            </a:r>
            <a:r>
              <a:rPr lang="en-US" altLang="en-US" sz="1600" dirty="0" err="1"/>
              <a:t>của</a:t>
            </a:r>
            <a:r>
              <a:rPr lang="en-US" altLang="en-US" sz="1600" dirty="0"/>
              <a:t> </a:t>
            </a:r>
            <a:r>
              <a:rPr lang="en-US" altLang="en-US" sz="1600" dirty="0" err="1"/>
              <a:t>ptđt</a:t>
            </a:r>
            <a:r>
              <a:rPr lang="en-US" altLang="en-US" sz="1600" dirty="0"/>
              <a:t> (</a:t>
            </a:r>
            <a:r>
              <a:rPr lang="en-US" altLang="en-US" sz="1600" dirty="0" err="1"/>
              <a:t>số</a:t>
            </a:r>
            <a:r>
              <a:rPr lang="en-US" altLang="en-US" sz="1600" dirty="0"/>
              <a:t> </a:t>
            </a:r>
            <a:r>
              <a:rPr lang="en-US" altLang="en-US" sz="1600" dirty="0" err="1"/>
              <a:t>điểm</a:t>
            </a:r>
            <a:r>
              <a:rPr lang="en-US" altLang="en-US" sz="1600" dirty="0"/>
              <a:t> </a:t>
            </a:r>
            <a:r>
              <a:rPr lang="en-US" altLang="en-US" sz="1600" dirty="0" err="1"/>
              <a:t>cực</a:t>
            </a:r>
            <a:r>
              <a:rPr lang="en-US" altLang="en-US" sz="1600" dirty="0"/>
              <a:t> </a:t>
            </a:r>
            <a:r>
              <a:rPr lang="en-US" altLang="en-US" sz="1600" dirty="0" err="1"/>
              <a:t>của</a:t>
            </a:r>
            <a:r>
              <a:rPr lang="en-US" altLang="en-US" sz="1600" dirty="0"/>
              <a:t> </a:t>
            </a:r>
            <a:r>
              <a:rPr lang="en-US" altLang="en-US" sz="1600" dirty="0" err="1"/>
              <a:t>hệ</a:t>
            </a:r>
            <a:r>
              <a:rPr lang="en-US" altLang="en-US" sz="1600" dirty="0"/>
              <a:t> </a:t>
            </a:r>
            <a:r>
              <a:rPr lang="en-US" altLang="en-US" sz="1600" dirty="0" err="1"/>
              <a:t>thống</a:t>
            </a:r>
            <a:r>
              <a:rPr lang="en-US" altLang="en-US" sz="1600" dirty="0"/>
              <a:t>) = </a:t>
            </a:r>
            <a:r>
              <a:rPr lang="en-US" altLang="en-US" sz="1600" dirty="0" err="1"/>
              <a:t>số</a:t>
            </a:r>
            <a:r>
              <a:rPr lang="en-US" altLang="en-US" sz="1600" dirty="0"/>
              <a:t> </a:t>
            </a:r>
            <a:r>
              <a:rPr lang="en-US" altLang="en-US" sz="1600" dirty="0" err="1"/>
              <a:t>cực</a:t>
            </a:r>
            <a:r>
              <a:rPr lang="en-US" altLang="en-US" sz="1600" dirty="0"/>
              <a:t> KP(s)</a:t>
            </a:r>
          </a:p>
          <a:p>
            <a:pPr algn="l" eaLnBrk="1" hangingPunct="1">
              <a:spcBef>
                <a:spcPct val="50000"/>
              </a:spcBef>
              <a:buFontTx/>
              <a:buChar char="-"/>
            </a:pPr>
            <a:r>
              <a:rPr lang="en-US" altLang="en-US" sz="1600" dirty="0"/>
              <a:t> Khi K </a:t>
            </a:r>
            <a:r>
              <a:rPr lang="en-US" altLang="en-US" sz="1600" dirty="0" err="1"/>
              <a:t>thay</a:t>
            </a:r>
            <a:r>
              <a:rPr lang="en-US" altLang="en-US" sz="1600" dirty="0"/>
              <a:t> </a:t>
            </a:r>
            <a:r>
              <a:rPr lang="en-US" altLang="en-US" sz="1600" dirty="0" err="1"/>
              <a:t>đổi</a:t>
            </a:r>
            <a:r>
              <a:rPr lang="en-US" altLang="en-US" sz="1600" dirty="0"/>
              <a:t> </a:t>
            </a:r>
            <a:r>
              <a:rPr lang="en-US" altLang="en-US" sz="1600" dirty="0" err="1"/>
              <a:t>từ</a:t>
            </a:r>
            <a:r>
              <a:rPr lang="en-US" altLang="en-US" sz="1600" dirty="0"/>
              <a:t> 0 </a:t>
            </a:r>
            <a:r>
              <a:rPr lang="en-US" altLang="en-US" sz="1600" dirty="0" err="1"/>
              <a:t>đến</a:t>
            </a:r>
            <a:r>
              <a:rPr lang="en-US" altLang="en-US" sz="1600" dirty="0"/>
              <a:t> ∞: </a:t>
            </a:r>
            <a:r>
              <a:rPr lang="en-US" altLang="en-US" sz="1600" dirty="0" err="1"/>
              <a:t>quỹ</a:t>
            </a:r>
            <a:r>
              <a:rPr lang="en-US" altLang="en-US" sz="1600" dirty="0"/>
              <a:t> </a:t>
            </a:r>
            <a:r>
              <a:rPr lang="en-US" altLang="en-US" sz="1600" dirty="0" err="1"/>
              <a:t>tích</a:t>
            </a:r>
            <a:r>
              <a:rPr lang="en-US" altLang="en-US" sz="1600" dirty="0"/>
              <a:t> </a:t>
            </a:r>
            <a:r>
              <a:rPr lang="en-US" altLang="en-US" sz="1600" dirty="0" err="1"/>
              <a:t>nghiệm</a:t>
            </a:r>
            <a:r>
              <a:rPr lang="en-US" altLang="en-US" sz="1600" dirty="0"/>
              <a:t> </a:t>
            </a:r>
            <a:r>
              <a:rPr lang="en-US" altLang="en-US" sz="1600" dirty="0" err="1"/>
              <a:t>sẽ</a:t>
            </a:r>
            <a:r>
              <a:rPr lang="en-US" altLang="en-US" sz="1600" dirty="0"/>
              <a:t> </a:t>
            </a:r>
            <a:r>
              <a:rPr lang="en-US" altLang="en-US" sz="1600" dirty="0" err="1"/>
              <a:t>bắt</a:t>
            </a:r>
            <a:r>
              <a:rPr lang="en-US" altLang="en-US" sz="1600" dirty="0"/>
              <a:t> </a:t>
            </a:r>
            <a:r>
              <a:rPr lang="en-US" altLang="en-US" sz="1600" dirty="0" err="1"/>
              <a:t>đầu</a:t>
            </a:r>
            <a:r>
              <a:rPr lang="en-US" altLang="en-US" sz="1600" dirty="0"/>
              <a:t> </a:t>
            </a:r>
            <a:r>
              <a:rPr lang="en-US" altLang="en-US" sz="1600" dirty="0" err="1"/>
              <a:t>tại</a:t>
            </a:r>
            <a:r>
              <a:rPr lang="en-US" altLang="en-US" sz="1600" dirty="0"/>
              <a:t> </a:t>
            </a:r>
            <a:r>
              <a:rPr lang="en-US" altLang="en-US" sz="1600" dirty="0" err="1"/>
              <a:t>các</a:t>
            </a:r>
            <a:r>
              <a:rPr lang="en-US" altLang="en-US" sz="1600" dirty="0"/>
              <a:t> </a:t>
            </a:r>
            <a:r>
              <a:rPr lang="en-US" altLang="en-US" sz="1600" dirty="0" err="1"/>
              <a:t>điểm</a:t>
            </a:r>
            <a:r>
              <a:rPr lang="en-US" altLang="en-US" sz="1600" dirty="0"/>
              <a:t> </a:t>
            </a:r>
            <a:r>
              <a:rPr lang="en-US" altLang="en-US" sz="1600" dirty="0" err="1"/>
              <a:t>cực</a:t>
            </a:r>
            <a:r>
              <a:rPr lang="en-US" altLang="en-US" sz="1600" dirty="0"/>
              <a:t>, </a:t>
            </a:r>
            <a:r>
              <a:rPr lang="en-US" altLang="en-US" sz="1600" dirty="0" err="1"/>
              <a:t>kết</a:t>
            </a:r>
            <a:r>
              <a:rPr lang="en-US" altLang="en-US" sz="1600" dirty="0"/>
              <a:t> </a:t>
            </a:r>
            <a:r>
              <a:rPr lang="en-US" altLang="en-US" sz="1600" dirty="0" err="1"/>
              <a:t>thúc</a:t>
            </a:r>
            <a:r>
              <a:rPr lang="en-US" altLang="en-US" sz="1600" dirty="0"/>
              <a:t> </a:t>
            </a:r>
            <a:r>
              <a:rPr lang="en-US" altLang="en-US" sz="1600" dirty="0" err="1"/>
              <a:t>tại</a:t>
            </a:r>
            <a:r>
              <a:rPr lang="en-US" altLang="en-US" sz="1600" dirty="0"/>
              <a:t> </a:t>
            </a:r>
            <a:r>
              <a:rPr lang="en-US" altLang="en-US" sz="1600" dirty="0" err="1"/>
              <a:t>các</a:t>
            </a:r>
            <a:r>
              <a:rPr lang="en-US" altLang="en-US" sz="1600" dirty="0"/>
              <a:t> </a:t>
            </a:r>
            <a:r>
              <a:rPr lang="en-US" altLang="en-US" sz="1600" dirty="0" err="1"/>
              <a:t>điểm</a:t>
            </a:r>
            <a:r>
              <a:rPr lang="en-US" altLang="en-US" sz="1600" dirty="0"/>
              <a:t> </a:t>
            </a:r>
            <a:r>
              <a:rPr lang="en-US" altLang="en-US" sz="1600" dirty="0" err="1"/>
              <a:t>không</a:t>
            </a:r>
            <a:r>
              <a:rPr lang="en-US" altLang="en-US" sz="1600" dirty="0"/>
              <a:t>. </a:t>
            </a:r>
            <a:r>
              <a:rPr lang="en-US" altLang="en-US" sz="1600" dirty="0" err="1"/>
              <a:t>Nếu</a:t>
            </a:r>
            <a:r>
              <a:rPr lang="en-US" altLang="en-US" sz="1600" dirty="0"/>
              <a:t> </a:t>
            </a:r>
            <a:r>
              <a:rPr lang="en-US" altLang="en-US" sz="1600" dirty="0" err="1"/>
              <a:t>không</a:t>
            </a:r>
            <a:r>
              <a:rPr lang="en-US" altLang="en-US" sz="1600" dirty="0"/>
              <a:t> </a:t>
            </a:r>
            <a:r>
              <a:rPr lang="en-US" altLang="en-US" sz="1600" dirty="0" err="1"/>
              <a:t>có</a:t>
            </a:r>
            <a:r>
              <a:rPr lang="en-US" altLang="en-US" sz="1600" dirty="0"/>
              <a:t> </a:t>
            </a:r>
            <a:r>
              <a:rPr lang="en-US" altLang="en-US" sz="1600" dirty="0" err="1"/>
              <a:t>điểm</a:t>
            </a:r>
            <a:r>
              <a:rPr lang="en-US" altLang="en-US" sz="1600" dirty="0"/>
              <a:t> </a:t>
            </a:r>
            <a:r>
              <a:rPr lang="en-US" altLang="en-US" sz="1600" dirty="0" err="1"/>
              <a:t>không</a:t>
            </a:r>
            <a:r>
              <a:rPr lang="en-US" altLang="en-US" sz="1600" dirty="0"/>
              <a:t> </a:t>
            </a:r>
            <a:r>
              <a:rPr lang="en-US" altLang="en-US" sz="1600" dirty="0" err="1"/>
              <a:t>tương</a:t>
            </a:r>
            <a:r>
              <a:rPr lang="en-US" altLang="en-US" sz="1600" dirty="0"/>
              <a:t> </a:t>
            </a:r>
            <a:r>
              <a:rPr lang="en-US" altLang="en-US" sz="1600" dirty="0" err="1"/>
              <a:t>ứng</a:t>
            </a:r>
            <a:r>
              <a:rPr lang="en-US" altLang="en-US" sz="1600" dirty="0"/>
              <a:t> </a:t>
            </a:r>
            <a:r>
              <a:rPr lang="en-US" altLang="en-US" sz="1600" dirty="0" err="1"/>
              <a:t>thì</a:t>
            </a:r>
            <a:r>
              <a:rPr lang="en-US" altLang="en-US" sz="1600" dirty="0"/>
              <a:t> </a:t>
            </a:r>
            <a:r>
              <a:rPr lang="en-US" altLang="en-US" sz="1600" dirty="0" err="1"/>
              <a:t>sẽ</a:t>
            </a:r>
            <a:r>
              <a:rPr lang="en-US" altLang="en-US" sz="1600" dirty="0"/>
              <a:t> </a:t>
            </a:r>
            <a:r>
              <a:rPr lang="en-US" altLang="en-US" sz="1600" dirty="0" err="1"/>
              <a:t>tiến</a:t>
            </a:r>
            <a:r>
              <a:rPr lang="en-US" altLang="en-US" sz="1600" dirty="0"/>
              <a:t> </a:t>
            </a:r>
            <a:r>
              <a:rPr lang="en-US" altLang="en-US" sz="1600" dirty="0" err="1"/>
              <a:t>ra</a:t>
            </a:r>
            <a:r>
              <a:rPr lang="en-US" altLang="en-US" sz="1600" dirty="0"/>
              <a:t> </a:t>
            </a:r>
            <a:r>
              <a:rPr lang="en-US" altLang="en-US" sz="1600" dirty="0" err="1"/>
              <a:t>vô</a:t>
            </a:r>
            <a:r>
              <a:rPr lang="en-US" altLang="en-US" sz="1600" dirty="0"/>
              <a:t> </a:t>
            </a:r>
            <a:r>
              <a:rPr lang="en-US" altLang="en-US" sz="1600" dirty="0" err="1"/>
              <a:t>cùng</a:t>
            </a:r>
            <a:r>
              <a:rPr lang="en-US" altLang="en-US" sz="1600" dirty="0"/>
              <a:t> </a:t>
            </a:r>
            <a:r>
              <a:rPr lang="en-US" altLang="en-US" sz="1600" dirty="0" err="1"/>
              <a:t>theo</a:t>
            </a:r>
            <a:r>
              <a:rPr lang="en-US" altLang="en-US" sz="1600" dirty="0"/>
              <a:t> </a:t>
            </a:r>
            <a:r>
              <a:rPr lang="en-US" altLang="en-US" sz="1600" dirty="0" err="1"/>
              <a:t>đường</a:t>
            </a:r>
            <a:r>
              <a:rPr lang="en-US" altLang="en-US" sz="1600" dirty="0"/>
              <a:t> </a:t>
            </a:r>
            <a:r>
              <a:rPr lang="en-US" altLang="en-US" sz="1600" dirty="0" err="1"/>
              <a:t>tiệm</a:t>
            </a:r>
            <a:r>
              <a:rPr lang="en-US" altLang="en-US" sz="1600" dirty="0"/>
              <a:t> </a:t>
            </a:r>
            <a:r>
              <a:rPr lang="en-US" altLang="en-US" sz="1600" dirty="0" err="1"/>
              <a:t>cận</a:t>
            </a:r>
            <a:endParaRPr lang="en-US" altLang="en-US" sz="1600" dirty="0"/>
          </a:p>
          <a:p>
            <a:pPr algn="l" eaLnBrk="1" hangingPunct="1">
              <a:spcBef>
                <a:spcPct val="50000"/>
              </a:spcBef>
              <a:buFont typeface="Wingdings" pitchFamily="2" charset="2"/>
              <a:buChar char="Ø"/>
            </a:pPr>
            <a:r>
              <a:rPr lang="en-US" altLang="en-US" sz="1600" u="sng" dirty="0" err="1"/>
              <a:t>Bước</a:t>
            </a:r>
            <a:r>
              <a:rPr lang="en-US" altLang="en-US" sz="1600" u="sng" dirty="0"/>
              <a:t> 5:</a:t>
            </a:r>
            <a:r>
              <a:rPr lang="en-US" altLang="en-US" sz="1600" dirty="0"/>
              <a:t> </a:t>
            </a:r>
            <a:r>
              <a:rPr lang="en-US" altLang="en-US" sz="1600" dirty="0" err="1"/>
              <a:t>Xác</a:t>
            </a:r>
            <a:r>
              <a:rPr lang="en-US" altLang="en-US" sz="1600" dirty="0"/>
              <a:t> </a:t>
            </a:r>
            <a:r>
              <a:rPr lang="en-US" altLang="en-US" sz="1600" dirty="0" err="1"/>
              <a:t>định</a:t>
            </a:r>
            <a:r>
              <a:rPr lang="en-US" altLang="en-US" sz="1600" dirty="0"/>
              <a:t> </a:t>
            </a:r>
            <a:r>
              <a:rPr lang="en-US" altLang="en-US" sz="1600" dirty="0" err="1"/>
              <a:t>điểm</a:t>
            </a:r>
            <a:r>
              <a:rPr lang="en-US" altLang="en-US" sz="1600" dirty="0"/>
              <a:t> </a:t>
            </a:r>
            <a:r>
              <a:rPr lang="en-US" altLang="en-US" sz="1600" dirty="0" err="1">
                <a:solidFill>
                  <a:schemeClr val="tx2"/>
                </a:solidFill>
              </a:rPr>
              <a:t>gốc</a:t>
            </a:r>
            <a:r>
              <a:rPr lang="en-US" altLang="en-US" sz="1600" dirty="0"/>
              <a:t> </a:t>
            </a:r>
            <a:r>
              <a:rPr lang="en-US" altLang="en-US" sz="1600" dirty="0" err="1"/>
              <a:t>và</a:t>
            </a:r>
            <a:r>
              <a:rPr lang="en-US" altLang="en-US" sz="1600" dirty="0"/>
              <a:t> </a:t>
            </a:r>
            <a:r>
              <a:rPr lang="en-US" altLang="en-US" sz="1600" dirty="0" err="1">
                <a:solidFill>
                  <a:schemeClr val="tx2"/>
                </a:solidFill>
              </a:rPr>
              <a:t>góc</a:t>
            </a:r>
            <a:r>
              <a:rPr lang="en-US" altLang="en-US" sz="1600" dirty="0"/>
              <a:t> </a:t>
            </a:r>
            <a:r>
              <a:rPr lang="en-US" altLang="en-US" sz="1600" dirty="0" err="1"/>
              <a:t>của</a:t>
            </a:r>
            <a:r>
              <a:rPr lang="en-US" altLang="en-US" sz="1600" dirty="0"/>
              <a:t> </a:t>
            </a:r>
            <a:r>
              <a:rPr lang="en-US" altLang="en-US" sz="1600" dirty="0" err="1"/>
              <a:t>các</a:t>
            </a:r>
            <a:r>
              <a:rPr lang="en-US" altLang="en-US" sz="1600" dirty="0"/>
              <a:t> </a:t>
            </a:r>
            <a:r>
              <a:rPr lang="en-US" altLang="en-US" sz="1600" dirty="0" err="1"/>
              <a:t>đường</a:t>
            </a:r>
            <a:r>
              <a:rPr lang="en-US" altLang="en-US" sz="1600" dirty="0"/>
              <a:t> </a:t>
            </a:r>
            <a:r>
              <a:rPr lang="en-US" altLang="en-US" sz="1600" dirty="0" err="1"/>
              <a:t>tiệm</a:t>
            </a:r>
            <a:r>
              <a:rPr lang="en-US" altLang="en-US" sz="1600" dirty="0"/>
              <a:t> </a:t>
            </a:r>
            <a:r>
              <a:rPr lang="en-US" altLang="en-US" sz="1600" dirty="0" err="1"/>
              <a:t>cận</a:t>
            </a:r>
            <a:endParaRPr lang="en-US" altLang="en-US" sz="1600" dirty="0"/>
          </a:p>
          <a:p>
            <a:pPr algn="l" eaLnBrk="1" hangingPunct="1">
              <a:spcBef>
                <a:spcPct val="50000"/>
              </a:spcBef>
              <a:buFont typeface="Wingdings" pitchFamily="2" charset="2"/>
              <a:buNone/>
            </a:pPr>
            <a:r>
              <a:rPr lang="en-US" altLang="en-US" sz="1600" dirty="0"/>
              <a:t>- </a:t>
            </a:r>
            <a:r>
              <a:rPr lang="en-US" altLang="en-US" sz="1600" dirty="0" err="1"/>
              <a:t>Số</a:t>
            </a:r>
            <a:r>
              <a:rPr lang="en-US" altLang="en-US" sz="1600" dirty="0"/>
              <a:t> </a:t>
            </a:r>
            <a:r>
              <a:rPr lang="en-US" altLang="en-US" sz="1600" dirty="0" err="1"/>
              <a:t>đường</a:t>
            </a:r>
            <a:r>
              <a:rPr lang="en-US" altLang="en-US" sz="1600" dirty="0"/>
              <a:t> </a:t>
            </a:r>
            <a:r>
              <a:rPr lang="en-US" altLang="en-US" sz="1600" dirty="0" err="1"/>
              <a:t>tiệm</a:t>
            </a:r>
            <a:r>
              <a:rPr lang="en-US" altLang="en-US" sz="1600" dirty="0"/>
              <a:t> </a:t>
            </a:r>
            <a:r>
              <a:rPr lang="en-US" altLang="en-US" sz="1600" dirty="0" err="1"/>
              <a:t>cận</a:t>
            </a:r>
            <a:r>
              <a:rPr lang="en-US" altLang="en-US" sz="1600" dirty="0"/>
              <a:t> = N-M</a:t>
            </a:r>
          </a:p>
          <a:p>
            <a:pPr algn="l" eaLnBrk="1" hangingPunct="1">
              <a:spcBef>
                <a:spcPct val="50000"/>
              </a:spcBef>
              <a:buFont typeface="Wingdings" pitchFamily="2" charset="2"/>
              <a:buNone/>
            </a:pPr>
            <a:r>
              <a:rPr lang="en-US" altLang="en-US" sz="1600" dirty="0"/>
              <a:t>- </a:t>
            </a:r>
            <a:r>
              <a:rPr lang="en-US" altLang="en-US" sz="1600" dirty="0" err="1"/>
              <a:t>Các</a:t>
            </a:r>
            <a:r>
              <a:rPr lang="en-US" altLang="en-US" sz="1600" dirty="0"/>
              <a:t> </a:t>
            </a:r>
            <a:r>
              <a:rPr lang="en-US" altLang="en-US" sz="1600" dirty="0" err="1"/>
              <a:t>đường</a:t>
            </a:r>
            <a:r>
              <a:rPr lang="en-US" altLang="en-US" sz="1600" dirty="0"/>
              <a:t> </a:t>
            </a:r>
            <a:r>
              <a:rPr lang="en-US" altLang="en-US" sz="1600" dirty="0" err="1"/>
              <a:t>tiệm</a:t>
            </a:r>
            <a:r>
              <a:rPr lang="en-US" altLang="en-US" sz="1600" dirty="0"/>
              <a:t> </a:t>
            </a:r>
            <a:r>
              <a:rPr lang="en-US" altLang="en-US" sz="1600" dirty="0" err="1"/>
              <a:t>cận</a:t>
            </a:r>
            <a:r>
              <a:rPr lang="en-US" altLang="en-US" sz="1600" dirty="0"/>
              <a:t> </a:t>
            </a:r>
            <a:r>
              <a:rPr lang="en-US" altLang="en-US" sz="1600" dirty="0" err="1"/>
              <a:t>đều</a:t>
            </a:r>
            <a:r>
              <a:rPr lang="en-US" altLang="en-US" sz="1600" dirty="0"/>
              <a:t> </a:t>
            </a:r>
            <a:r>
              <a:rPr lang="en-US" altLang="en-US" sz="1600" dirty="0" err="1"/>
              <a:t>xuất</a:t>
            </a:r>
            <a:r>
              <a:rPr lang="en-US" altLang="en-US" sz="1600" dirty="0"/>
              <a:t> </a:t>
            </a:r>
            <a:r>
              <a:rPr lang="en-US" altLang="en-US" sz="1600" dirty="0" err="1"/>
              <a:t>phát</a:t>
            </a:r>
            <a:r>
              <a:rPr lang="en-US" altLang="en-US" sz="1600" dirty="0"/>
              <a:t> </a:t>
            </a:r>
            <a:r>
              <a:rPr lang="en-US" altLang="en-US" sz="1600" dirty="0" err="1"/>
              <a:t>từ</a:t>
            </a:r>
            <a:r>
              <a:rPr lang="en-US" altLang="en-US" sz="1600" dirty="0"/>
              <a:t> </a:t>
            </a:r>
            <a:r>
              <a:rPr lang="en-US" altLang="en-US" sz="1600" dirty="0" err="1"/>
              <a:t>một</a:t>
            </a:r>
            <a:r>
              <a:rPr lang="en-US" altLang="en-US" sz="1600" dirty="0"/>
              <a:t> </a:t>
            </a:r>
            <a:r>
              <a:rPr lang="en-US" altLang="en-US" sz="1600" dirty="0" err="1"/>
              <a:t>điểm</a:t>
            </a:r>
            <a:r>
              <a:rPr lang="en-US" altLang="en-US" sz="1600" dirty="0"/>
              <a:t> </a:t>
            </a:r>
            <a:r>
              <a:rPr lang="en-US" altLang="en-US" sz="1600" dirty="0" err="1"/>
              <a:t>trên</a:t>
            </a:r>
            <a:r>
              <a:rPr lang="en-US" altLang="en-US" sz="1600" dirty="0"/>
              <a:t> </a:t>
            </a:r>
            <a:r>
              <a:rPr lang="en-US" altLang="en-US" sz="1600" dirty="0" err="1"/>
              <a:t>trục</a:t>
            </a:r>
            <a:r>
              <a:rPr lang="en-US" altLang="en-US" sz="1600" dirty="0"/>
              <a:t> </a:t>
            </a:r>
            <a:r>
              <a:rPr lang="en-US" altLang="en-US" sz="1600" dirty="0" err="1"/>
              <a:t>thực</a:t>
            </a:r>
            <a:r>
              <a:rPr lang="en-US" altLang="en-US" sz="1600" dirty="0"/>
              <a:t> </a:t>
            </a:r>
            <a:r>
              <a:rPr lang="en-US" altLang="en-US" sz="1600" dirty="0" err="1"/>
              <a:t>tại</a:t>
            </a:r>
            <a:r>
              <a:rPr lang="en-US" altLang="en-US" sz="1600" dirty="0"/>
              <a:t> </a:t>
            </a:r>
            <a:r>
              <a:rPr lang="en-US" altLang="en-US" sz="1600" dirty="0" err="1"/>
              <a:t>toạ</a:t>
            </a:r>
            <a:r>
              <a:rPr lang="en-US" altLang="en-US" sz="1600" dirty="0"/>
              <a:t> </a:t>
            </a:r>
            <a:r>
              <a:rPr lang="en-US" altLang="en-US" sz="1600" dirty="0" err="1"/>
              <a:t>độ</a:t>
            </a:r>
            <a:r>
              <a:rPr lang="en-US" altLang="en-US" sz="1600" dirty="0"/>
              <a:t>:</a:t>
            </a:r>
          </a:p>
          <a:p>
            <a:pPr algn="l" eaLnBrk="1" hangingPunct="1">
              <a:spcBef>
                <a:spcPct val="50000"/>
              </a:spcBef>
              <a:buFont typeface="Wingdings" pitchFamily="2" charset="2"/>
              <a:buNone/>
            </a:pPr>
            <a:r>
              <a:rPr lang="vi-VN" altLang="en-US" sz="1600" dirty="0"/>
              <a:t>- Góc của các đường tiệm cận:</a:t>
            </a:r>
          </a:p>
          <a:p>
            <a:pPr algn="l" eaLnBrk="1" hangingPunct="1">
              <a:spcBef>
                <a:spcPct val="50000"/>
              </a:spcBef>
              <a:buFont typeface="Wingdings" pitchFamily="2" charset="2"/>
              <a:buNone/>
            </a:pPr>
            <a:endParaRPr lang="en-US" altLang="en-US" sz="1600" dirty="0"/>
          </a:p>
          <a:p>
            <a:pPr algn="l" eaLnBrk="1" hangingPunct="1">
              <a:spcBef>
                <a:spcPct val="50000"/>
              </a:spcBef>
              <a:buFontTx/>
              <a:buChar char="-"/>
            </a:pPr>
            <a:endParaRPr lang="en-US" altLang="en-US" sz="1600" dirty="0"/>
          </a:p>
          <a:p>
            <a:endParaRPr lang="en-VN" sz="1800" dirty="0"/>
          </a:p>
        </p:txBody>
      </p:sp>
      <p:graphicFrame>
        <p:nvGraphicFramePr>
          <p:cNvPr id="4" name="Object 63">
            <a:extLst>
              <a:ext uri="{FF2B5EF4-FFF2-40B4-BE49-F238E27FC236}">
                <a16:creationId xmlns:a16="http://schemas.microsoft.com/office/drawing/2014/main" id="{F2CC1A87-2697-97D2-82A9-F43C0EB4C805}"/>
              </a:ext>
            </a:extLst>
          </p:cNvPr>
          <p:cNvGraphicFramePr>
            <a:graphicFrameLocks noChangeAspect="1"/>
          </p:cNvGraphicFramePr>
          <p:nvPr>
            <p:extLst>
              <p:ext uri="{D42A27DB-BD31-4B8C-83A1-F6EECF244321}">
                <p14:modId xmlns:p14="http://schemas.microsoft.com/office/powerpoint/2010/main" val="3620985375"/>
              </p:ext>
            </p:extLst>
          </p:nvPr>
        </p:nvGraphicFramePr>
        <p:xfrm>
          <a:off x="8495649" y="1425613"/>
          <a:ext cx="1828800" cy="1528763"/>
        </p:xfrm>
        <a:graphic>
          <a:graphicData uri="http://schemas.openxmlformats.org/presentationml/2006/ole">
            <mc:AlternateContent xmlns:mc="http://schemas.openxmlformats.org/markup-compatibility/2006">
              <mc:Choice xmlns:v="urn:schemas-microsoft-com:vml" Requires="v">
                <p:oleObj name="Equation" r:id="rId2" imgW="30721300" imgH="25742900" progId="Equation.DSMT4">
                  <p:embed/>
                </p:oleObj>
              </mc:Choice>
              <mc:Fallback>
                <p:oleObj name="Equation" r:id="rId2" imgW="30721300" imgH="25742900" progId="Equation.DSMT4">
                  <p:embed/>
                  <p:pic>
                    <p:nvPicPr>
                      <p:cNvPr id="12337" name="Object 63">
                        <a:extLst>
                          <a:ext uri="{FF2B5EF4-FFF2-40B4-BE49-F238E27FC236}">
                            <a16:creationId xmlns:a16="http://schemas.microsoft.com/office/drawing/2014/main" id="{902B864B-958E-C9D6-0ADD-11A7431D67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5649" y="1425613"/>
                        <a:ext cx="1828800" cy="152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1">
            <a:extLst>
              <a:ext uri="{FF2B5EF4-FFF2-40B4-BE49-F238E27FC236}">
                <a16:creationId xmlns:a16="http://schemas.microsoft.com/office/drawing/2014/main" id="{F4DFC2EA-EC03-B3F4-43E7-41A49E85414B}"/>
              </a:ext>
            </a:extLst>
          </p:cNvPr>
          <p:cNvGraphicFramePr>
            <a:graphicFrameLocks noChangeAspect="1"/>
          </p:cNvGraphicFramePr>
          <p:nvPr>
            <p:extLst>
              <p:ext uri="{D42A27DB-BD31-4B8C-83A1-F6EECF244321}">
                <p14:modId xmlns:p14="http://schemas.microsoft.com/office/powerpoint/2010/main" val="2934493650"/>
              </p:ext>
            </p:extLst>
          </p:nvPr>
        </p:nvGraphicFramePr>
        <p:xfrm>
          <a:off x="8495649" y="4832007"/>
          <a:ext cx="1828800" cy="1028700"/>
        </p:xfrm>
        <a:graphic>
          <a:graphicData uri="http://schemas.openxmlformats.org/presentationml/2006/ole">
            <mc:AlternateContent xmlns:mc="http://schemas.openxmlformats.org/markup-compatibility/2006">
              <mc:Choice xmlns:v="urn:schemas-microsoft-com:vml" Requires="v">
                <p:oleObj name="Equation" r:id="rId4" imgW="31597600" imgH="17843500" progId="Equation.DSMT4">
                  <p:embed/>
                </p:oleObj>
              </mc:Choice>
              <mc:Fallback>
                <p:oleObj name="Equation" r:id="rId4" imgW="31597600" imgH="17843500" progId="Equation.DSMT4">
                  <p:embed/>
                  <p:pic>
                    <p:nvPicPr>
                      <p:cNvPr id="14384" name="Object 51">
                        <a:extLst>
                          <a:ext uri="{FF2B5EF4-FFF2-40B4-BE49-F238E27FC236}">
                            <a16:creationId xmlns:a16="http://schemas.microsoft.com/office/drawing/2014/main" id="{03A535C7-3491-B64C-A77C-BF1AEA7A05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95649" y="4832007"/>
                        <a:ext cx="18288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4">
            <a:extLst>
              <a:ext uri="{FF2B5EF4-FFF2-40B4-BE49-F238E27FC236}">
                <a16:creationId xmlns:a16="http://schemas.microsoft.com/office/drawing/2014/main" id="{DECDCC56-C895-8953-6509-950625B30BD5}"/>
              </a:ext>
            </a:extLst>
          </p:cNvPr>
          <p:cNvGraphicFramePr>
            <a:graphicFrameLocks noChangeAspect="1"/>
          </p:cNvGraphicFramePr>
          <p:nvPr>
            <p:extLst>
              <p:ext uri="{D42A27DB-BD31-4B8C-83A1-F6EECF244321}">
                <p14:modId xmlns:p14="http://schemas.microsoft.com/office/powerpoint/2010/main" val="3843554927"/>
              </p:ext>
            </p:extLst>
          </p:nvPr>
        </p:nvGraphicFramePr>
        <p:xfrm>
          <a:off x="4531113" y="5563844"/>
          <a:ext cx="3886200" cy="593725"/>
        </p:xfrm>
        <a:graphic>
          <a:graphicData uri="http://schemas.openxmlformats.org/presentationml/2006/ole">
            <mc:AlternateContent xmlns:mc="http://schemas.openxmlformats.org/markup-compatibility/2006">
              <mc:Choice xmlns:v="urn:schemas-microsoft-com:vml" Requires="v">
                <p:oleObj name="Equation" r:id="rId6" imgW="64655700" imgH="9944100" progId="Equation.DSMT4">
                  <p:embed/>
                </p:oleObj>
              </mc:Choice>
              <mc:Fallback>
                <p:oleObj name="Equation" r:id="rId6" imgW="64655700" imgH="9944100" progId="Equation.DSMT4">
                  <p:embed/>
                  <p:pic>
                    <p:nvPicPr>
                      <p:cNvPr id="14387" name="Object 54">
                        <a:extLst>
                          <a:ext uri="{FF2B5EF4-FFF2-40B4-BE49-F238E27FC236}">
                            <a16:creationId xmlns:a16="http://schemas.microsoft.com/office/drawing/2014/main" id="{59B82A43-D1F4-CA68-4832-C9DACE4E0F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31113" y="5563844"/>
                        <a:ext cx="38862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32478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B36B4-E0A4-95E4-6105-06340A66CD0C}"/>
              </a:ext>
            </a:extLst>
          </p:cNvPr>
          <p:cNvSpPr>
            <a:spLocks noGrp="1"/>
          </p:cNvSpPr>
          <p:nvPr>
            <p:ph type="title"/>
          </p:nvPr>
        </p:nvSpPr>
        <p:spPr/>
        <p:txBody>
          <a:bodyPr/>
          <a:lstStyle/>
          <a:p>
            <a:r>
              <a:rPr lang="en-VN" dirty="0"/>
              <a:t>QUỸ TÍCH NGHIỆM</a:t>
            </a:r>
          </a:p>
        </p:txBody>
      </p:sp>
      <p:sp>
        <p:nvSpPr>
          <p:cNvPr id="3" name="Content Placeholder 2">
            <a:extLst>
              <a:ext uri="{FF2B5EF4-FFF2-40B4-BE49-F238E27FC236}">
                <a16:creationId xmlns:a16="http://schemas.microsoft.com/office/drawing/2014/main" id="{60220635-4D20-3AF2-32E0-B702444A2E51}"/>
              </a:ext>
            </a:extLst>
          </p:cNvPr>
          <p:cNvSpPr>
            <a:spLocks noGrp="1"/>
          </p:cNvSpPr>
          <p:nvPr>
            <p:ph idx="1"/>
          </p:nvPr>
        </p:nvSpPr>
        <p:spPr/>
        <p:txBody>
          <a:bodyPr>
            <a:normAutofit lnSpcReduction="10000"/>
          </a:bodyPr>
          <a:lstStyle/>
          <a:p>
            <a:pPr algn="l" eaLnBrk="1" hangingPunct="1">
              <a:spcBef>
                <a:spcPct val="50000"/>
              </a:spcBef>
              <a:buFont typeface="Wingdings" pitchFamily="2" charset="2"/>
              <a:buChar char="Ø"/>
            </a:pPr>
            <a:r>
              <a:rPr lang="en-US" altLang="en-US" sz="1700" u="sng" dirty="0" err="1"/>
              <a:t>Bước</a:t>
            </a:r>
            <a:r>
              <a:rPr lang="en-US" altLang="en-US" sz="1700" u="sng" dirty="0"/>
              <a:t> 6:</a:t>
            </a:r>
            <a:r>
              <a:rPr lang="en-US" altLang="en-US" sz="1700" dirty="0"/>
              <a:t> </a:t>
            </a:r>
            <a:r>
              <a:rPr lang="en-US" altLang="en-US" sz="1700" dirty="0" err="1"/>
              <a:t>Xác</a:t>
            </a:r>
            <a:r>
              <a:rPr lang="en-US" altLang="en-US" sz="1700" dirty="0"/>
              <a:t> </a:t>
            </a:r>
            <a:r>
              <a:rPr lang="en-US" altLang="en-US" sz="1700" dirty="0" err="1"/>
              <a:t>định</a:t>
            </a:r>
            <a:r>
              <a:rPr lang="en-US" altLang="en-US" sz="1700" dirty="0"/>
              <a:t> </a:t>
            </a:r>
            <a:r>
              <a:rPr lang="en-US" altLang="en-US" sz="1700" dirty="0" err="1"/>
              <a:t>điểm</a:t>
            </a:r>
            <a:r>
              <a:rPr lang="en-US" altLang="en-US" sz="1700" dirty="0"/>
              <a:t> </a:t>
            </a:r>
            <a:r>
              <a:rPr lang="en-US" altLang="en-US" sz="1700" dirty="0" err="1"/>
              <a:t>điểm</a:t>
            </a:r>
            <a:r>
              <a:rPr lang="en-US" altLang="en-US" sz="1700" dirty="0"/>
              <a:t> </a:t>
            </a:r>
            <a:r>
              <a:rPr lang="en-US" altLang="en-US" sz="1700" dirty="0" err="1"/>
              <a:t>thoát</a:t>
            </a:r>
            <a:r>
              <a:rPr lang="en-US" altLang="en-US" sz="1700" dirty="0"/>
              <a:t> </a:t>
            </a:r>
            <a:r>
              <a:rPr lang="en-US" altLang="en-US" sz="1700" dirty="0" err="1"/>
              <a:t>của</a:t>
            </a:r>
            <a:r>
              <a:rPr lang="en-US" altLang="en-US" sz="1700" dirty="0"/>
              <a:t> </a:t>
            </a:r>
            <a:r>
              <a:rPr lang="en-US" altLang="en-US" sz="1700" dirty="0" err="1"/>
              <a:t>quỹ</a:t>
            </a:r>
            <a:r>
              <a:rPr lang="en-US" altLang="en-US" sz="1700" dirty="0"/>
              <a:t> </a:t>
            </a:r>
            <a:r>
              <a:rPr lang="en-US" altLang="en-US" sz="1700" dirty="0" err="1"/>
              <a:t>tích</a:t>
            </a:r>
            <a:r>
              <a:rPr lang="en-US" altLang="en-US" sz="1700" dirty="0"/>
              <a:t> </a:t>
            </a:r>
            <a:r>
              <a:rPr lang="en-US" altLang="en-US" sz="1700" dirty="0" err="1"/>
              <a:t>trên</a:t>
            </a:r>
            <a:r>
              <a:rPr lang="en-US" altLang="en-US" sz="1700" dirty="0"/>
              <a:t> </a:t>
            </a:r>
            <a:r>
              <a:rPr lang="en-US" altLang="en-US" sz="1700" dirty="0" err="1"/>
              <a:t>trục</a:t>
            </a:r>
            <a:r>
              <a:rPr lang="en-US" altLang="en-US" sz="1700" dirty="0"/>
              <a:t> </a:t>
            </a:r>
            <a:r>
              <a:rPr lang="en-US" altLang="en-US" sz="1700" dirty="0" err="1"/>
              <a:t>thực</a:t>
            </a:r>
            <a:r>
              <a:rPr lang="en-US" altLang="en-US" sz="1700" dirty="0"/>
              <a:t> (</a:t>
            </a:r>
            <a:r>
              <a:rPr lang="en-US" altLang="en-US" sz="1700" dirty="0" err="1"/>
              <a:t>nếu</a:t>
            </a:r>
            <a:r>
              <a:rPr lang="en-US" altLang="en-US" sz="1700" dirty="0"/>
              <a:t> </a:t>
            </a:r>
            <a:r>
              <a:rPr lang="en-US" altLang="en-US" sz="1700" dirty="0" err="1"/>
              <a:t>có</a:t>
            </a:r>
            <a:r>
              <a:rPr lang="en-US" altLang="en-US" sz="1700" dirty="0"/>
              <a:t>)</a:t>
            </a:r>
          </a:p>
          <a:p>
            <a:pPr algn="l" eaLnBrk="1" hangingPunct="1">
              <a:spcBef>
                <a:spcPct val="50000"/>
              </a:spcBef>
              <a:buFontTx/>
              <a:buChar char="-"/>
            </a:pPr>
            <a:r>
              <a:rPr lang="en-US" altLang="en-US" sz="1700" dirty="0"/>
              <a:t> </a:t>
            </a:r>
            <a:r>
              <a:rPr lang="en-US" altLang="en-US" sz="1700" dirty="0" err="1"/>
              <a:t>Điểm</a:t>
            </a:r>
            <a:r>
              <a:rPr lang="en-US" altLang="en-US" sz="1700" dirty="0"/>
              <a:t> </a:t>
            </a:r>
            <a:r>
              <a:rPr lang="en-US" altLang="en-US" sz="1700" dirty="0" err="1"/>
              <a:t>thoát</a:t>
            </a:r>
            <a:r>
              <a:rPr lang="en-US" altLang="en-US" sz="1700" dirty="0"/>
              <a:t>: </a:t>
            </a:r>
            <a:r>
              <a:rPr lang="en-US" altLang="en-US" sz="1700" dirty="0" err="1"/>
              <a:t>nếu</a:t>
            </a:r>
            <a:r>
              <a:rPr lang="en-US" altLang="en-US" sz="1700" dirty="0"/>
              <a:t> K </a:t>
            </a:r>
            <a:r>
              <a:rPr lang="en-US" altLang="en-US" sz="1700" dirty="0" err="1"/>
              <a:t>có</a:t>
            </a:r>
            <a:r>
              <a:rPr lang="en-US" altLang="en-US" sz="1700" dirty="0"/>
              <a:t> 1 </a:t>
            </a:r>
            <a:r>
              <a:rPr lang="en-US" altLang="en-US" sz="1700" dirty="0" err="1"/>
              <a:t>giá</a:t>
            </a:r>
            <a:r>
              <a:rPr lang="en-US" altLang="en-US" sz="1700" dirty="0"/>
              <a:t> </a:t>
            </a:r>
            <a:r>
              <a:rPr lang="en-US" altLang="en-US" sz="1700" dirty="0" err="1"/>
              <a:t>trị</a:t>
            </a:r>
            <a:r>
              <a:rPr lang="en-US" altLang="en-US" sz="1700" dirty="0"/>
              <a:t> </a:t>
            </a:r>
            <a:r>
              <a:rPr lang="en-US" altLang="en-US" sz="1700" dirty="0" err="1"/>
              <a:t>làm</a:t>
            </a:r>
            <a:r>
              <a:rPr lang="en-US" altLang="en-US" sz="1700" dirty="0"/>
              <a:t> </a:t>
            </a:r>
            <a:r>
              <a:rPr lang="en-US" altLang="en-US" sz="1700" dirty="0" err="1"/>
              <a:t>cho</a:t>
            </a:r>
            <a:r>
              <a:rPr lang="en-US" altLang="en-US" sz="1700" dirty="0"/>
              <a:t> </a:t>
            </a:r>
            <a:r>
              <a:rPr lang="en-US" altLang="en-US" sz="1700" dirty="0" err="1"/>
              <a:t>phương</a:t>
            </a:r>
            <a:r>
              <a:rPr lang="en-US" altLang="en-US" sz="1700" dirty="0"/>
              <a:t> </a:t>
            </a:r>
            <a:r>
              <a:rPr lang="en-US" altLang="en-US" sz="1700" dirty="0" err="1"/>
              <a:t>trình</a:t>
            </a:r>
            <a:r>
              <a:rPr lang="en-US" altLang="en-US" sz="1700" dirty="0"/>
              <a:t> </a:t>
            </a:r>
            <a:r>
              <a:rPr lang="en-US" altLang="en-US" sz="1700" dirty="0" err="1"/>
              <a:t>đặc</a:t>
            </a:r>
            <a:r>
              <a:rPr lang="en-US" altLang="en-US" sz="1700" dirty="0"/>
              <a:t> </a:t>
            </a:r>
            <a:r>
              <a:rPr lang="en-US" altLang="en-US" sz="1700" dirty="0" err="1"/>
              <a:t>trưng</a:t>
            </a:r>
            <a:r>
              <a:rPr lang="en-US" altLang="en-US" sz="1700" dirty="0"/>
              <a:t> </a:t>
            </a:r>
            <a:r>
              <a:rPr lang="en-US" altLang="en-US" sz="1700" dirty="0" err="1"/>
              <a:t>có</a:t>
            </a:r>
            <a:r>
              <a:rPr lang="en-US" altLang="en-US" sz="1700" dirty="0"/>
              <a:t> </a:t>
            </a:r>
            <a:r>
              <a:rPr lang="en-US" altLang="en-US" sz="1700" dirty="0" err="1"/>
              <a:t>nghiệm</a:t>
            </a:r>
            <a:r>
              <a:rPr lang="en-US" altLang="en-US" sz="1700" dirty="0"/>
              <a:t> </a:t>
            </a:r>
            <a:r>
              <a:rPr lang="en-US" altLang="en-US" sz="1700" dirty="0" err="1"/>
              <a:t>kép</a:t>
            </a:r>
            <a:r>
              <a:rPr lang="en-US" altLang="en-US" sz="1700" dirty="0"/>
              <a:t> </a:t>
            </a:r>
            <a:r>
              <a:rPr lang="en-US" altLang="en-US" sz="1700" dirty="0" err="1"/>
              <a:t>thực</a:t>
            </a:r>
            <a:r>
              <a:rPr lang="en-US" altLang="en-US" sz="1700" dirty="0"/>
              <a:t> </a:t>
            </a:r>
            <a:r>
              <a:rPr lang="en-US" altLang="en-US" sz="1700" dirty="0" err="1"/>
              <a:t>thì</a:t>
            </a:r>
            <a:r>
              <a:rPr lang="en-US" altLang="en-US" sz="1700" dirty="0"/>
              <a:t> </a:t>
            </a:r>
            <a:r>
              <a:rPr lang="en-US" altLang="en-US" sz="1700" dirty="0" err="1"/>
              <a:t>đường</a:t>
            </a:r>
            <a:r>
              <a:rPr lang="en-US" altLang="en-US" sz="1700" dirty="0"/>
              <a:t> </a:t>
            </a:r>
            <a:r>
              <a:rPr lang="en-US" altLang="en-US" sz="1700" dirty="0" err="1"/>
              <a:t>quỹ</a:t>
            </a:r>
            <a:r>
              <a:rPr lang="en-US" altLang="en-US" sz="1700" dirty="0"/>
              <a:t> </a:t>
            </a:r>
            <a:r>
              <a:rPr lang="en-US" altLang="en-US" sz="1700" dirty="0" err="1"/>
              <a:t>tích</a:t>
            </a:r>
            <a:r>
              <a:rPr lang="en-US" altLang="en-US" sz="1700" dirty="0"/>
              <a:t> </a:t>
            </a:r>
            <a:r>
              <a:rPr lang="en-US" altLang="en-US" sz="1700" dirty="0" err="1"/>
              <a:t>sẽ</a:t>
            </a:r>
            <a:r>
              <a:rPr lang="en-US" altLang="en-US" sz="1700" dirty="0"/>
              <a:t> </a:t>
            </a:r>
            <a:r>
              <a:rPr lang="en-US" altLang="en-US" sz="1700" dirty="0" err="1"/>
              <a:t>rời</a:t>
            </a:r>
            <a:r>
              <a:rPr lang="en-US" altLang="en-US" sz="1700" dirty="0"/>
              <a:t> </a:t>
            </a:r>
            <a:r>
              <a:rPr lang="en-US" altLang="en-US" sz="1700" dirty="0" err="1"/>
              <a:t>khỏi</a:t>
            </a:r>
            <a:r>
              <a:rPr lang="en-US" altLang="en-US" sz="1700" dirty="0"/>
              <a:t> </a:t>
            </a:r>
            <a:r>
              <a:rPr lang="en-US" altLang="en-US" sz="1700" dirty="0" err="1"/>
              <a:t>trục</a:t>
            </a:r>
            <a:r>
              <a:rPr lang="en-US" altLang="en-US" sz="1700" dirty="0"/>
              <a:t> </a:t>
            </a:r>
            <a:r>
              <a:rPr lang="en-US" altLang="en-US" sz="1700" dirty="0" err="1"/>
              <a:t>thực</a:t>
            </a:r>
            <a:r>
              <a:rPr lang="en-US" altLang="en-US" sz="1700" dirty="0"/>
              <a:t> </a:t>
            </a:r>
            <a:r>
              <a:rPr lang="en-US" altLang="en-US" sz="1700" dirty="0" err="1"/>
              <a:t>tại</a:t>
            </a:r>
            <a:r>
              <a:rPr lang="en-US" altLang="en-US" sz="1700" dirty="0"/>
              <a:t> </a:t>
            </a:r>
            <a:r>
              <a:rPr lang="en-US" altLang="en-US" sz="1700" dirty="0" err="1"/>
              <a:t>điểm</a:t>
            </a:r>
            <a:r>
              <a:rPr lang="en-US" altLang="en-US" sz="1700" dirty="0"/>
              <a:t> </a:t>
            </a:r>
            <a:r>
              <a:rPr lang="en-US" altLang="en-US" sz="1700" dirty="0" err="1"/>
              <a:t>có</a:t>
            </a:r>
            <a:r>
              <a:rPr lang="en-US" altLang="en-US" sz="1700" dirty="0"/>
              <a:t> </a:t>
            </a:r>
            <a:r>
              <a:rPr lang="en-US" altLang="en-US" sz="1700" dirty="0" err="1"/>
              <a:t>toạ</a:t>
            </a:r>
            <a:r>
              <a:rPr lang="en-US" altLang="en-US" sz="1700" dirty="0"/>
              <a:t> </a:t>
            </a:r>
            <a:r>
              <a:rPr lang="en-US" altLang="en-US" sz="1700" dirty="0" err="1"/>
              <a:t>độ</a:t>
            </a:r>
            <a:r>
              <a:rPr lang="en-US" altLang="en-US" sz="1700" dirty="0"/>
              <a:t> </a:t>
            </a:r>
            <a:r>
              <a:rPr lang="en-US" altLang="en-US" sz="1700" dirty="0" err="1"/>
              <a:t>bằng</a:t>
            </a:r>
            <a:r>
              <a:rPr lang="en-US" altLang="en-US" sz="1700" dirty="0"/>
              <a:t> </a:t>
            </a:r>
            <a:r>
              <a:rPr lang="en-US" altLang="en-US" sz="1700" dirty="0" err="1"/>
              <a:t>giá</a:t>
            </a:r>
            <a:r>
              <a:rPr lang="en-US" altLang="en-US" sz="1700" dirty="0"/>
              <a:t> </a:t>
            </a:r>
            <a:r>
              <a:rPr lang="en-US" altLang="en-US" sz="1700" dirty="0" err="1"/>
              <a:t>trị</a:t>
            </a:r>
            <a:r>
              <a:rPr lang="en-US" altLang="en-US" sz="1700" dirty="0"/>
              <a:t> </a:t>
            </a:r>
            <a:r>
              <a:rPr lang="en-US" altLang="en-US" sz="1700" dirty="0" err="1"/>
              <a:t>nghiệm</a:t>
            </a:r>
            <a:r>
              <a:rPr lang="en-US" altLang="en-US" sz="1700" dirty="0"/>
              <a:t> </a:t>
            </a:r>
            <a:r>
              <a:rPr lang="en-US" altLang="en-US" sz="1700" dirty="0" err="1"/>
              <a:t>kép</a:t>
            </a:r>
            <a:r>
              <a:rPr lang="en-US" altLang="en-US" sz="1700" dirty="0"/>
              <a:t> </a:t>
            </a:r>
            <a:r>
              <a:rPr lang="en-US" altLang="en-US" sz="1700" dirty="0" err="1"/>
              <a:t>đó</a:t>
            </a:r>
            <a:endParaRPr lang="en-US" altLang="en-US" sz="1700" dirty="0"/>
          </a:p>
          <a:p>
            <a:pPr algn="l" eaLnBrk="1" hangingPunct="1">
              <a:spcBef>
                <a:spcPct val="50000"/>
              </a:spcBef>
              <a:buFontTx/>
              <a:buChar char="-"/>
            </a:pPr>
            <a:r>
              <a:rPr lang="en-US" altLang="en-US" sz="1700" dirty="0"/>
              <a:t> </a:t>
            </a:r>
            <a:r>
              <a:rPr lang="en-US" altLang="en-US" sz="1700" dirty="0" err="1"/>
              <a:t>Cách</a:t>
            </a:r>
            <a:r>
              <a:rPr lang="en-US" altLang="en-US" sz="1700" dirty="0"/>
              <a:t> </a:t>
            </a:r>
            <a:r>
              <a:rPr lang="en-US" altLang="en-US" sz="1700" dirty="0" err="1"/>
              <a:t>tìm</a:t>
            </a:r>
            <a:r>
              <a:rPr lang="en-US" altLang="en-US" sz="1700" dirty="0"/>
              <a:t> </a:t>
            </a:r>
            <a:r>
              <a:rPr lang="en-US" altLang="en-US" sz="1700" dirty="0" err="1"/>
              <a:t>điểm</a:t>
            </a:r>
            <a:r>
              <a:rPr lang="en-US" altLang="en-US" sz="1700" dirty="0"/>
              <a:t> </a:t>
            </a:r>
            <a:r>
              <a:rPr lang="en-US" altLang="en-US" sz="1700" dirty="0" err="1"/>
              <a:t>thoát</a:t>
            </a:r>
            <a:r>
              <a:rPr lang="en-US" altLang="en-US" sz="1700" dirty="0"/>
              <a:t>: </a:t>
            </a:r>
            <a:r>
              <a:rPr lang="en-US" altLang="en-US" sz="1700" dirty="0" err="1"/>
              <a:t>đưa</a:t>
            </a:r>
            <a:r>
              <a:rPr lang="en-US" altLang="en-US" sz="1700" dirty="0"/>
              <a:t> K = -1/P(s), </a:t>
            </a:r>
            <a:r>
              <a:rPr lang="en-US" altLang="en-US" sz="1700" dirty="0" err="1"/>
              <a:t>giải</a:t>
            </a:r>
            <a:r>
              <a:rPr lang="en-US" altLang="en-US" sz="1700" dirty="0"/>
              <a:t> </a:t>
            </a:r>
            <a:r>
              <a:rPr lang="en-US" altLang="en-US" sz="1700" dirty="0" err="1"/>
              <a:t>dK</a:t>
            </a:r>
            <a:r>
              <a:rPr lang="en-US" altLang="en-US" sz="1700" dirty="0"/>
              <a:t>/ds=0</a:t>
            </a:r>
          </a:p>
          <a:p>
            <a:pPr algn="l" eaLnBrk="1" hangingPunct="1">
              <a:spcBef>
                <a:spcPct val="50000"/>
              </a:spcBef>
            </a:pPr>
            <a:endParaRPr lang="en-US" altLang="en-US" sz="1700" dirty="0"/>
          </a:p>
          <a:p>
            <a:pPr algn="l" eaLnBrk="1" hangingPunct="1">
              <a:spcBef>
                <a:spcPct val="50000"/>
              </a:spcBef>
              <a:buFont typeface="Wingdings" pitchFamily="2" charset="2"/>
              <a:buChar char="Ø"/>
            </a:pPr>
            <a:r>
              <a:rPr lang="en-US" altLang="en-US" sz="1700" dirty="0"/>
              <a:t> </a:t>
            </a:r>
            <a:r>
              <a:rPr lang="en-US" altLang="en-US" sz="1700" u="sng" dirty="0" err="1"/>
              <a:t>Bước</a:t>
            </a:r>
            <a:r>
              <a:rPr lang="en-US" altLang="en-US" sz="1700" u="sng" dirty="0"/>
              <a:t> 7:</a:t>
            </a:r>
            <a:r>
              <a:rPr lang="en-US" altLang="en-US" sz="1700" dirty="0"/>
              <a:t> </a:t>
            </a:r>
            <a:r>
              <a:rPr lang="en-US" altLang="en-US" sz="1700" dirty="0" err="1"/>
              <a:t>Xác</a:t>
            </a:r>
            <a:r>
              <a:rPr lang="en-US" altLang="en-US" sz="1700" dirty="0"/>
              <a:t> </a:t>
            </a:r>
            <a:r>
              <a:rPr lang="en-US" altLang="en-US" sz="1700" dirty="0" err="1"/>
              <a:t>định</a:t>
            </a:r>
            <a:r>
              <a:rPr lang="en-US" altLang="en-US" sz="1700" dirty="0"/>
              <a:t> </a:t>
            </a:r>
            <a:r>
              <a:rPr lang="en-US" altLang="en-US" sz="1700" dirty="0" err="1"/>
              <a:t>giao</a:t>
            </a:r>
            <a:r>
              <a:rPr lang="en-US" altLang="en-US" sz="1700" dirty="0"/>
              <a:t> </a:t>
            </a:r>
            <a:r>
              <a:rPr lang="en-US" altLang="en-US" sz="1700" dirty="0" err="1"/>
              <a:t>điểm</a:t>
            </a:r>
            <a:r>
              <a:rPr lang="en-US" altLang="en-US" sz="1700" dirty="0"/>
              <a:t> </a:t>
            </a:r>
            <a:r>
              <a:rPr lang="en-US" altLang="en-US" sz="1700" dirty="0" err="1"/>
              <a:t>của</a:t>
            </a:r>
            <a:r>
              <a:rPr lang="en-US" altLang="en-US" sz="1700" dirty="0"/>
              <a:t> </a:t>
            </a:r>
            <a:r>
              <a:rPr lang="en-US" altLang="en-US" sz="1700" dirty="0" err="1"/>
              <a:t>quỹ</a:t>
            </a:r>
            <a:r>
              <a:rPr lang="en-US" altLang="en-US" sz="1700" dirty="0"/>
              <a:t> </a:t>
            </a:r>
            <a:r>
              <a:rPr lang="en-US" altLang="en-US" sz="1700" dirty="0" err="1"/>
              <a:t>tích</a:t>
            </a:r>
            <a:r>
              <a:rPr lang="en-US" altLang="en-US" sz="1700" dirty="0"/>
              <a:t> </a:t>
            </a:r>
            <a:r>
              <a:rPr lang="en-US" altLang="en-US" sz="1700" dirty="0" err="1"/>
              <a:t>với</a:t>
            </a:r>
            <a:r>
              <a:rPr lang="en-US" altLang="en-US" sz="1700" dirty="0"/>
              <a:t> </a:t>
            </a:r>
            <a:r>
              <a:rPr lang="en-US" altLang="en-US" sz="1700" dirty="0" err="1"/>
              <a:t>trục</a:t>
            </a:r>
            <a:r>
              <a:rPr lang="en-US" altLang="en-US" sz="1700" dirty="0"/>
              <a:t> </a:t>
            </a:r>
            <a:r>
              <a:rPr lang="en-US" altLang="en-US" sz="1700" dirty="0" err="1"/>
              <a:t>ảo</a:t>
            </a:r>
            <a:r>
              <a:rPr lang="en-US" altLang="en-US" sz="1700" dirty="0"/>
              <a:t> (</a:t>
            </a:r>
            <a:r>
              <a:rPr lang="en-US" altLang="en-US" sz="1700" dirty="0" err="1"/>
              <a:t>nếu</a:t>
            </a:r>
            <a:r>
              <a:rPr lang="en-US" altLang="en-US" sz="1700" dirty="0"/>
              <a:t> </a:t>
            </a:r>
            <a:r>
              <a:rPr lang="en-US" altLang="en-US" sz="1700" dirty="0" err="1"/>
              <a:t>có</a:t>
            </a:r>
            <a:r>
              <a:rPr lang="en-US" altLang="en-US" sz="1700" dirty="0"/>
              <a:t>)</a:t>
            </a:r>
          </a:p>
          <a:p>
            <a:pPr algn="l" eaLnBrk="1" hangingPunct="1">
              <a:spcBef>
                <a:spcPct val="50000"/>
              </a:spcBef>
              <a:buFontTx/>
              <a:buChar char="-"/>
            </a:pPr>
            <a:r>
              <a:rPr lang="en-US" altLang="en-US" sz="1700" dirty="0"/>
              <a:t> </a:t>
            </a:r>
            <a:r>
              <a:rPr lang="en-US" altLang="en-US" sz="1700" dirty="0" err="1"/>
              <a:t>Cách</a:t>
            </a:r>
            <a:r>
              <a:rPr lang="en-US" altLang="en-US" sz="1700" dirty="0"/>
              <a:t> 1: </a:t>
            </a:r>
            <a:r>
              <a:rPr lang="en-US" altLang="en-US" sz="1700" dirty="0" err="1"/>
              <a:t>Áp</a:t>
            </a:r>
            <a:r>
              <a:rPr lang="en-US" altLang="en-US" sz="1700" dirty="0"/>
              <a:t> </a:t>
            </a:r>
            <a:r>
              <a:rPr lang="en-US" altLang="en-US" sz="1700" dirty="0" err="1"/>
              <a:t>dụng</a:t>
            </a:r>
            <a:r>
              <a:rPr lang="en-US" altLang="en-US" sz="1700" dirty="0"/>
              <a:t> </a:t>
            </a:r>
            <a:r>
              <a:rPr lang="en-US" altLang="en-US" sz="1700" dirty="0" err="1"/>
              <a:t>tiêu</a:t>
            </a:r>
            <a:r>
              <a:rPr lang="en-US" altLang="en-US" sz="1700" dirty="0"/>
              <a:t> </a:t>
            </a:r>
            <a:r>
              <a:rPr lang="en-US" altLang="en-US" sz="1700" dirty="0" err="1"/>
              <a:t>chuẩn</a:t>
            </a:r>
            <a:r>
              <a:rPr lang="en-US" altLang="en-US" sz="1700" dirty="0"/>
              <a:t> Routh-Hurwitz </a:t>
            </a:r>
            <a:r>
              <a:rPr lang="en-US" altLang="en-US" sz="1700" dirty="0" err="1"/>
              <a:t>tìm</a:t>
            </a:r>
            <a:r>
              <a:rPr lang="en-US" altLang="en-US" sz="1700" dirty="0"/>
              <a:t> K </a:t>
            </a:r>
            <a:r>
              <a:rPr lang="en-US" altLang="en-US" sz="1700" dirty="0" err="1"/>
              <a:t>rồi</a:t>
            </a:r>
            <a:r>
              <a:rPr lang="en-US" altLang="en-US" sz="1700" dirty="0"/>
              <a:t> </a:t>
            </a:r>
            <a:r>
              <a:rPr lang="en-US" altLang="en-US" sz="1700" dirty="0" err="1"/>
              <a:t>thay</a:t>
            </a:r>
            <a:r>
              <a:rPr lang="en-US" altLang="en-US" sz="1700" dirty="0"/>
              <a:t> </a:t>
            </a:r>
            <a:r>
              <a:rPr lang="en-US" altLang="en-US" sz="1700" dirty="0" err="1"/>
              <a:t>vào</a:t>
            </a:r>
            <a:r>
              <a:rPr lang="en-US" altLang="en-US" sz="1700" dirty="0"/>
              <a:t> </a:t>
            </a:r>
            <a:r>
              <a:rPr lang="en-US" altLang="en-US" sz="1700" dirty="0" err="1"/>
              <a:t>ptđt</a:t>
            </a:r>
            <a:r>
              <a:rPr lang="en-US" altLang="en-US" sz="1700" dirty="0"/>
              <a:t> </a:t>
            </a:r>
            <a:r>
              <a:rPr lang="en-US" altLang="en-US" sz="1700" dirty="0" err="1"/>
              <a:t>tìm</a:t>
            </a:r>
            <a:r>
              <a:rPr lang="en-US" altLang="en-US" sz="1700" dirty="0"/>
              <a:t> </a:t>
            </a:r>
            <a:r>
              <a:rPr lang="en-US" altLang="en-US" sz="1700" dirty="0" err="1"/>
              <a:t>nghiệm</a:t>
            </a:r>
            <a:endParaRPr lang="en-US" altLang="en-US" sz="1700" dirty="0"/>
          </a:p>
          <a:p>
            <a:pPr algn="l" eaLnBrk="1" hangingPunct="1">
              <a:spcBef>
                <a:spcPct val="50000"/>
              </a:spcBef>
              <a:buFontTx/>
              <a:buChar char="-"/>
            </a:pPr>
            <a:r>
              <a:rPr lang="en-US" altLang="en-US" sz="1700" dirty="0"/>
              <a:t> </a:t>
            </a:r>
            <a:r>
              <a:rPr lang="en-US" altLang="en-US" sz="1700" dirty="0" err="1"/>
              <a:t>Cách</a:t>
            </a:r>
            <a:r>
              <a:rPr lang="en-US" altLang="en-US" sz="1700" dirty="0"/>
              <a:t> 2: </a:t>
            </a:r>
            <a:r>
              <a:rPr lang="en-US" altLang="en-US" sz="1700" dirty="0" err="1"/>
              <a:t>Thay</a:t>
            </a:r>
            <a:r>
              <a:rPr lang="en-US" altLang="en-US" sz="1700" dirty="0"/>
              <a:t> s=</a:t>
            </a:r>
            <a:r>
              <a:rPr lang="en-US" altLang="en-US" sz="1700" dirty="0" err="1"/>
              <a:t>jw</a:t>
            </a:r>
            <a:r>
              <a:rPr lang="en-US" altLang="en-US" sz="1700" dirty="0"/>
              <a:t> </a:t>
            </a:r>
            <a:r>
              <a:rPr lang="en-US" altLang="en-US" sz="1700" dirty="0" err="1"/>
              <a:t>vào</a:t>
            </a:r>
            <a:r>
              <a:rPr lang="en-US" altLang="en-US" sz="1700" dirty="0"/>
              <a:t> </a:t>
            </a:r>
            <a:r>
              <a:rPr lang="en-US" altLang="en-US" sz="1700" dirty="0" err="1"/>
              <a:t>ptđt</a:t>
            </a:r>
            <a:r>
              <a:rPr lang="en-US" altLang="en-US" sz="1700" dirty="0"/>
              <a:t> </a:t>
            </a:r>
            <a:r>
              <a:rPr lang="en-US" altLang="en-US" sz="1700" dirty="0" err="1"/>
              <a:t>và</a:t>
            </a:r>
            <a:r>
              <a:rPr lang="en-US" altLang="en-US" sz="1700" dirty="0"/>
              <a:t> </a:t>
            </a:r>
            <a:r>
              <a:rPr lang="en-US" altLang="en-US" sz="1700" dirty="0" err="1"/>
              <a:t>giải</a:t>
            </a:r>
            <a:r>
              <a:rPr lang="en-US" altLang="en-US" sz="1700" dirty="0"/>
              <a:t> </a:t>
            </a:r>
            <a:r>
              <a:rPr lang="en-US" altLang="en-US" sz="1700" dirty="0" err="1"/>
              <a:t>hệ</a:t>
            </a:r>
            <a:r>
              <a:rPr lang="en-US" altLang="en-US" sz="1700" dirty="0"/>
              <a:t>: </a:t>
            </a:r>
          </a:p>
          <a:p>
            <a:pPr algn="l" eaLnBrk="1" hangingPunct="1">
              <a:spcBef>
                <a:spcPct val="50000"/>
              </a:spcBef>
            </a:pPr>
            <a:endParaRPr lang="en-US" altLang="en-US" sz="1700" dirty="0"/>
          </a:p>
          <a:p>
            <a:pPr algn="l" eaLnBrk="1" hangingPunct="1">
              <a:spcBef>
                <a:spcPct val="50000"/>
              </a:spcBef>
              <a:buFont typeface="Wingdings" pitchFamily="2" charset="2"/>
              <a:buChar char="Ø"/>
            </a:pPr>
            <a:r>
              <a:rPr lang="en-US" altLang="en-US" sz="1700" u="sng" dirty="0" err="1"/>
              <a:t>Bước</a:t>
            </a:r>
            <a:r>
              <a:rPr lang="en-US" altLang="en-US" sz="1700" u="sng" dirty="0"/>
              <a:t> 8:</a:t>
            </a:r>
            <a:r>
              <a:rPr lang="en-US" altLang="en-US" sz="1700" dirty="0"/>
              <a:t> </a:t>
            </a:r>
            <a:r>
              <a:rPr lang="en-US" altLang="en-US" sz="1700" dirty="0" err="1"/>
              <a:t>Xác</a:t>
            </a:r>
            <a:r>
              <a:rPr lang="en-US" altLang="en-US" sz="1700" dirty="0"/>
              <a:t> </a:t>
            </a:r>
            <a:r>
              <a:rPr lang="en-US" altLang="en-US" sz="1700" dirty="0" err="1"/>
              <a:t>định</a:t>
            </a:r>
            <a:r>
              <a:rPr lang="en-US" altLang="en-US" sz="1700" dirty="0"/>
              <a:t> </a:t>
            </a:r>
            <a:r>
              <a:rPr lang="en-US" altLang="en-US" sz="1700" dirty="0" err="1"/>
              <a:t>góc</a:t>
            </a:r>
            <a:r>
              <a:rPr lang="en-US" altLang="en-US" sz="1700" dirty="0"/>
              <a:t> </a:t>
            </a:r>
            <a:r>
              <a:rPr lang="en-US" altLang="en-US" sz="1700" dirty="0" err="1"/>
              <a:t>của</a:t>
            </a:r>
            <a:r>
              <a:rPr lang="en-US" altLang="en-US" sz="1700" dirty="0"/>
              <a:t> </a:t>
            </a:r>
            <a:r>
              <a:rPr lang="en-US" altLang="en-US" sz="1700" dirty="0" err="1"/>
              <a:t>các</a:t>
            </a:r>
            <a:r>
              <a:rPr lang="en-US" altLang="en-US" sz="1700" dirty="0"/>
              <a:t> </a:t>
            </a:r>
            <a:r>
              <a:rPr lang="en-US" altLang="en-US" sz="1700" dirty="0" err="1"/>
              <a:t>đường</a:t>
            </a:r>
            <a:r>
              <a:rPr lang="en-US" altLang="en-US" sz="1700" dirty="0"/>
              <a:t> </a:t>
            </a:r>
            <a:r>
              <a:rPr lang="en-US" altLang="en-US" sz="1700" dirty="0" err="1"/>
              <a:t>quỹ</a:t>
            </a:r>
            <a:r>
              <a:rPr lang="en-US" altLang="en-US" sz="1700" dirty="0"/>
              <a:t> </a:t>
            </a:r>
            <a:r>
              <a:rPr lang="en-US" altLang="en-US" sz="1700" dirty="0" err="1"/>
              <a:t>tích</a:t>
            </a:r>
            <a:r>
              <a:rPr lang="en-US" altLang="en-US" sz="1700" dirty="0"/>
              <a:t> </a:t>
            </a:r>
            <a:r>
              <a:rPr lang="en-US" altLang="en-US" sz="1700" dirty="0" err="1"/>
              <a:t>tại</a:t>
            </a:r>
            <a:r>
              <a:rPr lang="en-US" altLang="en-US" sz="1700" dirty="0"/>
              <a:t> </a:t>
            </a:r>
            <a:r>
              <a:rPr lang="en-US" altLang="en-US" sz="1700" dirty="0" err="1"/>
              <a:t>điểm</a:t>
            </a:r>
            <a:r>
              <a:rPr lang="en-US" altLang="en-US" sz="1700" dirty="0"/>
              <a:t> </a:t>
            </a:r>
            <a:r>
              <a:rPr lang="en-US" altLang="en-US" sz="1700" dirty="0" err="1"/>
              <a:t>khởi</a:t>
            </a:r>
            <a:r>
              <a:rPr lang="en-US" altLang="en-US" sz="1700" dirty="0"/>
              <a:t> </a:t>
            </a:r>
            <a:r>
              <a:rPr lang="en-US" altLang="en-US" sz="1700" dirty="0" err="1"/>
              <a:t>đầu</a:t>
            </a:r>
            <a:r>
              <a:rPr lang="en-US" altLang="en-US" sz="1700" dirty="0"/>
              <a:t> </a:t>
            </a:r>
            <a:r>
              <a:rPr lang="en-US" altLang="en-US" sz="1700" dirty="0" err="1"/>
              <a:t>và</a:t>
            </a:r>
            <a:r>
              <a:rPr lang="en-US" altLang="en-US" sz="1700" dirty="0"/>
              <a:t> </a:t>
            </a:r>
            <a:r>
              <a:rPr lang="en-US" altLang="en-US" sz="1700" dirty="0" err="1"/>
              <a:t>điểm</a:t>
            </a:r>
            <a:r>
              <a:rPr lang="en-US" altLang="en-US" sz="1700" dirty="0"/>
              <a:t> </a:t>
            </a:r>
            <a:r>
              <a:rPr lang="en-US" altLang="en-US" sz="1700" dirty="0" err="1"/>
              <a:t>kết</a:t>
            </a:r>
            <a:r>
              <a:rPr lang="en-US" altLang="en-US" sz="1700" dirty="0"/>
              <a:t> </a:t>
            </a:r>
            <a:r>
              <a:rPr lang="en-US" altLang="en-US" sz="1700" dirty="0" err="1"/>
              <a:t>thúc</a:t>
            </a:r>
            <a:r>
              <a:rPr lang="en-US" altLang="en-US" sz="1700" dirty="0"/>
              <a:t> (</a:t>
            </a:r>
            <a:r>
              <a:rPr lang="en-US" altLang="en-US" sz="1700" dirty="0" err="1"/>
              <a:t>nếu</a:t>
            </a:r>
            <a:r>
              <a:rPr lang="en-US" altLang="en-US" sz="1700" dirty="0"/>
              <a:t> </a:t>
            </a:r>
            <a:r>
              <a:rPr lang="en-US" altLang="en-US" sz="1700" dirty="0" err="1"/>
              <a:t>có</a:t>
            </a:r>
            <a:r>
              <a:rPr lang="en-US" altLang="en-US" sz="1700" dirty="0"/>
              <a:t>)</a:t>
            </a:r>
          </a:p>
          <a:p>
            <a:pPr algn="l" eaLnBrk="1" hangingPunct="1">
              <a:spcBef>
                <a:spcPct val="50000"/>
              </a:spcBef>
              <a:buFont typeface="Wingdings" pitchFamily="2" charset="2"/>
              <a:buNone/>
            </a:pPr>
            <a:r>
              <a:rPr lang="en-US" altLang="en-US" sz="1700" dirty="0"/>
              <a:t>- </a:t>
            </a:r>
            <a:r>
              <a:rPr lang="en-US" altLang="en-US" sz="1700" dirty="0" err="1"/>
              <a:t>Áp</a:t>
            </a:r>
            <a:r>
              <a:rPr lang="en-US" altLang="en-US" sz="1700" dirty="0"/>
              <a:t> </a:t>
            </a:r>
            <a:r>
              <a:rPr lang="en-US" altLang="en-US" sz="1700" dirty="0" err="1"/>
              <a:t>dụng</a:t>
            </a:r>
            <a:r>
              <a:rPr lang="en-US" altLang="en-US" sz="1700" dirty="0"/>
              <a:t> </a:t>
            </a:r>
            <a:r>
              <a:rPr lang="en-US" altLang="en-US" sz="1700" dirty="0" err="1"/>
              <a:t>tiêu</a:t>
            </a:r>
            <a:r>
              <a:rPr lang="en-US" altLang="en-US" sz="1700" dirty="0"/>
              <a:t> </a:t>
            </a:r>
            <a:r>
              <a:rPr lang="en-US" altLang="en-US" sz="1700" dirty="0" err="1"/>
              <a:t>chuẩn</a:t>
            </a:r>
            <a:r>
              <a:rPr lang="en-US" altLang="en-US" sz="1700" dirty="0"/>
              <a:t> </a:t>
            </a:r>
            <a:r>
              <a:rPr lang="en-US" altLang="en-US" sz="1700" dirty="0" err="1"/>
              <a:t>về</a:t>
            </a:r>
            <a:r>
              <a:rPr lang="en-US" altLang="en-US" sz="1700" dirty="0"/>
              <a:t> </a:t>
            </a:r>
            <a:r>
              <a:rPr lang="en-US" altLang="en-US" sz="1700" dirty="0" err="1"/>
              <a:t>góc</a:t>
            </a:r>
            <a:r>
              <a:rPr lang="en-US" altLang="en-US" sz="1700" dirty="0"/>
              <a:t> </a:t>
            </a:r>
            <a:r>
              <a:rPr lang="en-US" altLang="en-US" sz="1700" dirty="0" err="1"/>
              <a:t>tại</a:t>
            </a:r>
            <a:r>
              <a:rPr lang="en-US" altLang="en-US" sz="1700" dirty="0"/>
              <a:t> </a:t>
            </a:r>
            <a:r>
              <a:rPr lang="en-US" altLang="en-US" sz="1700" dirty="0" err="1"/>
              <a:t>chính</a:t>
            </a:r>
            <a:r>
              <a:rPr lang="en-US" altLang="en-US" sz="1700" dirty="0"/>
              <a:t> </a:t>
            </a:r>
            <a:r>
              <a:rPr lang="en-US" altLang="en-US" sz="1700" dirty="0" err="1"/>
              <a:t>các</a:t>
            </a:r>
            <a:r>
              <a:rPr lang="en-US" altLang="en-US" sz="1700" dirty="0"/>
              <a:t> </a:t>
            </a:r>
            <a:r>
              <a:rPr lang="en-US" altLang="en-US" sz="1700" dirty="0" err="1"/>
              <a:t>điểm</a:t>
            </a:r>
            <a:r>
              <a:rPr lang="en-US" altLang="en-US" sz="1700" dirty="0"/>
              <a:t> </a:t>
            </a:r>
            <a:r>
              <a:rPr lang="en-US" altLang="en-US" sz="1700" dirty="0" err="1"/>
              <a:t>này</a:t>
            </a:r>
            <a:r>
              <a:rPr lang="en-US" altLang="en-US" sz="1700" dirty="0"/>
              <a:t> </a:t>
            </a:r>
          </a:p>
          <a:p>
            <a:endParaRPr lang="en-VN" sz="1700" dirty="0"/>
          </a:p>
        </p:txBody>
      </p:sp>
      <p:graphicFrame>
        <p:nvGraphicFramePr>
          <p:cNvPr id="4" name="Object 53">
            <a:extLst>
              <a:ext uri="{FF2B5EF4-FFF2-40B4-BE49-F238E27FC236}">
                <a16:creationId xmlns:a16="http://schemas.microsoft.com/office/drawing/2014/main" id="{8AF2FF09-E256-34F5-0BE3-0FCAB5EC4D47}"/>
              </a:ext>
            </a:extLst>
          </p:cNvPr>
          <p:cNvGraphicFramePr>
            <a:graphicFrameLocks noChangeAspect="1"/>
          </p:cNvGraphicFramePr>
          <p:nvPr>
            <p:extLst>
              <p:ext uri="{D42A27DB-BD31-4B8C-83A1-F6EECF244321}">
                <p14:modId xmlns:p14="http://schemas.microsoft.com/office/powerpoint/2010/main" val="3824605626"/>
              </p:ext>
            </p:extLst>
          </p:nvPr>
        </p:nvGraphicFramePr>
        <p:xfrm>
          <a:off x="5740260" y="3914078"/>
          <a:ext cx="1371600" cy="685800"/>
        </p:xfrm>
        <a:graphic>
          <a:graphicData uri="http://schemas.openxmlformats.org/presentationml/2006/ole">
            <mc:AlternateContent xmlns:mc="http://schemas.openxmlformats.org/markup-compatibility/2006">
              <mc:Choice xmlns:v="urn:schemas-microsoft-com:vml" Requires="v">
                <p:oleObj name="Equation" r:id="rId2" imgW="21069300" imgH="10528300" progId="Equation.DSMT4">
                  <p:embed/>
                </p:oleObj>
              </mc:Choice>
              <mc:Fallback>
                <p:oleObj name="Equation" r:id="rId2" imgW="21069300" imgH="10528300" progId="Equation.DSMT4">
                  <p:embed/>
                  <p:pic>
                    <p:nvPicPr>
                      <p:cNvPr id="16433" name="Object 53">
                        <a:extLst>
                          <a:ext uri="{FF2B5EF4-FFF2-40B4-BE49-F238E27FC236}">
                            <a16:creationId xmlns:a16="http://schemas.microsoft.com/office/drawing/2014/main" id="{E1F45751-6F6C-34EC-7EDE-806B77BCF5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0260" y="3914078"/>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74785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7E021-945C-035E-09F0-1E7CC5BBF6E8}"/>
              </a:ext>
            </a:extLst>
          </p:cNvPr>
          <p:cNvSpPr>
            <a:spLocks noGrp="1"/>
          </p:cNvSpPr>
          <p:nvPr>
            <p:ph type="title"/>
          </p:nvPr>
        </p:nvSpPr>
        <p:spPr/>
        <p:txBody>
          <a:bodyPr/>
          <a:lstStyle/>
          <a:p>
            <a:r>
              <a:rPr lang="en-VN" dirty="0"/>
              <a:t>QUỸ TÍCH NGHIỆM</a:t>
            </a:r>
          </a:p>
        </p:txBody>
      </p:sp>
      <p:pic>
        <p:nvPicPr>
          <p:cNvPr id="5" name="Content Placeholder 4">
            <a:extLst>
              <a:ext uri="{FF2B5EF4-FFF2-40B4-BE49-F238E27FC236}">
                <a16:creationId xmlns:a16="http://schemas.microsoft.com/office/drawing/2014/main" id="{6120AEB1-6340-144C-3D9D-81AF219A8844}"/>
              </a:ext>
            </a:extLst>
          </p:cNvPr>
          <p:cNvPicPr>
            <a:picLocks noGrp="1" noChangeAspect="1"/>
          </p:cNvPicPr>
          <p:nvPr>
            <p:ph idx="1"/>
          </p:nvPr>
        </p:nvPicPr>
        <p:blipFill>
          <a:blip r:embed="rId2"/>
          <a:stretch>
            <a:fillRect/>
          </a:stretch>
        </p:blipFill>
        <p:spPr>
          <a:xfrm>
            <a:off x="3803762" y="1317356"/>
            <a:ext cx="4584476" cy="1191392"/>
          </a:xfrm>
        </p:spPr>
      </p:pic>
      <p:sp>
        <p:nvSpPr>
          <p:cNvPr id="6" name="TextBox 5">
            <a:extLst>
              <a:ext uri="{FF2B5EF4-FFF2-40B4-BE49-F238E27FC236}">
                <a16:creationId xmlns:a16="http://schemas.microsoft.com/office/drawing/2014/main" id="{89BC9E50-26C3-CA3F-25BB-E8F519B50598}"/>
              </a:ext>
            </a:extLst>
          </p:cNvPr>
          <p:cNvSpPr txBox="1"/>
          <p:nvPr/>
        </p:nvSpPr>
        <p:spPr>
          <a:xfrm>
            <a:off x="3580111" y="2584491"/>
            <a:ext cx="9035512"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Ví dụ: Biểu diễn quỹ tích nghiệm của hệ thống sau</a:t>
            </a:r>
          </a:p>
        </p:txBody>
      </p:sp>
      <p:sp>
        <p:nvSpPr>
          <p:cNvPr id="7" name="TextBox 6">
            <a:extLst>
              <a:ext uri="{FF2B5EF4-FFF2-40B4-BE49-F238E27FC236}">
                <a16:creationId xmlns:a16="http://schemas.microsoft.com/office/drawing/2014/main" id="{BAA0FFDC-F2E4-A69B-CCBE-67839651CF33}"/>
              </a:ext>
            </a:extLst>
          </p:cNvPr>
          <p:cNvSpPr txBox="1"/>
          <p:nvPr/>
        </p:nvSpPr>
        <p:spPr>
          <a:xfrm>
            <a:off x="1605776" y="3044283"/>
            <a:ext cx="9449078" cy="923330"/>
          </a:xfrm>
          <a:prstGeom prst="rect">
            <a:avLst/>
          </a:prstGeom>
          <a:noFill/>
        </p:spPr>
        <p:txBody>
          <a:bodyPr wrap="square" rtlCol="0">
            <a:spAutoFit/>
          </a:bodyPr>
          <a:lstStyle/>
          <a:p>
            <a:pPr marL="285750" indent="-285750">
              <a:buFont typeface="Arial" panose="020B0604020202020204" pitchFamily="34" charset="0"/>
              <a:buChar char="•"/>
            </a:pPr>
            <a:r>
              <a:rPr lang="en-VN" dirty="0">
                <a:latin typeface="Arial" panose="020B0604020202020204" pitchFamily="34" charset="0"/>
                <a:cs typeface="Arial" panose="020B0604020202020204" pitchFamily="34" charset="0"/>
              </a:rPr>
              <a:t>Điểm cực: 0; -1, -2, -4</a:t>
            </a:r>
          </a:p>
          <a:p>
            <a:pPr marL="285750" indent="-285750">
              <a:buFont typeface="Arial" panose="020B0604020202020204" pitchFamily="34" charset="0"/>
              <a:buChar char="•"/>
            </a:pPr>
            <a:r>
              <a:rPr lang="en-VN" dirty="0">
                <a:latin typeface="Arial" panose="020B0604020202020204" pitchFamily="34" charset="0"/>
                <a:cs typeface="Arial" panose="020B0604020202020204" pitchFamily="34" charset="0"/>
              </a:rPr>
              <a:t>Điểm không: -3</a:t>
            </a:r>
          </a:p>
          <a:p>
            <a:pPr marL="285750" indent="-285750">
              <a:buFont typeface="Arial" panose="020B0604020202020204" pitchFamily="34" charset="0"/>
              <a:buChar char="•"/>
            </a:pPr>
            <a:r>
              <a:rPr lang="en-VN" dirty="0">
                <a:latin typeface="Arial" panose="020B0604020202020204" pitchFamily="34" charset="0"/>
                <a:cs typeface="Arial" panose="020B0604020202020204" pitchFamily="34" charset="0"/>
              </a:rPr>
              <a:t>Đường tiệm cận:</a:t>
            </a:r>
          </a:p>
        </p:txBody>
      </p:sp>
      <p:pic>
        <p:nvPicPr>
          <p:cNvPr id="9" name="Picture 8">
            <a:extLst>
              <a:ext uri="{FF2B5EF4-FFF2-40B4-BE49-F238E27FC236}">
                <a16:creationId xmlns:a16="http://schemas.microsoft.com/office/drawing/2014/main" id="{29D5505B-9E69-396C-3A2D-BF8287631492}"/>
              </a:ext>
            </a:extLst>
          </p:cNvPr>
          <p:cNvPicPr>
            <a:picLocks noChangeAspect="1"/>
          </p:cNvPicPr>
          <p:nvPr/>
        </p:nvPicPr>
        <p:blipFill>
          <a:blip r:embed="rId3"/>
          <a:stretch>
            <a:fillRect/>
          </a:stretch>
        </p:blipFill>
        <p:spPr>
          <a:xfrm>
            <a:off x="4438184" y="3890722"/>
            <a:ext cx="2814909" cy="714230"/>
          </a:xfrm>
          <a:prstGeom prst="rect">
            <a:avLst/>
          </a:prstGeom>
        </p:spPr>
      </p:pic>
      <p:pic>
        <p:nvPicPr>
          <p:cNvPr id="11" name="Picture 10">
            <a:extLst>
              <a:ext uri="{FF2B5EF4-FFF2-40B4-BE49-F238E27FC236}">
                <a16:creationId xmlns:a16="http://schemas.microsoft.com/office/drawing/2014/main" id="{91734754-2551-74AE-4F90-3E82951FCBB5}"/>
              </a:ext>
            </a:extLst>
          </p:cNvPr>
          <p:cNvPicPr>
            <a:picLocks noChangeAspect="1"/>
          </p:cNvPicPr>
          <p:nvPr/>
        </p:nvPicPr>
        <p:blipFill>
          <a:blip r:embed="rId4"/>
          <a:stretch>
            <a:fillRect/>
          </a:stretch>
        </p:blipFill>
        <p:spPr>
          <a:xfrm>
            <a:off x="4438183" y="4814052"/>
            <a:ext cx="2814909" cy="1536136"/>
          </a:xfrm>
          <a:prstGeom prst="rect">
            <a:avLst/>
          </a:prstGeom>
        </p:spPr>
      </p:pic>
    </p:spTree>
    <p:extLst>
      <p:ext uri="{BB962C8B-B14F-4D97-AF65-F5344CB8AC3E}">
        <p14:creationId xmlns:p14="http://schemas.microsoft.com/office/powerpoint/2010/main" val="3714662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141BB-2D6A-9733-4332-0DCB8D637302}"/>
              </a:ext>
            </a:extLst>
          </p:cNvPr>
          <p:cNvSpPr>
            <a:spLocks noGrp="1"/>
          </p:cNvSpPr>
          <p:nvPr>
            <p:ph type="title"/>
          </p:nvPr>
        </p:nvSpPr>
        <p:spPr/>
        <p:txBody>
          <a:bodyPr/>
          <a:lstStyle/>
          <a:p>
            <a:r>
              <a:rPr lang="en-VN" dirty="0"/>
              <a:t>QUỸ TÍCH NGHIỆM</a:t>
            </a:r>
          </a:p>
        </p:txBody>
      </p:sp>
      <p:pic>
        <p:nvPicPr>
          <p:cNvPr id="5" name="Content Placeholder 4">
            <a:extLst>
              <a:ext uri="{FF2B5EF4-FFF2-40B4-BE49-F238E27FC236}">
                <a16:creationId xmlns:a16="http://schemas.microsoft.com/office/drawing/2014/main" id="{A1A7D878-2476-68F5-D400-A8FFC21F136A}"/>
              </a:ext>
            </a:extLst>
          </p:cNvPr>
          <p:cNvPicPr>
            <a:picLocks noGrp="1" noChangeAspect="1"/>
          </p:cNvPicPr>
          <p:nvPr>
            <p:ph idx="1"/>
          </p:nvPr>
        </p:nvPicPr>
        <p:blipFill>
          <a:blip r:embed="rId2"/>
          <a:stretch>
            <a:fillRect/>
          </a:stretch>
        </p:blipFill>
        <p:spPr>
          <a:xfrm>
            <a:off x="2942173" y="1244600"/>
            <a:ext cx="6621979" cy="4443413"/>
          </a:xfrm>
        </p:spPr>
      </p:pic>
    </p:spTree>
    <p:extLst>
      <p:ext uri="{BB962C8B-B14F-4D97-AF65-F5344CB8AC3E}">
        <p14:creationId xmlns:p14="http://schemas.microsoft.com/office/powerpoint/2010/main" val="106276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D68FA-75F1-E70C-F6CA-6A93C88F5D55}"/>
              </a:ext>
            </a:extLst>
          </p:cNvPr>
          <p:cNvSpPr>
            <a:spLocks noGrp="1"/>
          </p:cNvSpPr>
          <p:nvPr>
            <p:ph type="title"/>
          </p:nvPr>
        </p:nvSpPr>
        <p:spPr/>
        <p:txBody>
          <a:bodyPr/>
          <a:lstStyle/>
          <a:p>
            <a:r>
              <a:rPr lang="en-VN" dirty="0"/>
              <a:t>QUỸ TÍCH NGHIỆM</a:t>
            </a:r>
          </a:p>
        </p:txBody>
      </p:sp>
      <p:sp>
        <p:nvSpPr>
          <p:cNvPr id="3" name="Content Placeholder 2">
            <a:extLst>
              <a:ext uri="{FF2B5EF4-FFF2-40B4-BE49-F238E27FC236}">
                <a16:creationId xmlns:a16="http://schemas.microsoft.com/office/drawing/2014/main" id="{642B7EE7-8841-AFC0-806B-3C9C59D1E8BD}"/>
              </a:ext>
            </a:extLst>
          </p:cNvPr>
          <p:cNvSpPr>
            <a:spLocks noGrp="1"/>
          </p:cNvSpPr>
          <p:nvPr>
            <p:ph idx="1"/>
          </p:nvPr>
        </p:nvSpPr>
        <p:spPr>
          <a:xfrm>
            <a:off x="1451579" y="1244015"/>
            <a:ext cx="9603275" cy="674212"/>
          </a:xfrm>
        </p:spPr>
        <p:txBody>
          <a:bodyPr/>
          <a:lstStyle/>
          <a:p>
            <a:r>
              <a:rPr lang="en-VN" dirty="0"/>
              <a:t>Xác định điểm thoát (</a:t>
            </a:r>
            <a:r>
              <a:rPr lang="en-US" dirty="0"/>
              <a:t>Real-Axis Breakaway and Break-In Points)</a:t>
            </a:r>
          </a:p>
        </p:txBody>
      </p:sp>
      <p:pic>
        <p:nvPicPr>
          <p:cNvPr id="5" name="Picture 4">
            <a:extLst>
              <a:ext uri="{FF2B5EF4-FFF2-40B4-BE49-F238E27FC236}">
                <a16:creationId xmlns:a16="http://schemas.microsoft.com/office/drawing/2014/main" id="{A6FEA081-D1C1-CB1C-C4B2-37F577D883E7}"/>
              </a:ext>
            </a:extLst>
          </p:cNvPr>
          <p:cNvPicPr>
            <a:picLocks noChangeAspect="1"/>
          </p:cNvPicPr>
          <p:nvPr/>
        </p:nvPicPr>
        <p:blipFill rotWithShape="1">
          <a:blip r:embed="rId2"/>
          <a:srcRect l="2881" t="3923"/>
          <a:stretch/>
        </p:blipFill>
        <p:spPr>
          <a:xfrm>
            <a:off x="223025" y="2057400"/>
            <a:ext cx="4887098" cy="4002746"/>
          </a:xfrm>
          <a:prstGeom prst="rect">
            <a:avLst/>
          </a:prstGeom>
        </p:spPr>
      </p:pic>
      <p:pic>
        <p:nvPicPr>
          <p:cNvPr id="7" name="Picture 6">
            <a:extLst>
              <a:ext uri="{FF2B5EF4-FFF2-40B4-BE49-F238E27FC236}">
                <a16:creationId xmlns:a16="http://schemas.microsoft.com/office/drawing/2014/main" id="{89D65ADD-923B-FEA0-E442-C52DE30B579A}"/>
              </a:ext>
            </a:extLst>
          </p:cNvPr>
          <p:cNvPicPr>
            <a:picLocks noChangeAspect="1"/>
          </p:cNvPicPr>
          <p:nvPr/>
        </p:nvPicPr>
        <p:blipFill>
          <a:blip r:embed="rId3"/>
          <a:stretch>
            <a:fillRect/>
          </a:stretch>
        </p:blipFill>
        <p:spPr>
          <a:xfrm>
            <a:off x="5195849" y="2057400"/>
            <a:ext cx="6773126" cy="2478675"/>
          </a:xfrm>
          <a:prstGeom prst="rect">
            <a:avLst/>
          </a:prstGeom>
        </p:spPr>
      </p:pic>
      <p:pic>
        <p:nvPicPr>
          <p:cNvPr id="9" name="Picture 8">
            <a:extLst>
              <a:ext uri="{FF2B5EF4-FFF2-40B4-BE49-F238E27FC236}">
                <a16:creationId xmlns:a16="http://schemas.microsoft.com/office/drawing/2014/main" id="{58562F8E-19AE-1F46-5769-6E4D0383C02E}"/>
              </a:ext>
            </a:extLst>
          </p:cNvPr>
          <p:cNvPicPr>
            <a:picLocks noChangeAspect="1"/>
          </p:cNvPicPr>
          <p:nvPr/>
        </p:nvPicPr>
        <p:blipFill>
          <a:blip r:embed="rId4"/>
          <a:stretch>
            <a:fillRect/>
          </a:stretch>
        </p:blipFill>
        <p:spPr>
          <a:xfrm>
            <a:off x="6113004" y="4814421"/>
            <a:ext cx="1598190" cy="788850"/>
          </a:xfrm>
          <a:prstGeom prst="rect">
            <a:avLst/>
          </a:prstGeom>
        </p:spPr>
      </p:pic>
      <p:pic>
        <p:nvPicPr>
          <p:cNvPr id="11" name="Picture 10">
            <a:extLst>
              <a:ext uri="{FF2B5EF4-FFF2-40B4-BE49-F238E27FC236}">
                <a16:creationId xmlns:a16="http://schemas.microsoft.com/office/drawing/2014/main" id="{19D91777-6B3C-4E10-7A0C-372FCFEC477C}"/>
              </a:ext>
            </a:extLst>
          </p:cNvPr>
          <p:cNvPicPr>
            <a:picLocks noChangeAspect="1"/>
          </p:cNvPicPr>
          <p:nvPr/>
        </p:nvPicPr>
        <p:blipFill>
          <a:blip r:embed="rId5"/>
          <a:stretch>
            <a:fillRect/>
          </a:stretch>
        </p:blipFill>
        <p:spPr>
          <a:xfrm>
            <a:off x="8714076" y="4815871"/>
            <a:ext cx="2171700" cy="787400"/>
          </a:xfrm>
          <a:prstGeom prst="rect">
            <a:avLst/>
          </a:prstGeom>
        </p:spPr>
      </p:pic>
      <p:sp>
        <p:nvSpPr>
          <p:cNvPr id="12" name="Right Arrow 11">
            <a:extLst>
              <a:ext uri="{FF2B5EF4-FFF2-40B4-BE49-F238E27FC236}">
                <a16:creationId xmlns:a16="http://schemas.microsoft.com/office/drawing/2014/main" id="{B0E40CAA-77CC-5199-4F4C-8BFA20FAE423}"/>
              </a:ext>
            </a:extLst>
          </p:cNvPr>
          <p:cNvSpPr/>
          <p:nvPr/>
        </p:nvSpPr>
        <p:spPr>
          <a:xfrm>
            <a:off x="8017727" y="5140712"/>
            <a:ext cx="401443" cy="1784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0" name="Straight Arrow Connector 9">
            <a:extLst>
              <a:ext uri="{FF2B5EF4-FFF2-40B4-BE49-F238E27FC236}">
                <a16:creationId xmlns:a16="http://schemas.microsoft.com/office/drawing/2014/main" id="{91816757-2EAB-816F-5D56-67F41A94DBA6}"/>
              </a:ext>
            </a:extLst>
          </p:cNvPr>
          <p:cNvCxnSpPr>
            <a:cxnSpLocks/>
          </p:cNvCxnSpPr>
          <p:nvPr/>
        </p:nvCxnSpPr>
        <p:spPr>
          <a:xfrm flipV="1">
            <a:off x="1196158" y="4250267"/>
            <a:ext cx="175442" cy="369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721D3D6-E917-A1CA-6E65-02A08A468787}"/>
              </a:ext>
            </a:extLst>
          </p:cNvPr>
          <p:cNvCxnSpPr>
            <a:cxnSpLocks/>
          </p:cNvCxnSpPr>
          <p:nvPr/>
        </p:nvCxnSpPr>
        <p:spPr>
          <a:xfrm flipH="1" flipV="1">
            <a:off x="3793067" y="4250267"/>
            <a:ext cx="287867" cy="184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64852C6-8B51-5898-123E-CE45F5AA77B1}"/>
              </a:ext>
            </a:extLst>
          </p:cNvPr>
          <p:cNvSpPr/>
          <p:nvPr/>
        </p:nvSpPr>
        <p:spPr>
          <a:xfrm>
            <a:off x="5293478" y="5742402"/>
            <a:ext cx="6577867" cy="3627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latin typeface="Arial" panose="020B0604020202020204" pitchFamily="34" charset="0"/>
                <a:cs typeface="Arial" panose="020B0604020202020204" pitchFamily="34" charset="0"/>
              </a:rPr>
              <a:t>Kiểm tra lại điểm thoát có thuộc quỹ tích nghiệm hay không?</a:t>
            </a:r>
          </a:p>
        </p:txBody>
      </p:sp>
    </p:spTree>
    <p:extLst>
      <p:ext uri="{BB962C8B-B14F-4D97-AF65-F5344CB8AC3E}">
        <p14:creationId xmlns:p14="http://schemas.microsoft.com/office/powerpoint/2010/main" val="260920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A3B3D-D895-9274-6564-261E8B56B520}"/>
              </a:ext>
            </a:extLst>
          </p:cNvPr>
          <p:cNvSpPr>
            <a:spLocks noGrp="1"/>
          </p:cNvSpPr>
          <p:nvPr>
            <p:ph type="title"/>
          </p:nvPr>
        </p:nvSpPr>
        <p:spPr/>
        <p:txBody>
          <a:bodyPr/>
          <a:lstStyle/>
          <a:p>
            <a:r>
              <a:rPr lang="en-VN" dirty="0"/>
              <a:t>QUỸ TÍCH NGHIỆM</a:t>
            </a:r>
          </a:p>
        </p:txBody>
      </p:sp>
      <p:sp>
        <p:nvSpPr>
          <p:cNvPr id="3" name="Content Placeholder 2">
            <a:extLst>
              <a:ext uri="{FF2B5EF4-FFF2-40B4-BE49-F238E27FC236}">
                <a16:creationId xmlns:a16="http://schemas.microsoft.com/office/drawing/2014/main" id="{DEBBB168-B3B3-2D46-714B-C9E6E2F7A313}"/>
              </a:ext>
            </a:extLst>
          </p:cNvPr>
          <p:cNvSpPr>
            <a:spLocks noGrp="1"/>
          </p:cNvSpPr>
          <p:nvPr>
            <p:ph idx="1"/>
          </p:nvPr>
        </p:nvSpPr>
        <p:spPr/>
        <p:txBody>
          <a:bodyPr/>
          <a:lstStyle/>
          <a:p>
            <a:r>
              <a:rPr lang="en-VN" dirty="0"/>
              <a:t>Ví dụ: Tìm điểm thoát và điểm nhập của quỹ tích nghiệm trong hình trên.</a:t>
            </a:r>
          </a:p>
        </p:txBody>
      </p:sp>
      <p:pic>
        <p:nvPicPr>
          <p:cNvPr id="4" name="Picture 3">
            <a:extLst>
              <a:ext uri="{FF2B5EF4-FFF2-40B4-BE49-F238E27FC236}">
                <a16:creationId xmlns:a16="http://schemas.microsoft.com/office/drawing/2014/main" id="{3DE6D5D7-CC40-0E44-9B0D-C35F35BB8825}"/>
              </a:ext>
            </a:extLst>
          </p:cNvPr>
          <p:cNvPicPr>
            <a:picLocks noChangeAspect="1"/>
          </p:cNvPicPr>
          <p:nvPr/>
        </p:nvPicPr>
        <p:blipFill rotWithShape="1">
          <a:blip r:embed="rId2"/>
          <a:srcRect l="2881" t="3923"/>
          <a:stretch/>
        </p:blipFill>
        <p:spPr>
          <a:xfrm>
            <a:off x="512957" y="1923585"/>
            <a:ext cx="4887098" cy="4002746"/>
          </a:xfrm>
          <a:prstGeom prst="rect">
            <a:avLst/>
          </a:prstGeom>
        </p:spPr>
      </p:pic>
      <p:pic>
        <p:nvPicPr>
          <p:cNvPr id="6" name="Picture 5">
            <a:extLst>
              <a:ext uri="{FF2B5EF4-FFF2-40B4-BE49-F238E27FC236}">
                <a16:creationId xmlns:a16="http://schemas.microsoft.com/office/drawing/2014/main" id="{3025039F-2F35-D712-5B7A-DA78BCA5114F}"/>
              </a:ext>
            </a:extLst>
          </p:cNvPr>
          <p:cNvPicPr>
            <a:picLocks noChangeAspect="1"/>
          </p:cNvPicPr>
          <p:nvPr/>
        </p:nvPicPr>
        <p:blipFill>
          <a:blip r:embed="rId3"/>
          <a:stretch>
            <a:fillRect/>
          </a:stretch>
        </p:blipFill>
        <p:spPr>
          <a:xfrm>
            <a:off x="5988949" y="2331267"/>
            <a:ext cx="5065905" cy="3187383"/>
          </a:xfrm>
          <a:prstGeom prst="rect">
            <a:avLst/>
          </a:prstGeom>
        </p:spPr>
      </p:pic>
    </p:spTree>
    <p:extLst>
      <p:ext uri="{BB962C8B-B14F-4D97-AF65-F5344CB8AC3E}">
        <p14:creationId xmlns:p14="http://schemas.microsoft.com/office/powerpoint/2010/main" val="242367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E6D23-6CCE-1180-8739-00B8A11D55A5}"/>
              </a:ext>
            </a:extLst>
          </p:cNvPr>
          <p:cNvSpPr>
            <a:spLocks noGrp="1"/>
          </p:cNvSpPr>
          <p:nvPr>
            <p:ph type="title"/>
          </p:nvPr>
        </p:nvSpPr>
        <p:spPr/>
        <p:txBody>
          <a:bodyPr/>
          <a:lstStyle/>
          <a:p>
            <a:r>
              <a:rPr lang="en-VN" dirty="0"/>
              <a:t>QUỸ TÍCH NGHIỆM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9B69C8-2988-A794-2E65-457F840D0298}"/>
                  </a:ext>
                </a:extLst>
              </p:cNvPr>
              <p:cNvSpPr>
                <a:spLocks noGrp="1"/>
              </p:cNvSpPr>
              <p:nvPr>
                <p:ph idx="1"/>
              </p:nvPr>
            </p:nvSpPr>
            <p:spPr/>
            <p:txBody>
              <a:bodyPr/>
              <a:lstStyle/>
              <a:p>
                <a:r>
                  <a:rPr lang="en-VN" dirty="0"/>
                  <a:t>Xác định giao điểm của quỹ tích nghiệm với trục ảo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j</m:t>
                    </m:r>
                    <m:r>
                      <a:rPr lang="en-US" i="1" smtClean="0">
                        <a:latin typeface="Cambria Math" panose="02040503050406030204" pitchFamily="18" charset="0"/>
                        <a:ea typeface="Cambria Math" panose="02040503050406030204" pitchFamily="18" charset="0"/>
                      </a:rPr>
                      <m:t>𝜔</m:t>
                    </m:r>
                  </m:oMath>
                </a14:m>
                <a:r>
                  <a:rPr lang="en-US" dirty="0"/>
                  <a:t>-Axis Crossings): </a:t>
                </a:r>
                <a:r>
                  <a:rPr lang="en-US" dirty="0" err="1"/>
                  <a:t>Sử</a:t>
                </a:r>
                <a:r>
                  <a:rPr lang="en-US" dirty="0"/>
                  <a:t> dung </a:t>
                </a:r>
                <a:r>
                  <a:rPr lang="en-US" dirty="0" err="1"/>
                  <a:t>tiêu</a:t>
                </a:r>
                <a:r>
                  <a:rPr lang="en-US" dirty="0"/>
                  <a:t> </a:t>
                </a:r>
                <a:r>
                  <a:rPr lang="en-US" dirty="0" err="1"/>
                  <a:t>chuẩn</a:t>
                </a:r>
                <a:r>
                  <a:rPr lang="en-US" dirty="0"/>
                  <a:t> Routh-Hurwitz (</a:t>
                </a:r>
                <a:r>
                  <a:rPr lang="en-US" dirty="0" err="1"/>
                  <a:t>Hoặc</a:t>
                </a:r>
                <a:r>
                  <a:rPr lang="en-US" dirty="0"/>
                  <a:t> </a:t>
                </a:r>
                <a:r>
                  <a:rPr lang="en-US" dirty="0" err="1"/>
                  <a:t>thay</a:t>
                </a:r>
                <a:r>
                  <a:rPr lang="en-US" dirty="0"/>
                  <a:t> s=</a:t>
                </a:r>
                <a:r>
                  <a:rPr lang="en-US" dirty="0" err="1"/>
                  <a:t>jw</a:t>
                </a:r>
                <a:r>
                  <a:rPr lang="en-US" dirty="0"/>
                  <a:t> </a:t>
                </a:r>
                <a:r>
                  <a:rPr lang="en-US" dirty="0" err="1"/>
                  <a:t>vào</a:t>
                </a:r>
                <a:r>
                  <a:rPr lang="en-US" dirty="0"/>
                  <a:t> </a:t>
                </a:r>
                <a:r>
                  <a:rPr lang="en-US" dirty="0" err="1"/>
                  <a:t>ptđt</a:t>
                </a:r>
                <a:r>
                  <a:rPr lang="en-US" dirty="0"/>
                  <a:t>).</a:t>
                </a:r>
              </a:p>
              <a:p>
                <a:r>
                  <a:rPr lang="en-US" u="sng" dirty="0" err="1"/>
                  <a:t>Ví</a:t>
                </a:r>
                <a:r>
                  <a:rPr lang="en-US" u="sng" dirty="0"/>
                  <a:t> </a:t>
                </a:r>
                <a:r>
                  <a:rPr lang="en-US" u="sng" dirty="0" err="1"/>
                  <a:t>dụ</a:t>
                </a:r>
                <a:r>
                  <a:rPr lang="en-US" u="sng" dirty="0"/>
                  <a:t>:</a:t>
                </a:r>
                <a:br>
                  <a:rPr lang="en-US" dirty="0"/>
                </a:br>
                <a:endParaRPr lang="en-US" dirty="0"/>
              </a:p>
              <a:p>
                <a:endParaRPr lang="en-VN" dirty="0"/>
              </a:p>
            </p:txBody>
          </p:sp>
        </mc:Choice>
        <mc:Fallback xmlns="">
          <p:sp>
            <p:nvSpPr>
              <p:cNvPr id="3" name="Content Placeholder 2">
                <a:extLst>
                  <a:ext uri="{FF2B5EF4-FFF2-40B4-BE49-F238E27FC236}">
                    <a16:creationId xmlns:a16="http://schemas.microsoft.com/office/drawing/2014/main" id="{F49B69C8-2988-A794-2E65-457F840D0298}"/>
                  </a:ext>
                </a:extLst>
              </p:cNvPr>
              <p:cNvSpPr>
                <a:spLocks noGrp="1" noRot="1" noChangeAspect="1" noMove="1" noResize="1" noEditPoints="1" noAdjustHandles="1" noChangeArrowheads="1" noChangeShapeType="1" noTextEdit="1"/>
              </p:cNvSpPr>
              <p:nvPr>
                <p:ph idx="1"/>
              </p:nvPr>
            </p:nvSpPr>
            <p:spPr>
              <a:blipFill>
                <a:blip r:embed="rId2"/>
                <a:stretch>
                  <a:fillRect l="-528" r="-793"/>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5328F1F6-2565-5D0D-E656-2FBFAB85B435}"/>
              </a:ext>
            </a:extLst>
          </p:cNvPr>
          <p:cNvPicPr>
            <a:picLocks noChangeAspect="1"/>
          </p:cNvPicPr>
          <p:nvPr/>
        </p:nvPicPr>
        <p:blipFill>
          <a:blip r:embed="rId3"/>
          <a:stretch>
            <a:fillRect/>
          </a:stretch>
        </p:blipFill>
        <p:spPr>
          <a:xfrm>
            <a:off x="7819406" y="2491916"/>
            <a:ext cx="3734574" cy="682775"/>
          </a:xfrm>
          <a:prstGeom prst="rect">
            <a:avLst/>
          </a:prstGeom>
        </p:spPr>
      </p:pic>
      <p:pic>
        <p:nvPicPr>
          <p:cNvPr id="6" name="Content Placeholder 4">
            <a:extLst>
              <a:ext uri="{FF2B5EF4-FFF2-40B4-BE49-F238E27FC236}">
                <a16:creationId xmlns:a16="http://schemas.microsoft.com/office/drawing/2014/main" id="{CD3A8AAF-1B70-6FA8-8C93-1818D130E575}"/>
              </a:ext>
            </a:extLst>
          </p:cNvPr>
          <p:cNvPicPr>
            <a:picLocks noChangeAspect="1"/>
          </p:cNvPicPr>
          <p:nvPr/>
        </p:nvPicPr>
        <p:blipFill>
          <a:blip r:embed="rId4"/>
          <a:stretch>
            <a:fillRect/>
          </a:stretch>
        </p:blipFill>
        <p:spPr>
          <a:xfrm>
            <a:off x="2945118" y="2237608"/>
            <a:ext cx="4584476" cy="1191392"/>
          </a:xfrm>
          <a:prstGeom prst="rect">
            <a:avLst/>
          </a:prstGeom>
        </p:spPr>
      </p:pic>
      <p:pic>
        <p:nvPicPr>
          <p:cNvPr id="8" name="Picture 7">
            <a:extLst>
              <a:ext uri="{FF2B5EF4-FFF2-40B4-BE49-F238E27FC236}">
                <a16:creationId xmlns:a16="http://schemas.microsoft.com/office/drawing/2014/main" id="{CF81AE27-A526-92B5-5860-FD841A3B5475}"/>
              </a:ext>
            </a:extLst>
          </p:cNvPr>
          <p:cNvPicPr>
            <a:picLocks noChangeAspect="1"/>
          </p:cNvPicPr>
          <p:nvPr/>
        </p:nvPicPr>
        <p:blipFill>
          <a:blip r:embed="rId5"/>
          <a:stretch>
            <a:fillRect/>
          </a:stretch>
        </p:blipFill>
        <p:spPr>
          <a:xfrm>
            <a:off x="3074562" y="3806805"/>
            <a:ext cx="4245718" cy="2173956"/>
          </a:xfrm>
          <a:prstGeom prst="rect">
            <a:avLst/>
          </a:prstGeom>
        </p:spPr>
      </p:pic>
      <p:pic>
        <p:nvPicPr>
          <p:cNvPr id="10" name="Picture 9">
            <a:extLst>
              <a:ext uri="{FF2B5EF4-FFF2-40B4-BE49-F238E27FC236}">
                <a16:creationId xmlns:a16="http://schemas.microsoft.com/office/drawing/2014/main" id="{452FAD49-B898-120A-B186-14F3342FB0DA}"/>
              </a:ext>
            </a:extLst>
          </p:cNvPr>
          <p:cNvPicPr>
            <a:picLocks noChangeAspect="1"/>
          </p:cNvPicPr>
          <p:nvPr/>
        </p:nvPicPr>
        <p:blipFill>
          <a:blip r:embed="rId6"/>
          <a:stretch>
            <a:fillRect/>
          </a:stretch>
        </p:blipFill>
        <p:spPr>
          <a:xfrm>
            <a:off x="7950820" y="4329402"/>
            <a:ext cx="3603160" cy="464924"/>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7FBFCBB-C004-9476-8B49-1B85F2E8F85D}"/>
                  </a:ext>
                </a:extLst>
              </p:cNvPr>
              <p:cNvSpPr txBox="1"/>
              <p:nvPr/>
            </p:nvSpPr>
            <p:spPr>
              <a:xfrm>
                <a:off x="7819406" y="4967655"/>
                <a:ext cx="4372594" cy="646331"/>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Điểm cắt trục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j</m:t>
                    </m:r>
                    <m:r>
                      <a:rPr lang="en-US" i="1" smtClean="0">
                        <a:latin typeface="Cambria Math" panose="02040503050406030204" pitchFamily="18" charset="0"/>
                        <a:ea typeface="Cambria Math" panose="02040503050406030204" pitchFamily="18" charset="0"/>
                      </a:rPr>
                      <m:t>𝜔</m:t>
                    </m:r>
                  </m:oMath>
                </a14:m>
                <a:r>
                  <a:rPr lang="en-VN" dirty="0">
                    <a:latin typeface="Arial" panose="020B0604020202020204" pitchFamily="34" charset="0"/>
                    <a:cs typeface="Arial" panose="020B0604020202020204" pitchFamily="34" charset="0"/>
                  </a:rPr>
                  <a:t>: </a:t>
                </a:r>
                <a14:m>
                  <m:oMath xmlns:m="http://schemas.openxmlformats.org/officeDocument/2006/math">
                    <m:r>
                      <a:rPr lang="en-V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1.59</m:t>
                    </m:r>
                  </m:oMath>
                </a14:m>
                <a:r>
                  <a:rPr lang="en-VN" dirty="0">
                    <a:latin typeface="Arial" panose="020B0604020202020204" pitchFamily="34" charset="0"/>
                    <a:cs typeface="Arial" panose="020B0604020202020204" pitchFamily="34" charset="0"/>
                  </a:rPr>
                  <a:t> khi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=9.65</m:t>
                    </m:r>
                  </m:oMath>
                </a14:m>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Hệ thống ổn định khi </a:t>
                </a:r>
                <a14:m>
                  <m:oMath xmlns:m="http://schemas.openxmlformats.org/officeDocument/2006/math">
                    <m:r>
                      <a:rPr lang="en-US" b="0" i="1" smtClean="0">
                        <a:latin typeface="Cambria Math" panose="02040503050406030204" pitchFamily="18" charset="0"/>
                      </a:rPr>
                      <m:t>0&lt;</m:t>
                    </m:r>
                    <m:r>
                      <a:rPr lang="en-US" b="0" i="1" smtClean="0">
                        <a:latin typeface="Cambria Math" panose="02040503050406030204" pitchFamily="18" charset="0"/>
                      </a:rPr>
                      <m:t>𝐾</m:t>
                    </m:r>
                    <m:r>
                      <a:rPr lang="en-US" b="0" i="1" smtClean="0">
                        <a:latin typeface="Cambria Math" panose="02040503050406030204" pitchFamily="18" charset="0"/>
                      </a:rPr>
                      <m:t>&lt;9.65</m:t>
                    </m:r>
                  </m:oMath>
                </a14:m>
                <a:r>
                  <a:rPr lang="en-VN" dirty="0">
                    <a:latin typeface="Arial" panose="020B0604020202020204" pitchFamily="34" charset="0"/>
                    <a:cs typeface="Arial" panose="020B0604020202020204" pitchFamily="34" charset="0"/>
                  </a:rPr>
                  <a:t> </a:t>
                </a:r>
              </a:p>
            </p:txBody>
          </p:sp>
        </mc:Choice>
        <mc:Fallback xmlns="">
          <p:sp>
            <p:nvSpPr>
              <p:cNvPr id="11" name="TextBox 10">
                <a:extLst>
                  <a:ext uri="{FF2B5EF4-FFF2-40B4-BE49-F238E27FC236}">
                    <a16:creationId xmlns:a16="http://schemas.microsoft.com/office/drawing/2014/main" id="{87FBFCBB-C004-9476-8B49-1B85F2E8F85D}"/>
                  </a:ext>
                </a:extLst>
              </p:cNvPr>
              <p:cNvSpPr txBox="1">
                <a:spLocks noRot="1" noChangeAspect="1" noMove="1" noResize="1" noEditPoints="1" noAdjustHandles="1" noChangeArrowheads="1" noChangeShapeType="1" noTextEdit="1"/>
              </p:cNvSpPr>
              <p:nvPr/>
            </p:nvSpPr>
            <p:spPr>
              <a:xfrm>
                <a:off x="7819406" y="4967655"/>
                <a:ext cx="4372594" cy="646331"/>
              </a:xfrm>
              <a:prstGeom prst="rect">
                <a:avLst/>
              </a:prstGeom>
              <a:blipFill>
                <a:blip r:embed="rId7"/>
                <a:stretch>
                  <a:fillRect l="-1156" t="-5769" b="-11538"/>
                </a:stretch>
              </a:blipFill>
            </p:spPr>
            <p:txBody>
              <a:bodyPr/>
              <a:lstStyle/>
              <a:p>
                <a:r>
                  <a:rPr lang="en-VN">
                    <a:noFill/>
                  </a:rPr>
                  <a:t> </a:t>
                </a:r>
              </a:p>
            </p:txBody>
          </p:sp>
        </mc:Fallback>
      </mc:AlternateContent>
    </p:spTree>
    <p:extLst>
      <p:ext uri="{BB962C8B-B14F-4D97-AF65-F5344CB8AC3E}">
        <p14:creationId xmlns:p14="http://schemas.microsoft.com/office/powerpoint/2010/main" val="138337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par>
                                <p:cTn id="11" presetID="3" presetClass="entr" presetSubtype="1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F7785-BE62-9A05-C269-83AFAE56B31D}"/>
              </a:ext>
            </a:extLst>
          </p:cNvPr>
          <p:cNvSpPr>
            <a:spLocks noGrp="1"/>
          </p:cNvSpPr>
          <p:nvPr>
            <p:ph type="title"/>
          </p:nvPr>
        </p:nvSpPr>
        <p:spPr/>
        <p:txBody>
          <a:bodyPr/>
          <a:lstStyle/>
          <a:p>
            <a:r>
              <a:rPr lang="en-VN" dirty="0"/>
              <a:t>QUỸ TÍCH NGHIỆM</a:t>
            </a:r>
          </a:p>
        </p:txBody>
      </p:sp>
      <p:sp>
        <p:nvSpPr>
          <p:cNvPr id="3" name="Content Placeholder 2">
            <a:extLst>
              <a:ext uri="{FF2B5EF4-FFF2-40B4-BE49-F238E27FC236}">
                <a16:creationId xmlns:a16="http://schemas.microsoft.com/office/drawing/2014/main" id="{120A1A23-365B-B8E5-29A1-DA96A88F098B}"/>
              </a:ext>
            </a:extLst>
          </p:cNvPr>
          <p:cNvSpPr>
            <a:spLocks noGrp="1"/>
          </p:cNvSpPr>
          <p:nvPr>
            <p:ph idx="1"/>
          </p:nvPr>
        </p:nvSpPr>
        <p:spPr>
          <a:xfrm>
            <a:off x="1451579" y="1244014"/>
            <a:ext cx="9603275" cy="674213"/>
          </a:xfrm>
        </p:spPr>
        <p:txBody>
          <a:bodyPr>
            <a:normAutofit fontScale="92500" lnSpcReduction="20000"/>
          </a:bodyPr>
          <a:lstStyle/>
          <a:p>
            <a:r>
              <a:rPr lang="en-VN" dirty="0"/>
              <a:t>Xác định góc của quỹ tích nghiệm tại điểm bắt đầu và điểm kết thúc: Áp dụng tiêu chuẩn về góc tại các điểm này.</a:t>
            </a:r>
          </a:p>
          <a:p>
            <a:pPr marL="0" indent="0">
              <a:buNone/>
            </a:pPr>
            <a:endParaRPr lang="en-VN" dirty="0"/>
          </a:p>
        </p:txBody>
      </p:sp>
      <p:pic>
        <p:nvPicPr>
          <p:cNvPr id="5" name="Picture 4">
            <a:extLst>
              <a:ext uri="{FF2B5EF4-FFF2-40B4-BE49-F238E27FC236}">
                <a16:creationId xmlns:a16="http://schemas.microsoft.com/office/drawing/2014/main" id="{6ADE7D87-030A-6D71-CC00-EDAE024C539E}"/>
              </a:ext>
            </a:extLst>
          </p:cNvPr>
          <p:cNvPicPr>
            <a:picLocks noChangeAspect="1"/>
          </p:cNvPicPr>
          <p:nvPr/>
        </p:nvPicPr>
        <p:blipFill>
          <a:blip r:embed="rId2"/>
          <a:stretch>
            <a:fillRect/>
          </a:stretch>
        </p:blipFill>
        <p:spPr>
          <a:xfrm>
            <a:off x="872348" y="2072897"/>
            <a:ext cx="5223652" cy="3987249"/>
          </a:xfrm>
          <a:prstGeom prst="rect">
            <a:avLst/>
          </a:prstGeom>
        </p:spPr>
      </p:pic>
      <p:pic>
        <p:nvPicPr>
          <p:cNvPr id="7" name="Picture 6">
            <a:extLst>
              <a:ext uri="{FF2B5EF4-FFF2-40B4-BE49-F238E27FC236}">
                <a16:creationId xmlns:a16="http://schemas.microsoft.com/office/drawing/2014/main" id="{F1E9E2F2-D64C-5B31-E97E-11D78B33135A}"/>
              </a:ext>
            </a:extLst>
          </p:cNvPr>
          <p:cNvPicPr>
            <a:picLocks noChangeAspect="1"/>
          </p:cNvPicPr>
          <p:nvPr/>
        </p:nvPicPr>
        <p:blipFill>
          <a:blip r:embed="rId3"/>
          <a:stretch>
            <a:fillRect/>
          </a:stretch>
        </p:blipFill>
        <p:spPr>
          <a:xfrm>
            <a:off x="6466677" y="2072897"/>
            <a:ext cx="4926061" cy="3987249"/>
          </a:xfrm>
          <a:prstGeom prst="rect">
            <a:avLst/>
          </a:prstGeom>
        </p:spPr>
      </p:pic>
    </p:spTree>
    <p:extLst>
      <p:ext uri="{BB962C8B-B14F-4D97-AF65-F5344CB8AC3E}">
        <p14:creationId xmlns:p14="http://schemas.microsoft.com/office/powerpoint/2010/main" val="1718849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46C80-0AFA-0840-DBEF-3D679ED3E810}"/>
              </a:ext>
            </a:extLst>
          </p:cNvPr>
          <p:cNvSpPr>
            <a:spLocks noGrp="1"/>
          </p:cNvSpPr>
          <p:nvPr>
            <p:ph type="title"/>
          </p:nvPr>
        </p:nvSpPr>
        <p:spPr/>
        <p:txBody>
          <a:bodyPr/>
          <a:lstStyle/>
          <a:p>
            <a:r>
              <a:rPr lang="en-VN" dirty="0"/>
              <a:t>QUỸ TÍCH NGHIỆM</a:t>
            </a:r>
          </a:p>
        </p:txBody>
      </p:sp>
      <p:pic>
        <p:nvPicPr>
          <p:cNvPr id="5" name="Content Placeholder 4">
            <a:extLst>
              <a:ext uri="{FF2B5EF4-FFF2-40B4-BE49-F238E27FC236}">
                <a16:creationId xmlns:a16="http://schemas.microsoft.com/office/drawing/2014/main" id="{54DFFCCF-2747-B1FF-0868-FE44E6349FC7}"/>
              </a:ext>
            </a:extLst>
          </p:cNvPr>
          <p:cNvPicPr>
            <a:picLocks noGrp="1" noChangeAspect="1"/>
          </p:cNvPicPr>
          <p:nvPr>
            <p:ph idx="1"/>
          </p:nvPr>
        </p:nvPicPr>
        <p:blipFill>
          <a:blip r:embed="rId2"/>
          <a:stretch>
            <a:fillRect/>
          </a:stretch>
        </p:blipFill>
        <p:spPr>
          <a:xfrm>
            <a:off x="3319689" y="1511000"/>
            <a:ext cx="5552621" cy="969733"/>
          </a:xfrm>
        </p:spPr>
      </p:pic>
      <p:sp>
        <p:nvSpPr>
          <p:cNvPr id="6" name="TextBox 5">
            <a:extLst>
              <a:ext uri="{FF2B5EF4-FFF2-40B4-BE49-F238E27FC236}">
                <a16:creationId xmlns:a16="http://schemas.microsoft.com/office/drawing/2014/main" id="{B7E06B93-C3A1-83EF-BAF7-21AA910C6BDB}"/>
              </a:ext>
            </a:extLst>
          </p:cNvPr>
          <p:cNvSpPr txBox="1"/>
          <p:nvPr/>
        </p:nvSpPr>
        <p:spPr>
          <a:xfrm>
            <a:off x="1814513" y="2586038"/>
            <a:ext cx="8315325" cy="369332"/>
          </a:xfrm>
          <a:prstGeom prst="rect">
            <a:avLst/>
          </a:prstGeom>
          <a:noFill/>
        </p:spPr>
        <p:txBody>
          <a:bodyPr wrap="square" rtlCol="0">
            <a:spAutoFit/>
          </a:bodyPr>
          <a:lstStyle/>
          <a:p>
            <a:pPr algn="ctr"/>
            <a:r>
              <a:rPr lang="en-VN" dirty="0">
                <a:latin typeface="Arial" panose="020B0604020202020204" pitchFamily="34" charset="0"/>
                <a:cs typeface="Arial" panose="020B0604020202020204" pitchFamily="34" charset="0"/>
              </a:rPr>
              <a:t>Ví dụ: Biểu diễn quỹ tích nghiệm của hệ thống sau.</a:t>
            </a:r>
          </a:p>
        </p:txBody>
      </p:sp>
      <p:pic>
        <p:nvPicPr>
          <p:cNvPr id="8" name="Picture 7">
            <a:extLst>
              <a:ext uri="{FF2B5EF4-FFF2-40B4-BE49-F238E27FC236}">
                <a16:creationId xmlns:a16="http://schemas.microsoft.com/office/drawing/2014/main" id="{7D69AACB-CD40-AE92-B017-0E52B88F8D15}"/>
              </a:ext>
            </a:extLst>
          </p:cNvPr>
          <p:cNvPicPr>
            <a:picLocks noChangeAspect="1"/>
          </p:cNvPicPr>
          <p:nvPr/>
        </p:nvPicPr>
        <p:blipFill>
          <a:blip r:embed="rId3"/>
          <a:stretch>
            <a:fillRect/>
          </a:stretch>
        </p:blipFill>
        <p:spPr>
          <a:xfrm>
            <a:off x="365938" y="1375311"/>
            <a:ext cx="6253441" cy="5054640"/>
          </a:xfrm>
          <a:prstGeom prst="rect">
            <a:avLst/>
          </a:prstGeom>
        </p:spPr>
      </p:pic>
      <p:pic>
        <p:nvPicPr>
          <p:cNvPr id="10" name="Picture 9">
            <a:extLst>
              <a:ext uri="{FF2B5EF4-FFF2-40B4-BE49-F238E27FC236}">
                <a16:creationId xmlns:a16="http://schemas.microsoft.com/office/drawing/2014/main" id="{FB2FAB68-4D61-2FC2-D7F5-DADC52EAC5EA}"/>
              </a:ext>
            </a:extLst>
          </p:cNvPr>
          <p:cNvPicPr>
            <a:picLocks noChangeAspect="1"/>
          </p:cNvPicPr>
          <p:nvPr/>
        </p:nvPicPr>
        <p:blipFill>
          <a:blip r:embed="rId4"/>
          <a:stretch>
            <a:fillRect/>
          </a:stretch>
        </p:blipFill>
        <p:spPr>
          <a:xfrm>
            <a:off x="6619379" y="4036821"/>
            <a:ext cx="5330825" cy="560711"/>
          </a:xfrm>
          <a:prstGeom prst="rect">
            <a:avLst/>
          </a:prstGeom>
        </p:spPr>
      </p:pic>
      <p:pic>
        <p:nvPicPr>
          <p:cNvPr id="12" name="Picture 11">
            <a:extLst>
              <a:ext uri="{FF2B5EF4-FFF2-40B4-BE49-F238E27FC236}">
                <a16:creationId xmlns:a16="http://schemas.microsoft.com/office/drawing/2014/main" id="{99B02CA0-DFEE-5D76-504B-494EDECBAF9D}"/>
              </a:ext>
            </a:extLst>
          </p:cNvPr>
          <p:cNvPicPr>
            <a:picLocks noChangeAspect="1"/>
          </p:cNvPicPr>
          <p:nvPr/>
        </p:nvPicPr>
        <p:blipFill>
          <a:blip r:embed="rId5"/>
          <a:stretch>
            <a:fillRect/>
          </a:stretch>
        </p:blipFill>
        <p:spPr>
          <a:xfrm>
            <a:off x="7558088" y="5007721"/>
            <a:ext cx="2176462" cy="367853"/>
          </a:xfrm>
          <a:prstGeom prst="rect">
            <a:avLst/>
          </a:prstGeom>
        </p:spPr>
      </p:pic>
    </p:spTree>
    <p:extLst>
      <p:ext uri="{BB962C8B-B14F-4D97-AF65-F5344CB8AC3E}">
        <p14:creationId xmlns:p14="http://schemas.microsoft.com/office/powerpoint/2010/main" val="2983531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3"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par>
                                <p:cTn id="19" presetID="3" presetClass="entr" presetSubtype="1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par>
                                <p:cTn id="22" presetID="3" presetClass="entr" presetSubtype="1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linds(horizontal)">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B5EB-BB65-A1C3-93AB-4FF1AAD65AEC}"/>
              </a:ext>
            </a:extLst>
          </p:cNvPr>
          <p:cNvSpPr>
            <a:spLocks noGrp="1"/>
          </p:cNvSpPr>
          <p:nvPr>
            <p:ph type="title"/>
          </p:nvPr>
        </p:nvSpPr>
        <p:spPr/>
        <p:txBody>
          <a:bodyPr/>
          <a:lstStyle/>
          <a:p>
            <a:r>
              <a:rPr lang="en-VN" dirty="0"/>
              <a:t>QUỸ TÍCH NGHIỆM</a:t>
            </a:r>
          </a:p>
        </p:txBody>
      </p:sp>
      <p:pic>
        <p:nvPicPr>
          <p:cNvPr id="5" name="Content Placeholder 4">
            <a:extLst>
              <a:ext uri="{FF2B5EF4-FFF2-40B4-BE49-F238E27FC236}">
                <a16:creationId xmlns:a16="http://schemas.microsoft.com/office/drawing/2014/main" id="{6B4C8BD1-6281-1758-9CC3-D8CA98F1AF1B}"/>
              </a:ext>
            </a:extLst>
          </p:cNvPr>
          <p:cNvPicPr>
            <a:picLocks noGrp="1" noChangeAspect="1"/>
          </p:cNvPicPr>
          <p:nvPr>
            <p:ph idx="1"/>
          </p:nvPr>
        </p:nvPicPr>
        <p:blipFill rotWithShape="1">
          <a:blip r:embed="rId2"/>
          <a:srcRect t="5815"/>
          <a:stretch/>
        </p:blipFill>
        <p:spPr>
          <a:xfrm>
            <a:off x="2396358" y="1558862"/>
            <a:ext cx="7236100" cy="3361896"/>
          </a:xfr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E7804B6-6B74-3C15-BA25-84C5DF738CD5}"/>
                  </a:ext>
                </a:extLst>
              </p:cNvPr>
              <p:cNvSpPr txBox="1"/>
              <p:nvPr/>
            </p:nvSpPr>
            <p:spPr>
              <a:xfrm>
                <a:off x="1715813" y="5114472"/>
                <a:ext cx="8760373" cy="36933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Tìm giao điểm của quỹ tích nghiệm với đường hệ số cản (damping ratio) </a:t>
                </a:r>
                <a14:m>
                  <m:oMath xmlns:m="http://schemas.openxmlformats.org/officeDocument/2006/math">
                    <m:r>
                      <a:rPr lang="en-VN" i="1" smtClean="0">
                        <a:latin typeface="Cambria Math" panose="02040503050406030204" pitchFamily="18" charset="0"/>
                        <a:ea typeface="Cambria Math" panose="02040503050406030204" pitchFamily="18" charset="0"/>
                      </a:rPr>
                      <m:t>𝜁</m:t>
                    </m:r>
                    <m:r>
                      <a:rPr lang="en-US" b="0" i="1" smtClean="0">
                        <a:latin typeface="Cambria Math" panose="02040503050406030204" pitchFamily="18" charset="0"/>
                        <a:ea typeface="Cambria Math" panose="02040503050406030204" pitchFamily="18" charset="0"/>
                      </a:rPr>
                      <m:t>=0.45</m:t>
                    </m:r>
                  </m:oMath>
                </a14:m>
                <a:endParaRPr lang="en-VN"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1E7804B6-6B74-3C15-BA25-84C5DF738CD5}"/>
                  </a:ext>
                </a:extLst>
              </p:cNvPr>
              <p:cNvSpPr txBox="1">
                <a:spLocks noRot="1" noChangeAspect="1" noMove="1" noResize="1" noEditPoints="1" noAdjustHandles="1" noChangeArrowheads="1" noChangeShapeType="1" noTextEdit="1"/>
              </p:cNvSpPr>
              <p:nvPr/>
            </p:nvSpPr>
            <p:spPr>
              <a:xfrm>
                <a:off x="1715813" y="5114472"/>
                <a:ext cx="8760373" cy="369332"/>
              </a:xfrm>
              <a:prstGeom prst="rect">
                <a:avLst/>
              </a:prstGeom>
              <a:blipFill>
                <a:blip r:embed="rId3"/>
                <a:stretch>
                  <a:fillRect l="-434" t="-6452" b="-22581"/>
                </a:stretch>
              </a:blipFill>
            </p:spPr>
            <p:txBody>
              <a:bodyPr/>
              <a:lstStyle/>
              <a:p>
                <a:r>
                  <a:rPr lang="en-VN">
                    <a:noFill/>
                  </a:rPr>
                  <a:t> </a:t>
                </a:r>
              </a:p>
            </p:txBody>
          </p:sp>
        </mc:Fallback>
      </mc:AlternateContent>
    </p:spTree>
    <p:extLst>
      <p:ext uri="{BB962C8B-B14F-4D97-AF65-F5344CB8AC3E}">
        <p14:creationId xmlns:p14="http://schemas.microsoft.com/office/powerpoint/2010/main" val="2813386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D8C77-F157-F4DC-FADD-FCFDB83D06EC}"/>
              </a:ext>
            </a:extLst>
          </p:cNvPr>
          <p:cNvSpPr>
            <a:spLocks noGrp="1"/>
          </p:cNvSpPr>
          <p:nvPr>
            <p:ph type="title"/>
          </p:nvPr>
        </p:nvSpPr>
        <p:spPr>
          <a:xfrm>
            <a:off x="1158241" y="198069"/>
            <a:ext cx="11033760" cy="674212"/>
          </a:xfrm>
        </p:spPr>
        <p:txBody>
          <a:bodyPr>
            <a:normAutofit fontScale="90000"/>
          </a:bodyPr>
          <a:lstStyle/>
          <a:p>
            <a:r>
              <a:rPr lang="en-VN" dirty="0"/>
              <a:t>THIẾT KẾ HỆ THỐNG VỚI ĐÁP ỨNG TỨC THỜI CHO TRƯỚC</a:t>
            </a:r>
          </a:p>
        </p:txBody>
      </p:sp>
      <p:sp>
        <p:nvSpPr>
          <p:cNvPr id="3" name="Content Placeholder 2">
            <a:extLst>
              <a:ext uri="{FF2B5EF4-FFF2-40B4-BE49-F238E27FC236}">
                <a16:creationId xmlns:a16="http://schemas.microsoft.com/office/drawing/2014/main" id="{CC27D4D2-52AB-4A48-B15F-1BFD5BA7D9F2}"/>
              </a:ext>
            </a:extLst>
          </p:cNvPr>
          <p:cNvSpPr>
            <a:spLocks noGrp="1"/>
          </p:cNvSpPr>
          <p:nvPr>
            <p:ph idx="1"/>
          </p:nvPr>
        </p:nvSpPr>
        <p:spPr>
          <a:xfrm>
            <a:off x="304277" y="1169587"/>
            <a:ext cx="11683011" cy="4444399"/>
          </a:xfrm>
        </p:spPr>
        <p:txBody>
          <a:bodyPr>
            <a:normAutofit/>
          </a:bodyPr>
          <a:lstStyle/>
          <a:p>
            <a:r>
              <a:rPr lang="en-VN" sz="1800" dirty="0"/>
              <a:t>Các công thức tính toán cho %OS, T</a:t>
            </a:r>
            <a:r>
              <a:rPr lang="en-VN" sz="1800" baseline="-25000" dirty="0"/>
              <a:t>s</a:t>
            </a:r>
            <a:r>
              <a:rPr lang="en-VN" sz="1800" dirty="0"/>
              <a:t>, T</a:t>
            </a:r>
            <a:r>
              <a:rPr lang="en-VN" sz="1800" baseline="-25000" dirty="0"/>
              <a:t>p</a:t>
            </a:r>
            <a:r>
              <a:rPr lang="en-VN" sz="1800" dirty="0"/>
              <a:t> chỉ áp dụng cho hệ thống bậc 2 (có 2 điểm cực và không có điểm không nào).</a:t>
            </a:r>
          </a:p>
          <a:p>
            <a:r>
              <a:rPr lang="en-VN" sz="1800" b="1" dirty="0">
                <a:solidFill>
                  <a:srgbClr val="C00000"/>
                </a:solidFill>
              </a:rPr>
              <a:t>Điểm cực trội (dominant poles):</a:t>
            </a:r>
          </a:p>
          <a:p>
            <a:pPr lvl="1"/>
            <a:r>
              <a:rPr lang="en-VN" sz="1600" dirty="0"/>
              <a:t>Điểm cực của hệ thống bậc cao (hơn bậc 2) càng xa điểm cực trội về phía bên trái của mặt phẳng s ➔ Xấp xỉ đáp ứng của hệ thống bậc cao với đáp ứng hệ thống bậc 2.</a:t>
            </a:r>
          </a:p>
          <a:p>
            <a:pPr lvl="1"/>
            <a:r>
              <a:rPr lang="en-VN" sz="1600" dirty="0"/>
              <a:t>Điểm không của hệ thống càng gần các điểm cực trội ➔ ảnh hưởng càng nhiều đến đáp ứng hệ thống ➔ Khi điểm không của hệ thống càng xa điểm cực trội, có thể xấp xỉ đáp ứng hệ thống có điểm không với đáp ứng hệ thống bậc 2.</a:t>
            </a:r>
          </a:p>
          <a:p>
            <a:pPr lvl="1"/>
            <a:r>
              <a:rPr lang="en-VN" sz="1600" dirty="0"/>
              <a:t>Điểm không và điểm cực của hệ thống rất gần nhau ➔ triệt tiêu, ảnh hưởng không đáng kể đến đáp ứng của hệ thống.</a:t>
            </a:r>
          </a:p>
          <a:p>
            <a:pPr lvl="1"/>
            <a:endParaRPr lang="en-VN" sz="1600" dirty="0"/>
          </a:p>
          <a:p>
            <a:pPr lvl="1"/>
            <a:endParaRPr lang="en-VN" sz="1600" dirty="0"/>
          </a:p>
        </p:txBody>
      </p:sp>
      <p:pic>
        <p:nvPicPr>
          <p:cNvPr id="4" name="Content Placeholder 4">
            <a:extLst>
              <a:ext uri="{FF2B5EF4-FFF2-40B4-BE49-F238E27FC236}">
                <a16:creationId xmlns:a16="http://schemas.microsoft.com/office/drawing/2014/main" id="{DF75FCBC-307A-3BF4-F945-DA97DAEB6A75}"/>
              </a:ext>
            </a:extLst>
          </p:cNvPr>
          <p:cNvPicPr>
            <a:picLocks noChangeAspect="1"/>
          </p:cNvPicPr>
          <p:nvPr/>
        </p:nvPicPr>
        <p:blipFill>
          <a:blip r:embed="rId2"/>
          <a:stretch>
            <a:fillRect/>
          </a:stretch>
        </p:blipFill>
        <p:spPr>
          <a:xfrm>
            <a:off x="204712" y="4055801"/>
            <a:ext cx="4241544" cy="2604129"/>
          </a:xfrm>
          <a:prstGeom prst="rect">
            <a:avLst/>
          </a:prstGeom>
        </p:spPr>
      </p:pic>
      <p:pic>
        <p:nvPicPr>
          <p:cNvPr id="5" name="Content Placeholder 4">
            <a:extLst>
              <a:ext uri="{FF2B5EF4-FFF2-40B4-BE49-F238E27FC236}">
                <a16:creationId xmlns:a16="http://schemas.microsoft.com/office/drawing/2014/main" id="{1D5CFD39-A715-F2FF-879E-ABD41239F302}"/>
              </a:ext>
            </a:extLst>
          </p:cNvPr>
          <p:cNvPicPr>
            <a:picLocks noChangeAspect="1"/>
          </p:cNvPicPr>
          <p:nvPr/>
        </p:nvPicPr>
        <p:blipFill>
          <a:blip r:embed="rId3"/>
          <a:stretch>
            <a:fillRect/>
          </a:stretch>
        </p:blipFill>
        <p:spPr>
          <a:xfrm>
            <a:off x="4687838" y="4211201"/>
            <a:ext cx="4294555" cy="2261630"/>
          </a:xfrm>
          <a:prstGeom prst="rect">
            <a:avLst/>
          </a:prstGeom>
        </p:spPr>
      </p:pic>
      <p:pic>
        <p:nvPicPr>
          <p:cNvPr id="6" name="Content Placeholder 4">
            <a:extLst>
              <a:ext uri="{FF2B5EF4-FFF2-40B4-BE49-F238E27FC236}">
                <a16:creationId xmlns:a16="http://schemas.microsoft.com/office/drawing/2014/main" id="{3A860B32-83C0-337F-D176-F6C546E29185}"/>
              </a:ext>
            </a:extLst>
          </p:cNvPr>
          <p:cNvPicPr>
            <a:picLocks noChangeAspect="1"/>
          </p:cNvPicPr>
          <p:nvPr/>
        </p:nvPicPr>
        <p:blipFill>
          <a:blip r:embed="rId4"/>
          <a:stretch>
            <a:fillRect/>
          </a:stretch>
        </p:blipFill>
        <p:spPr>
          <a:xfrm>
            <a:off x="9223976" y="4995620"/>
            <a:ext cx="2459035" cy="692793"/>
          </a:xfrm>
          <a:prstGeom prst="rect">
            <a:avLst/>
          </a:prstGeom>
        </p:spPr>
      </p:pic>
    </p:spTree>
    <p:extLst>
      <p:ext uri="{BB962C8B-B14F-4D97-AF65-F5344CB8AC3E}">
        <p14:creationId xmlns:p14="http://schemas.microsoft.com/office/powerpoint/2010/main" val="336357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A246-497B-6089-9AA6-2468E15813F9}"/>
              </a:ext>
            </a:extLst>
          </p:cNvPr>
          <p:cNvSpPr>
            <a:spLocks noGrp="1"/>
          </p:cNvSpPr>
          <p:nvPr>
            <p:ph type="title"/>
          </p:nvPr>
        </p:nvSpPr>
        <p:spPr>
          <a:xfrm>
            <a:off x="1158240" y="198069"/>
            <a:ext cx="10789919" cy="674212"/>
          </a:xfrm>
        </p:spPr>
        <p:txBody>
          <a:bodyPr>
            <a:normAutofit fontScale="90000"/>
          </a:bodyPr>
          <a:lstStyle/>
          <a:p>
            <a:r>
              <a:rPr lang="en-VN" dirty="0"/>
              <a:t>THIẾT KẾ HỆ THỐNG VỚI ĐÁP ỨNG TỨC THỜI CHO TRƯỚC</a:t>
            </a:r>
          </a:p>
        </p:txBody>
      </p:sp>
      <p:pic>
        <p:nvPicPr>
          <p:cNvPr id="5" name="Content Placeholder 4">
            <a:extLst>
              <a:ext uri="{FF2B5EF4-FFF2-40B4-BE49-F238E27FC236}">
                <a16:creationId xmlns:a16="http://schemas.microsoft.com/office/drawing/2014/main" id="{0C64D72D-B542-963D-81D4-E49D6A0147CC}"/>
              </a:ext>
            </a:extLst>
          </p:cNvPr>
          <p:cNvPicPr>
            <a:picLocks noGrp="1" noChangeAspect="1"/>
          </p:cNvPicPr>
          <p:nvPr>
            <p:ph idx="1"/>
          </p:nvPr>
        </p:nvPicPr>
        <p:blipFill>
          <a:blip r:embed="rId2"/>
          <a:stretch>
            <a:fillRect/>
          </a:stretch>
        </p:blipFill>
        <p:spPr>
          <a:xfrm>
            <a:off x="2408277" y="1244600"/>
            <a:ext cx="7689771" cy="4443413"/>
          </a:xfrm>
        </p:spPr>
      </p:pic>
    </p:spTree>
    <p:extLst>
      <p:ext uri="{BB962C8B-B14F-4D97-AF65-F5344CB8AC3E}">
        <p14:creationId xmlns:p14="http://schemas.microsoft.com/office/powerpoint/2010/main" val="3833478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29E87-4636-870A-0AEB-BBD8A3B5DE20}"/>
              </a:ext>
            </a:extLst>
          </p:cNvPr>
          <p:cNvSpPr>
            <a:spLocks noGrp="1"/>
          </p:cNvSpPr>
          <p:nvPr>
            <p:ph type="title"/>
          </p:nvPr>
        </p:nvSpPr>
        <p:spPr>
          <a:xfrm>
            <a:off x="1107440" y="198069"/>
            <a:ext cx="11084560" cy="674212"/>
          </a:xfrm>
        </p:spPr>
        <p:txBody>
          <a:bodyPr>
            <a:normAutofit fontScale="90000"/>
          </a:bodyPr>
          <a:lstStyle/>
          <a:p>
            <a:r>
              <a:rPr lang="en-VN" dirty="0"/>
              <a:t>THIẾT KẾ HỆ THỐNG VỚI ĐÁP ỨNG TỨC THỜI CHO TRƯỚC</a:t>
            </a:r>
          </a:p>
        </p:txBody>
      </p:sp>
      <p:sp>
        <p:nvSpPr>
          <p:cNvPr id="3" name="Content Placeholder 2">
            <a:extLst>
              <a:ext uri="{FF2B5EF4-FFF2-40B4-BE49-F238E27FC236}">
                <a16:creationId xmlns:a16="http://schemas.microsoft.com/office/drawing/2014/main" id="{489A8F9C-E902-562B-FEB3-15374D4CF30D}"/>
              </a:ext>
            </a:extLst>
          </p:cNvPr>
          <p:cNvSpPr>
            <a:spLocks noGrp="1"/>
          </p:cNvSpPr>
          <p:nvPr>
            <p:ph idx="1"/>
          </p:nvPr>
        </p:nvSpPr>
        <p:spPr/>
        <p:txBody>
          <a:bodyPr/>
          <a:lstStyle/>
          <a:p>
            <a:pPr marL="0" indent="0">
              <a:buNone/>
            </a:pPr>
            <a:r>
              <a:rPr lang="en-VN" dirty="0"/>
              <a:t>CÁC BƯỚC THIẾT KẾ:</a:t>
            </a:r>
          </a:p>
          <a:p>
            <a:pPr marL="457200" indent="-457200">
              <a:buFont typeface="+mj-lt"/>
              <a:buAutoNum type="arabicPeriod"/>
            </a:pPr>
            <a:r>
              <a:rPr lang="en-VN" dirty="0"/>
              <a:t>Vẽ quỹ tích nghiệm của hệ thống.</a:t>
            </a:r>
          </a:p>
          <a:p>
            <a:pPr marL="457200" indent="-457200">
              <a:buFont typeface="+mj-lt"/>
              <a:buAutoNum type="arabicPeriod"/>
            </a:pPr>
            <a:r>
              <a:rPr lang="en-VN" dirty="0"/>
              <a:t>Giả sử hệ thống là bậc 2, không có điểm không, tìm giá trị tham số thoả mãn yêu cầu về đáp ứng tức thời của hệ thống.</a:t>
            </a:r>
          </a:p>
          <a:p>
            <a:pPr marL="457200" indent="-457200">
              <a:buFont typeface="+mj-lt"/>
              <a:buAutoNum type="arabicPeriod"/>
            </a:pPr>
            <a:r>
              <a:rPr lang="en-VN" dirty="0"/>
              <a:t>Kiểm tra lại giả thiết hệ thống bậc 2 bằng cách tìm tất cả các điểm cực, điểm không của hệ thống, đánh giá tương quan với điểm cực trội của hệ thống.</a:t>
            </a:r>
          </a:p>
          <a:p>
            <a:pPr marL="457200" indent="-457200">
              <a:buFont typeface="+mj-lt"/>
              <a:buAutoNum type="arabicPeriod"/>
            </a:pPr>
            <a:r>
              <a:rPr lang="en-VN" dirty="0"/>
              <a:t>Nếu như giả thiết không đúng, cần sử dụng phương pháp khác mô phỏng đáp ứng của hệ thống khi tham số thay đổi, tìm giá trị phù hợp để thoả mãn yêu cầu đặt ra.</a:t>
            </a:r>
          </a:p>
        </p:txBody>
      </p:sp>
    </p:spTree>
    <p:extLst>
      <p:ext uri="{BB962C8B-B14F-4D97-AF65-F5344CB8AC3E}">
        <p14:creationId xmlns:p14="http://schemas.microsoft.com/office/powerpoint/2010/main" val="1337345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74B7B-1177-EF83-7F90-486237A4568D}"/>
              </a:ext>
            </a:extLst>
          </p:cNvPr>
          <p:cNvSpPr>
            <a:spLocks noGrp="1"/>
          </p:cNvSpPr>
          <p:nvPr>
            <p:ph type="title"/>
          </p:nvPr>
        </p:nvSpPr>
        <p:spPr>
          <a:xfrm>
            <a:off x="1097280" y="198069"/>
            <a:ext cx="11094719" cy="674212"/>
          </a:xfrm>
        </p:spPr>
        <p:txBody>
          <a:bodyPr>
            <a:normAutofit fontScale="90000"/>
          </a:bodyPr>
          <a:lstStyle/>
          <a:p>
            <a:r>
              <a:rPr lang="en-VN" dirty="0"/>
              <a:t>THIẾT KẾ HỆ THỐNG VỚI ĐÁP ỨNG TỨC THỜI CHO TRƯỚC</a:t>
            </a:r>
          </a:p>
        </p:txBody>
      </p:sp>
      <p:pic>
        <p:nvPicPr>
          <p:cNvPr id="5" name="Content Placeholder 4">
            <a:extLst>
              <a:ext uri="{FF2B5EF4-FFF2-40B4-BE49-F238E27FC236}">
                <a16:creationId xmlns:a16="http://schemas.microsoft.com/office/drawing/2014/main" id="{B5717C5F-A84D-0978-E190-123367F19C2E}"/>
              </a:ext>
            </a:extLst>
          </p:cNvPr>
          <p:cNvPicPr>
            <a:picLocks noGrp="1" noChangeAspect="1"/>
          </p:cNvPicPr>
          <p:nvPr>
            <p:ph idx="1"/>
          </p:nvPr>
        </p:nvPicPr>
        <p:blipFill>
          <a:blip r:embed="rId2"/>
          <a:stretch>
            <a:fillRect/>
          </a:stretch>
        </p:blipFill>
        <p:spPr>
          <a:xfrm>
            <a:off x="4114800" y="1312194"/>
            <a:ext cx="3333432" cy="1121602"/>
          </a:xfrm>
        </p:spPr>
      </p:pic>
      <p:pic>
        <p:nvPicPr>
          <p:cNvPr id="7" name="Picture 6">
            <a:extLst>
              <a:ext uri="{FF2B5EF4-FFF2-40B4-BE49-F238E27FC236}">
                <a16:creationId xmlns:a16="http://schemas.microsoft.com/office/drawing/2014/main" id="{EA8361B6-E71B-3049-1D70-B3346BD33B8F}"/>
              </a:ext>
            </a:extLst>
          </p:cNvPr>
          <p:cNvPicPr>
            <a:picLocks noChangeAspect="1"/>
          </p:cNvPicPr>
          <p:nvPr/>
        </p:nvPicPr>
        <p:blipFill>
          <a:blip r:embed="rId3"/>
          <a:stretch>
            <a:fillRect/>
          </a:stretch>
        </p:blipFill>
        <p:spPr>
          <a:xfrm>
            <a:off x="428493" y="3300047"/>
            <a:ext cx="5821993" cy="3386650"/>
          </a:xfrm>
          <a:prstGeom prst="rect">
            <a:avLst/>
          </a:prstGeom>
        </p:spPr>
      </p:pic>
      <p:sp>
        <p:nvSpPr>
          <p:cNvPr id="8" name="TextBox 7">
            <a:extLst>
              <a:ext uri="{FF2B5EF4-FFF2-40B4-BE49-F238E27FC236}">
                <a16:creationId xmlns:a16="http://schemas.microsoft.com/office/drawing/2014/main" id="{0F1BBD70-81D9-D49C-1D88-EE1E7F1E4A0E}"/>
              </a:ext>
            </a:extLst>
          </p:cNvPr>
          <p:cNvSpPr txBox="1"/>
          <p:nvPr/>
        </p:nvSpPr>
        <p:spPr>
          <a:xfrm>
            <a:off x="1427966" y="2542784"/>
            <a:ext cx="9645041" cy="646331"/>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Tìm giá trị của K để hệ thống đạt được %OS là 1.52%. Ước lượng các giá trị T</a:t>
            </a:r>
            <a:r>
              <a:rPr lang="en-VN" baseline="-25000" dirty="0">
                <a:latin typeface="Arial" panose="020B0604020202020204" pitchFamily="34" charset="0"/>
                <a:cs typeface="Arial" panose="020B0604020202020204" pitchFamily="34" charset="0"/>
              </a:rPr>
              <a:t>s</a:t>
            </a:r>
            <a:r>
              <a:rPr lang="en-VN" dirty="0">
                <a:latin typeface="Arial" panose="020B0604020202020204" pitchFamily="34" charset="0"/>
                <a:cs typeface="Arial" panose="020B0604020202020204" pitchFamily="34" charset="0"/>
              </a:rPr>
              <a:t>, T</a:t>
            </a:r>
            <a:r>
              <a:rPr lang="en-VN" baseline="-25000" dirty="0">
                <a:latin typeface="Arial" panose="020B0604020202020204" pitchFamily="34" charset="0"/>
                <a:cs typeface="Arial" panose="020B0604020202020204" pitchFamily="34" charset="0"/>
              </a:rPr>
              <a:t>p</a:t>
            </a:r>
            <a:r>
              <a:rPr lang="en-VN" dirty="0">
                <a:latin typeface="Arial" panose="020B0604020202020204" pitchFamily="34" charset="0"/>
                <a:cs typeface="Arial" panose="020B0604020202020204" pitchFamily="34" charset="0"/>
              </a:rPr>
              <a:t>, hằng số sai số ở trạng thái thường trực khi đó.</a:t>
            </a:r>
          </a:p>
        </p:txBody>
      </p:sp>
      <p:pic>
        <p:nvPicPr>
          <p:cNvPr id="10" name="Picture 9">
            <a:extLst>
              <a:ext uri="{FF2B5EF4-FFF2-40B4-BE49-F238E27FC236}">
                <a16:creationId xmlns:a16="http://schemas.microsoft.com/office/drawing/2014/main" id="{6F6CDA15-741B-D5A2-C5E8-58B8B3F310FD}"/>
              </a:ext>
            </a:extLst>
          </p:cNvPr>
          <p:cNvPicPr>
            <a:picLocks noChangeAspect="1"/>
          </p:cNvPicPr>
          <p:nvPr/>
        </p:nvPicPr>
        <p:blipFill>
          <a:blip r:embed="rId4"/>
          <a:stretch>
            <a:fillRect/>
          </a:stretch>
        </p:blipFill>
        <p:spPr>
          <a:xfrm>
            <a:off x="6604000" y="5163079"/>
            <a:ext cx="5503332" cy="1567547"/>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FA600A1-6B67-2CBC-F4CA-FBF4A2010B00}"/>
                  </a:ext>
                </a:extLst>
              </p:cNvPr>
              <p:cNvSpPr txBox="1"/>
              <p:nvPr/>
            </p:nvSpPr>
            <p:spPr>
              <a:xfrm>
                <a:off x="6604000" y="3437433"/>
                <a:ext cx="5299005" cy="1477328"/>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%OS = 1.52% ➔ </a:t>
                </a:r>
                <a14:m>
                  <m:oMath xmlns:m="http://schemas.openxmlformats.org/officeDocument/2006/math">
                    <m:r>
                      <a:rPr lang="en-VN" i="1" smtClean="0">
                        <a:latin typeface="Cambria Math" panose="02040503050406030204" pitchFamily="18" charset="0"/>
                        <a:ea typeface="Cambria Math" panose="02040503050406030204" pitchFamily="18" charset="0"/>
                      </a:rPr>
                      <m:t>𝜁</m:t>
                    </m:r>
                    <m:r>
                      <a:rPr lang="en-US" b="0" i="1" smtClean="0">
                        <a:latin typeface="Cambria Math" panose="02040503050406030204" pitchFamily="18" charset="0"/>
                        <a:ea typeface="Cambria Math" panose="02040503050406030204" pitchFamily="18" charset="0"/>
                      </a:rPr>
                      <m:t>=0.8</m:t>
                    </m:r>
                  </m:oMath>
                </a14:m>
                <a:endParaRPr lang="en-VN" dirty="0">
                  <a:latin typeface="Arial" panose="020B0604020202020204" pitchFamily="34" charset="0"/>
                  <a:cs typeface="Arial" panose="020B0604020202020204" pitchFamily="34" charset="0"/>
                </a:endParaRPr>
              </a:p>
              <a:p>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Tìm giao điểm của quỹ tích nghiệm của hệ thống với đường </a:t>
                </a:r>
                <a14:m>
                  <m:oMath xmlns:m="http://schemas.openxmlformats.org/officeDocument/2006/math">
                    <m:r>
                      <a:rPr lang="en-VN" i="1" smtClean="0">
                        <a:latin typeface="Cambria Math" panose="02040503050406030204" pitchFamily="18" charset="0"/>
                        <a:ea typeface="Cambria Math" panose="02040503050406030204" pitchFamily="18" charset="0"/>
                      </a:rPr>
                      <m:t>𝜁</m:t>
                    </m:r>
                    <m:r>
                      <a:rPr lang="en-US" b="0" i="1" smtClean="0">
                        <a:latin typeface="Cambria Math" panose="02040503050406030204" pitchFamily="18" charset="0"/>
                        <a:ea typeface="Cambria Math" panose="02040503050406030204" pitchFamily="18" charset="0"/>
                      </a:rPr>
                      <m:t>=0.8</m:t>
                    </m:r>
                  </m:oMath>
                </a14:m>
                <a:r>
                  <a:rPr lang="en-VN" dirty="0">
                    <a:latin typeface="Arial" panose="020B0604020202020204" pitchFamily="34" charset="0"/>
                    <a:cs typeface="Arial" panose="020B0604020202020204" pitchFamily="34" charset="0"/>
                  </a:rPr>
                  <a:t>, ta được 3 điểm tương ứng với 3 trường hợp giá trị của K.</a:t>
                </a:r>
              </a:p>
            </p:txBody>
          </p:sp>
        </mc:Choice>
        <mc:Fallback xmlns="">
          <p:sp>
            <p:nvSpPr>
              <p:cNvPr id="11" name="TextBox 10">
                <a:extLst>
                  <a:ext uri="{FF2B5EF4-FFF2-40B4-BE49-F238E27FC236}">
                    <a16:creationId xmlns:a16="http://schemas.microsoft.com/office/drawing/2014/main" id="{8FA600A1-6B67-2CBC-F4CA-FBF4A2010B00}"/>
                  </a:ext>
                </a:extLst>
              </p:cNvPr>
              <p:cNvSpPr txBox="1">
                <a:spLocks noRot="1" noChangeAspect="1" noMove="1" noResize="1" noEditPoints="1" noAdjustHandles="1" noChangeArrowheads="1" noChangeShapeType="1" noTextEdit="1"/>
              </p:cNvSpPr>
              <p:nvPr/>
            </p:nvSpPr>
            <p:spPr>
              <a:xfrm>
                <a:off x="6604000" y="3437433"/>
                <a:ext cx="5299005" cy="1477328"/>
              </a:xfrm>
              <a:prstGeom prst="rect">
                <a:avLst/>
              </a:prstGeom>
              <a:blipFill>
                <a:blip r:embed="rId5"/>
                <a:stretch>
                  <a:fillRect l="-716" t="-1709" r="-716" b="-5983"/>
                </a:stretch>
              </a:blipFill>
            </p:spPr>
            <p:txBody>
              <a:bodyPr/>
              <a:lstStyle/>
              <a:p>
                <a:r>
                  <a:rPr lang="en-VN">
                    <a:noFill/>
                  </a:rPr>
                  <a:t> </a:t>
                </a:r>
              </a:p>
            </p:txBody>
          </p:sp>
        </mc:Fallback>
      </mc:AlternateContent>
      <p:sp>
        <p:nvSpPr>
          <p:cNvPr id="12" name="Rectangle 11">
            <a:extLst>
              <a:ext uri="{FF2B5EF4-FFF2-40B4-BE49-F238E27FC236}">
                <a16:creationId xmlns:a16="http://schemas.microsoft.com/office/drawing/2014/main" id="{7C773D12-49AC-B366-3795-77C71F7699A4}"/>
              </a:ext>
            </a:extLst>
          </p:cNvPr>
          <p:cNvSpPr/>
          <p:nvPr/>
        </p:nvSpPr>
        <p:spPr>
          <a:xfrm>
            <a:off x="6622061" y="6355644"/>
            <a:ext cx="5462693" cy="214489"/>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372857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A1D0620-09A9-4DE5-8D90-9C35B8CDE5AB}"/>
              </a:ext>
            </a:extLst>
          </p:cNvPr>
          <p:cNvPicPr>
            <a:picLocks noGrp="1" noChangeAspect="1"/>
          </p:cNvPicPr>
          <p:nvPr>
            <p:ph idx="1"/>
          </p:nvPr>
        </p:nvPicPr>
        <p:blipFill>
          <a:blip r:embed="rId2"/>
          <a:stretch>
            <a:fillRect/>
          </a:stretch>
        </p:blipFill>
        <p:spPr>
          <a:xfrm>
            <a:off x="1450975" y="1391960"/>
            <a:ext cx="9604375" cy="4148693"/>
          </a:xfrm>
        </p:spPr>
      </p:pic>
      <p:sp>
        <p:nvSpPr>
          <p:cNvPr id="6" name="Title 1">
            <a:extLst>
              <a:ext uri="{FF2B5EF4-FFF2-40B4-BE49-F238E27FC236}">
                <a16:creationId xmlns:a16="http://schemas.microsoft.com/office/drawing/2014/main" id="{B25D7F06-19BE-98E5-24FE-79F69B193A88}"/>
              </a:ext>
            </a:extLst>
          </p:cNvPr>
          <p:cNvSpPr>
            <a:spLocks noGrp="1"/>
          </p:cNvSpPr>
          <p:nvPr>
            <p:ph type="title"/>
          </p:nvPr>
        </p:nvSpPr>
        <p:spPr>
          <a:xfrm>
            <a:off x="914402" y="198069"/>
            <a:ext cx="10987087" cy="674212"/>
          </a:xfrm>
        </p:spPr>
        <p:txBody>
          <a:bodyPr>
            <a:normAutofit fontScale="90000"/>
          </a:bodyPr>
          <a:lstStyle/>
          <a:p>
            <a:r>
              <a:rPr lang="en-VN" dirty="0"/>
              <a:t>THIẾT KẾ HỆ THỐNG VỚI ĐÁP ỨNG TỨC THỜI CHO TRƯỚC</a:t>
            </a:r>
          </a:p>
        </p:txBody>
      </p:sp>
    </p:spTree>
    <p:extLst>
      <p:ext uri="{BB962C8B-B14F-4D97-AF65-F5344CB8AC3E}">
        <p14:creationId xmlns:p14="http://schemas.microsoft.com/office/powerpoint/2010/main" val="3489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ECDD-2A2E-FA31-41D9-ED2A3A1DB6CC}"/>
              </a:ext>
            </a:extLst>
          </p:cNvPr>
          <p:cNvSpPr>
            <a:spLocks noGrp="1"/>
          </p:cNvSpPr>
          <p:nvPr>
            <p:ph type="title"/>
          </p:nvPr>
        </p:nvSpPr>
        <p:spPr/>
        <p:txBody>
          <a:bodyPr/>
          <a:lstStyle/>
          <a:p>
            <a:r>
              <a:rPr lang="en-VN" dirty="0"/>
              <a:t>Bài tập</a:t>
            </a:r>
          </a:p>
        </p:txBody>
      </p:sp>
      <p:sp>
        <p:nvSpPr>
          <p:cNvPr id="3" name="Content Placeholder 2">
            <a:extLst>
              <a:ext uri="{FF2B5EF4-FFF2-40B4-BE49-F238E27FC236}">
                <a16:creationId xmlns:a16="http://schemas.microsoft.com/office/drawing/2014/main" id="{B31DDEA9-A6D7-2CD1-E5C2-03549B82E98E}"/>
              </a:ext>
            </a:extLst>
          </p:cNvPr>
          <p:cNvSpPr>
            <a:spLocks noGrp="1"/>
          </p:cNvSpPr>
          <p:nvPr>
            <p:ph idx="1"/>
          </p:nvPr>
        </p:nvSpPr>
        <p:spPr/>
        <p:txBody>
          <a:bodyPr/>
          <a:lstStyle/>
          <a:p>
            <a:endParaRPr lang="en-VN"/>
          </a:p>
        </p:txBody>
      </p:sp>
    </p:spTree>
    <p:extLst>
      <p:ext uri="{BB962C8B-B14F-4D97-AF65-F5344CB8AC3E}">
        <p14:creationId xmlns:p14="http://schemas.microsoft.com/office/powerpoint/2010/main" val="17535717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{DA89C2F4-FBD1-684E-A465-9AFB9D00BEE5}tf10001119</Template>
  <TotalTime>2612</TotalTime>
  <Words>1523</Words>
  <Application>Microsoft Macintosh PowerPoint</Application>
  <PresentationFormat>Widescreen</PresentationFormat>
  <Paragraphs>107</Paragraphs>
  <Slides>26</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3" baseType="lpstr">
      <vt:lpstr>Arial</vt:lpstr>
      <vt:lpstr>Calibri</vt:lpstr>
      <vt:lpstr>Cambria Math</vt:lpstr>
      <vt:lpstr>Gill Sans MT</vt:lpstr>
      <vt:lpstr>Wingdings</vt:lpstr>
      <vt:lpstr>Gallery</vt:lpstr>
      <vt:lpstr>Equation</vt:lpstr>
      <vt:lpstr>CHƯƠNG 8: PHƯƠNG PHÁP QUỸ TÍCH NGHIỆM</vt:lpstr>
      <vt:lpstr>Giới thiệu</vt:lpstr>
      <vt:lpstr>Giới thiệu</vt:lpstr>
      <vt:lpstr>Giới thiệu</vt:lpstr>
      <vt:lpstr>GIỚI THIỆU</vt:lpstr>
      <vt:lpstr>QUỸ TÍCH NGHIỆM</vt:lpstr>
      <vt:lpstr>QUỸ TÍCH NGHIỆM</vt:lpstr>
      <vt:lpstr>QUỸ TÍCH NGHIỆM</vt:lpstr>
      <vt:lpstr>QUỸ TÍCH NGHIỆM</vt:lpstr>
      <vt:lpstr>QUỸ TÍCH NGHIỆM</vt:lpstr>
      <vt:lpstr>QUỸ TÍCH NGHIỆM</vt:lpstr>
      <vt:lpstr>QUỸ TÍCH NGHIỆM</vt:lpstr>
      <vt:lpstr>QUỸ TÍCH NGHIỆM</vt:lpstr>
      <vt:lpstr>QUỸ TÍCH NGHIỆM</vt:lpstr>
      <vt:lpstr>QUỸ TÍCH NGHIỆM</vt:lpstr>
      <vt:lpstr>QUỸ TÍCH NGHIỆM</vt:lpstr>
      <vt:lpstr>QUỸ TÍCH NGHIỆM</vt:lpstr>
      <vt:lpstr>QUỸ TÍCH NGHIỆM</vt:lpstr>
      <vt:lpstr>QUỸ TÍCH NGHIỆM</vt:lpstr>
      <vt:lpstr>QUỸ TÍCH NGHIỆM</vt:lpstr>
      <vt:lpstr>THIẾT KẾ HỆ THỐNG VỚI ĐÁP ỨNG TỨC THỜI CHO TRƯỚC</vt:lpstr>
      <vt:lpstr>THIẾT KẾ HỆ THỐNG VỚI ĐÁP ỨNG TỨC THỜI CHO TRƯỚC</vt:lpstr>
      <vt:lpstr>THIẾT KẾ HỆ THỐNG VỚI ĐÁP ỨNG TỨC THỜI CHO TRƯỚC</vt:lpstr>
      <vt:lpstr>THIẾT KẾ HỆ THỐNG VỚI ĐÁP ỨNG TỨC THỜI CHO TRƯỚC</vt:lpstr>
      <vt:lpstr>THIẾT KẾ HỆ THỐNG VỚI ĐÁP ỨNG TỨC THỜI CHO TRƯỚC</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MÔ HÌNH TRONG MIỀN TẦN SỐ</dc:title>
  <dc:creator>Nguyễn Thu Hằng</dc:creator>
  <cp:lastModifiedBy>Nguyễn Thu Hằng</cp:lastModifiedBy>
  <cp:revision>11</cp:revision>
  <dcterms:created xsi:type="dcterms:W3CDTF">2023-08-28T11:08:29Z</dcterms:created>
  <dcterms:modified xsi:type="dcterms:W3CDTF">2023-10-31T02:38:05Z</dcterms:modified>
</cp:coreProperties>
</file>