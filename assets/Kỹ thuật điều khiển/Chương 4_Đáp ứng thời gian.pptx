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40"/>
  </p:notesMasterIdLst>
  <p:sldIdLst>
    <p:sldId id="256" r:id="rId2"/>
    <p:sldId id="258" r:id="rId3"/>
    <p:sldId id="297" r:id="rId4"/>
    <p:sldId id="298" r:id="rId5"/>
    <p:sldId id="300" r:id="rId6"/>
    <p:sldId id="301" r:id="rId7"/>
    <p:sldId id="302" r:id="rId8"/>
    <p:sldId id="303" r:id="rId9"/>
    <p:sldId id="304" r:id="rId10"/>
    <p:sldId id="299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5" r:id="rId31"/>
    <p:sldId id="324" r:id="rId32"/>
    <p:sldId id="326" r:id="rId33"/>
    <p:sldId id="327" r:id="rId34"/>
    <p:sldId id="328" r:id="rId35"/>
    <p:sldId id="330" r:id="rId36"/>
    <p:sldId id="331" r:id="rId37"/>
    <p:sldId id="332" r:id="rId38"/>
    <p:sldId id="27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106"/>
  </p:normalViewPr>
  <p:slideViewPr>
    <p:cSldViewPr snapToGrid="0">
      <p:cViewPr>
        <p:scale>
          <a:sx n="113" d="100"/>
          <a:sy n="113" d="100"/>
        </p:scale>
        <p:origin x="52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4BD01-BE95-4C45-8041-4857213F7C89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6CAC5-3B38-CA4B-BEE2-E4804119733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291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Các công thức ở trên chỉ đúng với hệ thống bậc hai, không có điểm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6CAC5-3B38-CA4B-BEE2-E48041197338}" type="slidenum">
              <a:rPr lang="en-VN" smtClean="0"/>
              <a:t>34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5780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5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98069"/>
            <a:ext cx="9603275" cy="67421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244014"/>
            <a:ext cx="9603275" cy="4444399"/>
          </a:xfrm>
        </p:spPr>
        <p:txBody>
          <a:bodyPr anchor="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060" y="479993"/>
            <a:ext cx="811019" cy="50357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7131A4-70E5-2C47-979D-CC0A508A1115}" type="slidenum">
              <a:rPr lang="en-VN" smtClean="0"/>
              <a:pPr/>
              <a:t>‹#›</a:t>
            </a:fld>
            <a:endParaRPr lang="en-V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7332" y="983571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1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5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19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9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2877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2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92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1E88-A186-394E-83B0-C95AB89BE3CE}" type="datetimeFigureOut">
              <a:rPr lang="en-VN" smtClean="0"/>
              <a:t>02/10/2023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7131A4-70E5-2C47-979D-CC0A508A1115}" type="slidenum">
              <a:rPr lang="en-VN" smtClean="0"/>
              <a:t>‹#›</a:t>
            </a:fld>
            <a:endParaRPr lang="en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5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3693-A035-3C4E-7F71-6028A05A4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9070028" cy="2541431"/>
          </a:xfrm>
        </p:spPr>
        <p:txBody>
          <a:bodyPr>
            <a:norm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CHƯƠNG 4: ĐÁP ỨNG THỜI GIAN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E02D5-7413-F104-1030-A7A1F479E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0" lang="en-VN" altLang="en-VN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 Response</a:t>
            </a:r>
          </a:p>
        </p:txBody>
      </p:sp>
      <p:pic>
        <p:nvPicPr>
          <p:cNvPr id="1025" name="Picture 1" descr="page53image1145757968">
            <a:extLst>
              <a:ext uri="{FF2B5EF4-FFF2-40B4-BE49-F238E27FC236}">
                <a16:creationId xmlns:a16="http://schemas.microsoft.com/office/drawing/2014/main" id="{93647881-E3F9-0241-C1ED-5F534C81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98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9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F87F-9540-6807-463C-A18DC1A6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ĐIỂM CỰC, ĐIỂM KHÔNG, ĐÁP ỨNG HỆ THỐNG</a:t>
            </a:r>
            <a:endParaRPr lang="en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C4EF2-F3A8-D05F-758A-95EED8210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966" y="1304158"/>
            <a:ext cx="6540500" cy="558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F0283C-FF53-2D53-B349-C648425C67E3}"/>
              </a:ext>
            </a:extLst>
          </p:cNvPr>
          <p:cNvSpPr txBox="1"/>
          <p:nvPr/>
        </p:nvSpPr>
        <p:spPr>
          <a:xfrm>
            <a:off x="1451579" y="2028497"/>
            <a:ext cx="9603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của hệ thống là tổng cộng của đáp ứng tự nhiên và đáp ứng cưỡng bức.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tự nhiên (</a:t>
            </a:r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Natural response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): Chỉ phụ thuộc vào đặc tính của hệ thống, không phụ thuộc vào lối vào của hệ thống.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cưỡng bức (</a:t>
            </a:r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Forced response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): Phụ thuộc vào lối vào của hệ thống.</a:t>
            </a:r>
          </a:p>
        </p:txBody>
      </p:sp>
      <p:pic>
        <p:nvPicPr>
          <p:cNvPr id="1026" name="Picture 2" descr="Electrical Engineering: Ch 8: RC &amp; RL Circuits (29 of 43) Natural Response  and Forced Response - YouTube">
            <a:extLst>
              <a:ext uri="{FF2B5EF4-FFF2-40B4-BE49-F238E27FC236}">
                <a16:creationId xmlns:a16="http://schemas.microsoft.com/office/drawing/2014/main" id="{5B9DAE58-4E65-9071-D732-46640086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661" y="3523593"/>
            <a:ext cx="5258677" cy="295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17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CF72-4B6A-49F2-F7BE-8DFCC75B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ĐIỂM CỰC, ĐIỂM KHÔNG, ĐÁP ỨNG HỆ THỐNG</a:t>
            </a:r>
            <a:endParaRPr lang="en-V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7EED4A-6B32-B761-8993-47430E5A3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609" y="1053704"/>
            <a:ext cx="5895196" cy="3057833"/>
          </a:xfrm>
        </p:spPr>
      </p:pic>
      <p:pic>
        <p:nvPicPr>
          <p:cNvPr id="8" name="Picture 9" descr="j0134549[1]">
            <a:extLst>
              <a:ext uri="{FF2B5EF4-FFF2-40B4-BE49-F238E27FC236}">
                <a16:creationId xmlns:a16="http://schemas.microsoft.com/office/drawing/2014/main" id="{A8D17A93-8C91-2C28-6402-1323F1072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090" y="3590930"/>
            <a:ext cx="5778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7B371B-FC0B-28AD-F8E8-C7766222B149}"/>
              </a:ext>
            </a:extLst>
          </p:cNvPr>
          <p:cNvSpPr txBox="1"/>
          <p:nvPr/>
        </p:nvSpPr>
        <p:spPr>
          <a:xfrm>
            <a:off x="3182605" y="4227644"/>
            <a:ext cx="7872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Steady-state response vs. Forced response?</a:t>
            </a:r>
          </a:p>
          <a:p>
            <a:r>
              <a:rPr lang="en-VN" i="1" dirty="0">
                <a:latin typeface="Arial" panose="020B0604020202020204" pitchFamily="34" charset="0"/>
                <a:cs typeface="Arial" panose="020B0604020202020204" pitchFamily="34" charset="0"/>
              </a:rPr>
              <a:t>Transient response vs. Natural response?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9D268-5971-6F3B-FA5E-8B1B63D47C01}"/>
              </a:ext>
            </a:extLst>
          </p:cNvPr>
          <p:cNvSpPr txBox="1"/>
          <p:nvPr/>
        </p:nvSpPr>
        <p:spPr>
          <a:xfrm>
            <a:off x="336332" y="4873975"/>
            <a:ext cx="11318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Đáp ứng tức thời 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= Đáp ứng cưỡng bức + Đáp ứng tự nhiên (với đáp ứng tự nhiên lớn)</a:t>
            </a:r>
          </a:p>
          <a:p>
            <a:r>
              <a:rPr lang="en-VN" b="1" dirty="0">
                <a:latin typeface="Arial" panose="020B0604020202020204" pitchFamily="34" charset="0"/>
                <a:cs typeface="Arial" panose="020B0604020202020204" pitchFamily="34" charset="0"/>
              </a:rPr>
              <a:t>Đáp ứng trạng thái thường trực 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= Đáp ứng cưỡng bức + Đáp ứng tự nhiên (với đáp ứng tự nhiên nhỏ)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tức thời và trạng thái thường trực được quan sát trên đồ thị biểu diễn đáp ứng hệ thống.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tự nhiên và cưỡng bức được thể hiện thông qua biểu diễn toán học đáp ứng hệ thống.</a:t>
            </a:r>
          </a:p>
        </p:txBody>
      </p:sp>
    </p:spTree>
    <p:extLst>
      <p:ext uri="{BB962C8B-B14F-4D97-AF65-F5344CB8AC3E}">
        <p14:creationId xmlns:p14="http://schemas.microsoft.com/office/powerpoint/2010/main" val="244753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E1C2-A74A-92D1-9EBF-77890000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ĐIỂM CỰC, ĐIỂM KHÔNG, ĐÁP ỨNG HỆ THỐNG</a:t>
            </a:r>
            <a:endParaRPr lang="en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CFC02-FCBC-9338-9A3E-FE9124E39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5"/>
                <a:ext cx="9603275" cy="2354538"/>
              </a:xfrm>
            </p:spPr>
            <p:txBody>
              <a:bodyPr/>
              <a:lstStyle/>
              <a:p>
                <a:r>
                  <a:rPr lang="en-VN" dirty="0"/>
                  <a:t>Phân tích đáp ứng thời gian của hệ thống?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VN" dirty="0"/>
              </a:p>
              <a:p>
                <a:r>
                  <a:rPr lang="en-VN" b="1" dirty="0"/>
                  <a:t>Điểm cực của hệ thống (Pole):</a:t>
                </a:r>
                <a:r>
                  <a:rPr lang="en-VN" dirty="0"/>
                  <a:t> Nghiệm của </a:t>
                </a:r>
                <a:r>
                  <a:rPr lang="en-VN" dirty="0">
                    <a:solidFill>
                      <a:schemeClr val="accent1">
                        <a:lumMod val="75000"/>
                      </a:schemeClr>
                    </a:solidFill>
                  </a:rPr>
                  <a:t>phương trình đặc trưng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VN" dirty="0"/>
                  <a:t>.</a:t>
                </a:r>
              </a:p>
              <a:p>
                <a:r>
                  <a:rPr lang="en-VN" b="1" dirty="0"/>
                  <a:t>Điểm không của hệ thống (Zero): </a:t>
                </a:r>
                <a:r>
                  <a:rPr lang="en-VN" dirty="0"/>
                  <a:t>Nghiệm của phương trình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VN" dirty="0"/>
                  <a:t>. </a:t>
                </a:r>
              </a:p>
              <a:p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2CFC02-FCBC-9338-9A3E-FE9124E39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5"/>
                <a:ext cx="9603275" cy="2354538"/>
              </a:xfrm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53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6C68-9038-2A1D-A446-5E348DDD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ĐIỂM CỰC, ĐIỂM KHÔNG, ĐÁP ỨNG HỆ THỐNG</a:t>
            </a:r>
            <a:endParaRPr lang="en-V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091CBA6-4676-FA7F-0FC5-7C6F7C86D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116" b="11933"/>
          <a:stretch/>
        </p:blipFill>
        <p:spPr>
          <a:xfrm>
            <a:off x="4811659" y="1737901"/>
            <a:ext cx="1899288" cy="63945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0E573-BE3B-757D-924F-18BEF457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978" y="2523896"/>
            <a:ext cx="4666771" cy="2116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C2AF1A-EFEF-6564-092C-6E3575C50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" y="1737902"/>
            <a:ext cx="3852917" cy="639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2F8F1-E7E0-D9FD-1EFB-AF7C39FCF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426" y="1737902"/>
            <a:ext cx="4464491" cy="31945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86A170-498F-ED78-E940-96D3FF4F1C7B}"/>
                  </a:ext>
                </a:extLst>
              </p:cNvPr>
              <p:cNvSpPr txBox="1"/>
              <p:nvPr/>
            </p:nvSpPr>
            <p:spPr>
              <a:xfrm>
                <a:off x="769499" y="4932459"/>
                <a:ext cx="118828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Điểm cực của lối vào ➔ dạng của đáp ứng cưỡng bức.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Điểm cực của hệ thống ➔ dạng của đáp ứng tự nhiên.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Điểm cực nằm trên trục thực ➔ đáp ứng dạng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trong đó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là vị trí điểm cực trên trục thực.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Điểm không và điểm cực ➔ độ lớn biên độ của cả đáp ứng cưỡng bức và đáp ứng tự nhiên.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86A170-498F-ED78-E940-96D3FF4F1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99" y="4932459"/>
                <a:ext cx="11882896" cy="1200329"/>
              </a:xfrm>
              <a:prstGeom prst="rect">
                <a:avLst/>
              </a:prstGeom>
              <a:blipFill>
                <a:blip r:embed="rId6"/>
                <a:stretch>
                  <a:fillRect l="-320" t="-2105" b="-736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484802C-44B8-4637-F99E-A085FE4ADE0D}"/>
              </a:ext>
            </a:extLst>
          </p:cNvPr>
          <p:cNvSpPr txBox="1"/>
          <p:nvPr/>
        </p:nvSpPr>
        <p:spPr>
          <a:xfrm>
            <a:off x="708919" y="1079500"/>
            <a:ext cx="1091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Ví dụ về ảnh hưởng của điểm cực, điểm không đến đáp ứng thời gian của hệ thống.</a:t>
            </a:r>
          </a:p>
        </p:txBody>
      </p:sp>
    </p:spTree>
    <p:extLst>
      <p:ext uri="{BB962C8B-B14F-4D97-AF65-F5344CB8AC3E}">
        <p14:creationId xmlns:p14="http://schemas.microsoft.com/office/powerpoint/2010/main" val="180620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252A-B9D7-0E88-530D-0598F3C7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ĐIỂM CỰC, ĐIỂM KHÔNG, ĐÁP ỨNG HỆ THỐNG</a:t>
            </a:r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15735-822D-35FE-159F-730174C6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1" y="2466296"/>
            <a:ext cx="5038958" cy="2427058"/>
          </a:xfrm>
          <a:prstGeom prst="rect">
            <a:avLst/>
          </a:prstGeom>
        </p:spPr>
      </p:pic>
      <p:pic>
        <p:nvPicPr>
          <p:cNvPr id="2050" name="Picture 2" descr="Exponential Decay and Time Constants | Advanced Math for Young Students">
            <a:extLst>
              <a:ext uri="{FF2B5EF4-FFF2-40B4-BE49-F238E27FC236}">
                <a16:creationId xmlns:a16="http://schemas.microsoft.com/office/drawing/2014/main" id="{3E806D08-A838-9687-1B7F-A05A61A63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780" y="1943100"/>
            <a:ext cx="6385119" cy="347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07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CCAB-5D51-851D-4105-F73DD5D9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MỘT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303498-7A7D-DA15-A804-3837EDE9C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67" y="1398572"/>
            <a:ext cx="4660808" cy="25584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0E4C9-73EB-3D92-7E42-8A96B66F8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1313721"/>
            <a:ext cx="38354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D040C3-71C0-417C-C7B1-8471FA398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550" y="2327557"/>
            <a:ext cx="4305300" cy="7112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D0D006-5CFE-936F-2C39-54EBF44D3544}"/>
              </a:ext>
            </a:extLst>
          </p:cNvPr>
          <p:cNvCxnSpPr>
            <a:cxnSpLocks/>
          </p:cNvCxnSpPr>
          <p:nvPr/>
        </p:nvCxnSpPr>
        <p:spPr>
          <a:xfrm flipV="1">
            <a:off x="8648700" y="2870200"/>
            <a:ext cx="584200" cy="407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55548F-95A4-51DB-DEC0-5163FEF39240}"/>
              </a:ext>
            </a:extLst>
          </p:cNvPr>
          <p:cNvSpPr txBox="1"/>
          <p:nvPr/>
        </p:nvSpPr>
        <p:spPr>
          <a:xfrm>
            <a:off x="7150100" y="324433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cưỡng bức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AB0CD-95B7-003E-EC08-7B49A3707090}"/>
              </a:ext>
            </a:extLst>
          </p:cNvPr>
          <p:cNvSpPr txBox="1"/>
          <p:nvPr/>
        </p:nvSpPr>
        <p:spPr>
          <a:xfrm>
            <a:off x="9652000" y="3244334"/>
            <a:ext cx="197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Đáp ứng tự nhiên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EDA39B-A62D-09B5-9893-D99FB29D7993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9810750" y="2848233"/>
            <a:ext cx="828675" cy="39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C98DF7-18DB-2E43-9045-3950255EADC5}"/>
                  </a:ext>
                </a:extLst>
              </p:cNvPr>
              <p:cNvSpPr txBox="1"/>
              <p:nvPr/>
            </p:nvSpPr>
            <p:spPr>
              <a:xfrm>
                <a:off x="2838450" y="4300449"/>
                <a:ext cx="8788400" cy="131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Hằng số thời gian </a:t>
                </a:r>
                <a:r>
                  <a:rPr lang="en-V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(Time constant)</a:t>
                </a: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US" b="0" dirty="0">
                    <a:cs typeface="Arial" panose="020B0604020202020204" pitchFamily="34" charset="0"/>
                  </a:rPr>
                  <a:t>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ta có: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=0.37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=1−0.37=0.63</m:t>
                      </m:r>
                    </m:oMath>
                  </m:oMathPara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C98DF7-18DB-2E43-9045-3950255EA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450" y="4300449"/>
                <a:ext cx="8788400" cy="1315938"/>
              </a:xfrm>
              <a:prstGeom prst="rect">
                <a:avLst/>
              </a:prstGeom>
              <a:blipFill>
                <a:blip r:embed="rId5"/>
                <a:stretch>
                  <a:fillRect l="-577" t="-190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01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AF01-6AF5-79F8-D501-700691E9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MỘT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F43E20-158F-4D46-A7D1-227A964D3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7716" y="1207293"/>
            <a:ext cx="5131829" cy="4443413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C83278-0AC7-6C8B-3932-07F06F7CF2EF}"/>
                  </a:ext>
                </a:extLst>
              </p:cNvPr>
              <p:cNvSpPr txBox="1"/>
              <p:nvPr/>
            </p:nvSpPr>
            <p:spPr>
              <a:xfrm>
                <a:off x="517524" y="1066513"/>
                <a:ext cx="5918199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Hằng số thời gian</a:t>
                </a: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1/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Đáp ứng với lối vào nhảy bậc đạt được 63% giá trị cuối cùng.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V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frequency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Tốc độ đáp ứng của hệ thống với lối vào nhảy bậc. (Do đạo hàm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tại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bằng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Vị trí điểm cực càng xa so với trục ảo (nghịch đảo của hằng số thời gian) ➔ đáp ứng càng nhanh.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Thời gian lên (Rise time)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</m:t>
                        </m:r>
                      </m:sub>
                    </m:sSub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Thời gian đáp ứng hệ thống tăng từ 0.1 đến 0.9 giá trị cuối cùng.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Thời gian quá độ (Settling time)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𝒔</m:t>
                        </m:r>
                      </m:sub>
                    </m:sSub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Thời gian đáp ứng hệ thống đạt đến và giữ được đáp ứng thường trực của hệ thống (trong khoảng 2% giá trị cuối cùng)</a:t>
                </a: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C83278-0AC7-6C8B-3932-07F06F7C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24" y="1066513"/>
                <a:ext cx="5918199" cy="5632311"/>
              </a:xfrm>
              <a:prstGeom prst="rect">
                <a:avLst/>
              </a:prstGeom>
              <a:blipFill>
                <a:blip r:embed="rId3"/>
                <a:stretch>
                  <a:fillRect l="-642" t="-676" r="-192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78FD35F-9A6B-7D8C-7244-1DBD9E154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49" y="4065288"/>
            <a:ext cx="2317750" cy="671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0B8133-7B9C-92C2-2733-F85DB92DC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772" y="5894087"/>
            <a:ext cx="1026097" cy="77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1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350-7538-6151-EC89-E59CC9F1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MỘT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1C804-78FB-5302-1C1C-3D6F7F32E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i="1" dirty="0" err="1"/>
                  <a:t>Ví</a:t>
                </a:r>
                <a:r>
                  <a:rPr lang="en-US" b="0" i="1" dirty="0"/>
                  <a:t> </a:t>
                </a:r>
                <a:r>
                  <a:rPr lang="en-US" b="0" i="1" dirty="0" err="1"/>
                  <a:t>dụ</a:t>
                </a:r>
                <a:r>
                  <a:rPr lang="en-US" b="0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+50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VN" dirty="0"/>
                  <a:t>Tìm hằng số thời gian, thời gian lên, thời gian xác lập của hệ thống.</a:t>
                </a:r>
              </a:p>
              <a:p>
                <a:pPr marL="0" indent="0">
                  <a:buNone/>
                </a:pPr>
                <a:r>
                  <a:rPr lang="en-VN" dirty="0"/>
                  <a:t>Vẽ đáp ứng thời gian của hệ thống.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1C804-78FB-5302-1C1C-3D6F7F32E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60DCBC8-7184-7844-2AE7-8CB8C37DB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50" y="4102994"/>
            <a:ext cx="59309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6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99E8-71BE-F51A-5538-4C8B613B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4" y="198069"/>
            <a:ext cx="9603275" cy="674212"/>
          </a:xfrm>
        </p:spPr>
        <p:txBody>
          <a:bodyPr/>
          <a:lstStyle/>
          <a:p>
            <a:r>
              <a:rPr lang="en-VN" dirty="0"/>
              <a:t>HỆ THỐNG BẬC HAI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AE05-E8D8-FECF-EF79-CF67E4DB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78" y="1206800"/>
            <a:ext cx="4357450" cy="4444399"/>
          </a:xfrm>
        </p:spPr>
        <p:txBody>
          <a:bodyPr/>
          <a:lstStyle/>
          <a:p>
            <a:r>
              <a:rPr lang="en-VN" dirty="0"/>
              <a:t>Vị trí điểm cực trong hệ thống bậc một ➔ </a:t>
            </a:r>
            <a:r>
              <a:rPr lang="en-VN" b="1" dirty="0">
                <a:solidFill>
                  <a:schemeClr val="accent1">
                    <a:lumMod val="75000"/>
                  </a:schemeClr>
                </a:solidFill>
              </a:rPr>
              <a:t>tốc độ </a:t>
            </a:r>
            <a:r>
              <a:rPr lang="en-VN" dirty="0"/>
              <a:t>đáp ứng của hệ thống.</a:t>
            </a:r>
          </a:p>
          <a:p>
            <a:r>
              <a:rPr lang="en-VN" dirty="0"/>
              <a:t>Vị trí điểm cực trong hệ thống bậc hai ➔ </a:t>
            </a:r>
            <a:r>
              <a:rPr lang="en-VN" b="1" dirty="0">
                <a:solidFill>
                  <a:schemeClr val="accent1">
                    <a:lumMod val="75000"/>
                  </a:schemeClr>
                </a:solidFill>
              </a:rPr>
              <a:t>dạng</a:t>
            </a:r>
            <a:r>
              <a:rPr lang="en-VN" dirty="0"/>
              <a:t> của đáp ứng của hệ thống.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265491-993B-58A9-A3AF-91C1837F5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928" y="-1"/>
            <a:ext cx="7668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2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4F8B-68F9-BF08-9B10-EBF8729B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F0E341-B6E3-3FF2-C1A8-8B4371229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732" y="1316843"/>
            <a:ext cx="4901720" cy="661356"/>
          </a:xfrm>
        </p:spPr>
        <p:txBody>
          <a:bodyPr/>
          <a:lstStyle/>
          <a:p>
            <a:r>
              <a:rPr lang="en-VN" dirty="0"/>
              <a:t>Cản quá mức (Overdamped response)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15B77-233B-F8F9-AACD-6BA86916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46" y="1951853"/>
            <a:ext cx="4444313" cy="661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530915-E37E-703E-BCF1-D63787305A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03" r="128"/>
          <a:stretch/>
        </p:blipFill>
        <p:spPr>
          <a:xfrm>
            <a:off x="1216663" y="2821890"/>
            <a:ext cx="3943860" cy="3261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E433F3-4535-5532-5EB7-09DE3C7948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2"/>
          <a:stretch/>
        </p:blipFill>
        <p:spPr>
          <a:xfrm>
            <a:off x="602823" y="3510573"/>
            <a:ext cx="5171539" cy="2386521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8850A49A-5C27-DD42-8506-9591D5F8F88B}"/>
              </a:ext>
            </a:extLst>
          </p:cNvPr>
          <p:cNvSpPr txBox="1">
            <a:spLocks/>
          </p:cNvSpPr>
          <p:nvPr/>
        </p:nvSpPr>
        <p:spPr>
          <a:xfrm>
            <a:off x="6756542" y="1316843"/>
            <a:ext cx="4901720" cy="661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VN" dirty="0"/>
              <a:t>Cản dưới mức (Underdamped response)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AACD1A-3DCE-007C-A6C6-C4AC81FA2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844" y="1913410"/>
            <a:ext cx="2305019" cy="6613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BD0145-544C-699A-67D9-EDCABF219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402" y="3510573"/>
            <a:ext cx="5267618" cy="238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8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9750-35F0-84A2-C586-42B0ED49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6E0BA-666B-FC74-B723-2A587B9B4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633" y="1244600"/>
            <a:ext cx="5897058" cy="4443413"/>
          </a:xfrm>
        </p:spPr>
      </p:pic>
    </p:spTree>
    <p:extLst>
      <p:ext uri="{BB962C8B-B14F-4D97-AF65-F5344CB8AC3E}">
        <p14:creationId xmlns:p14="http://schemas.microsoft.com/office/powerpoint/2010/main" val="2852182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0049-0F7C-D667-C425-C1AE3299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8240-8E69-3E4C-FEA9-1B3550C10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59" y="1244014"/>
            <a:ext cx="4759216" cy="466033"/>
          </a:xfrm>
        </p:spPr>
        <p:txBody>
          <a:bodyPr/>
          <a:lstStyle/>
          <a:p>
            <a:r>
              <a:rPr lang="en-VN" dirty="0"/>
              <a:t>Không cản (Undamped response)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A33C7-CA38-3B01-D703-F5C6E9E48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12" y="1854447"/>
            <a:ext cx="2182270" cy="799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97DDA-78DB-05E6-E9BE-0D9866367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17" y="3692163"/>
            <a:ext cx="5193558" cy="272156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878D3A-7F0E-1487-070B-AFA38F6C1714}"/>
              </a:ext>
            </a:extLst>
          </p:cNvPr>
          <p:cNvSpPr txBox="1">
            <a:spLocks/>
          </p:cNvSpPr>
          <p:nvPr/>
        </p:nvSpPr>
        <p:spPr>
          <a:xfrm>
            <a:off x="6650986" y="1242039"/>
            <a:ext cx="4759216" cy="466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VN" dirty="0"/>
              <a:t>Tắt dần tới hạn (Critically damped)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1A6CDC-8377-A898-7866-155C64CF9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222" y="1774241"/>
            <a:ext cx="3900632" cy="8794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5DB366-76E5-5FAA-EF78-798EE6676C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9" r="602"/>
          <a:stretch/>
        </p:blipFill>
        <p:spPr>
          <a:xfrm>
            <a:off x="7185990" y="2824678"/>
            <a:ext cx="3868863" cy="342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F8F647-5964-A9AD-0C35-39194060A041}"/>
                  </a:ext>
                </a:extLst>
              </p:cNvPr>
              <p:cNvSpPr txBox="1"/>
              <p:nvPr/>
            </p:nvSpPr>
            <p:spPr>
              <a:xfrm>
                <a:off x="1344303" y="2895939"/>
                <a:ext cx="366170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−∅)</m:t>
                      </m:r>
                    </m:oMath>
                  </m:oMathPara>
                </a14:m>
                <a:endParaRPr lang="en-VN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F8F647-5964-A9AD-0C35-39194060A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303" y="2895939"/>
                <a:ext cx="3661707" cy="307777"/>
              </a:xfrm>
              <a:prstGeom prst="rect">
                <a:avLst/>
              </a:prstGeom>
              <a:blipFill>
                <a:blip r:embed="rId6"/>
                <a:stretch>
                  <a:fillRect t="-8000" b="-36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64283266-12EA-2FC8-9E11-F8F2F439CEC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983"/>
          <a:stretch/>
        </p:blipFill>
        <p:spPr>
          <a:xfrm>
            <a:off x="6040517" y="3690423"/>
            <a:ext cx="5894266" cy="272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24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5821-8BEA-96DA-8D0C-12482205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D4387D-1515-8514-339A-F9D5E09F6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731" y="1425302"/>
            <a:ext cx="3822700" cy="10795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6BA26E-8A43-7BB8-31F6-BE60DF7ADAC0}"/>
              </a:ext>
            </a:extLst>
          </p:cNvPr>
          <p:cNvSpPr txBox="1"/>
          <p:nvPr/>
        </p:nvSpPr>
        <p:spPr>
          <a:xfrm>
            <a:off x="1883392" y="2873157"/>
            <a:ext cx="769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Viết dạng đáp ứng nhảy bậc của hệ thống?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3EAFE-8CE1-E90A-65AC-93D44C5B6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175"/>
          <a:stretch/>
        </p:blipFill>
        <p:spPr>
          <a:xfrm>
            <a:off x="2367016" y="3832181"/>
            <a:ext cx="7772400" cy="298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6264FF-3486-44D9-29C5-FD5B036F5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545" y="4384359"/>
            <a:ext cx="3742841" cy="50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1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2564-17F2-78E8-6670-28717D7A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E1EADF7-E8DB-350D-3EC9-F212551DE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248951"/>
                  </p:ext>
                </p:extLst>
              </p:nvPr>
            </p:nvGraphicFramePr>
            <p:xfrm>
              <a:off x="174767" y="1292871"/>
              <a:ext cx="11842465" cy="4630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8493">
                      <a:extLst>
                        <a:ext uri="{9D8B030D-6E8A-4147-A177-3AD203B41FA5}">
                          <a16:colId xmlns:a16="http://schemas.microsoft.com/office/drawing/2014/main" val="2333765032"/>
                        </a:ext>
                      </a:extLst>
                    </a:gridCol>
                    <a:gridCol w="2368493">
                      <a:extLst>
                        <a:ext uri="{9D8B030D-6E8A-4147-A177-3AD203B41FA5}">
                          <a16:colId xmlns:a16="http://schemas.microsoft.com/office/drawing/2014/main" val="1144789536"/>
                        </a:ext>
                      </a:extLst>
                    </a:gridCol>
                    <a:gridCol w="2509571">
                      <a:extLst>
                        <a:ext uri="{9D8B030D-6E8A-4147-A177-3AD203B41FA5}">
                          <a16:colId xmlns:a16="http://schemas.microsoft.com/office/drawing/2014/main" val="761470329"/>
                        </a:ext>
                      </a:extLst>
                    </a:gridCol>
                    <a:gridCol w="2227415">
                      <a:extLst>
                        <a:ext uri="{9D8B030D-6E8A-4147-A177-3AD203B41FA5}">
                          <a16:colId xmlns:a16="http://schemas.microsoft.com/office/drawing/2014/main" val="1278471087"/>
                        </a:ext>
                      </a:extLst>
                    </a:gridCol>
                    <a:gridCol w="2368493">
                      <a:extLst>
                        <a:ext uri="{9D8B030D-6E8A-4147-A177-3AD203B41FA5}">
                          <a16:colId xmlns:a16="http://schemas.microsoft.com/office/drawing/2014/main" val="1241213009"/>
                        </a:ext>
                      </a:extLst>
                    </a:gridCol>
                  </a:tblGrid>
                  <a:tr h="1230762">
                    <a:tc>
                      <a:txBody>
                        <a:bodyPr/>
                        <a:lstStyle/>
                        <a:p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Cản quá mức 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(Overdamped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Cản dưới mức 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(Underdamped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Không cản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(Undamped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Tắt dần tới hạn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(Critically damped responses)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5807"/>
                      </a:ext>
                    </a:extLst>
                  </a:tr>
                  <a:tr h="866461"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Điểm cực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 điểm cực thực tại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 điểm cực phức tại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 điểm cực ảo tại </a:t>
                          </a:r>
                          <a14:m>
                            <m:oMath xmlns:m="http://schemas.openxmlformats.org/officeDocument/2006/math">
                              <m:r>
                                <a:rPr lang="en-V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Nghiệm kép thực tại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375937"/>
                      </a:ext>
                    </a:extLst>
                  </a:tr>
                  <a:tr h="1302273">
                    <a:tc rowSpan="2"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Đáp ứng tự nhiên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Tổng của hai hàm dạng e mũ với hằng số thời gian là nghịch đảo vị trí điểm cực.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Hàm dạng cos bị cản với đường bao dạng e mũ.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Hàm dạng cos không cản.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Tổng của hàm dạng e mũ và tích của e mũ với thời gian.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054211"/>
                      </a:ext>
                    </a:extLst>
                  </a:tr>
                  <a:tr h="1230762">
                    <a:tc vMerge="1">
                      <a:txBody>
                        <a:bodyPr/>
                        <a:lstStyle/>
                        <a:p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𝐴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−∅)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Acos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−∅)</m:t>
                                </m:r>
                              </m:oMath>
                            </m:oMathPara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23863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E1EADF7-E8DB-350D-3EC9-F212551DE1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9248951"/>
                  </p:ext>
                </p:extLst>
              </p:nvPr>
            </p:nvGraphicFramePr>
            <p:xfrm>
              <a:off x="174767" y="1292871"/>
              <a:ext cx="11842465" cy="4630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8493">
                      <a:extLst>
                        <a:ext uri="{9D8B030D-6E8A-4147-A177-3AD203B41FA5}">
                          <a16:colId xmlns:a16="http://schemas.microsoft.com/office/drawing/2014/main" val="2333765032"/>
                        </a:ext>
                      </a:extLst>
                    </a:gridCol>
                    <a:gridCol w="2368493">
                      <a:extLst>
                        <a:ext uri="{9D8B030D-6E8A-4147-A177-3AD203B41FA5}">
                          <a16:colId xmlns:a16="http://schemas.microsoft.com/office/drawing/2014/main" val="1144789536"/>
                        </a:ext>
                      </a:extLst>
                    </a:gridCol>
                    <a:gridCol w="2509571">
                      <a:extLst>
                        <a:ext uri="{9D8B030D-6E8A-4147-A177-3AD203B41FA5}">
                          <a16:colId xmlns:a16="http://schemas.microsoft.com/office/drawing/2014/main" val="761470329"/>
                        </a:ext>
                      </a:extLst>
                    </a:gridCol>
                    <a:gridCol w="2227415">
                      <a:extLst>
                        <a:ext uri="{9D8B030D-6E8A-4147-A177-3AD203B41FA5}">
                          <a16:colId xmlns:a16="http://schemas.microsoft.com/office/drawing/2014/main" val="1278471087"/>
                        </a:ext>
                      </a:extLst>
                    </a:gridCol>
                    <a:gridCol w="2368493">
                      <a:extLst>
                        <a:ext uri="{9D8B030D-6E8A-4147-A177-3AD203B41FA5}">
                          <a16:colId xmlns:a16="http://schemas.microsoft.com/office/drawing/2014/main" val="1241213009"/>
                        </a:ext>
                      </a:extLst>
                    </a:gridCol>
                  </a:tblGrid>
                  <a:tr h="1230762">
                    <a:tc>
                      <a:txBody>
                        <a:bodyPr/>
                        <a:lstStyle/>
                        <a:p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Cản quá mức 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(Overdamped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Cản dưới mức 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(Underdamped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Không cản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(Undamped responses)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Tắt dần tới hạn</a:t>
                          </a:r>
                        </a:p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(Critically damped responses)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5807"/>
                      </a:ext>
                    </a:extLst>
                  </a:tr>
                  <a:tr h="866461"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Điểm cực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100535" t="-143478" r="-300535" b="-29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189394" t="-143478" r="-183838" b="-29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327429" t="-143478" r="-108000" b="-29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43478" r="-1070" b="-291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375937"/>
                      </a:ext>
                    </a:extLst>
                  </a:tr>
                  <a:tr h="1302273">
                    <a:tc rowSpan="2"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Đáp ứng tự nhiên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Tổng của hai hàm dạng e mũ với hằng số thời gian là nghịch đảo vị trí điểm cực.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Hàm dạng cos bị cản với đường bao dạng e mũ.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Hàm dạng cos không cản.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Tổng của hàm dạng e mũ và tích của e mũ với thời gian.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054211"/>
                      </a:ext>
                    </a:extLst>
                  </a:tr>
                  <a:tr h="1230762">
                    <a:tc vMerge="1">
                      <a:txBody>
                        <a:bodyPr/>
                        <a:lstStyle/>
                        <a:p>
                          <a:endParaRPr lang="en-VN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100535" t="-279381" r="-300535" b="-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189394" t="-279381" r="-183838" b="-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327429" t="-279381" r="-108000" b="-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79381" r="-1070" b="-1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2386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0322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0E16-DD8F-C68D-DB70-D19755E8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9F560B-8990-6A7A-8D04-C8F5AD5B0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843" y="1244600"/>
            <a:ext cx="6768639" cy="4443413"/>
          </a:xfrm>
        </p:spPr>
      </p:pic>
    </p:spTree>
    <p:extLst>
      <p:ext uri="{BB962C8B-B14F-4D97-AF65-F5344CB8AC3E}">
        <p14:creationId xmlns:p14="http://schemas.microsoft.com/office/powerpoint/2010/main" val="378143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40BF-3A83-AC66-C000-C20C3F38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0E848C-3A4C-8675-65AC-45286ACFA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9158" y="2155967"/>
            <a:ext cx="3313684" cy="31666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2C1D1-A8B2-E9B7-AF32-4DAD2ACAFB64}"/>
              </a:ext>
            </a:extLst>
          </p:cNvPr>
          <p:cNvSpPr txBox="1"/>
          <p:nvPr/>
        </p:nvSpPr>
        <p:spPr>
          <a:xfrm>
            <a:off x="3425589" y="1527350"/>
            <a:ext cx="5977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Viết dạng đáp ứng nhảy bậc của các hệ thống sau:</a:t>
            </a:r>
          </a:p>
        </p:txBody>
      </p:sp>
    </p:spTree>
    <p:extLst>
      <p:ext uri="{BB962C8B-B14F-4D97-AF65-F5344CB8AC3E}">
        <p14:creationId xmlns:p14="http://schemas.microsoft.com/office/powerpoint/2010/main" val="332505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8414-E3A9-B681-9BF8-CDF02476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B8B17-AABB-4891-226A-81A4CF192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5"/>
                <a:ext cx="9603275" cy="1717550"/>
              </a:xfrm>
            </p:spPr>
            <p:txBody>
              <a:bodyPr/>
              <a:lstStyle/>
              <a:p>
                <a:r>
                  <a:rPr lang="en-VN" dirty="0"/>
                  <a:t>Đặc trưng của hệ thống bậc hai:</a:t>
                </a:r>
              </a:p>
              <a:p>
                <a:pPr lvl="1"/>
                <a:r>
                  <a:rPr lang="en-VN" dirty="0"/>
                  <a:t>Tần số tự nhiên (Natural frequency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VN" dirty="0"/>
                  <a:t>): Tần số dao động của hệ thống không cản.</a:t>
                </a:r>
              </a:p>
              <a:p>
                <a:pPr lvl="1"/>
                <a:r>
                  <a:rPr lang="en-VN" dirty="0"/>
                  <a:t>Hệ số cản (Damping ratio - </a:t>
                </a:r>
                <a14:m>
                  <m:oMath xmlns:m="http://schemas.openxmlformats.org/officeDocument/2006/math">
                    <m:r>
                      <a:rPr lang="en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VN" dirty="0"/>
                  <a:t>): Tỷ lệ giữa tần số cản (hàm e mũ) so với tần số dao động tự nhiên của hệ thống.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B8B17-AABB-4891-226A-81A4CF192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5"/>
                <a:ext cx="9603275" cy="1717550"/>
              </a:xfrm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BE247A6-54BD-91FE-91A9-DB3A9C7C9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68" y="2998836"/>
            <a:ext cx="7772400" cy="89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EC3E24-BC82-08B4-4CE5-1680D3D27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1579" y="4125967"/>
                <a:ext cx="9603275" cy="171755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VN" sz="1800" dirty="0"/>
                  <a:t>Với hệ thống không cản: Các điểm cực nằm trên trục ảo,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V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VN" sz="1800" dirty="0"/>
              </a:p>
              <a:p>
                <a:pPr marL="0" indent="0">
                  <a:buNone/>
                </a:pPr>
                <a:r>
                  <a:rPr lang="en-VN" sz="1800" dirty="0"/>
                  <a:t>Điểm cực của hệ thống: </a:t>
                </a:r>
                <a14:m>
                  <m:oMath xmlns:m="http://schemas.openxmlformats.org/officeDocument/2006/math">
                    <m:r>
                      <a:rPr lang="en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ad>
                      <m:radPr>
                        <m:deg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VN" sz="1800" dirty="0"/>
                  <a:t>, suy 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VN" sz="1800" dirty="0"/>
                  <a:t>, hay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VN" sz="1800" dirty="0"/>
              </a:p>
              <a:p>
                <a:pPr marL="0" indent="0">
                  <a:buNone/>
                </a:pPr>
                <a:endParaRPr lang="en-VN" sz="18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EC3E24-BC82-08B4-4CE5-1680D3D27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579" y="4125967"/>
                <a:ext cx="9603275" cy="1717550"/>
              </a:xfrm>
              <a:prstGeom prst="rect">
                <a:avLst/>
              </a:prstGeom>
              <a:blipFill>
                <a:blip r:embed="rId4"/>
                <a:stretch>
                  <a:fillRect l="-528" t="-7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45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0B32-6AEB-4A54-B750-7A1AB49D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FADAD-94B7-AFAD-6888-5AF22584C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dirty="0"/>
                  <a:t>Với hệ thống cản dưới mức, phần thực của điểm cực có giá trị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VN" dirty="0"/>
                  <a:t>, do đó, tần số cản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VN" dirty="0"/>
                  <a:t>. Hệ số cản: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:r>
                  <a:rPr lang="en-VN" dirty="0"/>
                  <a:t>Suy ra: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VN" dirty="0"/>
              </a:p>
              <a:p>
                <a:pPr marL="0" indent="0">
                  <a:buNone/>
                </a:pPr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2FADAD-94B7-AFAD-6888-5AF22584C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42EC5C0-4C1A-CAE2-F707-61299E12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70" y="3962969"/>
            <a:ext cx="2991797" cy="972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3B1B8E-3F20-2C2E-C474-9EB2A0A2B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366" y="5379036"/>
            <a:ext cx="3695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3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4116-F720-5AE1-45B2-ABC98328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9B8C66-51F1-5B1B-7A51-7AB8870B1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9" r="1"/>
          <a:stretch/>
        </p:blipFill>
        <p:spPr>
          <a:xfrm>
            <a:off x="3049740" y="872281"/>
            <a:ext cx="6635551" cy="5985719"/>
          </a:xfrm>
        </p:spPr>
      </p:pic>
    </p:spTree>
    <p:extLst>
      <p:ext uri="{BB962C8B-B14F-4D97-AF65-F5344CB8AC3E}">
        <p14:creationId xmlns:p14="http://schemas.microsoft.com/office/powerpoint/2010/main" val="387291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DC2D-884F-11B5-96D8-6CC0C92D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HỆ THỐNG BẬC HAI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7D6BA9A-98A8-FBD8-0B24-BD4E8CD6E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158" y="1244014"/>
            <a:ext cx="3313684" cy="31666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EC8377-803D-7D77-C585-6DE21C325FA0}"/>
              </a:ext>
            </a:extLst>
          </p:cNvPr>
          <p:cNvSpPr txBox="1"/>
          <p:nvPr/>
        </p:nvSpPr>
        <p:spPr>
          <a:xfrm>
            <a:off x="2125683" y="4680211"/>
            <a:ext cx="921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Tính tần số tự nhiên, hệ số cản của hệ thống? Phân tích dạng đáp ứng của hệ thống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ADDE0B-FA7E-2E49-8852-8E5CB5ED9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739" y="5146997"/>
            <a:ext cx="4792637" cy="15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3542-6AFD-F1AD-6209-8B014066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46BA51-EB1C-4D66-0F83-748244E10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40"/>
          <a:stretch/>
        </p:blipFill>
        <p:spPr>
          <a:xfrm>
            <a:off x="2037591" y="1280160"/>
            <a:ext cx="7528616" cy="4370546"/>
          </a:xfrm>
        </p:spPr>
      </p:pic>
    </p:spTree>
    <p:extLst>
      <p:ext uri="{BB962C8B-B14F-4D97-AF65-F5344CB8AC3E}">
        <p14:creationId xmlns:p14="http://schemas.microsoft.com/office/powerpoint/2010/main" val="3748270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439A-76A6-54E6-F085-49F87334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75798-CC50-5CC9-D178-D7C2C9509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2429" y="1244600"/>
            <a:ext cx="7901466" cy="4443413"/>
          </a:xfrm>
        </p:spPr>
      </p:pic>
    </p:spTree>
    <p:extLst>
      <p:ext uri="{BB962C8B-B14F-4D97-AF65-F5344CB8AC3E}">
        <p14:creationId xmlns:p14="http://schemas.microsoft.com/office/powerpoint/2010/main" val="551631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ADAD-D24D-9B88-A400-3413B0DB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72563-7752-671A-9DFF-A48BDB379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dirty="0"/>
                  <a:t>Các đặc trưng đáp ứng của hệ thống:</a:t>
                </a:r>
              </a:p>
              <a:p>
                <a:pPr lvl="1"/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Thời gian lên (Rise time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): </a:t>
                </a:r>
                <a:r>
                  <a:rPr lang="en-VN" dirty="0"/>
                  <a:t>Thời gian để đáp ứng hệ thống tăng từ 0.1 đến 0.9 giá trị cuối cùng.</a:t>
                </a:r>
              </a:p>
              <a:p>
                <a:pPr lvl="1"/>
                <a:r>
                  <a:rPr lang="en-VN" dirty="0"/>
                  <a:t> </a:t>
                </a:r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Thời gian đạt đỉnh (Peak time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): </a:t>
                </a:r>
                <a:r>
                  <a:rPr lang="en-VN" dirty="0"/>
                  <a:t>Thời gian đáp ứng hệ thống đạt giá trị lớn nhất.</a:t>
                </a:r>
              </a:p>
              <a:p>
                <a:pPr lvl="1"/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Phần trăm quá mức (Percent overshoot -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m:t>%</m:t>
                    </m:r>
                    <m:r>
                      <m:rPr>
                        <m:sty m:val="p"/>
                      </m:rPr>
                      <a:rPr lang="en-US" b="1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m:t>OS</m:t>
                    </m:r>
                  </m:oMath>
                </a14:m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): </a:t>
                </a:r>
                <a:r>
                  <a:rPr lang="en-VN" dirty="0"/>
                  <a:t>% vượt mức của đáp ứng đạt đỉnh so với đáp ứng ở trạng thái thường trực.</a:t>
                </a:r>
              </a:p>
              <a:p>
                <a:pPr lvl="1"/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Thời gian quá độ (Settling time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VN" b="1" dirty="0">
                    <a:solidFill>
                      <a:schemeClr val="accent1">
                        <a:lumMod val="75000"/>
                      </a:schemeClr>
                    </a:solidFill>
                  </a:rPr>
                  <a:t>): </a:t>
                </a:r>
                <a:r>
                  <a:rPr lang="en-VN" dirty="0"/>
                  <a:t>Thời gian đáp ứng hệ thống đạt đến và giữ được đáp ứng thường trực của hệ thống (trong khoảng 2% giá trị cuối cùng)</a:t>
                </a:r>
              </a:p>
              <a:p>
                <a:pPr lvl="1"/>
                <a:endParaRPr lang="en-VN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72563-7752-671A-9DFF-A48BDB379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8" r="-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671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7476-81C7-EBFE-2902-71DE25C6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0464D-3718-6F36-54A6-C443D839E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8061" y="1244600"/>
            <a:ext cx="7170202" cy="4443413"/>
          </a:xfrm>
        </p:spPr>
      </p:pic>
    </p:spTree>
    <p:extLst>
      <p:ext uri="{BB962C8B-B14F-4D97-AF65-F5344CB8AC3E}">
        <p14:creationId xmlns:p14="http://schemas.microsoft.com/office/powerpoint/2010/main" val="1997954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0D8F-3189-AC7E-CAD5-67DE1AC3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CFA165-83FC-F21D-CA89-FBE18331B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5"/>
                <a:ext cx="9603275" cy="49334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VN" dirty="0"/>
                  <a:t>: Đạo hàm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V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V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CFA165-83FC-F21D-CA89-FBE18331B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5"/>
                <a:ext cx="9603275" cy="493345"/>
              </a:xfrm>
              <a:blipFill>
                <a:blip r:embed="rId2"/>
                <a:stretch>
                  <a:fillRect l="-528" b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923953-8BAA-EDDC-7DB9-B6AC72D8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1957208"/>
            <a:ext cx="3446780" cy="728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F8CA3-DAFF-E78E-BA3C-DF88C321B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16" y="1989460"/>
            <a:ext cx="3897630" cy="753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7004C2-4F63-AA8B-3C4D-00FD45548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920" y="2938105"/>
            <a:ext cx="2641600" cy="1066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D58BA66-3329-22CE-DD47-825312E1B4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1578" y="4114801"/>
                <a:ext cx="9603275" cy="49334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US" b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OS</m:t>
                    </m:r>
                  </m:oMath>
                </a14:m>
                <a:r>
                  <a:rPr lang="en-VN" dirty="0"/>
                  <a:t>: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D58BA66-3329-22CE-DD47-825312E1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578" y="4114801"/>
                <a:ext cx="9603275" cy="493345"/>
              </a:xfrm>
              <a:prstGeom prst="rect">
                <a:avLst/>
              </a:prstGeom>
              <a:blipFill>
                <a:blip r:embed="rId6"/>
                <a:stretch>
                  <a:fillRect l="-528" b="-102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D7B185D-8503-F413-2F0B-6225586CFA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435" y="4299892"/>
            <a:ext cx="2788934" cy="679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904E0-0E77-62F9-CEC3-2D6EFAC141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1578" y="5205650"/>
            <a:ext cx="4404988" cy="10442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CB873C-649B-04E6-F63A-F108F68254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5436" y="5471144"/>
            <a:ext cx="1435100" cy="520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D95D85-6EA0-2ED0-2F5D-653F93123B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9406" y="4766697"/>
            <a:ext cx="3462013" cy="7078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887998-A5F2-D5F9-5635-00297E9E90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3566" y="5710458"/>
            <a:ext cx="3035814" cy="101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5E40-A13B-4140-D4C3-3BAF3DD4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B2A70F-9A67-6259-53BC-7C8D4EBB0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671" y="1244600"/>
            <a:ext cx="7756983" cy="4443413"/>
          </a:xfrm>
        </p:spPr>
      </p:pic>
    </p:spTree>
    <p:extLst>
      <p:ext uri="{BB962C8B-B14F-4D97-AF65-F5344CB8AC3E}">
        <p14:creationId xmlns:p14="http://schemas.microsoft.com/office/powerpoint/2010/main" val="2685025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73ED-595F-947E-7BAD-87207133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BC6B9-B8F6-9EA3-A1C2-791E9EDAE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1244015"/>
                <a:ext cx="9603275" cy="47302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VN" dirty="0"/>
                  <a:t>: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BC6B9-B8F6-9EA3-A1C2-791E9EDAE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1244015"/>
                <a:ext cx="9603275" cy="473026"/>
              </a:xfrm>
              <a:blipFill>
                <a:blip r:embed="rId2"/>
                <a:stretch>
                  <a:fillRect l="-528" b="-128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895FB79-DB4C-1CF6-45A2-3D1A2418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1598384"/>
            <a:ext cx="2216150" cy="759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63869-1AE8-FFA3-1078-6B78AB602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562" y="1444896"/>
            <a:ext cx="1638300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F15C52-60FC-CF92-47C1-11137D53B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120" y="3045828"/>
            <a:ext cx="7772400" cy="36660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2B7FC2D-8C78-4554-1892-3594172464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1578" y="2513853"/>
                <a:ext cx="9603275" cy="47302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VN" dirty="0"/>
                  <a:t>: 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2B7FC2D-8C78-4554-1892-359417246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578" y="2513853"/>
                <a:ext cx="9603275" cy="473026"/>
              </a:xfrm>
              <a:prstGeom prst="rect">
                <a:avLst/>
              </a:prstGeom>
              <a:blipFill>
                <a:blip r:embed="rId6"/>
                <a:stretch>
                  <a:fillRect l="-528" b="-128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240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FCB1-E3F0-FA4E-01C0-2538BDF4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B2DB0C-A656-5D72-479A-EBE516BCD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1200" y="1506696"/>
            <a:ext cx="3149600" cy="10541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4CEE1-D8DA-42F8-3829-4744EB912B3B}"/>
                  </a:ext>
                </a:extLst>
              </p:cNvPr>
              <p:cNvSpPr txBox="1"/>
              <p:nvPr/>
            </p:nvSpPr>
            <p:spPr>
              <a:xfrm>
                <a:off x="2621280" y="2804463"/>
                <a:ext cx="817880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Tính các giá trị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OS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và vẽ đáp ứng thời gian của hệ thống.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4CEE1-D8DA-42F8-3829-4744EB912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280" y="2804463"/>
                <a:ext cx="8178800" cy="390748"/>
              </a:xfrm>
              <a:prstGeom prst="rect">
                <a:avLst/>
              </a:prstGeom>
              <a:blipFill>
                <a:blip r:embed="rId3"/>
                <a:stretch>
                  <a:fillRect l="-620" t="-9375" b="-156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37F5556-53FA-CCE7-3CDC-992C2DC0A8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954" b="-1"/>
          <a:stretch/>
        </p:blipFill>
        <p:spPr>
          <a:xfrm>
            <a:off x="2367016" y="3906021"/>
            <a:ext cx="7772400" cy="322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52DC52-A8E0-CB8D-4E9C-38F92A13C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616" y="4492978"/>
            <a:ext cx="70612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F17D-6985-9D71-9FB5-4177986E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1C6B2E-8526-7D43-FED3-E07E736BE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518" y="1337921"/>
            <a:ext cx="4872606" cy="4443413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E75E9-074A-256A-5BA4-FB6DB23147B3}"/>
                  </a:ext>
                </a:extLst>
              </p:cNvPr>
              <p:cNvSpPr txBox="1"/>
              <p:nvPr/>
            </p:nvSpPr>
            <p:spPr>
              <a:xfrm>
                <a:off x="6253216" y="1337921"/>
                <a:ext cx="43158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en-US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đi</a:t>
                </a:r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ểm cực phức tại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sub>
                    </m:sSub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FE75E9-074A-256A-5BA4-FB6DB2314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216" y="1337921"/>
                <a:ext cx="4315823" cy="369332"/>
              </a:xfrm>
              <a:prstGeom prst="rect">
                <a:avLst/>
              </a:prstGeom>
              <a:blipFill>
                <a:blip r:embed="rId3"/>
                <a:stretch>
                  <a:fillRect l="-1173" t="-6667" b="-2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8B26407-FE22-BFF9-6CF5-4FFD56074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882" y="1872913"/>
            <a:ext cx="2570261" cy="835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9AC14-F8E2-C0AB-8439-5AF3DC60B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125" y="2844919"/>
            <a:ext cx="36957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E1597-3B8C-B28F-3E09-0B958C7BF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604" y="4509604"/>
            <a:ext cx="27686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B75E1C-5304-4267-1A58-8FAF04253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60" y="4484204"/>
            <a:ext cx="1841500" cy="812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436B01-3EC8-97E4-3B16-7B5CB9A03925}"/>
                  </a:ext>
                </a:extLst>
              </p:cNvPr>
              <p:cNvSpPr txBox="1"/>
              <p:nvPr/>
            </p:nvSpPr>
            <p:spPr>
              <a:xfrm>
                <a:off x="6685125" y="5458168"/>
                <a:ext cx="52420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damped frequency of oscillation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damping frequency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436B01-3EC8-97E4-3B16-7B5CB9A03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125" y="5458168"/>
                <a:ext cx="5242098" cy="646331"/>
              </a:xfrm>
              <a:prstGeom prst="rect">
                <a:avLst/>
              </a:prstGeom>
              <a:blipFill>
                <a:blip r:embed="rId8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19D36F6F-3983-EBFF-F91B-157972B6B1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760" y="3670071"/>
            <a:ext cx="1409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55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1078-B40B-9946-ABE3-F6587CD8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93A841-8677-6E13-FABA-54F84BF03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024" y="1244600"/>
            <a:ext cx="8972276" cy="4443413"/>
          </a:xfrm>
        </p:spPr>
      </p:pic>
    </p:spTree>
    <p:extLst>
      <p:ext uri="{BB962C8B-B14F-4D97-AF65-F5344CB8AC3E}">
        <p14:creationId xmlns:p14="http://schemas.microsoft.com/office/powerpoint/2010/main" val="2061486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6BE7CF6-11F5-6F81-294F-082D16D84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31" y="1924241"/>
            <a:ext cx="3994068" cy="3009517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665B7-F1A7-BCA2-F6A1-B87B6EC7D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30" y="198069"/>
            <a:ext cx="5482442" cy="21192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DBA063-5402-E189-B6C4-C5C736CD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30" y="2499242"/>
            <a:ext cx="5482442" cy="20414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548B6C-E782-4F0D-7B95-47F055D24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30" y="4722701"/>
            <a:ext cx="5482442" cy="2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02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494D-48C4-224B-85F2-FC4D2400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CẢN DƯỚI MỨC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07410D-9A8E-A699-289F-B0CDA6BE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926" y="1207293"/>
            <a:ext cx="3730790" cy="4443413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0F2A5-696D-44B0-386E-B29A809CBB8A}"/>
                  </a:ext>
                </a:extLst>
              </p:cNvPr>
              <p:cNvSpPr txBox="1"/>
              <p:nvPr/>
            </p:nvSpPr>
            <p:spPr>
              <a:xfrm>
                <a:off x="6412676" y="1207293"/>
                <a:ext cx="5878286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Tính các giá trị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OS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V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B0F2A5-696D-44B0-386E-B29A809C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676" y="1207293"/>
                <a:ext cx="5878286" cy="390748"/>
              </a:xfrm>
              <a:prstGeom prst="rect">
                <a:avLst/>
              </a:prstGeom>
              <a:blipFill>
                <a:blip r:embed="rId3"/>
                <a:stretch>
                  <a:fillRect l="-647" t="-9677" b="-1935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3855283-1506-51F3-AB59-0D7C03607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85" y="2216372"/>
            <a:ext cx="3514849" cy="766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124A64-5F2B-F435-02B5-69FDF45D4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216" y="3270981"/>
            <a:ext cx="4529579" cy="628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6CD896-BF65-61F5-4435-A6467E473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649" y="4235667"/>
            <a:ext cx="3226130" cy="8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30AC-ED97-A245-B616-BF22E4F5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KHI THÊM ĐIỂM CỰC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026BD-7DF2-D3A6-A7DD-F4FF73ED2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70" y="1207293"/>
            <a:ext cx="8881130" cy="54526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98435-0013-8664-DFF5-38470E255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7913"/>
            <a:ext cx="3181022" cy="6441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54E5B8-187C-2135-90AD-93718F26B885}"/>
              </a:ext>
            </a:extLst>
          </p:cNvPr>
          <p:cNvSpPr txBox="1"/>
          <p:nvPr/>
        </p:nvSpPr>
        <p:spPr>
          <a:xfrm>
            <a:off x="95003" y="2481943"/>
            <a:ext cx="33132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>
                <a:latin typeface="Arial" panose="020B0604020202020204" pitchFamily="34" charset="0"/>
                <a:cs typeface="Arial" panose="020B0604020202020204" pitchFamily="34" charset="0"/>
              </a:rPr>
              <a:t>Điểm cực thêm vào càng xa nghiệm trội (dominant poles) </a:t>
            </a:r>
          </a:p>
          <a:p>
            <a:r>
              <a:rPr lang="en-VN" sz="1600" dirty="0">
                <a:latin typeface="Arial" panose="020B0604020202020204" pitchFamily="34" charset="0"/>
                <a:cs typeface="Arial" panose="020B0604020202020204" pitchFamily="34" charset="0"/>
              </a:rPr>
              <a:t>➔ Xấp xỉ đáp ứng của hệ thống với đáp ứng hệ thống bậc 2</a:t>
            </a:r>
          </a:p>
          <a:p>
            <a:r>
              <a:rPr lang="en-VN" sz="1600" dirty="0">
                <a:latin typeface="Arial" panose="020B0604020202020204" pitchFamily="34" charset="0"/>
                <a:cs typeface="Arial" panose="020B0604020202020204" pitchFamily="34" charset="0"/>
              </a:rPr>
              <a:t>➔ Điểm cực thêm vào có phần thực xa gấp 5 lần về phía bên trái trục ảo so với điểm cực trội</a:t>
            </a:r>
          </a:p>
        </p:txBody>
      </p:sp>
    </p:spTree>
    <p:extLst>
      <p:ext uri="{BB962C8B-B14F-4D97-AF65-F5344CB8AC3E}">
        <p14:creationId xmlns:p14="http://schemas.microsoft.com/office/powerpoint/2010/main" val="2241547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EE76-7705-2A5C-C08C-16AFEBB44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KHI CÓ ĐIỂM KHÔNG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4A0DC-9BA6-F881-C337-A52F57B26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8043" y="1579418"/>
            <a:ext cx="7666415" cy="40373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FD2E85-69D8-C5D0-B115-818D7AD7F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2" y="1541109"/>
            <a:ext cx="4276946" cy="1003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E1898E-ABF9-621F-D0F8-3E4EAA467303}"/>
              </a:ext>
            </a:extLst>
          </p:cNvPr>
          <p:cNvSpPr txBox="1"/>
          <p:nvPr/>
        </p:nvSpPr>
        <p:spPr>
          <a:xfrm>
            <a:off x="200052" y="2922776"/>
            <a:ext cx="405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Nếu điểm không rất xa so với điểm cực của hệ thống bậc 2: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38A821-DC24-2573-BB88-3A37C33D17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15"/>
          <a:stretch/>
        </p:blipFill>
        <p:spPr>
          <a:xfrm>
            <a:off x="52525" y="3976013"/>
            <a:ext cx="4572000" cy="67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67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D5C3-5728-0F3A-1D23-ECB97491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ĐÁP ỨNG CỦA HỆ THỐNG KHI CÓ ĐIỂM KHÔNG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D6BD13-9FEE-313B-F5A2-B5E2B1AE5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7153" y="2215041"/>
            <a:ext cx="6468572" cy="266605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B045E-BD99-0EB5-4BEA-FE6608808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33" y="1593457"/>
            <a:ext cx="4140200" cy="6731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DA541D-D3F7-1991-E71C-367A80B74EA4}"/>
              </a:ext>
            </a:extLst>
          </p:cNvPr>
          <p:cNvCxnSpPr>
            <a:cxnSpLocks/>
          </p:cNvCxnSpPr>
          <p:nvPr/>
        </p:nvCxnSpPr>
        <p:spPr>
          <a:xfrm flipV="1">
            <a:off x="2441081" y="2110346"/>
            <a:ext cx="584200" cy="407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552FDB-ED65-A769-0840-A9232FE25B67}"/>
              </a:ext>
            </a:extLst>
          </p:cNvPr>
          <p:cNvSpPr txBox="1"/>
          <p:nvPr/>
        </p:nvSpPr>
        <p:spPr>
          <a:xfrm>
            <a:off x="1298081" y="2518039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Đạo hàm của đáp ứng ban đầu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F6384-B95E-F1A6-C7CD-3CC47EB4DF26}"/>
              </a:ext>
            </a:extLst>
          </p:cNvPr>
          <p:cNvSpPr txBox="1"/>
          <p:nvPr/>
        </p:nvSpPr>
        <p:spPr>
          <a:xfrm>
            <a:off x="3792113" y="2484480"/>
            <a:ext cx="1694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Tỷ lệ đáp ứng ban đầu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8258D8-97F9-283A-4DCB-5D2BE9071AA7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950863" y="2088379"/>
            <a:ext cx="688394" cy="39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7BBFBB-75FD-48BA-F224-551084BD7414}"/>
                  </a:ext>
                </a:extLst>
              </p:cNvPr>
              <p:cNvSpPr txBox="1"/>
              <p:nvPr/>
            </p:nvSpPr>
            <p:spPr>
              <a:xfrm>
                <a:off x="244700" y="3429000"/>
                <a:ext cx="52417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rất lớn: đáp ứng hệ thống trong miền tần số xấp xỉ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𝑎𝐶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nhỏ và tiến đến rất nhỏ: thành phần đạo hàm sẽ ảnh hưởng càng lớn đến đáp ứng hệ thống. </a:t>
                </a: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➔ tăng overshoot của hệ thống.</a:t>
                </a:r>
              </a:p>
              <a:p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VN" dirty="0">
                    <a:latin typeface="Arial" panose="020B0604020202020204" pitchFamily="34" charset="0"/>
                    <a:cs typeface="Arial" panose="020B0604020202020204" pitchFamily="34" charset="0"/>
                  </a:rPr>
                  <a:t> âm ➔ </a:t>
                </a:r>
                <a:r>
                  <a:rPr lang="en-V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‘nonminimum phase system’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7BBFBB-75FD-48BA-F224-551084BD7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00" y="3429000"/>
                <a:ext cx="5241700" cy="2031325"/>
              </a:xfrm>
              <a:prstGeom prst="rect">
                <a:avLst/>
              </a:prstGeom>
              <a:blipFill>
                <a:blip r:embed="rId4"/>
                <a:stretch>
                  <a:fillRect l="-966" t="-1863" r="-1208" b="-310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92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75E9-9AA3-5F85-E851-552C289D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80" y="198069"/>
            <a:ext cx="11568962" cy="674212"/>
          </a:xfrm>
        </p:spPr>
        <p:txBody>
          <a:bodyPr>
            <a:normAutofit fontScale="90000"/>
          </a:bodyPr>
          <a:lstStyle/>
          <a:p>
            <a:r>
              <a:rPr lang="en-VN" dirty="0"/>
              <a:t>ĐÁP ỨNG CỦA HỆ THỐNG KHI THÊM ĐIỂM CỰC, ĐIỂM KHÔNG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F5B1B-7376-47CC-A97B-1A774B8BF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4950" y="1652085"/>
            <a:ext cx="4102100" cy="1155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7C944E-6835-0AA3-7164-7312405CE737}"/>
              </a:ext>
            </a:extLst>
          </p:cNvPr>
          <p:cNvSpPr txBox="1"/>
          <p:nvPr/>
        </p:nvSpPr>
        <p:spPr>
          <a:xfrm>
            <a:off x="2883002" y="3340103"/>
            <a:ext cx="9839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Triệt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cực-điểm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VN" sz="2000" dirty="0">
                <a:latin typeface="Arial" panose="020B0604020202020204" pitchFamily="34" charset="0"/>
                <a:cs typeface="Arial" panose="020B0604020202020204" pitchFamily="34" charset="0"/>
              </a:rPr>
              <a:t>Pole-zero cancellation) </a:t>
            </a:r>
          </a:p>
        </p:txBody>
      </p:sp>
    </p:spTree>
    <p:extLst>
      <p:ext uri="{BB962C8B-B14F-4D97-AF65-F5344CB8AC3E}">
        <p14:creationId xmlns:p14="http://schemas.microsoft.com/office/powerpoint/2010/main" val="2918023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ECDD-2A2E-FA31-41D9-ED2A3A1D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DEA9-A6D7-2CD1-E5C2-03549B82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35717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{DA89C2F4-FBD1-684E-A465-9AFB9D00BEE5}tf10001119</Template>
  <TotalTime>4040</TotalTime>
  <Words>1560</Words>
  <Application>Microsoft Macintosh PowerPoint</Application>
  <PresentationFormat>Widescreen</PresentationFormat>
  <Paragraphs>147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Gill Sans MT</vt:lpstr>
      <vt:lpstr>Wingdings</vt:lpstr>
      <vt:lpstr>Gallery</vt:lpstr>
      <vt:lpstr>Microsoft Word Picture</vt:lpstr>
      <vt:lpstr>CHƯƠNG 4: ĐÁP ỨNG THỜI GIAN </vt:lpstr>
      <vt:lpstr>ĐIỂM CỰC, ĐIỂM KHÔNG, ĐÁP ỨNG HỆ THỐNG</vt:lpstr>
      <vt:lpstr>ĐIỂM CỰC, ĐIỂM KHÔNG, ĐÁP ỨNG HỆ THỐNG</vt:lpstr>
      <vt:lpstr>ĐIỂM CỰC, ĐIỂM KHÔNG, ĐÁP ỨNG HỆ THỐNG</vt:lpstr>
      <vt:lpstr>ĐIỂM CỰC, ĐIỂM KHÔNG, ĐÁP ỨNG HỆ THỐNG</vt:lpstr>
      <vt:lpstr>ĐIỂM CỰC, ĐIỂM KHÔNG, ĐÁP ỨNG HỆ THỐNG</vt:lpstr>
      <vt:lpstr>HỆ THỐNG BẬC MỘT</vt:lpstr>
      <vt:lpstr>HỆ THỐNG BẬC MỘT</vt:lpstr>
      <vt:lpstr>HỆ THỐNG BẬC MỘT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HỆ THỐNG BẬC HAI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ĐÁP ỨNG CỦA HỆ THỐNG CẢN DƯỚI MỨC</vt:lpstr>
      <vt:lpstr>PowerPoint Presentation</vt:lpstr>
      <vt:lpstr>ĐÁP ỨNG CỦA HỆ THỐNG CẢN DƯỚI MỨC</vt:lpstr>
      <vt:lpstr>ĐÁP ỨNG CỦA HỆ THỐNG KHI THÊM ĐIỂM CỰC</vt:lpstr>
      <vt:lpstr>ĐÁP ỨNG CỦA HỆ THỐNG KHI CÓ ĐIỂM KHÔNG</vt:lpstr>
      <vt:lpstr>ĐÁP ỨNG CỦA HỆ THỐNG KHI CÓ ĐIỂM KHÔNG</vt:lpstr>
      <vt:lpstr>ĐÁP ỨNG CỦA HỆ THỐNG KHI THÊM ĐIỂM CỰC, ĐIỂM KHÔNG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2: MÔ HÌNH TRONG MIỀN TẦN SỐ</dc:title>
  <dc:creator>Nguyễn Thu Hằng</dc:creator>
  <cp:lastModifiedBy>Nguyễn Thu Hằng</cp:lastModifiedBy>
  <cp:revision>22</cp:revision>
  <dcterms:created xsi:type="dcterms:W3CDTF">2023-08-28T11:08:29Z</dcterms:created>
  <dcterms:modified xsi:type="dcterms:W3CDTF">2023-10-02T18:56:56Z</dcterms:modified>
</cp:coreProperties>
</file>