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28"/>
  </p:notesMasterIdLst>
  <p:sldIdLst>
    <p:sldId id="256" r:id="rId2"/>
    <p:sldId id="258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5" r:id="rId15"/>
    <p:sldId id="304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5" r:id="rId24"/>
    <p:sldId id="314" r:id="rId25"/>
    <p:sldId id="313" r:id="rId26"/>
    <p:sldId id="27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077"/>
  </p:normalViewPr>
  <p:slideViewPr>
    <p:cSldViewPr snapToGrid="0">
      <p:cViewPr varScale="1">
        <p:scale>
          <a:sx n="114" d="100"/>
          <a:sy n="114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4BD01-BE95-4C45-8041-4857213F7C89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6CAC5-3B38-CA4B-BEE2-E4804119733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915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Tên lửa di chuyển đến một vị trí cố định trong không gian (hàm nhảy bậc)</a:t>
            </a:r>
          </a:p>
          <a:p>
            <a:r>
              <a:rPr lang="en-VN" dirty="0"/>
              <a:t>Tên lửa di chuyển với vận tốc không thay đổi (hàm dốc)</a:t>
            </a:r>
          </a:p>
          <a:p>
            <a:r>
              <a:rPr lang="en-VN" dirty="0"/>
              <a:t>Tên lửa đang tăng tốc (hàm Parabol)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6CAC5-3B38-CA4B-BEE2-E48041197338}" type="slidenum">
              <a:rPr lang="en-VN" smtClean="0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04094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Khi s -&gt; 0</a:t>
            </a:r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6CAC5-3B38-CA4B-BEE2-E48041197338}" type="slidenum">
              <a:rPr lang="en-VN" smtClean="0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3158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5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98069"/>
            <a:ext cx="9603275" cy="67421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4444399"/>
          </a:xfrm>
        </p:spPr>
        <p:txBody>
          <a:bodyPr anchor="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479993"/>
            <a:ext cx="811019" cy="5035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7131A4-70E5-2C47-979D-CC0A508A1115}" type="slidenum">
              <a:rPr lang="en-VN" smtClean="0"/>
              <a:pPr/>
              <a:t>‹#›</a:t>
            </a:fld>
            <a:endParaRPr lang="en-V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7332" y="983571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71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45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19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9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2877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2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92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1E88-A186-394E-83B0-C95AB89BE3CE}" type="datetimeFigureOut">
              <a:rPr lang="en-VN" smtClean="0"/>
              <a:t>17/10/2023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5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3693-A035-3C4E-7F71-6028A05A4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923" y="887569"/>
            <a:ext cx="10796529" cy="2541431"/>
          </a:xfrm>
        </p:spPr>
        <p:txBody>
          <a:bodyPr>
            <a:normAutofit fontScale="90000"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CHƯƠNG 7: SAI SỐ Ở TRẠNG THÁI THƯỜNG TRỰC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E02D5-7413-F104-1030-A7A1F479E9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0" lang="en-VN" altLang="en-VN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Steady-State Errors</a:t>
            </a:r>
          </a:p>
        </p:txBody>
      </p:sp>
      <p:pic>
        <p:nvPicPr>
          <p:cNvPr id="1025" name="Picture 1" descr="page53image1145757968">
            <a:extLst>
              <a:ext uri="{FF2B5EF4-FFF2-40B4-BE49-F238E27FC236}">
                <a16:creationId xmlns:a16="http://schemas.microsoft.com/office/drawing/2014/main" id="{93647881-E3F9-0241-C1ED-5F534C81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98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69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F87F-9540-6807-463C-A18DC1A6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iới thiệu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E0DA-2280-E682-2A9C-68F236549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4444399"/>
          </a:xfrm>
        </p:spPr>
        <p:txBody>
          <a:bodyPr/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Sai số ở trạng thái thường trực của hệ thống: Sai khác giữa lối vào và lối ra với lối vào là tín hiệu thử chuẩn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khi hệ thống khi đã đạt được trạng thái thường trực, nghĩa là khi đáp ứng nhất thời đã triệt tiêu. 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3E7C6-771D-5D97-F21A-A05BF57F2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64" y="2766341"/>
            <a:ext cx="5030494" cy="3893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FCAA04-9255-A1AF-5EBA-C1F1873CFF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96" t="3439"/>
          <a:stretch/>
        </p:blipFill>
        <p:spPr>
          <a:xfrm>
            <a:off x="6430451" y="2857751"/>
            <a:ext cx="5407685" cy="3802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15F8E2-164D-DF07-5EB3-E2E70DB78403}"/>
              </a:ext>
            </a:extLst>
          </p:cNvPr>
          <p:cNvSpPr/>
          <p:nvPr/>
        </p:nvSpPr>
        <p:spPr>
          <a:xfrm>
            <a:off x="7432922" y="2242725"/>
            <a:ext cx="3815972" cy="486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Hệ thống ổn định</a:t>
            </a:r>
          </a:p>
        </p:txBody>
      </p:sp>
    </p:spTree>
    <p:extLst>
      <p:ext uri="{BB962C8B-B14F-4D97-AF65-F5344CB8AC3E}">
        <p14:creationId xmlns:p14="http://schemas.microsoft.com/office/powerpoint/2010/main" val="252117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85E0-C916-BCE0-A0E7-A869FE5C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GIỚI THIỆU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D7065-CB5A-C0D3-5EFD-1D28F7E2C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954" y="1566764"/>
            <a:ext cx="5171427" cy="32035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D15989-B811-0370-C42B-553A4EAB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29" y="1566764"/>
            <a:ext cx="5885417" cy="320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57FF-F662-6EF2-52F4-A8C3D42D6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GIỚI THIỆU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2B05B6-9894-7F51-1954-EFBCA877E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8" y="1182644"/>
            <a:ext cx="9604375" cy="18553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5C039D-C23C-EA82-085B-9E1257171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8" y="3210222"/>
            <a:ext cx="9577439" cy="1541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5DFFA8-C45F-503A-E6A3-E994AAEAD4A5}"/>
                  </a:ext>
                </a:extLst>
              </p:cNvPr>
              <p:cNvSpPr txBox="1"/>
              <p:nvPr/>
            </p:nvSpPr>
            <p:spPr>
              <a:xfrm>
                <a:off x="1451578" y="4758284"/>
                <a:ext cx="106024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VN" dirty="0"/>
                  <a:t>Để hệ thống không có sai số,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VN" dirty="0"/>
                  <a:t>.</a:t>
                </a:r>
              </a:p>
              <a:p>
                <a:r>
                  <a:rPr lang="en-VN" dirty="0"/>
                  <a:t>Với hệ thống 7.4a: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VN" dirty="0"/>
                  <a:t> khi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VN" dirty="0"/>
                  <a:t> hữu hạn và khác 0 -&gt; Hệ thống luôn có sai số</a:t>
                </a:r>
              </a:p>
              <a:p>
                <a:r>
                  <a:rPr lang="en-VN" dirty="0"/>
                  <a:t>Với hệ thống 7.4b: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VN" dirty="0"/>
                  <a:t> tăng,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VN" dirty="0"/>
                  <a:t> giảm đến khi bằng 0</a:t>
                </a:r>
              </a:p>
              <a:p>
                <a:endParaRPr lang="en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5DFFA8-C45F-503A-E6A3-E994AAEA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578" y="4758284"/>
                <a:ext cx="10602410" cy="1477328"/>
              </a:xfrm>
              <a:prstGeom prst="rect">
                <a:avLst/>
              </a:prstGeom>
              <a:blipFill>
                <a:blip r:embed="rId4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C288701-8545-73B2-A960-0585BAEF4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1523" y="5188398"/>
            <a:ext cx="2173549" cy="59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1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33AA-F843-11ED-B618-80BB11D9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933"/>
            <a:ext cx="9603275" cy="89260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9D22-9E16-87F9-73F5-7C3022252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1532237"/>
          </a:xfrm>
        </p:spPr>
        <p:txBody>
          <a:bodyPr/>
          <a:lstStyle/>
          <a:p>
            <a:r>
              <a:rPr lang="en-VN" dirty="0"/>
              <a:t>T(s): Hàm truyền của quá trình</a:t>
            </a:r>
          </a:p>
          <a:p>
            <a:r>
              <a:rPr lang="en-VN" dirty="0"/>
              <a:t>G(s): Hàm truyền vòng hở với hệ thống có phản hồi đơn vị</a:t>
            </a:r>
          </a:p>
          <a:p>
            <a:r>
              <a:rPr lang="en-VN" dirty="0"/>
              <a:t>Sai số ở trạng thái thường trực biểu diễn theo T(s):</a:t>
            </a:r>
          </a:p>
          <a:p>
            <a:pPr marL="0" indent="0">
              <a:buNone/>
            </a:pPr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CEF9F-4BF9-DEBE-264D-937349CE7D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1" r="1925"/>
          <a:stretch/>
        </p:blipFill>
        <p:spPr>
          <a:xfrm>
            <a:off x="1733799" y="2886595"/>
            <a:ext cx="5030205" cy="3062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023AA-BB36-ECC6-75DF-18A91A3173A4}"/>
              </a:ext>
            </a:extLst>
          </p:cNvPr>
          <p:cNvSpPr txBox="1"/>
          <p:nvPr/>
        </p:nvSpPr>
        <p:spPr>
          <a:xfrm>
            <a:off x="7679942" y="2834380"/>
            <a:ext cx="345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Định lý giá trị cuối cùng: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610895-C686-BB74-3D68-DDCDF98E1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942" y="3372853"/>
            <a:ext cx="3985734" cy="25765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B68953-B0B9-F0C3-4FC1-305EF626F288}"/>
              </a:ext>
            </a:extLst>
          </p:cNvPr>
          <p:cNvSpPr/>
          <p:nvPr/>
        </p:nvSpPr>
        <p:spPr>
          <a:xfrm>
            <a:off x="8738886" y="5347504"/>
            <a:ext cx="1782501" cy="60187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366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2816-7234-27FC-ABE2-A9BC1005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917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D30D59-633A-FF83-12E0-08B100512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VN" b="1" dirty="0"/>
                  <a:t>Ví dụ: </a:t>
                </a:r>
                <a:r>
                  <a:rPr lang="en-VN" dirty="0"/>
                  <a:t>Tìm sai số ở trạng thái thường trực của hệ thống sau: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+10</m:t>
                          </m:r>
                        </m:den>
                      </m:f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:r>
                  <a:rPr lang="en-US" dirty="0"/>
                  <a:t>v</a:t>
                </a:r>
                <a:r>
                  <a:rPr lang="en-VN" dirty="0"/>
                  <a:t>ới lối vào là hàm nhảy bậc.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D30D59-633A-FF83-12E0-08B100512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8099844-B81C-A404-3D37-A6453B8793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92" b="1"/>
          <a:stretch/>
        </p:blipFill>
        <p:spPr>
          <a:xfrm>
            <a:off x="5384800" y="3496665"/>
            <a:ext cx="1422400" cy="35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2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25EF-7F5E-F8EA-AF4D-3CE8A9B5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855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C85E-077B-2015-3BA9-58B9BA1E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Sai số ở trạng thái thường trực biểu diễn theo G(s):</a:t>
            </a:r>
          </a:p>
          <a:p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D145B-5FAF-5F78-7A1E-00F4A66251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836"/>
          <a:stretch/>
        </p:blipFill>
        <p:spPr>
          <a:xfrm>
            <a:off x="3485319" y="1828398"/>
            <a:ext cx="5811907" cy="2731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ABDBFE-26FA-A0FE-93F8-2E0B729CC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3" y="4771925"/>
            <a:ext cx="35433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0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08AE-2C5C-A5B4-EC6B-9C5C8AED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855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78157-06D4-3CE3-993E-7B2BCED39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244014"/>
                <a:ext cx="9603275" cy="625371"/>
              </a:xfrm>
            </p:spPr>
            <p:txBody>
              <a:bodyPr/>
              <a:lstStyle/>
              <a:p>
                <a:r>
                  <a:rPr lang="en-VN" dirty="0"/>
                  <a:t>Tín hiệu lối vào nhảy bậc: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V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78157-06D4-3CE3-993E-7B2BCED39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244014"/>
                <a:ext cx="9603275" cy="625371"/>
              </a:xfrm>
              <a:blipFill>
                <a:blip r:embed="rId2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5AB3E92-0203-8ABB-5083-CFA5BFD32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837" y="1869385"/>
            <a:ext cx="5053772" cy="902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0BBC0-BCA2-31FD-432E-9BF3B88038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60" b="36730"/>
          <a:stretch/>
        </p:blipFill>
        <p:spPr>
          <a:xfrm>
            <a:off x="3228836" y="2948433"/>
            <a:ext cx="5034673" cy="1676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EF84C2-9D6C-6BB5-2825-80694B05C2D4}"/>
                  </a:ext>
                </a:extLst>
              </p:cNvPr>
              <p:cNvSpPr txBox="1"/>
              <p:nvPr/>
            </p:nvSpPr>
            <p:spPr>
              <a:xfrm>
                <a:off x="1828800" y="4744278"/>
                <a:ext cx="86006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VN" dirty="0"/>
                  <a:t>: Mẫu số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dirty="0"/>
                  <a:t> tiến tới 0 khi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VN" dirty="0"/>
                  <a:t> tiến tới 0.</a:t>
                </a:r>
              </a:p>
              <a:p>
                <a:r>
                  <a:rPr lang="en-VN" dirty="0"/>
                  <a:t>➔ có tối thiểu một điểm cực tại gốc toạ độ </a:t>
                </a:r>
              </a:p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EF84C2-9D6C-6BB5-2825-80694B05C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744278"/>
                <a:ext cx="8600661" cy="923330"/>
              </a:xfrm>
              <a:prstGeom prst="rect">
                <a:avLst/>
              </a:prstGeom>
              <a:blipFill>
                <a:blip r:embed="rId5"/>
                <a:stretch>
                  <a:fillRect l="-590" t="-2703" b="-945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935BAF9-F9D2-47BB-1814-E6DADC87D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836" y="5786877"/>
            <a:ext cx="5034673" cy="74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80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0A77-3F7A-7E8E-8B8F-991F4108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855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4464B-48E5-05F1-7895-43F3A466DA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VN" dirty="0"/>
                  <a:t>Tín hiệu lối vào dốc: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VN" dirty="0"/>
                  <a:t> </a:t>
                </a:r>
              </a:p>
              <a:p>
                <a:endParaRPr lang="en-V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4464B-48E5-05F1-7895-43F3A466D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7FD95AB-105C-86D7-C165-7F1FDE0C97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271"/>
          <a:stretch/>
        </p:blipFill>
        <p:spPr>
          <a:xfrm>
            <a:off x="3198589" y="1788982"/>
            <a:ext cx="6109253" cy="889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16AC9A-B36D-4531-79E6-F8DAC607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36" y="2903998"/>
            <a:ext cx="4794358" cy="525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94576E-C1CE-B2CC-12C3-43F7D448EE3E}"/>
                  </a:ext>
                </a:extLst>
              </p:cNvPr>
              <p:cNvSpPr txBox="1"/>
              <p:nvPr/>
            </p:nvSpPr>
            <p:spPr>
              <a:xfrm>
                <a:off x="1795669" y="3635376"/>
                <a:ext cx="860066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VN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dirty="0"/>
                  <a:t> tiến tới </a:t>
                </a:r>
                <a14:m>
                  <m:oMath xmlns:m="http://schemas.openxmlformats.org/officeDocument/2006/math">
                    <m:r>
                      <a:rPr lang="en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VN" dirty="0"/>
                  <a:t> khi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VN" dirty="0"/>
                  <a:t> tiến tới 0.</a:t>
                </a:r>
              </a:p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1:</m:t>
                    </m:r>
                  </m:oMath>
                </a14:m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0:</m:t>
                    </m:r>
                  </m:oMath>
                </a14:m>
                <a:endParaRPr lang="en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94576E-C1CE-B2CC-12C3-43F7D448E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669" y="3635376"/>
                <a:ext cx="8600661" cy="1754326"/>
              </a:xfrm>
              <a:prstGeom prst="rect">
                <a:avLst/>
              </a:prstGeom>
              <a:blipFill>
                <a:blip r:embed="rId5"/>
                <a:stretch>
                  <a:fillRect l="-590" t="-1439" b="-503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4632D6A-1D4B-C894-1DE4-E3CEF0394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4236" y="4489252"/>
            <a:ext cx="4794358" cy="7847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257EBA-CF1A-7085-A44B-7E8B3E5610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4236" y="5838467"/>
            <a:ext cx="4794358" cy="59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5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F42A-9C71-E025-3303-044C8B01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855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0D7668-9C3C-AB29-8981-B2D94B025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VN" dirty="0"/>
                  <a:t>Tín hiệu lối vào parabol: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/2;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VN" dirty="0"/>
              </a:p>
              <a:p>
                <a:pPr marL="0" indent="0">
                  <a:buNone/>
                </a:pPr>
                <a:r>
                  <a:rPr lang="en-VN" dirty="0"/>
                  <a:t> </a:t>
                </a:r>
              </a:p>
              <a:p>
                <a:endParaRPr lang="en-V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0D7668-9C3C-AB29-8981-B2D94B025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F645ED-5F38-F0A6-DE24-68BAAC28C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345" y="1851794"/>
            <a:ext cx="6455310" cy="854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EF4EC-4D5D-CAF6-31B9-BCF4DF62D9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228"/>
          <a:stretch/>
        </p:blipFill>
        <p:spPr>
          <a:xfrm>
            <a:off x="3697357" y="2952850"/>
            <a:ext cx="5194299" cy="5987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175FC2-70FD-128A-C7F1-9C0FFBD1953C}"/>
                  </a:ext>
                </a:extLst>
              </p:cNvPr>
              <p:cNvSpPr txBox="1"/>
              <p:nvPr/>
            </p:nvSpPr>
            <p:spPr>
              <a:xfrm>
                <a:off x="1795669" y="3635376"/>
                <a:ext cx="860066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VN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dirty="0"/>
                  <a:t> tiến tới 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VN" dirty="0"/>
                  <a:t> khi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VN" dirty="0"/>
                  <a:t> tiến tới 0.</a:t>
                </a:r>
              </a:p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2:</m:t>
                    </m:r>
                  </m:oMath>
                </a14:m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  <a:p>
                <a:endParaRPr lang="en-VN" dirty="0"/>
              </a:p>
              <a:p>
                <a:r>
                  <a:rPr lang="en-VN" dirty="0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V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175FC2-70FD-128A-C7F1-9C0FFBD19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669" y="3635376"/>
                <a:ext cx="8600661" cy="1754326"/>
              </a:xfrm>
              <a:prstGeom prst="rect">
                <a:avLst/>
              </a:prstGeom>
              <a:blipFill>
                <a:blip r:embed="rId5"/>
                <a:stretch>
                  <a:fillRect l="-590" t="-1439" b="-503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96BA074-53FF-27E5-9DF5-83FDA2384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357" y="4185500"/>
            <a:ext cx="5194299" cy="8093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E32579-38F6-543D-4986-C991AEC809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355" y="5544992"/>
            <a:ext cx="4866302" cy="6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3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DB26-89C2-AD4E-FAA1-C5A6CC06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210" y="152349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BF52D-48DD-C6E3-8273-EF9BB37E8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4197" y="1508840"/>
            <a:ext cx="5067300" cy="15621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364B30-FD51-63C1-76B9-E88E99C198A4}"/>
                  </a:ext>
                </a:extLst>
              </p:cNvPr>
              <p:cNvSpPr txBox="1"/>
              <p:nvPr/>
            </p:nvSpPr>
            <p:spPr>
              <a:xfrm>
                <a:off x="1889760" y="3672840"/>
                <a:ext cx="82905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Ví dụ: Tìm sai số ở trạng thái thường trực của hệ thống trên với các lối vào có dạng như sau: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trong đó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là hàm nhảy bậc.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364B30-FD51-63C1-76B9-E88E99C19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0" y="3672840"/>
                <a:ext cx="8290560" cy="923330"/>
              </a:xfrm>
              <a:prstGeom prst="rect">
                <a:avLst/>
              </a:prstGeom>
              <a:blipFill>
                <a:blip r:embed="rId3"/>
                <a:stretch>
                  <a:fillRect l="-612" t="-2740" b="-1095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9B21EAE-0411-3850-E41E-3EE42C265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60" y="5087620"/>
            <a:ext cx="4699000" cy="736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16908F-ADB1-7542-BA35-68081698D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785" y="5087620"/>
            <a:ext cx="3822700" cy="76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C4FE04-75C7-A7E3-E9FD-49C6E2301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510" y="5979120"/>
            <a:ext cx="42037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8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573C-2F75-35BA-AAF9-15D0ACD4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1389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Ở TRẠNG THÁI THƯỜNG TRỰC VỚI HỆ THỐNG CÓ PHẢN HỒI ĐƠN VỊ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A8C822-1916-74FB-3A48-481430C8B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274" y="1500620"/>
            <a:ext cx="5271452" cy="137920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7A74A9-C192-9355-8A6E-7E6F4F7B7065}"/>
                  </a:ext>
                </a:extLst>
              </p:cNvPr>
              <p:cNvSpPr txBox="1"/>
              <p:nvPr/>
            </p:nvSpPr>
            <p:spPr>
              <a:xfrm>
                <a:off x="1950720" y="3245840"/>
                <a:ext cx="82905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Ví dụ: Tìm sai số ở trạng thái thường trực của hệ thống trên với các lối vào có dạng như sau: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trong đó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là hàm nhảy bậc.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7A74A9-C192-9355-8A6E-7E6F4F7B7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20" y="3245840"/>
                <a:ext cx="8290560" cy="923330"/>
              </a:xfrm>
              <a:prstGeom prst="rect">
                <a:avLst/>
              </a:prstGeom>
              <a:blipFill>
                <a:blip r:embed="rId3"/>
                <a:stretch>
                  <a:fillRect l="-612" t="-2703" b="-945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AAC9FE0-7B6D-91CB-3386-5937457AC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79" y="4549774"/>
            <a:ext cx="4372610" cy="80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DC3266-5335-BE66-6DA0-4BF9F2F0B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660" y="4447068"/>
            <a:ext cx="4372610" cy="9229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D92C44-AE78-C9AB-6C49-7B41347B9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326" y="5821732"/>
            <a:ext cx="4978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0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0C2-6F5D-F6D7-7224-FC53CF16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HẰNG SỐ SAI SỐ VÀ KIỂU HỆ THỐNG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F6B06B-264F-2A3A-900C-21255E630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15" r="27334"/>
          <a:stretch/>
        </p:blipFill>
        <p:spPr>
          <a:xfrm>
            <a:off x="76200" y="1792747"/>
            <a:ext cx="5704013" cy="42163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C377C-DCC0-174A-5BC7-4921357C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92747"/>
            <a:ext cx="60198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3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35650-9221-3176-5314-9F8E9BC4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HẰNG SỐ SAI SỐ VÀ KIỂU HỆ THỐNG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0CEF7-5697-EF26-49B2-C2188A905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475" y="1362586"/>
            <a:ext cx="5214004" cy="44434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C675A-958D-CD78-AE19-B916F15C282E}"/>
              </a:ext>
            </a:extLst>
          </p:cNvPr>
          <p:cNvSpPr txBox="1"/>
          <p:nvPr/>
        </p:nvSpPr>
        <p:spPr>
          <a:xfrm>
            <a:off x="6666271" y="1578077"/>
            <a:ext cx="4630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Ví dụ: Với mỗi hệ thống sau, tính các giá trị hằng số sai số và sai số ở trạng thái thường trực với các lối vào thử chuẩn.</a:t>
            </a:r>
          </a:p>
        </p:txBody>
      </p:sp>
    </p:spTree>
    <p:extLst>
      <p:ext uri="{BB962C8B-B14F-4D97-AF65-F5344CB8AC3E}">
        <p14:creationId xmlns:p14="http://schemas.microsoft.com/office/powerpoint/2010/main" val="2081574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81B7-24D6-2476-4721-5E25800E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HẰNG SỐ SAI SỐ VÀ KIỂU HỆ THỐNG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170393-877A-115B-944F-614E9AFEE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413805"/>
            <a:ext cx="9604375" cy="2807143"/>
          </a:xfrm>
        </p:spPr>
      </p:pic>
      <p:pic>
        <p:nvPicPr>
          <p:cNvPr id="6" name="Picture 9" descr="j0134549[1]">
            <a:extLst>
              <a:ext uri="{FF2B5EF4-FFF2-40B4-BE49-F238E27FC236}">
                <a16:creationId xmlns:a16="http://schemas.microsoft.com/office/drawing/2014/main" id="{25A056A4-8208-A4DB-9D23-23C0BCD81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4" y="3816877"/>
            <a:ext cx="5778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8785B4-29FF-C419-B746-AF47893BE10F}"/>
                  </a:ext>
                </a:extLst>
              </p:cNvPr>
              <p:cNvSpPr txBox="1"/>
              <p:nvPr/>
            </p:nvSpPr>
            <p:spPr>
              <a:xfrm>
                <a:off x="1710812" y="4393140"/>
                <a:ext cx="78903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8785B4-29FF-C419-B746-AF47893BE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812" y="4393140"/>
                <a:ext cx="7890387" cy="369332"/>
              </a:xfrm>
              <a:prstGeom prst="rect">
                <a:avLst/>
              </a:prstGeom>
              <a:blipFill>
                <a:blip r:embed="rId4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278E2-9D07-F963-892F-1CE4D03E9EE3}"/>
                  </a:ext>
                </a:extLst>
              </p:cNvPr>
              <p:cNvSpPr txBox="1"/>
              <p:nvPr/>
            </p:nvSpPr>
            <p:spPr>
              <a:xfrm>
                <a:off x="1546122" y="4844030"/>
                <a:ext cx="90997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Hệ thống ổn định.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Hệ thống kiểu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Lối vào thử hệ thống là dạng dốc.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Sai số giữa lối ra và lối vào thử là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với mỗi đơn vị dốc của lối vào.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278E2-9D07-F963-892F-1CE4D03E9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122" y="4844030"/>
                <a:ext cx="9099756" cy="1200329"/>
              </a:xfrm>
              <a:prstGeom prst="rect">
                <a:avLst/>
              </a:prstGeom>
              <a:blipFill>
                <a:blip r:embed="rId5"/>
                <a:stretch>
                  <a:fillRect l="-418" t="-2083" b="-625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93C72B1-D6D2-E52B-0B57-A368A7D9607B}"/>
              </a:ext>
            </a:extLst>
          </p:cNvPr>
          <p:cNvSpPr/>
          <p:nvPr/>
        </p:nvSpPr>
        <p:spPr>
          <a:xfrm>
            <a:off x="6643868" y="3067291"/>
            <a:ext cx="1481560" cy="36170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872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5055-8768-C4E9-ECB0-3185DCB6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HẰNG SỐ SAI SỐ VÀ KIỂU HỆ THỐNG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58D055-B4DB-17C1-C136-2D28F15E5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8766" y="1486745"/>
            <a:ext cx="5168900" cy="1422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77ED6D-D2BD-98CE-FE45-2F2D9A049CA1}"/>
              </a:ext>
            </a:extLst>
          </p:cNvPr>
          <p:cNvSpPr txBox="1"/>
          <p:nvPr/>
        </p:nvSpPr>
        <p:spPr>
          <a:xfrm>
            <a:off x="3403295" y="3154277"/>
            <a:ext cx="960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Ví dụ: Tìm giá trị của K để sai số của hệ thống là 10%.</a:t>
            </a:r>
          </a:p>
        </p:txBody>
      </p:sp>
    </p:spTree>
    <p:extLst>
      <p:ext uri="{BB962C8B-B14F-4D97-AF65-F5344CB8AC3E}">
        <p14:creationId xmlns:p14="http://schemas.microsoft.com/office/powerpoint/2010/main" val="2982820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0324-D62D-D1E2-96D1-9E277AAF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8069"/>
            <a:ext cx="10740421" cy="674212"/>
          </a:xfrm>
        </p:spPr>
        <p:txBody>
          <a:bodyPr/>
          <a:lstStyle/>
          <a:p>
            <a:r>
              <a:rPr lang="en-VN" dirty="0"/>
              <a:t>SAI SỐ THƯỜNG TRỰC CỦA HỆ THỐNG CÓ NHIỄU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C608C0-4763-891B-C924-9E9A31F5D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0030" y="1096578"/>
            <a:ext cx="4319321" cy="18668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E18CD-0AB5-491D-7572-F0EF2467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3191840"/>
            <a:ext cx="5473700" cy="48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8B1BC9-AFBD-FE6E-957A-821FD3D25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789" y="3098800"/>
            <a:ext cx="461010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E2BC06-41E9-14C4-DA84-B1D26E914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5528" y="3857200"/>
            <a:ext cx="6988323" cy="8003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0FD5B4-14FD-9CD7-A820-09C19AC11B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087"/>
          <a:stretch/>
        </p:blipFill>
        <p:spPr>
          <a:xfrm>
            <a:off x="2371845" y="4780478"/>
            <a:ext cx="7772400" cy="104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51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F1B8-900B-0168-EAB3-B3FA7D6C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SAI SỐ THƯỜNG TRỰC CỦA HỆ THỐNG CÓ NHIỄU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B0030-61B6-3A02-2069-D5FC4EF7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809" y="1435193"/>
            <a:ext cx="3856942" cy="81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D0860E-92E6-C0D2-E2A6-0A2A08DC1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1" y="1435193"/>
            <a:ext cx="3663669" cy="784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10C86-D1DF-2334-6787-C3AA9ECE2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041" y="2526926"/>
            <a:ext cx="3134567" cy="979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F73176-D2D2-5526-80A0-A8007B978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907" y="2438067"/>
            <a:ext cx="2927157" cy="2984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19541E-E9D1-AD3E-997C-CAE2C4DB2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422" y="3803743"/>
            <a:ext cx="5083457" cy="17390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52DFFD-A55F-EE01-6FFE-BB66D39734CE}"/>
              </a:ext>
            </a:extLst>
          </p:cNvPr>
          <p:cNvSpPr txBox="1"/>
          <p:nvPr/>
        </p:nvSpPr>
        <p:spPr>
          <a:xfrm>
            <a:off x="0" y="5655419"/>
            <a:ext cx="7749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>
                <a:latin typeface="Arial" panose="020B0604020202020204" pitchFamily="34" charset="0"/>
                <a:cs typeface="Arial" panose="020B0604020202020204" pitchFamily="34" charset="0"/>
              </a:rPr>
              <a:t>Ví dụ: Tìm sai số ở trạng thái thường trực của hệ thống với lối vào nhảy bậc.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4304A-5AAE-0349-C7AE-09507186AC9E}"/>
              </a:ext>
            </a:extLst>
          </p:cNvPr>
          <p:cNvSpPr txBox="1"/>
          <p:nvPr/>
        </p:nvSpPr>
        <p:spPr>
          <a:xfrm>
            <a:off x="324089" y="2848483"/>
            <a:ext cx="225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Với nhiễu nhảy bậc: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38F23F4B-3E52-7422-E4CF-80D3E8818763}"/>
              </a:ext>
            </a:extLst>
          </p:cNvPr>
          <p:cNvSpPr/>
          <p:nvPr/>
        </p:nvSpPr>
        <p:spPr>
          <a:xfrm>
            <a:off x="6096000" y="3079184"/>
            <a:ext cx="744638" cy="208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646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E38A-5031-63E1-3DD0-398F7598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51769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THƯỜNG TRỰC CỦA HỆ THỐNG VỚI PHẢN HỒI KHÁC ĐƠN VỊ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DF3BD3-3E7E-3013-40F7-E6619546F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440" b="15121"/>
          <a:stretch/>
        </p:blipFill>
        <p:spPr>
          <a:xfrm>
            <a:off x="756367" y="1275804"/>
            <a:ext cx="4556413" cy="15368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30058B-8019-902B-FA6D-8CA55162E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737" y="1275804"/>
            <a:ext cx="4091676" cy="1829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474DB-723F-6FF6-150E-4148AC39CF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388"/>
          <a:stretch/>
        </p:blipFill>
        <p:spPr>
          <a:xfrm>
            <a:off x="1051287" y="3304121"/>
            <a:ext cx="3746500" cy="30272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BE4C0C-B562-176E-0355-0A6B04B61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192" y="4045353"/>
            <a:ext cx="6669596" cy="171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6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7269-FD13-2E59-F0E9-2BDAA7B82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704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THƯỜNG TRỰC CỦA HỆ THỐNG VỚI PHẢN HỒI KHÁC ĐƠN VỊ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AFFFA-9C01-F82C-8C85-6332875F8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0630" y="1198047"/>
            <a:ext cx="3710739" cy="154684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0F961-BAA7-7443-0A5B-6C3F23EDCA02}"/>
              </a:ext>
            </a:extLst>
          </p:cNvPr>
          <p:cNvSpPr txBox="1"/>
          <p:nvPr/>
        </p:nvSpPr>
        <p:spPr>
          <a:xfrm>
            <a:off x="1678329" y="2967016"/>
            <a:ext cx="949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Ví dụ: Xác định kiểu hệ thống, tìm sai số ở trạng thái thường trực với lối vào nhảy bậc.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F3684D-C018-8859-BD71-B667094D3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55" y="4113812"/>
            <a:ext cx="5431099" cy="774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B604FB-939A-CD87-DE59-D5C0C71FA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153" y="4113812"/>
            <a:ext cx="3150338" cy="7745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5FD067-D272-6259-16D2-1B00F6333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056" y="5272702"/>
            <a:ext cx="3669947" cy="77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897E-4A5A-B23B-D0BB-743976031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471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SAI SỐ THƯỜNG TRỰC CỦA HỆ THỐNG VỚI PHẢN HỒI KHÁC ĐƠN VỊ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6BB64-75A0-5C29-BEE1-704211926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488" y="2224657"/>
            <a:ext cx="3602613" cy="166701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357B2-D6C2-2AE8-A59B-E1C6D6A3E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812" y="1192205"/>
            <a:ext cx="5242287" cy="3020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1C8F8E-79D3-912C-0465-09943C64B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782" y="4366965"/>
            <a:ext cx="5814349" cy="193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9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4E47-79C9-366C-A769-1D5C299A4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704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ĐỘ NHẠY CỦA HỆ THỐNG VỚI SỰ BIẾN THIÊN CỦA CÁC THAM SỐ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9167F6-0C13-D86C-A2C2-E61CFC518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4015"/>
            <a:ext cx="9603275" cy="966750"/>
          </a:xfrm>
        </p:spPr>
        <p:txBody>
          <a:bodyPr/>
          <a:lstStyle/>
          <a:p>
            <a:r>
              <a:rPr lang="vi-VN" dirty="0"/>
              <a:t>Độ nhạy của hệ thống được định nghĩa là tỷ lệ giữa thay đổi của hàm truyền của quá trình (tính theo phần trăm) với thay đổi của tham số.</a:t>
            </a:r>
            <a:endParaRPr lang="en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BCBF22-F498-90CC-CA41-BD8F6ECE7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872" y="2286000"/>
            <a:ext cx="5563886" cy="1995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020665-9733-F85C-915B-CB02A363D9A4}"/>
                  </a:ext>
                </a:extLst>
              </p:cNvPr>
              <p:cNvSpPr txBox="1"/>
              <p:nvPr/>
            </p:nvSpPr>
            <p:spPr>
              <a:xfrm>
                <a:off x="1689904" y="4572000"/>
                <a:ext cx="91787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Ví dụ: Giả sử có hàm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thì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=0.091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tăng gấp 3 lần, khi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(thay đổi 200%) thì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=0.032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(thay đổi -65%).</a:t>
                </a:r>
              </a:p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020665-9733-F85C-915B-CB02A363D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904" y="4572000"/>
                <a:ext cx="9178724" cy="1200329"/>
              </a:xfrm>
              <a:prstGeom prst="rect">
                <a:avLst/>
              </a:prstGeom>
              <a:blipFill>
                <a:blip r:embed="rId3"/>
                <a:stretch>
                  <a:fillRect l="-414" t="-210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DD240B6-6127-CED9-6717-6B43CFE79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732" y="2909221"/>
            <a:ext cx="1473200" cy="7493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103B1BBE-A95A-4D53-DD47-30E2EA9D6C09}"/>
              </a:ext>
            </a:extLst>
          </p:cNvPr>
          <p:cNvSpPr/>
          <p:nvPr/>
        </p:nvSpPr>
        <p:spPr>
          <a:xfrm>
            <a:off x="8031926" y="3220974"/>
            <a:ext cx="744638" cy="208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71642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C926-54BB-3143-51BB-7F2F8D8E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0196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ĐỘ NHẠY CỦA HỆ THỐNG VỚI SỰ BIẾN THIÊN CỦA CÁC THAM SỐ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EB486F-7B97-1AEE-3E93-A06089DA3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699" y="13571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VN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17C76CC-6BC9-C832-5577-72127AA7F8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936228"/>
              </p:ext>
            </p:extLst>
          </p:nvPr>
        </p:nvGraphicFramePr>
        <p:xfrm>
          <a:off x="6319776" y="1671257"/>
          <a:ext cx="2743200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497000" imgH="10528300" progId="Equation.3">
                  <p:embed/>
                </p:oleObj>
              </mc:Choice>
              <mc:Fallback>
                <p:oleObj r:id="rId2" imgW="39497000" imgH="10528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776" y="1671257"/>
                        <a:ext cx="2743200" cy="731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22BB7EC1-8492-2293-D948-A41DD5CCD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0" y="1913524"/>
            <a:ext cx="4091676" cy="1829384"/>
          </a:xfrm>
          <a:prstGeom prst="rect">
            <a:avLst/>
          </a:prstGeom>
        </p:spPr>
      </p:pic>
      <p:sp>
        <p:nvSpPr>
          <p:cNvPr id="27" name="Rectangle 8">
            <a:extLst>
              <a:ext uri="{FF2B5EF4-FFF2-40B4-BE49-F238E27FC236}">
                <a16:creationId xmlns:a16="http://schemas.microsoft.com/office/drawing/2014/main" id="{7608FBE1-7742-B82F-53FF-86AF8691D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42" y="2629394"/>
            <a:ext cx="61026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-2057400" algn="r"/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-2057400" algn="r"/>
                <a:tab pos="228600" algn="l"/>
              </a:tabLst>
            </a:pPr>
            <a:r>
              <a:rPr lang="en-US" altLang="en-VN" dirty="0" err="1"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ếu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kumimoji="0" lang="en-US" altLang="en-V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kumimoji="0" lang="en-US" altLang="en-V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kumimoji="0" lang="en-US" altLang="en-V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 &gt;&gt; 1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toàn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miền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tâm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chúng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xấp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V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xỉ</a:t>
            </a:r>
            <a:r>
              <a:rPr kumimoji="0" lang="en-US" altLang="en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1753B56A-9F1A-30A5-E9F2-9C972E54E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07788"/>
              </p:ext>
            </p:extLst>
          </p:nvPr>
        </p:nvGraphicFramePr>
        <p:xfrm>
          <a:off x="6457708" y="3528698"/>
          <a:ext cx="3498386" cy="677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4419500" imgH="10528300" progId="Equation.3">
                  <p:embed/>
                </p:oleObj>
              </mc:Choice>
              <mc:Fallback>
                <p:oleObj r:id="rId5" imgW="54419500" imgH="10528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708" y="3528698"/>
                        <a:ext cx="3498386" cy="6771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BC047E5-CA15-6564-6870-191F6EF04D6C}"/>
              </a:ext>
            </a:extLst>
          </p:cNvPr>
          <p:cNvSpPr txBox="1"/>
          <p:nvPr/>
        </p:nvSpPr>
        <p:spPr>
          <a:xfrm>
            <a:off x="724370" y="4483251"/>
            <a:ext cx="110123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➔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ếu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lớn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tăng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lên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lớn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ảnh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hưởng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lên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mức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kể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Khi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ảnh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hưởng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biến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thiên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quá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trình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bởi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chuyển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lên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kể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n-VN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➔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nhạy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867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D931-28DC-C665-53D2-21F6FF05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0195"/>
            <a:ext cx="9603275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ĐỘ NHẠY CỦA HỆ THỐNG VỚI SỰ BIẾN THIÊN CỦA CÁC THAM SỐ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555697-97DC-D8F0-DD8A-7DF6D6EAD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460"/>
          <a:stretch/>
        </p:blipFill>
        <p:spPr>
          <a:xfrm>
            <a:off x="4202166" y="1421974"/>
            <a:ext cx="4102100" cy="10810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23E3B-311C-2501-F553-38E28290B1E5}"/>
              </a:ext>
            </a:extLst>
          </p:cNvPr>
          <p:cNvSpPr txBox="1"/>
          <p:nvPr/>
        </p:nvSpPr>
        <p:spPr>
          <a:xfrm>
            <a:off x="1909823" y="2731625"/>
            <a:ext cx="8160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Tính độ nhạy của hệ thống với sự biến thiên của tham số a? Với điều kiện nào của K thì độ nhạy giảm?</a:t>
            </a:r>
          </a:p>
        </p:txBody>
      </p:sp>
    </p:spTree>
    <p:extLst>
      <p:ext uri="{BB962C8B-B14F-4D97-AF65-F5344CB8AC3E}">
        <p14:creationId xmlns:p14="http://schemas.microsoft.com/office/powerpoint/2010/main" val="320016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E427-20FA-6D88-89B4-7A8D05E3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SAI SỐ THƯỜNG TRỰC CỦA HỆ THỐNG TRONG KHÔNG GIAN TRẠNG THÁI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A513226-0F52-18D9-463C-6F7F82E3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116" y="1623037"/>
            <a:ext cx="64262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E9DEA3-7E77-3549-6E27-15A4385F184E}"/>
              </a:ext>
            </a:extLst>
          </p:cNvPr>
          <p:cNvSpPr txBox="1"/>
          <p:nvPr/>
        </p:nvSpPr>
        <p:spPr>
          <a:xfrm>
            <a:off x="1622385" y="3151878"/>
            <a:ext cx="894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Ví dụ: Tìm sai số ở trạng thái thường trực của hệ thống với lối vào dạng nhảy bậc và dạng dốc.</a:t>
            </a:r>
          </a:p>
        </p:txBody>
      </p:sp>
    </p:spTree>
    <p:extLst>
      <p:ext uri="{BB962C8B-B14F-4D97-AF65-F5344CB8AC3E}">
        <p14:creationId xmlns:p14="http://schemas.microsoft.com/office/powerpoint/2010/main" val="298312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ECDD-2A2E-FA31-41D9-ED2A3A1D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DEA9-A6D7-2CD1-E5C2-03549B82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 dirty="0">
              <a:effectLst/>
              <a:latin typeface="Helvetica Neue" panose="02000503000000020004" pitchFamily="2" charset="0"/>
            </a:endParaRP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35717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{DA89C2F4-FBD1-684E-A465-9AFB9D00BEE5}tf10001119</Template>
  <TotalTime>3031</TotalTime>
  <Words>1194</Words>
  <Application>Microsoft Macintosh PowerPoint</Application>
  <PresentationFormat>Widescreen</PresentationFormat>
  <Paragraphs>90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 Math</vt:lpstr>
      <vt:lpstr>Gill Sans MT</vt:lpstr>
      <vt:lpstr>Helvetica Neue</vt:lpstr>
      <vt:lpstr>Gallery</vt:lpstr>
      <vt:lpstr>Equation.3</vt:lpstr>
      <vt:lpstr>CHƯƠNG 7: SAI SỐ Ở TRẠNG THÁI THƯỜNG TRỰC</vt:lpstr>
      <vt:lpstr>Giới thiệu</vt:lpstr>
      <vt:lpstr>GIỚI THIỆU</vt:lpstr>
      <vt:lpstr>GIỚI THIỆU</vt:lpstr>
      <vt:lpstr>SAI SỐ Ở TRẠNG THÁI THƯỜNG TRỰC VỚI HỆ THỐNG CÓ PHẢN HỒI ĐƠN VỊ</vt:lpstr>
      <vt:lpstr>SAI SỐ Ở TRẠNG THÁI THƯỜNG TRỰC VỚI HỆ THỐNG CÓ PHẢN HỒI ĐƠN VỊ</vt:lpstr>
      <vt:lpstr>SAI SỐ Ở TRẠNG THÁI THƯỜNG TRỰC VỚI HỆ THỐNG CÓ PHẢN HỒI ĐƠN VỊ</vt:lpstr>
      <vt:lpstr>SAI SỐ Ở TRẠNG THÁI THƯỜNG TRỰC VỚI HỆ THỐNG CÓ PHẢN HỒI ĐƠN VỊ</vt:lpstr>
      <vt:lpstr>SAI SỐ Ở TRẠNG THÁI THƯỜNG TRỰC VỚI HỆ THỐNG CÓ PHẢN HỒI ĐƠN VỊ</vt:lpstr>
      <vt:lpstr>SAI SỐ Ở TRẠNG THÁI THƯỜNG TRỰC VỚI HỆ THỐNG CÓ PHẢN HỒI ĐƠN VỊ</vt:lpstr>
      <vt:lpstr>SAI SỐ Ở TRẠNG THÁI THƯỜNG TRỰC VỚI HỆ THỐNG CÓ PHẢN HỒI ĐƠN VỊ</vt:lpstr>
      <vt:lpstr>SAI SỐ Ở TRẠNG THÁI THƯỜNG TRỰC VỚI HỆ THỐNG CÓ PHẢN HỒI ĐƠN VỊ</vt:lpstr>
      <vt:lpstr>HẰNG SỐ SAI SỐ VÀ KIỂU HỆ THỐNG</vt:lpstr>
      <vt:lpstr>HẰNG SỐ SAI SỐ VÀ KIỂU HỆ THỐNG</vt:lpstr>
      <vt:lpstr>HẰNG SỐ SAI SỐ VÀ KIỂU HỆ THỐNG</vt:lpstr>
      <vt:lpstr>HẰNG SỐ SAI SỐ VÀ KIỂU HỆ THỐNG</vt:lpstr>
      <vt:lpstr>SAI SỐ THƯỜNG TRỰC CỦA HỆ THỐNG CÓ NHIỄU </vt:lpstr>
      <vt:lpstr>SAI SỐ THƯỜNG TRỰC CỦA HỆ THỐNG CÓ NHIỄU </vt:lpstr>
      <vt:lpstr>SAI SỐ THƯỜNG TRỰC CỦA HỆ THỐNG VỚI PHẢN HỒI KHÁC ĐƠN VỊ</vt:lpstr>
      <vt:lpstr>SAI SỐ THƯỜNG TRỰC CỦA HỆ THỐNG VỚI PHẢN HỒI KHÁC ĐƠN VỊ</vt:lpstr>
      <vt:lpstr>SAI SỐ THƯỜNG TRỰC CỦA HỆ THỐNG VỚI PHẢN HỒI KHÁC ĐƠN VỊ</vt:lpstr>
      <vt:lpstr>ĐỘ NHẠY CỦA HỆ THỐNG VỚI SỰ BIẾN THIÊN CỦA CÁC THAM SỐ</vt:lpstr>
      <vt:lpstr>ĐỘ NHẠY CỦA HỆ THỐNG VỚI SỰ BIẾN THIÊN CỦA CÁC THAM SỐ</vt:lpstr>
      <vt:lpstr>ĐỘ NHẠY CỦA HỆ THỐNG VỚI SỰ BIẾN THIÊN CỦA CÁC THAM SỐ</vt:lpstr>
      <vt:lpstr>SAI SỐ THƯỜNG TRỰC CỦA HỆ THỐNG TRONG KHÔNG GIAN TRẠNG THÁI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2: MÔ HÌNH TRONG MIỀN TẦN SỐ</dc:title>
  <dc:creator>Nguyễn Thu Hằng</dc:creator>
  <cp:lastModifiedBy>Nguyễn Thu Hằng</cp:lastModifiedBy>
  <cp:revision>17</cp:revision>
  <dcterms:created xsi:type="dcterms:W3CDTF">2023-08-28T11:08:29Z</dcterms:created>
  <dcterms:modified xsi:type="dcterms:W3CDTF">2023-10-17T02:25:11Z</dcterms:modified>
</cp:coreProperties>
</file>