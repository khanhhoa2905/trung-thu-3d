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27"/>
  </p:notesMasterIdLst>
  <p:sldIdLst>
    <p:sldId id="256" r:id="rId2"/>
    <p:sldId id="258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4" r:id="rId23"/>
    <p:sldId id="295" r:id="rId24"/>
    <p:sldId id="296" r:id="rId25"/>
    <p:sldId id="27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077"/>
  </p:normalViewPr>
  <p:slideViewPr>
    <p:cSldViewPr snapToGrid="0">
      <p:cViewPr varScale="1">
        <p:scale>
          <a:sx n="119" d="100"/>
          <a:sy n="119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4BD01-BE95-4C45-8041-4857213F7C89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6CAC5-3B38-CA4B-BEE2-E4804119733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2915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65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98069"/>
            <a:ext cx="9603275" cy="67421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244014"/>
            <a:ext cx="9603275" cy="4444399"/>
          </a:xfrm>
        </p:spPr>
        <p:txBody>
          <a:bodyPr anchor="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0060" y="479993"/>
            <a:ext cx="811019" cy="50357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7131A4-70E5-2C47-979D-CC0A508A1115}" type="slidenum">
              <a:rPr lang="en-VN" smtClean="0"/>
              <a:pPr/>
              <a:t>‹#›</a:t>
            </a:fld>
            <a:endParaRPr lang="en-V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7332" y="983571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719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45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193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71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9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28770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EF61E88-A186-394E-83B0-C95AB89BE3CE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22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0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92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1E88-A186-394E-83B0-C95AB89BE3CE}" type="datetimeFigureOut">
              <a:rPr lang="en-VN" smtClean="0"/>
              <a:t>26/09/2023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15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3693-A035-3C4E-7F71-6028A05A4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9070028" cy="2541431"/>
          </a:xfrm>
        </p:spPr>
        <p:txBody>
          <a:bodyPr>
            <a:norm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CHƯƠNG 5: RÚT GỌN HỆ THỐNG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E02D5-7413-F104-1030-A7A1F479E9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0" lang="en-VN" altLang="en-VN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Reduction of Multiple Subsystems</a:t>
            </a:r>
          </a:p>
        </p:txBody>
      </p:sp>
      <p:pic>
        <p:nvPicPr>
          <p:cNvPr id="1025" name="Picture 1" descr="page53image1145757968">
            <a:extLst>
              <a:ext uri="{FF2B5EF4-FFF2-40B4-BE49-F238E27FC236}">
                <a16:creationId xmlns:a16="http://schemas.microsoft.com/office/drawing/2014/main" id="{93647881-E3F9-0241-C1ED-5F534C81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19800" cy="44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69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F87F-9540-6807-463C-A18DC1A6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iới thiệu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E0DA-2280-E682-2A9C-68F236549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244014"/>
            <a:ext cx="9603275" cy="4444399"/>
          </a:xfrm>
        </p:spPr>
        <p:txBody>
          <a:bodyPr/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Biểu diễn hệ thống</a:t>
            </a:r>
          </a:p>
          <a:p>
            <a:pPr lvl="1"/>
            <a:r>
              <a:rPr lang="en-VN" dirty="0"/>
              <a:t>Sơ đồ khối </a:t>
            </a:r>
            <a:r>
              <a:rPr lang="en-VN" i="1" dirty="0"/>
              <a:t>(Block diagram)</a:t>
            </a:r>
            <a:r>
              <a:rPr lang="en-VN" dirty="0"/>
              <a:t>: thường được sử dụng để phân tích trong miền tần số</a:t>
            </a:r>
            <a:endParaRPr lang="en-VN" i="1" dirty="0"/>
          </a:p>
          <a:p>
            <a:pPr lvl="1"/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VN" dirty="0"/>
              <a:t>ưu đồ tín hiệu </a:t>
            </a:r>
            <a:r>
              <a:rPr lang="en-VN" i="1" dirty="0"/>
              <a:t>(Signal-flow diagram): </a:t>
            </a:r>
            <a:r>
              <a:rPr lang="en-VN" dirty="0"/>
              <a:t>thường được sử dụng để phân tích trong khong gian trạng thái</a:t>
            </a:r>
            <a:endParaRPr lang="en-VN" i="1" dirty="0"/>
          </a:p>
          <a:p>
            <a:pPr lvl="1"/>
            <a:endParaRPr lang="en-VN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175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3F383-2CD4-1283-028E-109B50F4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SƠ ĐỒ KHỐI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BE3ACA-0350-DDF2-C5E0-AAD81E055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3838" y="1446842"/>
            <a:ext cx="5434230" cy="396431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024AA3-D11C-AD78-9379-06472C9A2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94" y="3156748"/>
            <a:ext cx="5216475" cy="27639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C765D0-2676-8A01-F765-F5BE4E118049}"/>
                  </a:ext>
                </a:extLst>
              </p:cNvPr>
              <p:cNvSpPr txBox="1"/>
              <p:nvPr/>
            </p:nvSpPr>
            <p:spPr>
              <a:xfrm>
                <a:off x="433932" y="1094645"/>
                <a:ext cx="5665076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sz="1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Mỗi hệ thống nhỏ (</a:t>
                </a:r>
                <a:r>
                  <a:rPr lang="en-VN" sz="1600" i="1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subsystem)</a:t>
                </a:r>
                <a:r>
                  <a:rPr lang="en-VN" sz="1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bao gồm: lối vào, lối ra, hàm truyền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sz="1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Các hệ thống trong thực tế thường được tạo thành từ nhiều hệ thống nhỏ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sz="1600" b="1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Summing junction: </a:t>
                </a:r>
                <a:r>
                  <a:rPr lang="en-VN" sz="1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Tín hiệu lối ra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VN" sz="1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được tính bằng tổng đại số của các tín hiệu vào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</m:oMath>
                </a14:m>
                <a:endParaRPr lang="en-VN" sz="16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sz="1600" b="1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Pickoff point: </a:t>
                </a:r>
                <a:r>
                  <a:rPr lang="en-VN" sz="1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Phân phối tín hiệu vào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𝑅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VN" sz="1600" b="1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</a:t>
                </a:r>
                <a:r>
                  <a:rPr lang="en-VN" sz="1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tới một số điểm lối ra</a:t>
                </a:r>
                <a:endParaRPr lang="en-VN" sz="1600" b="1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C765D0-2676-8A01-F765-F5BE4E118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32" y="1094645"/>
                <a:ext cx="5665076" cy="2062103"/>
              </a:xfrm>
              <a:prstGeom prst="rect">
                <a:avLst/>
              </a:prstGeom>
              <a:blipFill>
                <a:blip r:embed="rId4"/>
                <a:stretch>
                  <a:fillRect l="-447" t="-1227" b="-30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17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53DEB-1C14-225C-C10B-41E70FEA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SƠ ĐỒ KHỐI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BF5A6E-5DF0-B391-3EEE-F10943116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429" y="1395460"/>
            <a:ext cx="5694824" cy="191529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009114-7A4D-ABA6-D69E-6C51C2E50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544" y="3684848"/>
            <a:ext cx="2901950" cy="536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2526AC-E575-CEC2-3275-3A748235C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067" y="1166648"/>
            <a:ext cx="5364504" cy="30547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35B040-EA68-9AF8-28AF-0FEC0D38C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548" y="4515803"/>
            <a:ext cx="3739007" cy="5501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CD548C-B079-232E-F799-A55D4A613143}"/>
              </a:ext>
            </a:extLst>
          </p:cNvPr>
          <p:cNvSpPr txBox="1"/>
          <p:nvPr/>
        </p:nvSpPr>
        <p:spPr>
          <a:xfrm>
            <a:off x="1322974" y="5462540"/>
            <a:ext cx="3647090" cy="37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dirty="0"/>
              <a:t>Dạng nối tiếp (Cascade)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8A7C01-A1C1-2775-D66E-0EAD2CE7786D}"/>
              </a:ext>
            </a:extLst>
          </p:cNvPr>
          <p:cNvSpPr txBox="1"/>
          <p:nvPr/>
        </p:nvSpPr>
        <p:spPr>
          <a:xfrm>
            <a:off x="7505516" y="5462540"/>
            <a:ext cx="3647090" cy="37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dirty="0"/>
              <a:t>Dạng song song (Parallel)</a:t>
            </a:r>
          </a:p>
        </p:txBody>
      </p:sp>
    </p:spTree>
    <p:extLst>
      <p:ext uri="{BB962C8B-B14F-4D97-AF65-F5344CB8AC3E}">
        <p14:creationId xmlns:p14="http://schemas.microsoft.com/office/powerpoint/2010/main" val="117190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4AB9-4998-D7E9-18A1-19340B13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SƠ ĐỒ KHỐI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4BB828-E2F1-3C7B-D886-40469F87E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713" y="1168181"/>
            <a:ext cx="5610549" cy="21730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318348-15E8-A2B7-54E1-0AB207241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729" y="1168181"/>
            <a:ext cx="3810404" cy="20821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A03AA9-A0DE-CE86-06C8-10269B6F7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293" y="3928397"/>
            <a:ext cx="3352800" cy="1130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9A87E0-D7DB-D345-A8D6-7D0304D6F91A}"/>
              </a:ext>
            </a:extLst>
          </p:cNvPr>
          <p:cNvSpPr txBox="1"/>
          <p:nvPr/>
        </p:nvSpPr>
        <p:spPr>
          <a:xfrm>
            <a:off x="4643116" y="5426042"/>
            <a:ext cx="3647090" cy="37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dirty="0"/>
              <a:t>Dạng phản hồi (Feedback)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84D04D-388E-1F75-F62B-164257D03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543" y="3928397"/>
            <a:ext cx="29464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5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BA51-21C7-118F-149F-256B6F6D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SƠ ĐỒ KHỐI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BBF94-FDB2-3131-4767-A42BCD9FC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3047"/>
          <a:stretch/>
        </p:blipFill>
        <p:spPr>
          <a:xfrm>
            <a:off x="718457" y="1341830"/>
            <a:ext cx="2264229" cy="20871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FC6DED-BC52-A5B4-78E5-4F671C74C2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4661"/>
          <a:stretch/>
        </p:blipFill>
        <p:spPr>
          <a:xfrm>
            <a:off x="6389915" y="1341831"/>
            <a:ext cx="2264229" cy="2087169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84559113-429F-7430-C46D-95F367477F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952"/>
          <a:stretch/>
        </p:blipFill>
        <p:spPr>
          <a:xfrm>
            <a:off x="2982686" y="1341830"/>
            <a:ext cx="2558141" cy="20871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EDD10E-29CD-6E51-9363-2F1D40840A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339"/>
          <a:stretch/>
        </p:blipFill>
        <p:spPr>
          <a:xfrm>
            <a:off x="8654144" y="1341830"/>
            <a:ext cx="2729767" cy="20871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A19C78-9135-DBD1-2334-7ADD689C62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9819"/>
          <a:stretch/>
        </p:blipFill>
        <p:spPr>
          <a:xfrm>
            <a:off x="718457" y="3823964"/>
            <a:ext cx="1937657" cy="21617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10EA17-BF06-0AF9-497E-7274096B7D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601"/>
          <a:stretch/>
        </p:blipFill>
        <p:spPr>
          <a:xfrm>
            <a:off x="2656114" y="3823963"/>
            <a:ext cx="2960913" cy="21617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05991D-0EEC-D8A3-6156-E7850D9DDB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4661"/>
          <a:stretch/>
        </p:blipFill>
        <p:spPr>
          <a:xfrm>
            <a:off x="6389915" y="3823963"/>
            <a:ext cx="2264229" cy="21328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33C35F-4DFF-157B-28E9-C289222E0D5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941"/>
          <a:stretch/>
        </p:blipFill>
        <p:spPr>
          <a:xfrm>
            <a:off x="8654144" y="3823963"/>
            <a:ext cx="2849511" cy="213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8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0720-16CD-5D9D-6ABF-DDA4E2FF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SƠ ĐỒ KHỐI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861C01-A72B-B6B2-AC57-55282C685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5530" y="1658271"/>
            <a:ext cx="6427788" cy="322922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F6101F-B4DA-9782-56A7-4EB6F70BF457}"/>
              </a:ext>
            </a:extLst>
          </p:cNvPr>
          <p:cNvSpPr txBox="1"/>
          <p:nvPr/>
        </p:nvSpPr>
        <p:spPr>
          <a:xfrm>
            <a:off x="2865863" y="5156465"/>
            <a:ext cx="568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i="1" dirty="0">
                <a:latin typeface="Arial" panose="020B0604020202020204" pitchFamily="34" charset="0"/>
                <a:cs typeface="Arial" panose="020B0604020202020204" pitchFamily="34" charset="0"/>
              </a:rPr>
              <a:t>Rút gọn sơ đồ khối sau</a:t>
            </a:r>
          </a:p>
        </p:txBody>
      </p:sp>
    </p:spTree>
    <p:extLst>
      <p:ext uri="{BB962C8B-B14F-4D97-AF65-F5344CB8AC3E}">
        <p14:creationId xmlns:p14="http://schemas.microsoft.com/office/powerpoint/2010/main" val="2134093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2B604-D4EA-210F-2727-1FB812C3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SƠ ĐỒ KHỐI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C220ED-506A-8BA7-B4F9-708B2F771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949" y="1627130"/>
            <a:ext cx="4322012" cy="278875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8B02DF-3FB4-74EB-7FB4-5CAE73FD7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320" y="1627130"/>
            <a:ext cx="4377655" cy="15817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42B195-0B62-7FF6-07BB-B2763C9F1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613" y="3863375"/>
            <a:ext cx="5513070" cy="110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062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CFD9-CB36-22C8-7E91-D0658DA1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SƠ ĐỒ KHỐI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A7F253-4D5D-F31C-D84F-FCA65D551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6361" y="1496174"/>
            <a:ext cx="7755193" cy="224657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37653B-5990-97ED-FE58-29213AB4D282}"/>
              </a:ext>
            </a:extLst>
          </p:cNvPr>
          <p:cNvSpPr txBox="1"/>
          <p:nvPr/>
        </p:nvSpPr>
        <p:spPr>
          <a:xfrm>
            <a:off x="3501482" y="3907528"/>
            <a:ext cx="568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i="1" dirty="0">
                <a:latin typeface="Arial" panose="020B0604020202020204" pitchFamily="34" charset="0"/>
                <a:cs typeface="Arial" panose="020B0604020202020204" pitchFamily="34" charset="0"/>
              </a:rPr>
              <a:t>Rút gọn sơ đồ khối sau</a:t>
            </a:r>
          </a:p>
        </p:txBody>
      </p:sp>
    </p:spTree>
    <p:extLst>
      <p:ext uri="{BB962C8B-B14F-4D97-AF65-F5344CB8AC3E}">
        <p14:creationId xmlns:p14="http://schemas.microsoft.com/office/powerpoint/2010/main" val="3893496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B7FD-9F88-85CE-E29D-A2290ED1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SƠ ĐỒ KHỐI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508D2E-4B07-7657-E22C-9BFB6A54CB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3698" y="1121658"/>
            <a:ext cx="6835697" cy="230734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9BF5F1-C59A-2E75-F62C-6E28B32FD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92" y="3896260"/>
            <a:ext cx="6043960" cy="17787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D55CD9-BA8B-5E48-D052-B85DCA61C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127" y="4409630"/>
            <a:ext cx="5347010" cy="86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99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85D6-C1C9-C8D3-76A8-826FFD91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LƯU ĐỒ TÍN HIỆU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9066CD-411A-4FE6-969C-35D934950D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0691" y="1470151"/>
            <a:ext cx="4304177" cy="10599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E09028-E482-F758-9EA9-622B59045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13" y="3128006"/>
            <a:ext cx="4304177" cy="23301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A7067E-9023-CF4A-B259-AE9F2206E114}"/>
                  </a:ext>
                </a:extLst>
              </p:cNvPr>
              <p:cNvSpPr txBox="1"/>
              <p:nvPr/>
            </p:nvSpPr>
            <p:spPr>
              <a:xfrm>
                <a:off x="5597913" y="3523785"/>
                <a:ext cx="562021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V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V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A7067E-9023-CF4A-B259-AE9F2206E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913" y="3523785"/>
                <a:ext cx="5620215" cy="1200329"/>
              </a:xfrm>
              <a:prstGeom prst="rect">
                <a:avLst/>
              </a:prstGeom>
              <a:blipFill>
                <a:blip r:embed="rId4"/>
                <a:stretch>
                  <a:fillRect b="-421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638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9C42-82BB-3C68-3A4D-83A40AB16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LƯU ĐỒ TÍN HIỆU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E7A57A1-5B55-8193-0040-EFE3FFF945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4799"/>
          <a:stretch/>
        </p:blipFill>
        <p:spPr>
          <a:xfrm>
            <a:off x="0" y="1545275"/>
            <a:ext cx="6415837" cy="7595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A378B3-B854-E834-56D7-2E059D294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8285"/>
            <a:ext cx="6415837" cy="737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9EA0F8-8353-CFC0-1856-EB89CBBDEB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0725"/>
          <a:stretch/>
        </p:blipFill>
        <p:spPr>
          <a:xfrm>
            <a:off x="6827496" y="1196489"/>
            <a:ext cx="5364504" cy="1810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2044EF-495B-4845-2F67-963C1200F7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535" y="3361008"/>
            <a:ext cx="5234878" cy="1678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2994EA-B21D-0FA4-219F-FA3F46C6B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096" y="3605246"/>
            <a:ext cx="3810404" cy="2082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6422DE-027D-2C00-7F10-B423DF2C11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6373" y="5778956"/>
            <a:ext cx="5678928" cy="9367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AE455D-41FE-AA3E-5A12-7F6094CB7C3A}"/>
              </a:ext>
            </a:extLst>
          </p:cNvPr>
          <p:cNvSpPr txBox="1"/>
          <p:nvPr/>
        </p:nvSpPr>
        <p:spPr>
          <a:xfrm>
            <a:off x="479502" y="1037063"/>
            <a:ext cx="5419493" cy="379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Vẽ các nút ➔ kết nối giữa các nút</a:t>
            </a:r>
          </a:p>
        </p:txBody>
      </p:sp>
    </p:spTree>
    <p:extLst>
      <p:ext uri="{BB962C8B-B14F-4D97-AF65-F5344CB8AC3E}">
        <p14:creationId xmlns:p14="http://schemas.microsoft.com/office/powerpoint/2010/main" val="142813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0D2B-EB7B-5C57-E839-460BC0EA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LƯU ĐỒ TÍN HIỆU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8487959-A55D-C845-6AEC-30587F9B7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469" y="1132502"/>
            <a:ext cx="7091766" cy="20543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9A38D1-4EA5-271C-4A87-B36F19190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0" y="3464686"/>
            <a:ext cx="5839522" cy="11907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7FD22D-4BBD-9818-C192-733AF45B0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58926"/>
            <a:ext cx="5849415" cy="28195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C2C565-50D7-C012-55F3-20AF778BF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634" y="4810608"/>
            <a:ext cx="4220136" cy="196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0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C89B-AF9A-B7AF-30E6-8F2CF360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LƯU ĐỒ TÍN HIỆU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03744-2CFD-62F0-C4F4-13F4AC049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789" y="1234105"/>
            <a:ext cx="10329065" cy="561242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VN" dirty="0"/>
              <a:t>Quy tắc Mason: Phương pháp giản lược lưu đồ tín hiệu để tìm hàm truyền của hệ thống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A9F586-412F-0831-3AF3-D038685A64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8" b="-1"/>
          <a:stretch/>
        </p:blipFill>
        <p:spPr>
          <a:xfrm>
            <a:off x="6260145" y="2548706"/>
            <a:ext cx="5807023" cy="1943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C5985E-3113-E96D-EC69-3304F758C468}"/>
              </a:ext>
            </a:extLst>
          </p:cNvPr>
          <p:cNvSpPr txBox="1"/>
          <p:nvPr/>
        </p:nvSpPr>
        <p:spPr>
          <a:xfrm>
            <a:off x="289932" y="1996068"/>
            <a:ext cx="58060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VN" b="1" dirty="0">
                <a:latin typeface="Arial" panose="020B0604020202020204" pitchFamily="34" charset="0"/>
                <a:cs typeface="Arial" panose="020B0604020202020204" pitchFamily="34" charset="0"/>
              </a:rPr>
              <a:t>Định nghĩa:</a:t>
            </a:r>
          </a:p>
          <a:p>
            <a:pPr algn="just"/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i="1" dirty="0">
                <a:latin typeface="Arial" panose="020B0604020202020204" pitchFamily="34" charset="0"/>
                <a:cs typeface="Arial" panose="020B0604020202020204" pitchFamily="34" charset="0"/>
              </a:rPr>
              <a:t>Đường dẫn (path):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một nhánh hay một chuỗi liên tiếp các nhánh theo đó có thể đi từ một nút (tín hiệu) tới một nút (tín hiệu) khác </a:t>
            </a:r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VN" i="1" dirty="0">
                <a:latin typeface="Arial" panose="020B0604020202020204" pitchFamily="34" charset="0"/>
                <a:cs typeface="Arial" panose="020B0604020202020204" pitchFamily="34" charset="0"/>
              </a:rPr>
              <a:t>- Hệ số vòng lặp (Loop gain): 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Tích gia lượng (gain) của các nhánh trong một vòng (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đường dẫn đóng kín xuất phát và kết thúc tại cùng một nút và trên đường dẫn đó không có nút nào được đi qua hơn một lần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FD17E5-21F3-0C76-48F5-46B157209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864" y="4390720"/>
            <a:ext cx="2550204" cy="164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24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A562F-76C2-C9DF-3D8C-773A0EE0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LƯU ĐỒ TÍN HIỆU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7BE70-5B9C-CC27-A5BE-41A769FB6A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8" b="-1"/>
          <a:stretch/>
        </p:blipFill>
        <p:spPr>
          <a:xfrm>
            <a:off x="6260145" y="2548706"/>
            <a:ext cx="5807023" cy="19439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3AC25D-3C4D-B143-7EB5-2023953D2FFA}"/>
              </a:ext>
            </a:extLst>
          </p:cNvPr>
          <p:cNvSpPr txBox="1"/>
          <p:nvPr/>
        </p:nvSpPr>
        <p:spPr>
          <a:xfrm>
            <a:off x="289932" y="1244014"/>
            <a:ext cx="58060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VN" b="1" dirty="0">
                <a:latin typeface="Arial" panose="020B0604020202020204" pitchFamily="34" charset="0"/>
                <a:cs typeface="Arial" panose="020B0604020202020204" pitchFamily="34" charset="0"/>
              </a:rPr>
              <a:t>Định nghĩa:</a:t>
            </a:r>
          </a:p>
          <a:p>
            <a:pPr algn="just"/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VN" i="1" dirty="0">
                <a:latin typeface="Arial" panose="020B0604020202020204" pitchFamily="34" charset="0"/>
                <a:cs typeface="Arial" panose="020B0604020202020204" pitchFamily="34" charset="0"/>
              </a:rPr>
              <a:t>Gia lượng đường dẫn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Forward-path gain)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Tích gia lượng (gain) của đường dẫn từ nút lối vào đến nút lối ra theo chiều của đường tín hiệu.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AB4B50-15DA-CCF0-82B4-C42FF8034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30" y="2444343"/>
            <a:ext cx="4150872" cy="796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33B840-506F-0C89-98ED-CB3E3591F07C}"/>
                  </a:ext>
                </a:extLst>
              </p:cNvPr>
              <p:cNvSpPr txBox="1"/>
              <p:nvPr/>
            </p:nvSpPr>
            <p:spPr>
              <a:xfrm>
                <a:off x="289932" y="3322142"/>
                <a:ext cx="580606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- </a:t>
                </a:r>
                <a:r>
                  <a:rPr lang="en-VN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Vòng lặp không có điểm chung (</a:t>
                </a:r>
                <a:r>
                  <a:rPr lang="en-US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Nontouching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loops)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vòng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lặp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không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nút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chung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không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nút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chung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với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3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vòng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còn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lại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/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- Gia </a:t>
                </a:r>
                <a:r>
                  <a:rPr lang="en-US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lượng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vòng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lặp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không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điểm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chung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US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Nontouching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-loop gain):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Tích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gia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lượng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vòng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không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nút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chung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33B840-506F-0C89-98ED-CB3E3591F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32" y="3322142"/>
                <a:ext cx="5806068" cy="2031325"/>
              </a:xfrm>
              <a:prstGeom prst="rect">
                <a:avLst/>
              </a:prstGeom>
              <a:blipFill>
                <a:blip r:embed="rId4"/>
                <a:stretch>
                  <a:fillRect l="-1092" t="-1242" r="-655" b="-372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AF8EE7A-89D6-C213-DC43-5DBD6E9CB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579" y="5483717"/>
            <a:ext cx="3699572" cy="118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73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FFDAE-6741-ABB2-C89B-F979EE450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LƯU ĐỒ TÍN HIỆU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F0A8D-8493-601D-648B-C838A2DE6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Quy tắc Mason:</a:t>
            </a:r>
          </a:p>
          <a:p>
            <a:pPr marL="0" indent="0">
              <a:buNone/>
            </a:pPr>
            <a:endParaRPr lang="en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9C2656-D4D3-E05B-2705-A9B3C58E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889" y="1079345"/>
            <a:ext cx="3352628" cy="10163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CD5DF0-EF8B-6856-DA30-8FE0BCBC7F9C}"/>
                  </a:ext>
                </a:extLst>
              </p:cNvPr>
              <p:cNvSpPr txBox="1"/>
              <p:nvPr/>
            </p:nvSpPr>
            <p:spPr>
              <a:xfrm>
                <a:off x="546410" y="2467380"/>
                <a:ext cx="11065106" cy="4357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Hàm truyền của hệ thống được biểu diễn bằng lưu đồ tín hiệu được tính theo công thức trên, trong đó:</a:t>
                </a:r>
              </a:p>
              <a:p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: Số đường dẫn forward</a:t>
                </a:r>
              </a:p>
              <a:p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: Gia lượng đường dẫn forward thứ k</a:t>
                </a:r>
              </a:p>
              <a:p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VN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oo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gains</m:t>
                        </m:r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nontouching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loop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gains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taken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two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at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time</m:t>
                        </m:r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nontouching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loop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gains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taken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three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at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time</m:t>
                        </m:r>
                      </m:e>
                    </m:nary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en-US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nontouching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loop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gains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taken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four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at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time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−…</m:t>
                    </m:r>
                  </m:oMath>
                </a14:m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:r>
                  <a:rPr lang="en-VN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(Định thức của lưu đồ)</a:t>
                </a:r>
                <a:b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V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=∆−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loop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gain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terms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∆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that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touch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kth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forward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path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V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dirty="0">
                    <a:cs typeface="Arial" panose="020B0604020202020204" pitchFamily="34" charset="0"/>
                  </a:rPr>
                  <a:t>định thức của lưu đồ sau khi đã loại trừ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những loop gains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nút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chung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với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đường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dẫn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forward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thứ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k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CD5DF0-EF8B-6856-DA30-8FE0BCBC7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10" y="2467380"/>
                <a:ext cx="11065106" cy="4357668"/>
              </a:xfrm>
              <a:prstGeom prst="rect">
                <a:avLst/>
              </a:prstGeom>
              <a:blipFill>
                <a:blip r:embed="rId3"/>
                <a:stretch>
                  <a:fillRect l="-2982" t="-581" b="-407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560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EA73-C19B-3E2F-E544-2DB0542A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LƯU ĐỒ TÍN HIỆU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BB0794-9B91-307F-C19B-EDAC87F10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0300" y="2040964"/>
            <a:ext cx="5702300" cy="29845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FCF2BD-E4EC-A35C-31C7-31BE7C783C88}"/>
              </a:ext>
            </a:extLst>
          </p:cNvPr>
          <p:cNvSpPr txBox="1"/>
          <p:nvPr/>
        </p:nvSpPr>
        <p:spPr>
          <a:xfrm>
            <a:off x="301083" y="1416205"/>
            <a:ext cx="560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Forward-path gain:</a:t>
            </a:r>
            <a:endParaRPr lang="en-V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215351-57FC-65A6-1952-8316EE80C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014" y="1858020"/>
            <a:ext cx="2743200" cy="49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7E6434-BD9D-AF3E-26B4-1BFFE521DE38}"/>
              </a:ext>
            </a:extLst>
          </p:cNvPr>
          <p:cNvSpPr txBox="1"/>
          <p:nvPr/>
        </p:nvSpPr>
        <p:spPr>
          <a:xfrm>
            <a:off x="291852" y="2402615"/>
            <a:ext cx="560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Loop gains:</a:t>
            </a:r>
            <a:endParaRPr lang="en-V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B1BEFE-4359-5D2F-C202-32A2F2D4C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013" y="2699863"/>
            <a:ext cx="3810061" cy="16156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76A459-5BA8-22C2-0672-19A064858737}"/>
              </a:ext>
            </a:extLst>
          </p:cNvPr>
          <p:cNvSpPr txBox="1"/>
          <p:nvPr/>
        </p:nvSpPr>
        <p:spPr>
          <a:xfrm>
            <a:off x="291851" y="4428104"/>
            <a:ext cx="560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Nontouching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loops taken two at a time:</a:t>
            </a:r>
            <a:endParaRPr lang="en-V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289B56-6079-7C22-4CEA-36F606428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012" y="4910018"/>
            <a:ext cx="3810061" cy="118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5DD6-ECFC-8934-8160-6852F1D9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LƯU ĐỒ TÍN HIỆU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C5F69F6-2F37-AC5C-0D24-138CFD8F1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300" y="2040964"/>
            <a:ext cx="5702300" cy="2984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DC032B-2BB0-A981-8DBD-5E60AA2ACD61}"/>
              </a:ext>
            </a:extLst>
          </p:cNvPr>
          <p:cNvSpPr txBox="1"/>
          <p:nvPr/>
        </p:nvSpPr>
        <p:spPr>
          <a:xfrm>
            <a:off x="291851" y="1238858"/>
            <a:ext cx="560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Nontouching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loops taken three at a time:</a:t>
            </a:r>
            <a:endParaRPr lang="en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B07D86-2C2D-411E-3FF1-F4336E38AB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218" b="20795"/>
          <a:stretch/>
        </p:blipFill>
        <p:spPr>
          <a:xfrm>
            <a:off x="575432" y="1766706"/>
            <a:ext cx="5041900" cy="2742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1E236C-CE4C-C416-1862-E63566FA9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29" y="2496532"/>
            <a:ext cx="5437983" cy="12974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BF3E67-1DA6-D532-36D8-B9C4551A1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235" y="4008284"/>
            <a:ext cx="2095500" cy="482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75EC4B-CCB7-B877-71AD-7009AC45C8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70" y="5128219"/>
            <a:ext cx="57785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2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8452-3F8E-7E10-332B-73A0949A6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98069"/>
            <a:ext cx="10740421" cy="674212"/>
          </a:xfrm>
        </p:spPr>
        <p:txBody>
          <a:bodyPr/>
          <a:lstStyle/>
          <a:p>
            <a:r>
              <a:rPr lang="en-VN" dirty="0"/>
              <a:t>LƯU ĐỒ TÍN HIỆU CỦA PHƯƠNG TRÌNH TRẠNG THÁI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2F769-5A6B-D3C9-E1D1-FAD8953CFE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1244015"/>
                <a:ext cx="9603275" cy="164415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V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V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V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=−6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V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+9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VN" dirty="0"/>
              </a:p>
              <a:p>
                <a:pPr marL="0" indent="0">
                  <a:buNone/>
                </a:pPr>
                <a:endParaRPr lang="en-V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2F769-5A6B-D3C9-E1D1-FAD8953CF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1244015"/>
                <a:ext cx="9603275" cy="164415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5596F6F-5ED2-BA99-73B7-AFFD8AB09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858" y="3185322"/>
            <a:ext cx="7772400" cy="730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C2B0A6-B22F-2C7A-E4C7-0B65E4C9F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858" y="4212481"/>
            <a:ext cx="7772400" cy="106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6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CC27-2BC5-2530-76AA-93EA5C48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LƯU ĐỒ TÍN HIỆU CỦA PHƯƠNG TRÌNH TRẠNG THÁI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4BABCD-ED58-D091-A5A6-A7E50859A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244" y="1984345"/>
            <a:ext cx="5859810" cy="27214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296702-2147-B337-68FD-C45CE715E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575" y="1373814"/>
            <a:ext cx="5866181" cy="411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33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0DCD-0A7F-27FD-14D3-36F8BF9A0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98069"/>
            <a:ext cx="10301806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BIỂU DIỄN THAY THẾ TRONG KHÔNG GIAN TRẠNG THÁI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A4026-CC72-004C-934F-2D44E1EB5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244014"/>
            <a:ext cx="9603275" cy="674213"/>
          </a:xfrm>
        </p:spPr>
        <p:txBody>
          <a:bodyPr/>
          <a:lstStyle/>
          <a:p>
            <a:r>
              <a:rPr lang="en-VN" dirty="0"/>
              <a:t>Dạng nối tiếp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B1DD0-D247-2CBB-E111-89AB90476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927" y="1388980"/>
            <a:ext cx="2908145" cy="9161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ACEB1-8F6A-BE69-1132-7FF12D26E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961" y="2501715"/>
            <a:ext cx="7111072" cy="944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1A1EE8-0023-CE65-2AD3-DEB6F4FC9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627" y="3740073"/>
            <a:ext cx="2176663" cy="2946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5C47FF-2596-0243-DFA1-976FAB650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632" y="3740073"/>
            <a:ext cx="5874215" cy="2928763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F1AAAC93-5DB3-D2B6-0D30-D6CDB30151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3" y="2634058"/>
            <a:ext cx="3227822" cy="403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76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3671-4917-3B4A-38A9-F14DAF6C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98069"/>
            <a:ext cx="1037986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BIỂU DIỄN THAY THẾ TRONG KHÔNG GIAN TRẠNG THÁI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E19AE-AD6D-A178-74B1-B0CAD8983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Dạng song song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E186F-FFB5-0B99-313F-895BFDDA3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08" y="1487294"/>
            <a:ext cx="3577344" cy="940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885709-3BFD-C4A2-44EB-04DDBFACE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200" y="2530635"/>
            <a:ext cx="6347599" cy="8103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50E11F-F0A6-AC63-9B8B-A8B7E1F29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541" y="3429000"/>
            <a:ext cx="4916915" cy="8820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7E4F04-DE25-6360-BF03-DD6CBB3C09D5}"/>
                  </a:ext>
                </a:extLst>
              </p:cNvPr>
              <p:cNvSpPr txBox="1"/>
              <p:nvPr/>
            </p:nvSpPr>
            <p:spPr>
              <a:xfrm>
                <a:off x="4516244" y="4627588"/>
                <a:ext cx="1182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V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7E4F04-DE25-6360-BF03-DD6CBB3C0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244" y="4627588"/>
                <a:ext cx="1182029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E61CF1-4D6D-BE51-0B44-223F3E4747E6}"/>
                  </a:ext>
                </a:extLst>
              </p:cNvPr>
              <p:cNvSpPr txBox="1"/>
              <p:nvPr/>
            </p:nvSpPr>
            <p:spPr>
              <a:xfrm>
                <a:off x="6050495" y="4627588"/>
                <a:ext cx="1182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V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E61CF1-4D6D-BE51-0B44-223F3E474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495" y="4627588"/>
                <a:ext cx="1182029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B8736-D790-2C24-9E75-2064FCD34EC2}"/>
                  </a:ext>
                </a:extLst>
              </p:cNvPr>
              <p:cNvSpPr txBox="1"/>
              <p:nvPr/>
            </p:nvSpPr>
            <p:spPr>
              <a:xfrm>
                <a:off x="7430707" y="4627588"/>
                <a:ext cx="1182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V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B8736-D790-2C24-9E75-2064FCD34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707" y="4627588"/>
                <a:ext cx="1182029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91D52F-6EB6-9DE3-5F69-1C74C95ED76A}"/>
              </a:ext>
            </a:extLst>
          </p:cNvPr>
          <p:cNvCxnSpPr>
            <a:cxnSpLocks/>
          </p:cNvCxnSpPr>
          <p:nvPr/>
        </p:nvCxnSpPr>
        <p:spPr>
          <a:xfrm flipH="1" flipV="1">
            <a:off x="5129559" y="4235912"/>
            <a:ext cx="1" cy="457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F2F385-F120-08C1-E455-9F5F437E6D7F}"/>
              </a:ext>
            </a:extLst>
          </p:cNvPr>
          <p:cNvCxnSpPr>
            <a:cxnSpLocks/>
          </p:cNvCxnSpPr>
          <p:nvPr/>
        </p:nvCxnSpPr>
        <p:spPr>
          <a:xfrm flipH="1" flipV="1">
            <a:off x="6661501" y="4235912"/>
            <a:ext cx="1" cy="457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9FABF4-ED44-6F41-00ED-ACC257C9FE6E}"/>
              </a:ext>
            </a:extLst>
          </p:cNvPr>
          <p:cNvCxnSpPr>
            <a:cxnSpLocks/>
          </p:cNvCxnSpPr>
          <p:nvPr/>
        </p:nvCxnSpPr>
        <p:spPr>
          <a:xfrm flipH="1" flipV="1">
            <a:off x="8021721" y="4235912"/>
            <a:ext cx="1" cy="457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658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7C5D-B33F-9677-DEBA-58FC092A5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98069"/>
            <a:ext cx="10257201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BIỂU DIỄN THAY THẾ TRONG KHÔNG GIAN TRẠNG THÁI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1E405F-678B-13F1-EA43-3B4A58662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60" y="1545276"/>
            <a:ext cx="5324243" cy="3767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0AF96E-5235-AA20-F9EE-769BA4F2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866" y="1651928"/>
            <a:ext cx="3572274" cy="355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683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3E0F-9C70-03EE-2192-A0767BF7B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98069"/>
            <a:ext cx="10625192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BIỂU DIỄN THAY THẾ TRONG KHÔNG GIAN TRẠNG THÁI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33EF7-E8BF-5EBF-01A9-ED5B7A3F0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Controller Canonical </a:t>
            </a:r>
            <a:r>
              <a:rPr lang="en-US" dirty="0"/>
              <a:t>form </a:t>
            </a:r>
          </a:p>
          <a:p>
            <a:r>
              <a:rPr lang="en-US" dirty="0"/>
              <a:t>Observer Canonical Form 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757063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ECDD-2A2E-FA31-41D9-ED2A3A1D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Bài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DDEA9-A6D7-2CD1-E5C2-03549B82E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Bài 5, 23c, 24, 27</a:t>
            </a:r>
          </a:p>
        </p:txBody>
      </p:sp>
    </p:spTree>
    <p:extLst>
      <p:ext uri="{BB962C8B-B14F-4D97-AF65-F5344CB8AC3E}">
        <p14:creationId xmlns:p14="http://schemas.microsoft.com/office/powerpoint/2010/main" val="175357171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{DA89C2F4-FBD1-684E-A465-9AFB9D00BEE5}tf10001119</Template>
  <TotalTime>2535</TotalTime>
  <Words>751</Words>
  <Application>Microsoft Macintosh PowerPoint</Application>
  <PresentationFormat>Widescreen</PresentationFormat>
  <Paragraphs>81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Gill Sans MT</vt:lpstr>
      <vt:lpstr>Gallery</vt:lpstr>
      <vt:lpstr>CHƯƠNG 5: RÚT GỌN HỆ THỐNG</vt:lpstr>
      <vt:lpstr>Giới thiệu</vt:lpstr>
      <vt:lpstr>SƠ ĐỒ KHỐI</vt:lpstr>
      <vt:lpstr>SƠ ĐỒ KHỐI</vt:lpstr>
      <vt:lpstr>SƠ ĐỒ KHỐI</vt:lpstr>
      <vt:lpstr>SƠ ĐỒ KHỐI</vt:lpstr>
      <vt:lpstr>SƠ ĐỒ KHỐI</vt:lpstr>
      <vt:lpstr>SƠ ĐỒ KHỐI</vt:lpstr>
      <vt:lpstr>SƠ ĐỒ KHỐI</vt:lpstr>
      <vt:lpstr>SƠ ĐỒ KHỐI</vt:lpstr>
      <vt:lpstr>LƯU ĐỒ TÍN HIỆU</vt:lpstr>
      <vt:lpstr>LƯU ĐỒ TÍN HIỆU</vt:lpstr>
      <vt:lpstr>LƯU ĐỒ TÍN HIỆU</vt:lpstr>
      <vt:lpstr>LƯU ĐỒ TÍN HIỆU</vt:lpstr>
      <vt:lpstr>LƯU ĐỒ TÍN HIỆU</vt:lpstr>
      <vt:lpstr>LƯU ĐỒ TÍN HIỆU</vt:lpstr>
      <vt:lpstr>LƯU ĐỒ TÍN HIỆU</vt:lpstr>
      <vt:lpstr>LƯU ĐỒ TÍN HIỆU</vt:lpstr>
      <vt:lpstr>LƯU ĐỒ TÍN HIỆU CỦA PHƯƠNG TRÌNH TRẠNG THÁI</vt:lpstr>
      <vt:lpstr>LƯU ĐỒ TÍN HIỆU CỦA PHƯƠNG TRÌNH TRẠNG THÁI</vt:lpstr>
      <vt:lpstr>BIỂU DIỄN THAY THẾ TRONG KHÔNG GIAN TRẠNG THÁI</vt:lpstr>
      <vt:lpstr>BIỂU DIỄN THAY THẾ TRONG KHÔNG GIAN TRẠNG THÁI</vt:lpstr>
      <vt:lpstr>BIỂU DIỄN THAY THẾ TRONG KHÔNG GIAN TRẠNG THÁI</vt:lpstr>
      <vt:lpstr>BIỂU DIỄN THAY THẾ TRONG KHÔNG GIAN TRẠNG THÁI</vt:lpstr>
      <vt:lpstr>Bài tập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2: MÔ HÌNH TRONG MIỀN TẦN SỐ</dc:title>
  <dc:creator>Nguyễn Thu Hằng</dc:creator>
  <cp:lastModifiedBy>Nguyễn Thu Hằng</cp:lastModifiedBy>
  <cp:revision>17</cp:revision>
  <dcterms:created xsi:type="dcterms:W3CDTF">2023-08-28T11:08:29Z</dcterms:created>
  <dcterms:modified xsi:type="dcterms:W3CDTF">2023-09-26T02:19:24Z</dcterms:modified>
</cp:coreProperties>
</file>