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notesMasterIdLst>
    <p:notesMasterId r:id="rId24"/>
  </p:notesMasterIdLst>
  <p:sldIdLst>
    <p:sldId id="256" r:id="rId2"/>
    <p:sldId id="258" r:id="rId3"/>
    <p:sldId id="274" r:id="rId4"/>
    <p:sldId id="275" r:id="rId5"/>
    <p:sldId id="276" r:id="rId6"/>
    <p:sldId id="277" r:id="rId7"/>
    <p:sldId id="278" r:id="rId8"/>
    <p:sldId id="279" r:id="rId9"/>
    <p:sldId id="280" r:id="rId10"/>
    <p:sldId id="281" r:id="rId11"/>
    <p:sldId id="282" r:id="rId12"/>
    <p:sldId id="290" r:id="rId13"/>
    <p:sldId id="291" r:id="rId14"/>
    <p:sldId id="292" r:id="rId15"/>
    <p:sldId id="283" r:id="rId16"/>
    <p:sldId id="284" r:id="rId17"/>
    <p:sldId id="285" r:id="rId18"/>
    <p:sldId id="286" r:id="rId19"/>
    <p:sldId id="287" r:id="rId20"/>
    <p:sldId id="288" r:id="rId21"/>
    <p:sldId id="289" r:id="rId22"/>
    <p:sldId id="27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038"/>
  </p:normalViewPr>
  <p:slideViewPr>
    <p:cSldViewPr snapToGrid="0">
      <p:cViewPr>
        <p:scale>
          <a:sx n="126" d="100"/>
          <a:sy n="126" d="100"/>
        </p:scale>
        <p:origin x="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94BD01-BE95-4C45-8041-4857213F7C89}" type="datetimeFigureOut">
              <a:rPr lang="en-VN" smtClean="0"/>
              <a:t>11/09/2023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6CAC5-3B38-CA4B-BEE2-E48041197338}" type="slidenum">
              <a:rPr lang="en-VN" smtClean="0"/>
              <a:t>‹#›</a:t>
            </a:fld>
            <a:endParaRPr lang="en-VN"/>
          </a:p>
        </p:txBody>
      </p:sp>
    </p:spTree>
    <p:extLst>
      <p:ext uri="{BB962C8B-B14F-4D97-AF65-F5344CB8AC3E}">
        <p14:creationId xmlns:p14="http://schemas.microsoft.com/office/powerpoint/2010/main" val="1829158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Ví dụ: Nếu chọn Vr thì không được chọn I làm biến trạng thái nữa</a:t>
            </a:r>
          </a:p>
        </p:txBody>
      </p:sp>
      <p:sp>
        <p:nvSpPr>
          <p:cNvPr id="4" name="Slide Number Placeholder 3"/>
          <p:cNvSpPr>
            <a:spLocks noGrp="1"/>
          </p:cNvSpPr>
          <p:nvPr>
            <p:ph type="sldNum" sz="quarter" idx="5"/>
          </p:nvPr>
        </p:nvSpPr>
        <p:spPr/>
        <p:txBody>
          <a:bodyPr/>
          <a:lstStyle/>
          <a:p>
            <a:fld id="{94A6CAC5-3B38-CA4B-BEE2-E48041197338}" type="slidenum">
              <a:rPr lang="en-VN" smtClean="0"/>
              <a:t>7</a:t>
            </a:fld>
            <a:endParaRPr lang="en-VN"/>
          </a:p>
        </p:txBody>
      </p:sp>
    </p:spTree>
    <p:extLst>
      <p:ext uri="{BB962C8B-B14F-4D97-AF65-F5344CB8AC3E}">
        <p14:creationId xmlns:p14="http://schemas.microsoft.com/office/powerpoint/2010/main" val="830854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 Ma </a:t>
            </a:r>
            <a:r>
              <a:rPr lang="en-US" dirty="0" err="1"/>
              <a:t>trận</a:t>
            </a:r>
            <a:r>
              <a:rPr lang="en-US" dirty="0"/>
              <a:t> </a:t>
            </a:r>
            <a:r>
              <a:rPr lang="en-US" dirty="0" err="1"/>
              <a:t>các</a:t>
            </a:r>
            <a:r>
              <a:rPr lang="en-US" dirty="0"/>
              <a:t> </a:t>
            </a:r>
            <a:r>
              <a:rPr lang="en-US" dirty="0" err="1"/>
              <a:t>phần</a:t>
            </a:r>
            <a:r>
              <a:rPr lang="en-US" dirty="0"/>
              <a:t> </a:t>
            </a:r>
            <a:r>
              <a:rPr lang="en-US" dirty="0" err="1"/>
              <a:t>phụ</a:t>
            </a:r>
            <a:r>
              <a:rPr lang="en-US" dirty="0"/>
              <a:t> </a:t>
            </a:r>
            <a:r>
              <a:rPr lang="en-US" dirty="0" err="1"/>
              <a:t>đại</a:t>
            </a:r>
            <a:r>
              <a:rPr lang="en-US" dirty="0"/>
              <a:t> </a:t>
            </a:r>
            <a:r>
              <a:rPr lang="en-US" dirty="0" err="1"/>
              <a:t>số</a:t>
            </a:r>
            <a:endParaRPr lang="en-US" dirty="0"/>
          </a:p>
          <a:p>
            <a:r>
              <a:rPr lang="en-US" dirty="0"/>
              <a:t>d</a:t>
            </a:r>
            <a:r>
              <a:rPr lang="en-VN" dirty="0"/>
              <a:t>et: Định thức</a:t>
            </a:r>
          </a:p>
        </p:txBody>
      </p:sp>
      <p:sp>
        <p:nvSpPr>
          <p:cNvPr id="4" name="Slide Number Placeholder 3"/>
          <p:cNvSpPr>
            <a:spLocks noGrp="1"/>
          </p:cNvSpPr>
          <p:nvPr>
            <p:ph type="sldNum" sz="quarter" idx="5"/>
          </p:nvPr>
        </p:nvSpPr>
        <p:spPr/>
        <p:txBody>
          <a:bodyPr/>
          <a:lstStyle/>
          <a:p>
            <a:fld id="{94A6CAC5-3B38-CA4B-BEE2-E48041197338}" type="slidenum">
              <a:rPr lang="en-VN" smtClean="0"/>
              <a:t>21</a:t>
            </a:fld>
            <a:endParaRPr lang="en-VN"/>
          </a:p>
        </p:txBody>
      </p:sp>
    </p:spTree>
    <p:extLst>
      <p:ext uri="{BB962C8B-B14F-4D97-AF65-F5344CB8AC3E}">
        <p14:creationId xmlns:p14="http://schemas.microsoft.com/office/powerpoint/2010/main" val="2812544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11/09/2023</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AB7131A4-70E5-2C47-979D-CC0A508A1115}"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4653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198069"/>
            <a:ext cx="9603275" cy="674212"/>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1451579" y="1244014"/>
            <a:ext cx="9603275" cy="4444399"/>
          </a:xfrm>
        </p:spPr>
        <p:txBody>
          <a:bodyPr ancho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80060" y="479993"/>
            <a:ext cx="811019" cy="503578"/>
          </a:xfrm>
        </p:spPr>
        <p:txBody>
          <a:bodyPr/>
          <a:lstStyle>
            <a:lvl1pPr>
              <a:defRPr>
                <a:latin typeface="Arial" panose="020B0604020202020204" pitchFamily="34" charset="0"/>
                <a:cs typeface="Arial" panose="020B0604020202020204" pitchFamily="34" charset="0"/>
              </a:defRPr>
            </a:lvl1pPr>
          </a:lstStyle>
          <a:p>
            <a:fld id="{AB7131A4-70E5-2C47-979D-CC0A508A1115}" type="slidenum">
              <a:rPr lang="en-VN" smtClean="0"/>
              <a:pPr/>
              <a:t>‹#›</a:t>
            </a:fld>
            <a:endParaRPr lang="en-VN"/>
          </a:p>
        </p:txBody>
      </p:sp>
      <p:cxnSp>
        <p:nvCxnSpPr>
          <p:cNvPr id="33" name="Straight Connector 32"/>
          <p:cNvCxnSpPr/>
          <p:nvPr/>
        </p:nvCxnSpPr>
        <p:spPr>
          <a:xfrm>
            <a:off x="1447332" y="983571"/>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871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F61E88-A186-394E-83B0-C95AB89BE3CE}" type="datetimeFigureOut">
              <a:rPr lang="en-VN" smtClean="0"/>
              <a:t>11/09/2023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645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F61E88-A186-394E-83B0-C95AB89BE3CE}" type="datetimeFigureOut">
              <a:rPr lang="en-VN" smtClean="0"/>
              <a:t>11/09/2023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319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F61E88-A186-394E-83B0-C95AB89BE3CE}" type="datetimeFigureOut">
              <a:rPr lang="en-VN" smtClean="0"/>
              <a:t>11/09/2023</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AB7131A4-70E5-2C47-979D-CC0A508A1115}"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07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F61E88-A186-394E-83B0-C95AB89BE3CE}" type="datetimeFigureOut">
              <a:rPr lang="en-VN" smtClean="0"/>
              <a:t>11/09/2023</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AB7131A4-70E5-2C47-979D-CC0A508A1115}"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69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1E88-A186-394E-83B0-C95AB89BE3CE}" type="datetimeFigureOut">
              <a:rPr lang="en-VN" smtClean="0"/>
              <a:t>11/09/2023</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AB7131A4-70E5-2C47-979D-CC0A508A1115}" type="slidenum">
              <a:rPr lang="en-VN" smtClean="0"/>
              <a:t>‹#›</a:t>
            </a:fld>
            <a:endParaRPr lang="en-VN"/>
          </a:p>
        </p:txBody>
      </p:sp>
    </p:spTree>
    <p:extLst>
      <p:ext uri="{BB962C8B-B14F-4D97-AF65-F5344CB8AC3E}">
        <p14:creationId xmlns:p14="http://schemas.microsoft.com/office/powerpoint/2010/main" val="352877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F61E88-A186-394E-83B0-C95AB89BE3CE}" type="datetimeFigureOut">
              <a:rPr lang="en-VN" smtClean="0"/>
              <a:t>11/09/2023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3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EF61E88-A186-394E-83B0-C95AB89BE3CE}" type="datetimeFigureOut">
              <a:rPr lang="en-VN" smtClean="0"/>
              <a:t>11/09/2023</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22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11/09/2023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003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11/09/2023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692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EF61E88-A186-394E-83B0-C95AB89BE3CE}" type="datetimeFigureOut">
              <a:rPr lang="en-VN" smtClean="0"/>
              <a:t>11/09/2023</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B7131A4-70E5-2C47-979D-CC0A508A1115}"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15930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60.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0.emf"/><Relationship Id="rId7"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3693-A035-3C4E-7F71-6028A05A4966}"/>
              </a:ext>
            </a:extLst>
          </p:cNvPr>
          <p:cNvSpPr>
            <a:spLocks noGrp="1"/>
          </p:cNvSpPr>
          <p:nvPr>
            <p:ph type="ctrTitle"/>
          </p:nvPr>
        </p:nvSpPr>
        <p:spPr>
          <a:xfrm>
            <a:off x="2417779" y="802298"/>
            <a:ext cx="9070028" cy="2541431"/>
          </a:xfrm>
        </p:spPr>
        <p:txBody>
          <a:bodyPr>
            <a:normAutofit fontScale="90000"/>
          </a:bodyPr>
          <a:lstStyle/>
          <a:p>
            <a:r>
              <a:rPr lang="en-VN" dirty="0">
                <a:latin typeface="Arial" panose="020B0604020202020204" pitchFamily="34" charset="0"/>
                <a:cs typeface="Arial" panose="020B0604020202020204" pitchFamily="34" charset="0"/>
              </a:rPr>
              <a:t>CHƯƠNG 3: MÔ HÌNH TRONG MIỀN THỜI GIAN</a:t>
            </a:r>
          </a:p>
        </p:txBody>
      </p:sp>
      <p:sp>
        <p:nvSpPr>
          <p:cNvPr id="3" name="Subtitle 2">
            <a:extLst>
              <a:ext uri="{FF2B5EF4-FFF2-40B4-BE49-F238E27FC236}">
                <a16:creationId xmlns:a16="http://schemas.microsoft.com/office/drawing/2014/main" id="{AFEE02D5-7413-F104-1030-A7A1F479E957}"/>
              </a:ext>
            </a:extLst>
          </p:cNvPr>
          <p:cNvSpPr>
            <a:spLocks noGrp="1"/>
          </p:cNvSpPr>
          <p:nvPr>
            <p:ph type="subTitle" idx="1"/>
          </p:nvPr>
        </p:nvSpPr>
        <p:spPr/>
        <p:txBody>
          <a:bodyPr>
            <a:normAutofit/>
          </a:bodyPr>
          <a:lstStyle/>
          <a:p>
            <a:r>
              <a:rPr kumimoji="0" lang="en-VN" altLang="en-VN" sz="3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Modeling in the </a:t>
            </a:r>
            <a:r>
              <a:rPr lang="en-VN" altLang="en-VN" sz="3600" i="1" cap="none" dirty="0">
                <a:latin typeface="Arial" panose="020B0604020202020204" pitchFamily="34" charset="0"/>
                <a:cs typeface="Arial" panose="020B0604020202020204" pitchFamily="34" charset="0"/>
              </a:rPr>
              <a:t>Time</a:t>
            </a:r>
            <a:r>
              <a:rPr kumimoji="0" lang="en-VN" altLang="en-VN" sz="3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 Domain </a:t>
            </a:r>
          </a:p>
        </p:txBody>
      </p:sp>
      <p:pic>
        <p:nvPicPr>
          <p:cNvPr id="1025" name="Picture 1" descr="page53image1145757968">
            <a:extLst>
              <a:ext uri="{FF2B5EF4-FFF2-40B4-BE49-F238E27FC236}">
                <a16:creationId xmlns:a16="http://schemas.microsoft.com/office/drawing/2014/main" id="{93647881-E3F9-0241-C1ED-5F534C819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19800" cy="44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96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6F87F-9540-6807-463C-A18DC1A6FD3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G</a:t>
            </a:r>
            <a:r>
              <a:rPr lang="en-VN" dirty="0">
                <a:latin typeface="Arial" panose="020B0604020202020204" pitchFamily="34" charset="0"/>
                <a:cs typeface="Arial" panose="020B0604020202020204" pitchFamily="34" charset="0"/>
              </a:rPr>
              <a:t>iới thiệu</a:t>
            </a:r>
            <a:endParaRPr lang="en-VN" dirty="0"/>
          </a:p>
        </p:txBody>
      </p:sp>
      <p:sp>
        <p:nvSpPr>
          <p:cNvPr id="3" name="Content Placeholder 2">
            <a:extLst>
              <a:ext uri="{FF2B5EF4-FFF2-40B4-BE49-F238E27FC236}">
                <a16:creationId xmlns:a16="http://schemas.microsoft.com/office/drawing/2014/main" id="{51FFE0DA-2280-E682-2A9C-68F2365493EE}"/>
              </a:ext>
            </a:extLst>
          </p:cNvPr>
          <p:cNvSpPr>
            <a:spLocks noGrp="1"/>
          </p:cNvSpPr>
          <p:nvPr>
            <p:ph idx="1"/>
          </p:nvPr>
        </p:nvSpPr>
        <p:spPr>
          <a:xfrm>
            <a:off x="4380614" y="1244014"/>
            <a:ext cx="6674240" cy="4444399"/>
          </a:xfrm>
        </p:spPr>
        <p:txBody>
          <a:bodyPr/>
          <a:lstStyle/>
          <a:p>
            <a:r>
              <a:rPr lang="en-VN" dirty="0">
                <a:latin typeface="Arial" panose="020B0604020202020204" pitchFamily="34" charset="0"/>
                <a:cs typeface="Arial" panose="020B0604020202020204" pitchFamily="34" charset="0"/>
              </a:rPr>
              <a:t>Mô hình toán học của hệ thống:</a:t>
            </a:r>
          </a:p>
          <a:p>
            <a:pPr lvl="1"/>
            <a:r>
              <a:rPr lang="en-VN" dirty="0">
                <a:latin typeface="Arial" panose="020B0604020202020204" pitchFamily="34" charset="0"/>
                <a:cs typeface="Arial" panose="020B0604020202020204" pitchFamily="34" charset="0"/>
              </a:rPr>
              <a:t>Phương trình vi phân: Dựa trên các định luật vật lý để biểu diễn hệ thống -&gt; Phương trình vi phân thể hiện quan hệ giữa lối ra và lối vào </a:t>
            </a:r>
          </a:p>
          <a:p>
            <a:pPr lvl="1"/>
            <a:r>
              <a:rPr lang="en-VN" dirty="0">
                <a:latin typeface="Arial" panose="020B0604020202020204" pitchFamily="34" charset="0"/>
                <a:cs typeface="Arial" panose="020B0604020202020204" pitchFamily="34" charset="0"/>
              </a:rPr>
              <a:t>Hàm truyền (Transfer functions) trong miền tần số (Chương 2) ➔ Áp dụng cho hệ thống LTI</a:t>
            </a:r>
          </a:p>
          <a:p>
            <a:pPr lvl="1"/>
            <a:r>
              <a:rPr lang="en-VN" b="1" dirty="0">
                <a:latin typeface="Arial" panose="020B0604020202020204" pitchFamily="34" charset="0"/>
                <a:cs typeface="Arial" panose="020B0604020202020204" pitchFamily="34" charset="0"/>
              </a:rPr>
              <a:t>Phương trình trạng thái (State equations) trong miền thời gian </a:t>
            </a:r>
          </a:p>
          <a:p>
            <a:pPr marL="457200" lvl="1" indent="0">
              <a:buNone/>
            </a:pPr>
            <a:r>
              <a:rPr lang="en-VN" i="1" dirty="0"/>
              <a:t>Ưu điểm: </a:t>
            </a:r>
            <a:r>
              <a:rPr lang="en-VN" dirty="0"/>
              <a:t>có thể biểu diễn hệ thống phi tuyến tính, các hệ thống có điều kiện ban đầu khác 0, các hệ thống MIMO</a:t>
            </a:r>
            <a:endParaRPr lang="en-VN" dirty="0">
              <a:latin typeface="Arial" panose="020B0604020202020204" pitchFamily="34" charset="0"/>
              <a:cs typeface="Arial" panose="020B0604020202020204" pitchFamily="34" charset="0"/>
            </a:endParaRPr>
          </a:p>
        </p:txBody>
      </p:sp>
      <p:pic>
        <p:nvPicPr>
          <p:cNvPr id="4" name="Content Placeholder 8">
            <a:extLst>
              <a:ext uri="{FF2B5EF4-FFF2-40B4-BE49-F238E27FC236}">
                <a16:creationId xmlns:a16="http://schemas.microsoft.com/office/drawing/2014/main" id="{3A6A0331-5FD2-9BDB-0407-1FA7001FE81B}"/>
              </a:ext>
            </a:extLst>
          </p:cNvPr>
          <p:cNvPicPr>
            <a:picLocks noChangeAspect="1"/>
          </p:cNvPicPr>
          <p:nvPr/>
        </p:nvPicPr>
        <p:blipFill>
          <a:blip r:embed="rId2"/>
          <a:stretch>
            <a:fillRect/>
          </a:stretch>
        </p:blipFill>
        <p:spPr>
          <a:xfrm>
            <a:off x="170119" y="2253158"/>
            <a:ext cx="4091209" cy="1739939"/>
          </a:xfrm>
          <a:prstGeom prst="rect">
            <a:avLst/>
          </a:prstGeom>
        </p:spPr>
      </p:pic>
    </p:spTree>
    <p:extLst>
      <p:ext uri="{BB962C8B-B14F-4D97-AF65-F5344CB8AC3E}">
        <p14:creationId xmlns:p14="http://schemas.microsoft.com/office/powerpoint/2010/main" val="2521175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A7E07-A75D-4E3C-4B9E-E10031D6E1BC}"/>
              </a:ext>
            </a:extLst>
          </p:cNvPr>
          <p:cNvSpPr>
            <a:spLocks noGrp="1"/>
          </p:cNvSpPr>
          <p:nvPr>
            <p:ph type="title"/>
          </p:nvPr>
        </p:nvSpPr>
        <p:spPr/>
        <p:txBody>
          <a:bodyPr/>
          <a:lstStyle/>
          <a:p>
            <a:r>
              <a:rPr lang="en-VN" dirty="0"/>
              <a:t>MÔ HÌNH KHÔNG GIAN TRẠNG THÁI HỆ THỐNG</a:t>
            </a:r>
          </a:p>
        </p:txBody>
      </p:sp>
      <p:pic>
        <p:nvPicPr>
          <p:cNvPr id="5" name="Content Placeholder 4">
            <a:extLst>
              <a:ext uri="{FF2B5EF4-FFF2-40B4-BE49-F238E27FC236}">
                <a16:creationId xmlns:a16="http://schemas.microsoft.com/office/drawing/2014/main" id="{1F1ED6F1-30DA-A7D7-D34F-654BE103D3D1}"/>
              </a:ext>
            </a:extLst>
          </p:cNvPr>
          <p:cNvPicPr>
            <a:picLocks noGrp="1" noChangeAspect="1"/>
          </p:cNvPicPr>
          <p:nvPr>
            <p:ph idx="1"/>
          </p:nvPr>
        </p:nvPicPr>
        <p:blipFill>
          <a:blip r:embed="rId2"/>
          <a:stretch>
            <a:fillRect/>
          </a:stretch>
        </p:blipFill>
        <p:spPr>
          <a:xfrm>
            <a:off x="8660524" y="1038545"/>
            <a:ext cx="3371543" cy="1969070"/>
          </a:xfrm>
        </p:spPr>
      </p:pic>
      <p:sp>
        <p:nvSpPr>
          <p:cNvPr id="6" name="TextBox 5">
            <a:extLst>
              <a:ext uri="{FF2B5EF4-FFF2-40B4-BE49-F238E27FC236}">
                <a16:creationId xmlns:a16="http://schemas.microsoft.com/office/drawing/2014/main" id="{1D59A86F-2055-3991-40EB-A8D827D7B0AD}"/>
              </a:ext>
            </a:extLst>
          </p:cNvPr>
          <p:cNvSpPr txBox="1"/>
          <p:nvPr/>
        </p:nvSpPr>
        <p:spPr>
          <a:xfrm>
            <a:off x="8394203" y="3084610"/>
            <a:ext cx="4088524" cy="369332"/>
          </a:xfrm>
          <a:prstGeom prst="rect">
            <a:avLst/>
          </a:prstGeom>
          <a:noFill/>
        </p:spPr>
        <p:txBody>
          <a:bodyPr wrap="square" rtlCol="0">
            <a:spAutoFit/>
          </a:bodyPr>
          <a:lstStyle/>
          <a:p>
            <a:pPr algn="ctr"/>
            <a:r>
              <a:rPr lang="en-VN" i="1" dirty="0"/>
              <a:t>Ví dụ: Mạch RL</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F1F801E-AFEF-85AD-DC01-32C701A477D4}"/>
                  </a:ext>
                </a:extLst>
              </p:cNvPr>
              <p:cNvSpPr txBox="1"/>
              <p:nvPr/>
            </p:nvSpPr>
            <p:spPr>
              <a:xfrm>
                <a:off x="830318" y="1229711"/>
                <a:ext cx="6285186" cy="4649414"/>
              </a:xfrm>
              <a:prstGeom prst="rect">
                <a:avLst/>
              </a:prstGeom>
              <a:noFill/>
            </p:spPr>
            <p:txBody>
              <a:bodyPr wrap="square" rtlCol="0">
                <a:spAutoFit/>
              </a:bodyPr>
              <a:lstStyle/>
              <a:p>
                <a:r>
                  <a:rPr lang="en-VN" dirty="0"/>
                  <a:t>Phương trình vi phân mô tả mạch RL: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f>
                        <m:fPr>
                          <m:ctrlPr>
                            <a:rPr lang="en-US" b="0" i="1" smtClean="0">
                              <a:latin typeface="Cambria Math" panose="02040503050406030204" pitchFamily="18" charset="0"/>
                            </a:rPr>
                          </m:ctrlPr>
                        </m:fPr>
                        <m:num>
                          <m:r>
                            <a:rPr lang="en-US" b="0" i="1" smtClean="0">
                              <a:latin typeface="Cambria Math" panose="02040503050406030204" pitchFamily="18" charset="0"/>
                            </a:rPr>
                            <m:t>𝑑𝑖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𝑅𝑖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VN" dirty="0"/>
              </a:p>
              <a:p>
                <a:r>
                  <a:rPr lang="en-VN" dirty="0"/>
                  <a:t>Biến đổi Laplace: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𝑠𝐼</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e>
                      </m:d>
                      <m:r>
                        <a:rPr lang="en-US" b="0" i="1" smtClean="0">
                          <a:latin typeface="Cambria Math" panose="02040503050406030204" pitchFamily="18" charset="0"/>
                        </a:rPr>
                        <m:t>+</m:t>
                      </m:r>
                      <m:r>
                        <a:rPr lang="en-US" b="0" i="1" smtClean="0">
                          <a:latin typeface="Cambria Math" panose="02040503050406030204" pitchFamily="18" charset="0"/>
                        </a:rPr>
                        <m:t>𝑅𝐼</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m:oMathPara>
                </a14:m>
                <a:endParaRPr lang="en-VN" b="0" dirty="0"/>
              </a:p>
              <a:p>
                <a:r>
                  <a:rPr lang="en-VN" dirty="0"/>
                  <a:t>Giả sử lối vào là hàm nhảy bậc, khi đó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=1/</m:t>
                    </m:r>
                    <m:r>
                      <a:rPr lang="en-US" b="0" i="1" smtClean="0">
                        <a:latin typeface="Cambria Math" panose="02040503050406030204" pitchFamily="18" charset="0"/>
                      </a:rPr>
                      <m:t>𝑠</m:t>
                    </m:r>
                  </m:oMath>
                </a14:m>
                <a:r>
                  <a:rPr lang="en-VN" dirty="0"/>
                  <a:t>, ta có:</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𝑅</m:t>
                          </m:r>
                        </m:den>
                      </m:f>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𝑅</m:t>
                                  </m:r>
                                </m:num>
                                <m:den>
                                  <m:r>
                                    <a:rPr lang="en-US" b="0" i="1" smtClean="0">
                                      <a:latin typeface="Cambria Math" panose="02040503050406030204" pitchFamily="18" charset="0"/>
                                    </a:rPr>
                                    <m:t>𝐿</m:t>
                                  </m:r>
                                </m:den>
                              </m:f>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num>
                        <m:den>
                          <m:r>
                            <a:rPr lang="en-US" b="0" i="1" smtClean="0">
                              <a:latin typeface="Cambria Math" panose="02040503050406030204" pitchFamily="18" charset="0"/>
                            </a:rPr>
                            <m:t>𝑠</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𝑅</m:t>
                              </m:r>
                            </m:num>
                            <m:den>
                              <m:r>
                                <a:rPr lang="en-US" b="0" i="1" smtClean="0">
                                  <a:latin typeface="Cambria Math" panose="02040503050406030204" pitchFamily="18" charset="0"/>
                                </a:rPr>
                                <m:t>𝐿</m:t>
                              </m:r>
                            </m:den>
                          </m:f>
                        </m:den>
                      </m:f>
                    </m:oMath>
                  </m:oMathPara>
                </a14:m>
                <a:endParaRPr lang="en-US" b="0" dirty="0"/>
              </a:p>
              <a:p>
                <a:r>
                  <a:rPr lang="en-VN" dirty="0"/>
                  <a:t>Suy ra:</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𝑅</m:t>
                          </m:r>
                        </m:den>
                      </m:f>
                      <m:d>
                        <m:dPr>
                          <m:ctrlPr>
                            <a:rPr lang="en-US" b="0" i="1" smtClean="0">
                              <a:latin typeface="Cambria Math" panose="02040503050406030204" pitchFamily="18" charset="0"/>
                            </a:rPr>
                          </m:ctrlPr>
                        </m:d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𝑅</m:t>
                                      </m:r>
                                    </m:num>
                                    <m:den>
                                      <m:r>
                                        <a:rPr lang="en-US" b="0" i="1" smtClean="0">
                                          <a:latin typeface="Cambria Math" panose="02040503050406030204" pitchFamily="18" charset="0"/>
                                        </a:rPr>
                                        <m:t>𝐿</m:t>
                                      </m:r>
                                    </m:den>
                                  </m:f>
                                </m:e>
                              </m:d>
                              <m:r>
                                <a:rPr lang="en-US" b="0" i="1" smtClean="0">
                                  <a:latin typeface="Cambria Math" panose="02040503050406030204" pitchFamily="18" charset="0"/>
                                </a:rPr>
                                <m:t>𝑡</m:t>
                              </m:r>
                            </m:sup>
                          </m:sSup>
                        </m:e>
                      </m:d>
                      <m:r>
                        <a:rPr lang="en-US" b="0" i="1" smtClean="0">
                          <a:latin typeface="Cambria Math" panose="02040503050406030204" pitchFamily="18" charset="0"/>
                        </a:rPr>
                        <m:t>+</m:t>
                      </m:r>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𝑅</m:t>
                                  </m:r>
                                </m:num>
                                <m:den>
                                  <m:r>
                                    <a:rPr lang="en-US" i="1">
                                      <a:latin typeface="Cambria Math" panose="02040503050406030204" pitchFamily="18" charset="0"/>
                                    </a:rPr>
                                    <m:t>𝐿</m:t>
                                  </m:r>
                                </m:den>
                              </m:f>
                            </m:e>
                          </m:d>
                          <m:r>
                            <a:rPr lang="en-US" i="1">
                              <a:latin typeface="Cambria Math" panose="02040503050406030204" pitchFamily="18" charset="0"/>
                            </a:rPr>
                            <m:t>𝑡</m:t>
                          </m:r>
                        </m:sup>
                      </m:sSup>
                    </m:oMath>
                  </m:oMathPara>
                </a14:m>
                <a:endParaRPr lang="en-VN" dirty="0"/>
              </a:p>
              <a:p>
                <a:r>
                  <a:rPr lang="en-VN" dirty="0"/>
                  <a:t>Như vậy: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𝑅𝑖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𝐿</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𝑅𝑖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dirty="0"/>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𝐿</m:t>
                          </m:r>
                        </m:den>
                      </m:f>
                      <m:r>
                        <a:rPr lang="en-US" b="0" i="1" smtClean="0">
                          <a:latin typeface="Cambria Math" panose="02040503050406030204" pitchFamily="18" charset="0"/>
                        </a:rPr>
                        <m:t>[</m:t>
                      </m:r>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𝑅𝑖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oMath>
                  </m:oMathPara>
                </a14:m>
                <a:endParaRPr lang="en-VN" dirty="0"/>
              </a:p>
            </p:txBody>
          </p:sp>
        </mc:Choice>
        <mc:Fallback xmlns="">
          <p:sp>
            <p:nvSpPr>
              <p:cNvPr id="7" name="TextBox 6">
                <a:extLst>
                  <a:ext uri="{FF2B5EF4-FFF2-40B4-BE49-F238E27FC236}">
                    <a16:creationId xmlns:a16="http://schemas.microsoft.com/office/drawing/2014/main" id="{2F1F801E-AFEF-85AD-DC01-32C701A477D4}"/>
                  </a:ext>
                </a:extLst>
              </p:cNvPr>
              <p:cNvSpPr txBox="1">
                <a:spLocks noRot="1" noChangeAspect="1" noMove="1" noResize="1" noEditPoints="1" noAdjustHandles="1" noChangeArrowheads="1" noChangeShapeType="1" noTextEdit="1"/>
              </p:cNvSpPr>
              <p:nvPr/>
            </p:nvSpPr>
            <p:spPr>
              <a:xfrm>
                <a:off x="830318" y="1229711"/>
                <a:ext cx="6285186" cy="4649414"/>
              </a:xfrm>
              <a:prstGeom prst="rect">
                <a:avLst/>
              </a:prstGeom>
              <a:blipFill>
                <a:blip r:embed="rId3"/>
                <a:stretch>
                  <a:fillRect l="-806" t="-545"/>
                </a:stretch>
              </a:blipFill>
            </p:spPr>
            <p:txBody>
              <a:bodyPr/>
              <a:lstStyle/>
              <a:p>
                <a:r>
                  <a:rPr lang="en-VN">
                    <a:noFill/>
                  </a:rPr>
                  <a:t> </a:t>
                </a:r>
              </a:p>
            </p:txBody>
          </p:sp>
        </mc:Fallback>
      </mc:AlternateContent>
      <p:cxnSp>
        <p:nvCxnSpPr>
          <p:cNvPr id="9" name="Straight Arrow Connector 8">
            <a:extLst>
              <a:ext uri="{FF2B5EF4-FFF2-40B4-BE49-F238E27FC236}">
                <a16:creationId xmlns:a16="http://schemas.microsoft.com/office/drawing/2014/main" id="{1B80918E-9C00-C900-40BD-2E1B55E0169C}"/>
              </a:ext>
            </a:extLst>
          </p:cNvPr>
          <p:cNvCxnSpPr>
            <a:cxnSpLocks/>
          </p:cNvCxnSpPr>
          <p:nvPr/>
        </p:nvCxnSpPr>
        <p:spPr>
          <a:xfrm flipH="1">
            <a:off x="4172606" y="1347860"/>
            <a:ext cx="451946" cy="371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0B17ED7-2DFD-CCE1-672A-0F333B93031B}"/>
              </a:ext>
            </a:extLst>
          </p:cNvPr>
          <p:cNvCxnSpPr>
            <a:cxnSpLocks/>
          </p:cNvCxnSpPr>
          <p:nvPr/>
        </p:nvCxnSpPr>
        <p:spPr>
          <a:xfrm>
            <a:off x="4624552" y="1347860"/>
            <a:ext cx="1198179"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B73A09F-AED6-77A8-373F-2601380F7CAA}"/>
              </a:ext>
            </a:extLst>
          </p:cNvPr>
          <p:cNvSpPr txBox="1"/>
          <p:nvPr/>
        </p:nvSpPr>
        <p:spPr>
          <a:xfrm>
            <a:off x="5822731" y="1028682"/>
            <a:ext cx="1627984" cy="646331"/>
          </a:xfrm>
          <a:prstGeom prst="rect">
            <a:avLst/>
          </a:prstGeom>
          <a:solidFill>
            <a:schemeClr val="accent2">
              <a:lumMod val="20000"/>
              <a:lumOff val="80000"/>
            </a:schemeClr>
          </a:solidFill>
        </p:spPr>
        <p:txBody>
          <a:bodyPr wrap="square" rtlCol="0">
            <a:spAutoFit/>
          </a:bodyPr>
          <a:lstStyle/>
          <a:p>
            <a:r>
              <a:rPr lang="en-VN" dirty="0"/>
              <a:t>Biến trạng thái </a:t>
            </a:r>
            <a:r>
              <a:rPr lang="en-VN" i="1" dirty="0"/>
              <a:t>(State variable)</a:t>
            </a:r>
          </a:p>
        </p:txBody>
      </p:sp>
      <p:sp>
        <p:nvSpPr>
          <p:cNvPr id="18" name="Rectangle 17">
            <a:extLst>
              <a:ext uri="{FF2B5EF4-FFF2-40B4-BE49-F238E27FC236}">
                <a16:creationId xmlns:a16="http://schemas.microsoft.com/office/drawing/2014/main" id="{B763E4E6-055E-EE4B-D9A0-4D8E0097DFA2}"/>
              </a:ext>
            </a:extLst>
          </p:cNvPr>
          <p:cNvSpPr/>
          <p:nvPr/>
        </p:nvSpPr>
        <p:spPr>
          <a:xfrm>
            <a:off x="2627586" y="1524000"/>
            <a:ext cx="2669628" cy="777766"/>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9" name="TextBox 18">
            <a:extLst>
              <a:ext uri="{FF2B5EF4-FFF2-40B4-BE49-F238E27FC236}">
                <a16:creationId xmlns:a16="http://schemas.microsoft.com/office/drawing/2014/main" id="{845475E3-01FA-5001-DA06-C6421262A7C1}"/>
              </a:ext>
            </a:extLst>
          </p:cNvPr>
          <p:cNvSpPr txBox="1"/>
          <p:nvPr/>
        </p:nvSpPr>
        <p:spPr>
          <a:xfrm>
            <a:off x="6084930" y="1936674"/>
            <a:ext cx="2396359" cy="646331"/>
          </a:xfrm>
          <a:prstGeom prst="rect">
            <a:avLst/>
          </a:prstGeom>
          <a:solidFill>
            <a:schemeClr val="accent2">
              <a:lumMod val="20000"/>
              <a:lumOff val="80000"/>
            </a:schemeClr>
          </a:solidFill>
        </p:spPr>
        <p:txBody>
          <a:bodyPr wrap="square" rtlCol="0">
            <a:spAutoFit/>
          </a:bodyPr>
          <a:lstStyle/>
          <a:p>
            <a:r>
              <a:rPr lang="en-VN" dirty="0"/>
              <a:t>Phương trình trạng thái </a:t>
            </a:r>
            <a:r>
              <a:rPr lang="en-VN" i="1" dirty="0"/>
              <a:t>(State equation)</a:t>
            </a:r>
          </a:p>
        </p:txBody>
      </p:sp>
      <p:cxnSp>
        <p:nvCxnSpPr>
          <p:cNvPr id="20" name="Straight Connector 19">
            <a:extLst>
              <a:ext uri="{FF2B5EF4-FFF2-40B4-BE49-F238E27FC236}">
                <a16:creationId xmlns:a16="http://schemas.microsoft.com/office/drawing/2014/main" id="{FD145962-042C-A224-3CBB-EE49DD1DFA49}"/>
              </a:ext>
            </a:extLst>
          </p:cNvPr>
          <p:cNvCxnSpPr>
            <a:cxnSpLocks/>
            <a:stCxn id="18" idx="3"/>
          </p:cNvCxnSpPr>
          <p:nvPr/>
        </p:nvCxnSpPr>
        <p:spPr>
          <a:xfrm>
            <a:off x="5297214" y="1912883"/>
            <a:ext cx="787716" cy="324243"/>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C0E0AB9E-A11A-CA81-77F6-516542B197DB}"/>
              </a:ext>
            </a:extLst>
          </p:cNvPr>
          <p:cNvSpPr/>
          <p:nvPr/>
        </p:nvSpPr>
        <p:spPr>
          <a:xfrm>
            <a:off x="2627586" y="4556235"/>
            <a:ext cx="2669628" cy="1395562"/>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4" name="TextBox 23">
            <a:extLst>
              <a:ext uri="{FF2B5EF4-FFF2-40B4-BE49-F238E27FC236}">
                <a16:creationId xmlns:a16="http://schemas.microsoft.com/office/drawing/2014/main" id="{2B73FB7D-DFBB-2BB6-3A30-99C2035F5941}"/>
              </a:ext>
            </a:extLst>
          </p:cNvPr>
          <p:cNvSpPr txBox="1"/>
          <p:nvPr/>
        </p:nvSpPr>
        <p:spPr>
          <a:xfrm>
            <a:off x="6095999" y="4797070"/>
            <a:ext cx="2385289" cy="646331"/>
          </a:xfrm>
          <a:prstGeom prst="rect">
            <a:avLst/>
          </a:prstGeom>
          <a:solidFill>
            <a:schemeClr val="accent2">
              <a:lumMod val="20000"/>
              <a:lumOff val="80000"/>
            </a:schemeClr>
          </a:solidFill>
        </p:spPr>
        <p:txBody>
          <a:bodyPr wrap="square" rtlCol="0">
            <a:spAutoFit/>
          </a:bodyPr>
          <a:lstStyle/>
          <a:p>
            <a:r>
              <a:rPr lang="en-VN" dirty="0"/>
              <a:t>Phương trình lối ra</a:t>
            </a:r>
          </a:p>
          <a:p>
            <a:r>
              <a:rPr lang="en-VN" i="1" dirty="0"/>
              <a:t>(Output equations)</a:t>
            </a:r>
          </a:p>
        </p:txBody>
      </p:sp>
      <p:cxnSp>
        <p:nvCxnSpPr>
          <p:cNvPr id="25" name="Straight Connector 24">
            <a:extLst>
              <a:ext uri="{FF2B5EF4-FFF2-40B4-BE49-F238E27FC236}">
                <a16:creationId xmlns:a16="http://schemas.microsoft.com/office/drawing/2014/main" id="{D5516D1F-9A16-7952-D934-D87AF3D47E9E}"/>
              </a:ext>
            </a:extLst>
          </p:cNvPr>
          <p:cNvCxnSpPr>
            <a:cxnSpLocks/>
            <a:stCxn id="23" idx="3"/>
            <a:endCxn id="24" idx="1"/>
          </p:cNvCxnSpPr>
          <p:nvPr/>
        </p:nvCxnSpPr>
        <p:spPr>
          <a:xfrm flipV="1">
            <a:off x="5297214" y="5120236"/>
            <a:ext cx="798785" cy="133780"/>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7BF92E8-BACA-7D90-D4B2-E52DDD5C13C5}"/>
              </a:ext>
            </a:extLst>
          </p:cNvPr>
          <p:cNvSpPr txBox="1"/>
          <p:nvPr/>
        </p:nvSpPr>
        <p:spPr>
          <a:xfrm>
            <a:off x="6095999" y="3432225"/>
            <a:ext cx="3163615" cy="646331"/>
          </a:xfrm>
          <a:prstGeom prst="rect">
            <a:avLst/>
          </a:prstGeom>
          <a:solidFill>
            <a:schemeClr val="accent2">
              <a:lumMod val="20000"/>
              <a:lumOff val="80000"/>
            </a:schemeClr>
          </a:solidFill>
        </p:spPr>
        <p:txBody>
          <a:bodyPr wrap="square" rtlCol="0">
            <a:spAutoFit/>
          </a:bodyPr>
          <a:lstStyle/>
          <a:p>
            <a:r>
              <a:rPr lang="en-VN" dirty="0"/>
              <a:t>Biểu diễn không gian trạng thái </a:t>
            </a:r>
          </a:p>
          <a:p>
            <a:r>
              <a:rPr lang="en-VN" i="1" dirty="0"/>
              <a:t>(State-space representation)</a:t>
            </a:r>
          </a:p>
        </p:txBody>
      </p:sp>
      <p:cxnSp>
        <p:nvCxnSpPr>
          <p:cNvPr id="40" name="Straight Arrow Connector 39">
            <a:extLst>
              <a:ext uri="{FF2B5EF4-FFF2-40B4-BE49-F238E27FC236}">
                <a16:creationId xmlns:a16="http://schemas.microsoft.com/office/drawing/2014/main" id="{043CD10E-768D-93AA-AA17-5575478D38EF}"/>
              </a:ext>
            </a:extLst>
          </p:cNvPr>
          <p:cNvCxnSpPr>
            <a:stCxn id="19" idx="2"/>
          </p:cNvCxnSpPr>
          <p:nvPr/>
        </p:nvCxnSpPr>
        <p:spPr>
          <a:xfrm>
            <a:off x="7283110" y="2583005"/>
            <a:ext cx="559" cy="845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74F3883-58A7-7CF0-A9A7-993EC897A3DC}"/>
              </a:ext>
            </a:extLst>
          </p:cNvPr>
          <p:cNvCxnSpPr>
            <a:stCxn id="24" idx="0"/>
          </p:cNvCxnSpPr>
          <p:nvPr/>
        </p:nvCxnSpPr>
        <p:spPr>
          <a:xfrm flipH="1" flipV="1">
            <a:off x="7283110" y="4078556"/>
            <a:ext cx="5534" cy="718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146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par>
                                <p:cTn id="11" presetID="3" presetClass="entr" presetSubtype="1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linds(horizontal)">
                                      <p:cBhvr>
                                        <p:cTn id="18" dur="500"/>
                                        <p:tgtEl>
                                          <p:spTgt spid="18"/>
                                        </p:tgtEl>
                                      </p:cBhvr>
                                    </p:animEffect>
                                  </p:childTnLst>
                                </p:cTn>
                              </p:par>
                              <p:par>
                                <p:cTn id="19" presetID="3" presetClass="entr" presetSubtype="1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blinds(horizontal)">
                                      <p:cBhvr>
                                        <p:cTn id="21" dur="500"/>
                                        <p:tgtEl>
                                          <p:spTgt spid="2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linds(horizontal)">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blinds(horizontal)">
                                      <p:cBhvr>
                                        <p:cTn id="29" dur="500"/>
                                        <p:tgtEl>
                                          <p:spTgt spid="24"/>
                                        </p:tgtEl>
                                      </p:cBhvr>
                                    </p:animEffect>
                                  </p:childTnLst>
                                </p:cTn>
                              </p:par>
                              <p:par>
                                <p:cTn id="30" presetID="3" presetClass="entr" presetSubtype="10" fill="hold"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blinds(horizontal)">
                                      <p:cBhvr>
                                        <p:cTn id="32" dur="500"/>
                                        <p:tgtEl>
                                          <p:spTgt spid="25"/>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blinds(horizontal)">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blinds(horizontal)">
                                      <p:cBhvr>
                                        <p:cTn id="40" dur="500"/>
                                        <p:tgtEl>
                                          <p:spTgt spid="40"/>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blinds(horizontal)">
                                      <p:cBhvr>
                                        <p:cTn id="43" dur="500"/>
                                        <p:tgtEl>
                                          <p:spTgt spid="38"/>
                                        </p:tgtEl>
                                      </p:cBhvr>
                                    </p:animEffect>
                                  </p:childTnLst>
                                </p:cTn>
                              </p:par>
                              <p:par>
                                <p:cTn id="44" presetID="3" presetClass="entr" presetSubtype="1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blinds(horizontal)">
                                      <p:cBhvr>
                                        <p:cTn id="4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3" grpId="0" animBg="1"/>
      <p:bldP spid="24"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EA62-52B0-E971-CEC3-74C53EFF62C0}"/>
              </a:ext>
            </a:extLst>
          </p:cNvPr>
          <p:cNvSpPr>
            <a:spLocks noGrp="1"/>
          </p:cNvSpPr>
          <p:nvPr>
            <p:ph type="title"/>
          </p:nvPr>
        </p:nvSpPr>
        <p:spPr/>
        <p:txBody>
          <a:bodyPr/>
          <a:lstStyle/>
          <a:p>
            <a:r>
              <a:rPr lang="en-VN" dirty="0"/>
              <a:t>MÔ HÌNH KHÔNG GIAN TRẠNG THÁI HỆ THỐNG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50EBD2-1300-5A6E-F99F-2640AFEBA7B3}"/>
                  </a:ext>
                </a:extLst>
              </p:cNvPr>
              <p:cNvSpPr>
                <a:spLocks noGrp="1"/>
              </p:cNvSpPr>
              <p:nvPr>
                <p:ph idx="1"/>
              </p:nvPr>
            </p:nvSpPr>
            <p:spPr/>
            <p:txBody>
              <a:bodyPr/>
              <a:lstStyle/>
              <a:p>
                <a:r>
                  <a:rPr lang="en-VN" dirty="0"/>
                  <a:t>Lựa chọn tập hợp con các biến của hệ thống: </a:t>
                </a:r>
                <a:r>
                  <a:rPr lang="en-VN" i="1" dirty="0">
                    <a:solidFill>
                      <a:schemeClr val="accent1">
                        <a:lumMod val="75000"/>
                      </a:schemeClr>
                    </a:solidFill>
                  </a:rPr>
                  <a:t>Biến trạng thái</a:t>
                </a:r>
                <a:r>
                  <a:rPr lang="en-VN" dirty="0"/>
                  <a:t>.</a:t>
                </a:r>
              </a:p>
              <a:p>
                <a:r>
                  <a:rPr lang="en-VN" dirty="0"/>
                  <a:t>Với hệ thống bậc n, biểu diễn hệ thống dưới dạng n phương trình vi phân bậc nhất theo các biến trạng thái. Hệ các phương trình vi phân này được gọi là </a:t>
                </a:r>
                <a:r>
                  <a:rPr lang="en-VN" i="1" dirty="0">
                    <a:solidFill>
                      <a:schemeClr val="accent1">
                        <a:lumMod val="75000"/>
                      </a:schemeClr>
                    </a:solidFill>
                  </a:rPr>
                  <a:t>phương trình trạng thái</a:t>
                </a:r>
                <a:r>
                  <a:rPr lang="en-VN" dirty="0"/>
                  <a:t>.</a:t>
                </a:r>
              </a:p>
              <a:p>
                <a:r>
                  <a:rPr lang="en-VN" dirty="0"/>
                  <a:t>Giải phương trình vi phân với điều kiện ban đầu cho trước với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oMath>
                </a14:m>
                <a:r>
                  <a:rPr lang="en-VN" dirty="0"/>
                  <a:t>.</a:t>
                </a:r>
              </a:p>
              <a:p>
                <a:r>
                  <a:rPr lang="en-VN" dirty="0"/>
                  <a:t>Kết hợp biến trạng thái với lối vào của hệ thống để tìm tất cả các biến còn lại của hệ thống. Các phương trình này là các </a:t>
                </a:r>
                <a:r>
                  <a:rPr lang="en-VN" i="1" dirty="0">
                    <a:solidFill>
                      <a:schemeClr val="accent1">
                        <a:lumMod val="75000"/>
                      </a:schemeClr>
                    </a:solidFill>
                  </a:rPr>
                  <a:t>phương trình lối ra</a:t>
                </a:r>
                <a:r>
                  <a:rPr lang="en-VN" dirty="0"/>
                  <a:t>.</a:t>
                </a:r>
              </a:p>
              <a:p>
                <a:r>
                  <a:rPr lang="en-VN" dirty="0"/>
                  <a:t>Kết hợp của phương trình trạng thái và phương trình lối ra được gọi là </a:t>
                </a:r>
                <a:r>
                  <a:rPr lang="en-VN" i="1" dirty="0">
                    <a:solidFill>
                      <a:schemeClr val="accent1">
                        <a:lumMod val="75000"/>
                      </a:schemeClr>
                    </a:solidFill>
                  </a:rPr>
                  <a:t>mô hình hệ thống trong không gian trạng thái</a:t>
                </a:r>
                <a:r>
                  <a:rPr lang="en-VN" dirty="0"/>
                  <a:t>.</a:t>
                </a:r>
              </a:p>
              <a:p>
                <a:endParaRPr lang="en-VN" dirty="0"/>
              </a:p>
            </p:txBody>
          </p:sp>
        </mc:Choice>
        <mc:Fallback xmlns="">
          <p:sp>
            <p:nvSpPr>
              <p:cNvPr id="3" name="Content Placeholder 2">
                <a:extLst>
                  <a:ext uri="{FF2B5EF4-FFF2-40B4-BE49-F238E27FC236}">
                    <a16:creationId xmlns:a16="http://schemas.microsoft.com/office/drawing/2014/main" id="{3250EBD2-1300-5A6E-F99F-2640AFEBA7B3}"/>
                  </a:ext>
                </a:extLst>
              </p:cNvPr>
              <p:cNvSpPr>
                <a:spLocks noGrp="1" noRot="1" noChangeAspect="1" noMove="1" noResize="1" noEditPoints="1" noAdjustHandles="1" noChangeArrowheads="1" noChangeShapeType="1" noTextEdit="1"/>
              </p:cNvSpPr>
              <p:nvPr>
                <p:ph idx="1"/>
              </p:nvPr>
            </p:nvSpPr>
            <p:spPr>
              <a:blipFill>
                <a:blip r:embed="rId2"/>
                <a:stretch>
                  <a:fillRect l="-528" r="-528"/>
                </a:stretch>
              </a:blipFill>
            </p:spPr>
            <p:txBody>
              <a:bodyPr/>
              <a:lstStyle/>
              <a:p>
                <a:r>
                  <a:rPr lang="en-VN">
                    <a:noFill/>
                  </a:rPr>
                  <a:t> </a:t>
                </a:r>
              </a:p>
            </p:txBody>
          </p:sp>
        </mc:Fallback>
      </mc:AlternateContent>
    </p:spTree>
    <p:extLst>
      <p:ext uri="{BB962C8B-B14F-4D97-AF65-F5344CB8AC3E}">
        <p14:creationId xmlns:p14="http://schemas.microsoft.com/office/powerpoint/2010/main" val="2407541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203C5-CA06-52BC-A3B9-143A5B124FE7}"/>
              </a:ext>
            </a:extLst>
          </p:cNvPr>
          <p:cNvSpPr>
            <a:spLocks noGrp="1"/>
          </p:cNvSpPr>
          <p:nvPr>
            <p:ph type="title"/>
          </p:nvPr>
        </p:nvSpPr>
        <p:spPr/>
        <p:txBody>
          <a:bodyPr/>
          <a:lstStyle/>
          <a:p>
            <a:r>
              <a:rPr lang="en-VN" dirty="0"/>
              <a:t>MÔ HÌNH KHÔNG GIAN TRẠNG THÁI HỆ THỐNG</a:t>
            </a:r>
          </a:p>
        </p:txBody>
      </p:sp>
      <p:pic>
        <p:nvPicPr>
          <p:cNvPr id="5" name="Content Placeholder 4">
            <a:extLst>
              <a:ext uri="{FF2B5EF4-FFF2-40B4-BE49-F238E27FC236}">
                <a16:creationId xmlns:a16="http://schemas.microsoft.com/office/drawing/2014/main" id="{4C40C7DA-20F4-5136-4F16-1BFF45AEF914}"/>
              </a:ext>
            </a:extLst>
          </p:cNvPr>
          <p:cNvPicPr>
            <a:picLocks noGrp="1" noChangeAspect="1"/>
          </p:cNvPicPr>
          <p:nvPr>
            <p:ph idx="1"/>
          </p:nvPr>
        </p:nvPicPr>
        <p:blipFill>
          <a:blip r:embed="rId2"/>
          <a:stretch>
            <a:fillRect/>
          </a:stretch>
        </p:blipFill>
        <p:spPr>
          <a:xfrm>
            <a:off x="7514897" y="1769994"/>
            <a:ext cx="4305024" cy="2125265"/>
          </a:xfrm>
        </p:spPr>
      </p:pic>
      <p:sp>
        <p:nvSpPr>
          <p:cNvPr id="6" name="TextBox 5">
            <a:extLst>
              <a:ext uri="{FF2B5EF4-FFF2-40B4-BE49-F238E27FC236}">
                <a16:creationId xmlns:a16="http://schemas.microsoft.com/office/drawing/2014/main" id="{4711BD21-F57C-19DA-3056-CDD2D5E2B558}"/>
              </a:ext>
            </a:extLst>
          </p:cNvPr>
          <p:cNvSpPr txBox="1"/>
          <p:nvPr/>
        </p:nvSpPr>
        <p:spPr>
          <a:xfrm>
            <a:off x="7850669" y="3994949"/>
            <a:ext cx="4088524" cy="369332"/>
          </a:xfrm>
          <a:prstGeom prst="rect">
            <a:avLst/>
          </a:prstGeom>
          <a:noFill/>
        </p:spPr>
        <p:txBody>
          <a:bodyPr wrap="square" rtlCol="0">
            <a:spAutoFit/>
          </a:bodyPr>
          <a:lstStyle/>
          <a:p>
            <a:pPr algn="ctr"/>
            <a:r>
              <a:rPr lang="en-VN" i="1" dirty="0"/>
              <a:t>Ví dụ: Mạch RLC</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4AB656-5E92-EBB9-E21D-2EF850A350DC}"/>
                  </a:ext>
                </a:extLst>
              </p:cNvPr>
              <p:cNvSpPr txBox="1"/>
              <p:nvPr/>
            </p:nvSpPr>
            <p:spPr>
              <a:xfrm>
                <a:off x="966558" y="1292772"/>
                <a:ext cx="6548339" cy="3726213"/>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1. Hệ thống bậc 2 ➔ lựa chọn 2 biến trạng thái của hệ thống</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 </m:t>
                      </m:r>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2. Viết phương trình vi phân của hệ thống</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f>
                        <m:fPr>
                          <m:ctrlPr>
                            <a:rPr lang="en-US" b="0" i="1" smtClean="0">
                              <a:latin typeface="Cambria Math" panose="02040503050406030204" pitchFamily="18" charset="0"/>
                            </a:rPr>
                          </m:ctrlPr>
                        </m:fPr>
                        <m:num>
                          <m:r>
                            <a:rPr lang="en-US" b="0" i="1" smtClean="0">
                              <a:latin typeface="Cambria Math" panose="02040503050406030204" pitchFamily="18" charset="0"/>
                            </a:rPr>
                            <m:t>𝑑𝑖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𝑅𝑖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𝐶</m:t>
                          </m:r>
                        </m:den>
                      </m:f>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𝑑𝑡</m:t>
                          </m:r>
                        </m:e>
                      </m:nary>
                      <m:r>
                        <a:rPr lang="en-US" b="0" i="1" smtClean="0">
                          <a:latin typeface="Cambria Math" panose="02040503050406030204" pitchFamily="18" charset="0"/>
                        </a:rPr>
                        <m:t>=</m:t>
                      </m:r>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Đưa phương trình trên về phương trình vi phân bậc 2 (thay </a:t>
                </a:r>
                <a14:m>
                  <m:oMath xmlns:m="http://schemas.openxmlformats.org/officeDocument/2006/math">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oMath>
                </a14:m>
                <a:r>
                  <a:rPr lang="en-VN"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𝑅</m:t>
                      </m:r>
                      <m:f>
                        <m:fPr>
                          <m:ctrlPr>
                            <a:rPr lang="en-US" b="0" i="1" smtClean="0">
                              <a:latin typeface="Cambria Math" panose="02040503050406030204" pitchFamily="18" charset="0"/>
                            </a:rPr>
                          </m:ctrlPr>
                        </m:fPr>
                        <m:num>
                          <m:r>
                            <a:rPr lang="en-US" b="0" i="1" smtClean="0">
                              <a:latin typeface="Cambria Math" panose="02040503050406030204" pitchFamily="18" charset="0"/>
                            </a:rPr>
                            <m:t>𝑑𝑞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𝐶</m:t>
                          </m:r>
                        </m:den>
                      </m:f>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Đưa phương trình vi phân bậc 2 trên thành 2 phương trình vi phân bậc 1, </a:t>
                </a:r>
                <a:r>
                  <a:rPr lang="en-VN" i="1" dirty="0">
                    <a:latin typeface="Arial" panose="020B0604020202020204" pitchFamily="34" charset="0"/>
                    <a:cs typeface="Arial" panose="020B0604020202020204" pitchFamily="34" charset="0"/>
                  </a:rPr>
                  <a:t>vế trái là vi phân của biến trạng thái, vế phải là tổ hợp tuyến tính của tập hợp các biến trạng thái và lối vào</a:t>
                </a:r>
                <a:r>
                  <a:rPr lang="en-VN" dirty="0">
                    <a:latin typeface="Arial" panose="020B0604020202020204" pitchFamily="34" charset="0"/>
                    <a:cs typeface="Arial" panose="020B0604020202020204" pitchFamily="34" charset="0"/>
                  </a:rPr>
                  <a:t>.</a:t>
                </a:r>
              </a:p>
            </p:txBody>
          </p:sp>
        </mc:Choice>
        <mc:Fallback xmlns="">
          <p:sp>
            <p:nvSpPr>
              <p:cNvPr id="7" name="TextBox 6">
                <a:extLst>
                  <a:ext uri="{FF2B5EF4-FFF2-40B4-BE49-F238E27FC236}">
                    <a16:creationId xmlns:a16="http://schemas.microsoft.com/office/drawing/2014/main" id="{824AB656-5E92-EBB9-E21D-2EF850A350DC}"/>
                  </a:ext>
                </a:extLst>
              </p:cNvPr>
              <p:cNvSpPr txBox="1">
                <a:spLocks noRot="1" noChangeAspect="1" noMove="1" noResize="1" noEditPoints="1" noAdjustHandles="1" noChangeArrowheads="1" noChangeShapeType="1" noTextEdit="1"/>
              </p:cNvSpPr>
              <p:nvPr/>
            </p:nvSpPr>
            <p:spPr>
              <a:xfrm>
                <a:off x="966558" y="1292772"/>
                <a:ext cx="6548339" cy="3726213"/>
              </a:xfrm>
              <a:prstGeom prst="rect">
                <a:avLst/>
              </a:prstGeom>
              <a:blipFill>
                <a:blip r:embed="rId3"/>
                <a:stretch>
                  <a:fillRect l="-775" t="-7119" b="-1356"/>
                </a:stretch>
              </a:blipFill>
            </p:spPr>
            <p:txBody>
              <a:bodyPr/>
              <a:lstStyle/>
              <a:p>
                <a:r>
                  <a:rPr lang="en-VN">
                    <a:noFill/>
                  </a:rPr>
                  <a:t> </a:t>
                </a:r>
              </a:p>
            </p:txBody>
          </p:sp>
        </mc:Fallback>
      </mc:AlternateContent>
      <p:pic>
        <p:nvPicPr>
          <p:cNvPr id="9" name="Picture 8">
            <a:extLst>
              <a:ext uri="{FF2B5EF4-FFF2-40B4-BE49-F238E27FC236}">
                <a16:creationId xmlns:a16="http://schemas.microsoft.com/office/drawing/2014/main" id="{C15282B7-65BD-8C1D-BADA-A80D6211FC44}"/>
              </a:ext>
            </a:extLst>
          </p:cNvPr>
          <p:cNvPicPr>
            <a:picLocks noChangeAspect="1"/>
          </p:cNvPicPr>
          <p:nvPr/>
        </p:nvPicPr>
        <p:blipFill>
          <a:blip r:embed="rId4"/>
          <a:stretch>
            <a:fillRect/>
          </a:stretch>
        </p:blipFill>
        <p:spPr>
          <a:xfrm>
            <a:off x="1602829" y="5200476"/>
            <a:ext cx="4724399" cy="729503"/>
          </a:xfrm>
          <a:prstGeom prst="rect">
            <a:avLst/>
          </a:prstGeom>
        </p:spPr>
      </p:pic>
    </p:spTree>
    <p:extLst>
      <p:ext uri="{BB962C8B-B14F-4D97-AF65-F5344CB8AC3E}">
        <p14:creationId xmlns:p14="http://schemas.microsoft.com/office/powerpoint/2010/main" val="449350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FF4E5-DF0A-75B8-5473-099B4AAC0433}"/>
              </a:ext>
            </a:extLst>
          </p:cNvPr>
          <p:cNvSpPr>
            <a:spLocks noGrp="1"/>
          </p:cNvSpPr>
          <p:nvPr>
            <p:ph type="title"/>
          </p:nvPr>
        </p:nvSpPr>
        <p:spPr/>
        <p:txBody>
          <a:bodyPr/>
          <a:lstStyle/>
          <a:p>
            <a:r>
              <a:rPr lang="en-VN" dirty="0"/>
              <a:t>MÔ HÌNH KHÔNG GIAN TRẠNG THÁI HỆ THỐNG</a:t>
            </a:r>
          </a:p>
        </p:txBody>
      </p:sp>
      <p:pic>
        <p:nvPicPr>
          <p:cNvPr id="4" name="Content Placeholder 4">
            <a:extLst>
              <a:ext uri="{FF2B5EF4-FFF2-40B4-BE49-F238E27FC236}">
                <a16:creationId xmlns:a16="http://schemas.microsoft.com/office/drawing/2014/main" id="{1D68EB18-3A0B-D964-A66E-F4D92A652060}"/>
              </a:ext>
            </a:extLst>
          </p:cNvPr>
          <p:cNvPicPr>
            <a:picLocks noChangeAspect="1"/>
          </p:cNvPicPr>
          <p:nvPr/>
        </p:nvPicPr>
        <p:blipFill>
          <a:blip r:embed="rId2"/>
          <a:stretch>
            <a:fillRect/>
          </a:stretch>
        </p:blipFill>
        <p:spPr>
          <a:xfrm>
            <a:off x="7514897" y="1769994"/>
            <a:ext cx="4305024" cy="2125265"/>
          </a:xfrm>
          <a:prstGeom prst="rect">
            <a:avLst/>
          </a:prstGeom>
        </p:spPr>
      </p:pic>
      <p:sp>
        <p:nvSpPr>
          <p:cNvPr id="5" name="TextBox 4">
            <a:extLst>
              <a:ext uri="{FF2B5EF4-FFF2-40B4-BE49-F238E27FC236}">
                <a16:creationId xmlns:a16="http://schemas.microsoft.com/office/drawing/2014/main" id="{DD415022-7663-22D7-6739-319157F7E460}"/>
              </a:ext>
            </a:extLst>
          </p:cNvPr>
          <p:cNvSpPr txBox="1"/>
          <p:nvPr/>
        </p:nvSpPr>
        <p:spPr>
          <a:xfrm>
            <a:off x="7850669" y="3994949"/>
            <a:ext cx="4088524" cy="369332"/>
          </a:xfrm>
          <a:prstGeom prst="rect">
            <a:avLst/>
          </a:prstGeom>
          <a:noFill/>
        </p:spPr>
        <p:txBody>
          <a:bodyPr wrap="square" rtlCol="0">
            <a:spAutoFit/>
          </a:bodyPr>
          <a:lstStyle/>
          <a:p>
            <a:pPr algn="ctr"/>
            <a:r>
              <a:rPr lang="en-VN" i="1" dirty="0">
                <a:latin typeface="Arial" panose="020B0604020202020204" pitchFamily="34" charset="0"/>
                <a:cs typeface="Arial" panose="020B0604020202020204" pitchFamily="34" charset="0"/>
              </a:rPr>
              <a:t>Ví dụ: Mạch RLC</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4A7496-9BF6-4EDE-B131-227B93929384}"/>
                  </a:ext>
                </a:extLst>
              </p:cNvPr>
              <p:cNvSpPr txBox="1"/>
              <p:nvPr/>
            </p:nvSpPr>
            <p:spPr>
              <a:xfrm>
                <a:off x="977462" y="1292772"/>
                <a:ext cx="6190594" cy="417082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2 phương trình vi phân bậc 1 thoả mãn điều kiện trên như sau:</a:t>
                </a: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𝑑𝑞</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𝐿𝐶</m:t>
                          </m:r>
                        </m:den>
                      </m:f>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𝑅</m:t>
                          </m:r>
                        </m:num>
                        <m:den>
                          <m:r>
                            <a:rPr lang="en-US" b="0" i="1" smtClean="0">
                              <a:latin typeface="Cambria Math" panose="02040503050406030204" pitchFamily="18" charset="0"/>
                            </a:rPr>
                            <m:t>𝐿</m:t>
                          </m:r>
                        </m:den>
                      </m:f>
                      <m:r>
                        <a:rPr lang="en-US" b="0" i="1" smtClean="0">
                          <a:latin typeface="Cambria Math" panose="02040503050406030204" pitchFamily="18" charset="0"/>
                        </a:rPr>
                        <m:t>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𝐿</m:t>
                          </m:r>
                        </m:den>
                      </m:f>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b="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3. </a:t>
                </a:r>
                <a:r>
                  <a:rPr lang="en-US" dirty="0" err="1">
                    <a:latin typeface="Arial" panose="020B0604020202020204" pitchFamily="34" charset="0"/>
                    <a:cs typeface="Arial" panose="020B0604020202020204" pitchFamily="34" charset="0"/>
                  </a:rPr>
                  <a:t>Giải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r>
                  <a:rPr lang="en-US" dirty="0">
                    <a:latin typeface="Arial" panose="020B0604020202020204" pitchFamily="34" charset="0"/>
                    <a:cs typeface="Arial" panose="020B0604020202020204" pitchFamily="34" charset="0"/>
                  </a:rPr>
                  <a:t> vi </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đổi</a:t>
                </a:r>
                <a:r>
                  <a:rPr lang="en-US" dirty="0">
                    <a:latin typeface="Arial" panose="020B0604020202020204" pitchFamily="34" charset="0"/>
                    <a:cs typeface="Arial" panose="020B0604020202020204" pitchFamily="34" charset="0"/>
                  </a:rPr>
                  <a:t> Laplace.</a:t>
                </a:r>
              </a:p>
              <a:p>
                <a:r>
                  <a:rPr lang="en-US" b="0" dirty="0">
                    <a:latin typeface="Arial" panose="020B0604020202020204" pitchFamily="34" charset="0"/>
                    <a:cs typeface="Arial" panose="020B0604020202020204" pitchFamily="34" charset="0"/>
                  </a:rPr>
                  <a:t>4. </a:t>
                </a:r>
                <a:r>
                  <a:rPr lang="en-US" b="0" dirty="0" err="1">
                    <a:latin typeface="Arial" panose="020B0604020202020204" pitchFamily="34" charset="0"/>
                    <a:cs typeface="Arial" panose="020B0604020202020204" pitchFamily="34" charset="0"/>
                  </a:rPr>
                  <a:t>Biểu</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diễn</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c</a:t>
                </a:r>
                <a:r>
                  <a:rPr lang="en-US" dirty="0" err="1">
                    <a:latin typeface="Arial" panose="020B0604020202020204" pitchFamily="34" charset="0"/>
                    <a:cs typeface="Arial" panose="020B0604020202020204" pitchFamily="34" charset="0"/>
                  </a:rPr>
                  <a:t>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𝐿</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𝐶</m:t>
                          </m:r>
                        </m:den>
                      </m:f>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𝑅𝑖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b="0" dirty="0">
                  <a:latin typeface="Arial" panose="020B0604020202020204" pitchFamily="34" charset="0"/>
                  <a:cs typeface="Arial" panose="020B0604020202020204" pitchFamily="34"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𝐿</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là</a:t>
                </a:r>
                <a:r>
                  <a:rPr lang="en-US" b="0" dirty="0">
                    <a:latin typeface="Arial" panose="020B0604020202020204" pitchFamily="34" charset="0"/>
                    <a:cs typeface="Arial" panose="020B0604020202020204" pitchFamily="34" charset="0"/>
                  </a:rPr>
                  <a:t> </a:t>
                </a:r>
                <a:r>
                  <a:rPr lang="en-US" b="0" i="1" dirty="0" err="1">
                    <a:latin typeface="Arial" panose="020B0604020202020204" pitchFamily="34" charset="0"/>
                    <a:cs typeface="Arial" panose="020B0604020202020204" pitchFamily="34" charset="0"/>
                  </a:rPr>
                  <a:t>tổ</a:t>
                </a:r>
                <a:r>
                  <a:rPr lang="en-US" b="0" i="1" dirty="0">
                    <a:latin typeface="Arial" panose="020B0604020202020204" pitchFamily="34" charset="0"/>
                    <a:cs typeface="Arial" panose="020B0604020202020204" pitchFamily="34" charset="0"/>
                  </a:rPr>
                  <a:t> </a:t>
                </a:r>
                <a:r>
                  <a:rPr lang="en-US" b="0" i="1" dirty="0" err="1">
                    <a:latin typeface="Arial" panose="020B0604020202020204" pitchFamily="34" charset="0"/>
                    <a:cs typeface="Arial" panose="020B0604020202020204" pitchFamily="34" charset="0"/>
                  </a:rPr>
                  <a:t>hợp</a:t>
                </a:r>
                <a:r>
                  <a:rPr lang="en-US" b="0" i="1" dirty="0">
                    <a:latin typeface="Arial" panose="020B0604020202020204" pitchFamily="34" charset="0"/>
                    <a:cs typeface="Arial" panose="020B0604020202020204" pitchFamily="34" charset="0"/>
                  </a:rPr>
                  <a:t> </a:t>
                </a:r>
                <a:r>
                  <a:rPr lang="en-US" b="0" i="1" dirty="0" err="1">
                    <a:latin typeface="Arial" panose="020B0604020202020204" pitchFamily="34" charset="0"/>
                    <a:cs typeface="Arial" panose="020B0604020202020204" pitchFamily="34" charset="0"/>
                  </a:rPr>
                  <a:t>tuyến</a:t>
                </a:r>
                <a:r>
                  <a:rPr lang="en-US" b="0"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tính</a:t>
                </a:r>
                <a:r>
                  <a:rPr lang="en-US" i="1"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a:t>
                </a:r>
              </a:p>
              <a:p>
                <a:r>
                  <a:rPr lang="en-US" b="0" dirty="0">
                    <a:latin typeface="Arial" panose="020B0604020202020204" pitchFamily="34" charset="0"/>
                    <a:cs typeface="Arial" panose="020B0604020202020204" pitchFamily="34" charset="0"/>
                  </a:rPr>
                  <a:t>5. </a:t>
                </a:r>
                <a:r>
                  <a:rPr lang="en-US" b="0" dirty="0" err="1">
                    <a:latin typeface="Arial" panose="020B0604020202020204" pitchFamily="34" charset="0"/>
                    <a:cs typeface="Arial" panose="020B0604020202020204" pitchFamily="34" charset="0"/>
                  </a:rPr>
                  <a:t>Kết</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hợp</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của</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các</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phương</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trình</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phần</a:t>
                </a:r>
                <a:r>
                  <a:rPr lang="en-US" b="0" dirty="0">
                    <a:latin typeface="Arial" panose="020B0604020202020204" pitchFamily="34" charset="0"/>
                    <a:cs typeface="Arial" panose="020B0604020202020204" pitchFamily="34" charset="0"/>
                  </a:rPr>
                  <a:t> 2 </a:t>
                </a:r>
                <a:r>
                  <a:rPr lang="en-US" b="0" dirty="0" err="1">
                    <a:latin typeface="Arial" panose="020B0604020202020204" pitchFamily="34" charset="0"/>
                    <a:cs typeface="Arial" panose="020B0604020202020204" pitchFamily="34" charset="0"/>
                  </a:rPr>
                  <a:t>và</a:t>
                </a:r>
                <a:r>
                  <a:rPr lang="en-US" b="0" dirty="0">
                    <a:latin typeface="Arial" panose="020B0604020202020204" pitchFamily="34" charset="0"/>
                    <a:cs typeface="Arial" panose="020B0604020202020204" pitchFamily="34" charset="0"/>
                  </a:rPr>
                  <a:t> 4 </a:t>
                </a:r>
                <a:r>
                  <a:rPr lang="en-US" b="0" dirty="0" err="1">
                    <a:latin typeface="Arial" panose="020B0604020202020204" pitchFamily="34" charset="0"/>
                    <a:cs typeface="Arial" panose="020B0604020202020204" pitchFamily="34" charset="0"/>
                  </a:rPr>
                  <a:t>cho</a:t>
                </a:r>
                <a:r>
                  <a:rPr lang="en-US" b="0" dirty="0">
                    <a:latin typeface="Arial" panose="020B0604020202020204" pitchFamily="34" charset="0"/>
                    <a:cs typeface="Arial" panose="020B0604020202020204" pitchFamily="34" charset="0"/>
                  </a:rPr>
                  <a:t> ta </a:t>
                </a:r>
                <a:r>
                  <a:rPr lang="en-US" b="0" dirty="0" err="1">
                    <a:latin typeface="Arial" panose="020B0604020202020204" pitchFamily="34" charset="0"/>
                    <a:cs typeface="Arial" panose="020B0604020202020204" pitchFamily="34" charset="0"/>
                  </a:rPr>
                  <a:t>biểu</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diễn</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mô</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hình</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trong</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không</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gian</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trạng</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thái</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của</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hệ</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thống</a:t>
                </a:r>
                <a:r>
                  <a:rPr lang="en-US" b="0" dirty="0">
                    <a:latin typeface="Arial" panose="020B0604020202020204" pitchFamily="34" charset="0"/>
                    <a:cs typeface="Arial" panose="020B0604020202020204" pitchFamily="34" charset="0"/>
                  </a:rPr>
                  <a:t>.</a:t>
                </a:r>
              </a:p>
            </p:txBody>
          </p:sp>
        </mc:Choice>
        <mc:Fallback xmlns="">
          <p:sp>
            <p:nvSpPr>
              <p:cNvPr id="6" name="TextBox 5">
                <a:extLst>
                  <a:ext uri="{FF2B5EF4-FFF2-40B4-BE49-F238E27FC236}">
                    <a16:creationId xmlns:a16="http://schemas.microsoft.com/office/drawing/2014/main" id="{BC4A7496-9BF6-4EDE-B131-227B93929384}"/>
                  </a:ext>
                </a:extLst>
              </p:cNvPr>
              <p:cNvSpPr txBox="1">
                <a:spLocks noRot="1" noChangeAspect="1" noMove="1" noResize="1" noEditPoints="1" noAdjustHandles="1" noChangeArrowheads="1" noChangeShapeType="1" noTextEdit="1"/>
              </p:cNvSpPr>
              <p:nvPr/>
            </p:nvSpPr>
            <p:spPr>
              <a:xfrm>
                <a:off x="977462" y="1292772"/>
                <a:ext cx="6190594" cy="4170822"/>
              </a:xfrm>
              <a:prstGeom prst="rect">
                <a:avLst/>
              </a:prstGeom>
              <a:blipFill>
                <a:blip r:embed="rId3"/>
                <a:stretch>
                  <a:fillRect l="-818" t="-606" r="-409" b="-1212"/>
                </a:stretch>
              </a:blipFill>
            </p:spPr>
            <p:txBody>
              <a:bodyPr/>
              <a:lstStyle/>
              <a:p>
                <a:r>
                  <a:rPr lang="en-VN">
                    <a:noFill/>
                  </a:rPr>
                  <a:t> </a:t>
                </a:r>
              </a:p>
            </p:txBody>
          </p:sp>
        </mc:Fallback>
      </mc:AlternateContent>
    </p:spTree>
    <p:extLst>
      <p:ext uri="{BB962C8B-B14F-4D97-AF65-F5344CB8AC3E}">
        <p14:creationId xmlns:p14="http://schemas.microsoft.com/office/powerpoint/2010/main" val="1675153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17DD4-969C-AFE8-2A1A-584910D056E4}"/>
              </a:ext>
            </a:extLst>
          </p:cNvPr>
          <p:cNvSpPr>
            <a:spLocks noGrp="1"/>
          </p:cNvSpPr>
          <p:nvPr>
            <p:ph type="title"/>
          </p:nvPr>
        </p:nvSpPr>
        <p:spPr/>
        <p:txBody>
          <a:bodyPr/>
          <a:lstStyle/>
          <a:p>
            <a:r>
              <a:rPr lang="en-VN" dirty="0"/>
              <a:t>MÔ HÌNH KHÔNG GIAN TRẠNG THÁI HỆ THỐNG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8D0B56-5653-B46B-9B52-8D096BA4BF28}"/>
                  </a:ext>
                </a:extLst>
              </p:cNvPr>
              <p:cNvSpPr>
                <a:spLocks noGrp="1"/>
              </p:cNvSpPr>
              <p:nvPr>
                <p:ph idx="1"/>
              </p:nvPr>
            </p:nvSpPr>
            <p:spPr/>
            <p:txBody>
              <a:bodyPr/>
              <a:lstStyle/>
              <a:p>
                <a:r>
                  <a:rPr lang="en-VN" dirty="0"/>
                  <a:t>Biểu diễn mô hình không gian trạng thái hệ thống với 2 biến trạng thái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𝑅</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𝐶</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VN" dirty="0"/>
                  <a:t>?</a:t>
                </a:r>
              </a:p>
            </p:txBody>
          </p:sp>
        </mc:Choice>
        <mc:Fallback xmlns="">
          <p:sp>
            <p:nvSpPr>
              <p:cNvPr id="3" name="Content Placeholder 2">
                <a:extLst>
                  <a:ext uri="{FF2B5EF4-FFF2-40B4-BE49-F238E27FC236}">
                    <a16:creationId xmlns:a16="http://schemas.microsoft.com/office/drawing/2014/main" id="{F28D0B56-5653-B46B-9B52-8D096BA4BF28}"/>
                  </a:ext>
                </a:extLst>
              </p:cNvPr>
              <p:cNvSpPr>
                <a:spLocks noGrp="1" noRot="1" noChangeAspect="1" noMove="1" noResize="1" noEditPoints="1" noAdjustHandles="1" noChangeArrowheads="1" noChangeShapeType="1" noTextEdit="1"/>
              </p:cNvSpPr>
              <p:nvPr>
                <p:ph idx="1"/>
              </p:nvPr>
            </p:nvSpPr>
            <p:spPr>
              <a:blipFill>
                <a:blip r:embed="rId3"/>
                <a:stretch>
                  <a:fillRect l="-528"/>
                </a:stretch>
              </a:blipFill>
            </p:spPr>
            <p:txBody>
              <a:bodyPr/>
              <a:lstStyle/>
              <a:p>
                <a:r>
                  <a:rPr lang="en-VN">
                    <a:noFill/>
                  </a:rPr>
                  <a:t> </a:t>
                </a:r>
              </a:p>
            </p:txBody>
          </p:sp>
        </mc:Fallback>
      </mc:AlternateContent>
      <p:pic>
        <p:nvPicPr>
          <p:cNvPr id="4" name="Picture 9" descr="j0134549[1]">
            <a:extLst>
              <a:ext uri="{FF2B5EF4-FFF2-40B4-BE49-F238E27FC236}">
                <a16:creationId xmlns:a16="http://schemas.microsoft.com/office/drawing/2014/main" id="{51587CBC-302A-C9A8-3178-4C80E3A00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531" y="1244014"/>
            <a:ext cx="5778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3DD01393-E27E-F570-E716-EB3ACF065526}"/>
              </a:ext>
            </a:extLst>
          </p:cNvPr>
          <p:cNvPicPr>
            <a:picLocks noChangeAspect="1"/>
          </p:cNvPicPr>
          <p:nvPr/>
        </p:nvPicPr>
        <p:blipFill>
          <a:blip r:embed="rId5"/>
          <a:stretch>
            <a:fillRect/>
          </a:stretch>
        </p:blipFill>
        <p:spPr>
          <a:xfrm>
            <a:off x="3809343" y="2357126"/>
            <a:ext cx="4152900" cy="1676400"/>
          </a:xfrm>
          <a:prstGeom prst="rect">
            <a:avLst/>
          </a:prstGeom>
        </p:spPr>
      </p:pic>
      <p:sp>
        <p:nvSpPr>
          <p:cNvPr id="8" name="TextBox 7">
            <a:extLst>
              <a:ext uri="{FF2B5EF4-FFF2-40B4-BE49-F238E27FC236}">
                <a16:creationId xmlns:a16="http://schemas.microsoft.com/office/drawing/2014/main" id="{744FFBCA-33C0-4E30-48AC-9D3A46063E6D}"/>
              </a:ext>
            </a:extLst>
          </p:cNvPr>
          <p:cNvSpPr txBox="1"/>
          <p:nvPr/>
        </p:nvSpPr>
        <p:spPr>
          <a:xfrm>
            <a:off x="1755228" y="4183117"/>
            <a:ext cx="9411824" cy="1754326"/>
          </a:xfrm>
          <a:prstGeom prst="rect">
            <a:avLst/>
          </a:prstGeom>
          <a:noFill/>
        </p:spPr>
        <p:txBody>
          <a:bodyPr wrap="square" rtlCol="0">
            <a:spAutoFit/>
          </a:bodyPr>
          <a:lstStyle/>
          <a:p>
            <a:pPr algn="just"/>
            <a:r>
              <a:rPr lang="en-VN" b="1" dirty="0">
                <a:solidFill>
                  <a:schemeClr val="accent1">
                    <a:lumMod val="75000"/>
                  </a:schemeClr>
                </a:solidFill>
                <a:latin typeface="Arial" panose="020B0604020202020204" pitchFamily="34" charset="0"/>
                <a:cs typeface="Arial" panose="020B0604020202020204" pitchFamily="34" charset="0"/>
              </a:rPr>
              <a:t>Lưu ý khi lựa chọn biến trạng thái?</a:t>
            </a:r>
          </a:p>
          <a:p>
            <a:pPr algn="just"/>
            <a:r>
              <a:rPr lang="en-VN" dirty="0">
                <a:latin typeface="Arial" panose="020B0604020202020204" pitchFamily="34" charset="0"/>
                <a:cs typeface="Arial" panose="020B0604020202020204" pitchFamily="34" charset="0"/>
              </a:rPr>
              <a:t>- Số lượng biến trạng thái tối thiểu để miêu tả hệ thống bằng bậc của phương trình vi phân.</a:t>
            </a:r>
          </a:p>
          <a:p>
            <a:pPr algn="just"/>
            <a:r>
              <a:rPr lang="en-VN" dirty="0">
                <a:latin typeface="Arial" panose="020B0604020202020204" pitchFamily="34" charset="0"/>
                <a:cs typeface="Arial" panose="020B0604020202020204" pitchFamily="34" charset="0"/>
              </a:rPr>
              <a:t>- Có thể lựa chọn nhiều hơn nhiều biến trạng thái hơn so với giá trị tối thiểu, tuy nhiên, các biến trạng thái phải </a:t>
            </a:r>
            <a:r>
              <a:rPr lang="en-VN" i="1" dirty="0">
                <a:latin typeface="Arial" panose="020B0604020202020204" pitchFamily="34" charset="0"/>
                <a:cs typeface="Arial" panose="020B0604020202020204" pitchFamily="34" charset="0"/>
              </a:rPr>
              <a:t>độc lập tuyến tính</a:t>
            </a:r>
            <a:r>
              <a:rPr lang="en-VN" dirty="0">
                <a:latin typeface="Arial" panose="020B0604020202020204" pitchFamily="34" charset="0"/>
                <a:cs typeface="Arial" panose="020B0604020202020204" pitchFamily="34" charset="0"/>
              </a:rPr>
              <a:t>. Nói cách khác, biến trạng thái này không thể viết dưới dạng tổ hợp tuyến tính của biến trạng thái khác.</a:t>
            </a:r>
          </a:p>
        </p:txBody>
      </p:sp>
    </p:spTree>
    <p:extLst>
      <p:ext uri="{BB962C8B-B14F-4D97-AF65-F5344CB8AC3E}">
        <p14:creationId xmlns:p14="http://schemas.microsoft.com/office/powerpoint/2010/main" val="1252942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B35D7-4B1C-115E-8918-8534DD8D5050}"/>
              </a:ext>
            </a:extLst>
          </p:cNvPr>
          <p:cNvSpPr>
            <a:spLocks noGrp="1"/>
          </p:cNvSpPr>
          <p:nvPr>
            <p:ph type="title"/>
          </p:nvPr>
        </p:nvSpPr>
        <p:spPr/>
        <p:txBody>
          <a:bodyPr/>
          <a:lstStyle/>
          <a:p>
            <a:r>
              <a:rPr lang="en-VN" dirty="0"/>
              <a:t>MÔ HÌNH KHÔNG GIAN TRẠNG THÁI HỆ THỐNG</a:t>
            </a:r>
          </a:p>
        </p:txBody>
      </p:sp>
      <p:sp>
        <p:nvSpPr>
          <p:cNvPr id="3" name="Content Placeholder 2">
            <a:extLst>
              <a:ext uri="{FF2B5EF4-FFF2-40B4-BE49-F238E27FC236}">
                <a16:creationId xmlns:a16="http://schemas.microsoft.com/office/drawing/2014/main" id="{E15FAF57-2F23-0C98-B10D-34F024E82FB3}"/>
              </a:ext>
            </a:extLst>
          </p:cNvPr>
          <p:cNvSpPr>
            <a:spLocks noGrp="1"/>
          </p:cNvSpPr>
          <p:nvPr>
            <p:ph idx="1"/>
          </p:nvPr>
        </p:nvSpPr>
        <p:spPr>
          <a:xfrm>
            <a:off x="1451579" y="1244015"/>
            <a:ext cx="9603275" cy="649556"/>
          </a:xfrm>
        </p:spPr>
        <p:txBody>
          <a:bodyPr/>
          <a:lstStyle/>
          <a:p>
            <a:r>
              <a:rPr lang="en-VN" dirty="0"/>
              <a:t>Phương trình trạng thái của hệ thống:</a:t>
            </a:r>
          </a:p>
        </p:txBody>
      </p:sp>
      <p:pic>
        <p:nvPicPr>
          <p:cNvPr id="5" name="Picture 4">
            <a:extLst>
              <a:ext uri="{FF2B5EF4-FFF2-40B4-BE49-F238E27FC236}">
                <a16:creationId xmlns:a16="http://schemas.microsoft.com/office/drawing/2014/main" id="{0E3509E0-987D-F5C1-3294-41BD4C21F42D}"/>
              </a:ext>
            </a:extLst>
          </p:cNvPr>
          <p:cNvPicPr>
            <a:picLocks noChangeAspect="1"/>
          </p:cNvPicPr>
          <p:nvPr/>
        </p:nvPicPr>
        <p:blipFill>
          <a:blip r:embed="rId2"/>
          <a:stretch>
            <a:fillRect/>
          </a:stretch>
        </p:blipFill>
        <p:spPr>
          <a:xfrm>
            <a:off x="4751070" y="1893570"/>
            <a:ext cx="2179320" cy="586740"/>
          </a:xfrm>
          <a:prstGeom prst="rect">
            <a:avLst/>
          </a:prstGeom>
        </p:spPr>
      </p:pic>
      <p:sp>
        <p:nvSpPr>
          <p:cNvPr id="6" name="Content Placeholder 2">
            <a:extLst>
              <a:ext uri="{FF2B5EF4-FFF2-40B4-BE49-F238E27FC236}">
                <a16:creationId xmlns:a16="http://schemas.microsoft.com/office/drawing/2014/main" id="{0BCDA621-FE42-2BFC-E9D4-144077F9CD97}"/>
              </a:ext>
            </a:extLst>
          </p:cNvPr>
          <p:cNvSpPr txBox="1">
            <a:spLocks/>
          </p:cNvSpPr>
          <p:nvPr/>
        </p:nvSpPr>
        <p:spPr>
          <a:xfrm>
            <a:off x="1451579" y="2480310"/>
            <a:ext cx="9603275" cy="649556"/>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VN" dirty="0"/>
              <a:t>Phương trình lối ra của hệ thống:</a:t>
            </a:r>
          </a:p>
        </p:txBody>
      </p:sp>
      <p:pic>
        <p:nvPicPr>
          <p:cNvPr id="8" name="Picture 7">
            <a:extLst>
              <a:ext uri="{FF2B5EF4-FFF2-40B4-BE49-F238E27FC236}">
                <a16:creationId xmlns:a16="http://schemas.microsoft.com/office/drawing/2014/main" id="{D90FFED4-829A-A061-A356-59B20BBA8112}"/>
              </a:ext>
            </a:extLst>
          </p:cNvPr>
          <p:cNvPicPr>
            <a:picLocks noChangeAspect="1"/>
          </p:cNvPicPr>
          <p:nvPr/>
        </p:nvPicPr>
        <p:blipFill>
          <a:blip r:embed="rId3"/>
          <a:stretch>
            <a:fillRect/>
          </a:stretch>
        </p:blipFill>
        <p:spPr>
          <a:xfrm>
            <a:off x="4751070" y="3176855"/>
            <a:ext cx="2179320" cy="563362"/>
          </a:xfrm>
          <a:prstGeom prst="rect">
            <a:avLst/>
          </a:prstGeom>
        </p:spPr>
      </p:pic>
      <p:sp>
        <p:nvSpPr>
          <p:cNvPr id="9" name="Content Placeholder 2">
            <a:extLst>
              <a:ext uri="{FF2B5EF4-FFF2-40B4-BE49-F238E27FC236}">
                <a16:creationId xmlns:a16="http://schemas.microsoft.com/office/drawing/2014/main" id="{B72D6245-F01A-63D2-AC32-667914ED06D1}"/>
              </a:ext>
            </a:extLst>
          </p:cNvPr>
          <p:cNvSpPr txBox="1">
            <a:spLocks/>
          </p:cNvSpPr>
          <p:nvPr/>
        </p:nvSpPr>
        <p:spPr>
          <a:xfrm>
            <a:off x="1451579" y="3924300"/>
            <a:ext cx="9603275" cy="2030730"/>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VN" dirty="0"/>
              <a:t>Biểu diễn hệ thống trong không gian trạng thái:</a:t>
            </a:r>
          </a:p>
          <a:p>
            <a:pPr marL="457200" indent="-457200">
              <a:buAutoNum type="arabicParenBoth"/>
            </a:pPr>
            <a:r>
              <a:rPr lang="en-VN" dirty="0"/>
              <a:t>Hệ các phương trình vi phân bậc 1 mà từ đó giúp tính toán được giá trị của các biến trạng thái dựa trên các điều kiện cho trước.</a:t>
            </a:r>
          </a:p>
          <a:p>
            <a:pPr marL="457200" indent="-457200">
              <a:buAutoNum type="arabicParenBoth"/>
            </a:pPr>
            <a:r>
              <a:rPr lang="en-VN" dirty="0"/>
              <a:t>Các phương trình lối ra mà từ đó tất cả các biến còn lại của hệ thống đều được tính toán.</a:t>
            </a:r>
          </a:p>
        </p:txBody>
      </p:sp>
      <p:sp>
        <p:nvSpPr>
          <p:cNvPr id="7" name="Right Brace 6">
            <a:extLst>
              <a:ext uri="{FF2B5EF4-FFF2-40B4-BE49-F238E27FC236}">
                <a16:creationId xmlns:a16="http://schemas.microsoft.com/office/drawing/2014/main" id="{57DA3F1C-CA16-4DE7-26B6-F8DB5AB11B15}"/>
              </a:ext>
            </a:extLst>
          </p:cNvPr>
          <p:cNvSpPr/>
          <p:nvPr/>
        </p:nvSpPr>
        <p:spPr>
          <a:xfrm>
            <a:off x="7326086" y="1336057"/>
            <a:ext cx="424543" cy="2496202"/>
          </a:xfrm>
          <a:prstGeom prst="rightBrace">
            <a:avLst>
              <a:gd name="adj1" fmla="val 8333"/>
              <a:gd name="adj2" fmla="val 50436"/>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8FE9860-5E38-4590-5481-317DB9AA72B1}"/>
                  </a:ext>
                </a:extLst>
              </p:cNvPr>
              <p:cNvSpPr txBox="1"/>
              <p:nvPr/>
            </p:nvSpPr>
            <p:spPr>
              <a:xfrm>
                <a:off x="8033657" y="1772757"/>
                <a:ext cx="3021197" cy="1754326"/>
              </a:xfrm>
              <a:prstGeom prst="rect">
                <a:avLst/>
              </a:prstGeom>
              <a:noFill/>
            </p:spPr>
            <p:txBody>
              <a:bodyPr wrap="square" rtlCol="0">
                <a:spAutoFit/>
              </a:bodyPr>
              <a:lstStyle/>
              <a:p>
                <a:r>
                  <a:rPr lang="en-VN" b="1" dirty="0">
                    <a:latin typeface="Arial" panose="020B0604020202020204" pitchFamily="34" charset="0"/>
                    <a:cs typeface="Arial" panose="020B0604020202020204" pitchFamily="34" charset="0"/>
                  </a:rPr>
                  <a:t>Hệ thống SISO:</a:t>
                </a:r>
              </a:p>
              <a:p>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𝐷</m:t>
                    </m:r>
                    <m:r>
                      <a:rPr lang="en-US" b="0" i="1" smtClean="0">
                        <a:latin typeface="Cambria Math" panose="02040503050406030204" pitchFamily="18" charset="0"/>
                      </a:rPr>
                      <m:t>, </m:t>
                    </m:r>
                    <m:r>
                      <a:rPr lang="en-US" b="0" i="1" smtClean="0">
                        <a:latin typeface="Cambria Math" panose="02040503050406030204" pitchFamily="18" charset="0"/>
                      </a:rPr>
                      <m:t>𝑢</m:t>
                    </m:r>
                  </m:oMath>
                </a14:m>
                <a:r>
                  <a:rPr lang="en-VN" dirty="0">
                    <a:latin typeface="Arial" panose="020B0604020202020204" pitchFamily="34" charset="0"/>
                    <a:cs typeface="Arial" panose="020B0604020202020204" pitchFamily="34" charset="0"/>
                  </a:rPr>
                  <a:t>: Đại lượng vô hướng</a:t>
                </a:r>
              </a:p>
              <a:p>
                <a:endParaRPr lang="en-VN"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 V</a:t>
                </a:r>
                <a:r>
                  <a:rPr lang="en-VN" b="1" dirty="0">
                    <a:latin typeface="Arial" panose="020B0604020202020204" pitchFamily="34" charset="0"/>
                    <a:cs typeface="Arial" panose="020B0604020202020204" pitchFamily="34" charset="0"/>
                  </a:rPr>
                  <a:t>ới hệ thống MIMO:</a:t>
                </a:r>
              </a:p>
              <a:p>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𝑢</m:t>
                    </m:r>
                  </m:oMath>
                </a14:m>
                <a:r>
                  <a:rPr lang="en-VN" dirty="0">
                    <a:latin typeface="Arial" panose="020B0604020202020204" pitchFamily="34" charset="0"/>
                    <a:cs typeface="Arial" panose="020B0604020202020204" pitchFamily="34" charset="0"/>
                  </a:rPr>
                  <a:t>:  Vector</a:t>
                </a:r>
              </a:p>
              <a:p>
                <a14:m>
                  <m:oMath xmlns:m="http://schemas.openxmlformats.org/officeDocument/2006/math">
                    <m:r>
                      <a:rPr lang="en-US" b="0" i="1" smtClean="0">
                        <a:latin typeface="Cambria Math" panose="02040503050406030204" pitchFamily="18" charset="0"/>
                      </a:rPr>
                      <m:t>𝐷</m:t>
                    </m:r>
                  </m:oMath>
                </a14:m>
                <a:r>
                  <a:rPr lang="en-VN" dirty="0">
                    <a:latin typeface="Arial" panose="020B0604020202020204" pitchFamily="34" charset="0"/>
                    <a:cs typeface="Arial" panose="020B0604020202020204" pitchFamily="34" charset="0"/>
                  </a:rPr>
                  <a:t>: Ma trận</a:t>
                </a:r>
              </a:p>
            </p:txBody>
          </p:sp>
        </mc:Choice>
        <mc:Fallback>
          <p:sp>
            <p:nvSpPr>
              <p:cNvPr id="10" name="TextBox 9">
                <a:extLst>
                  <a:ext uri="{FF2B5EF4-FFF2-40B4-BE49-F238E27FC236}">
                    <a16:creationId xmlns:a16="http://schemas.microsoft.com/office/drawing/2014/main" id="{E8FE9860-5E38-4590-5481-317DB9AA72B1}"/>
                  </a:ext>
                </a:extLst>
              </p:cNvPr>
              <p:cNvSpPr txBox="1">
                <a:spLocks noRot="1" noChangeAspect="1" noMove="1" noResize="1" noEditPoints="1" noAdjustHandles="1" noChangeArrowheads="1" noChangeShapeType="1" noTextEdit="1"/>
              </p:cNvSpPr>
              <p:nvPr/>
            </p:nvSpPr>
            <p:spPr>
              <a:xfrm>
                <a:off x="8033657" y="1772757"/>
                <a:ext cx="3021197" cy="1754326"/>
              </a:xfrm>
              <a:prstGeom prst="rect">
                <a:avLst/>
              </a:prstGeom>
              <a:blipFill>
                <a:blip r:embed="rId4"/>
                <a:stretch>
                  <a:fillRect l="-1674" t="-1439" r="-418" b="-5036"/>
                </a:stretch>
              </a:blipFill>
            </p:spPr>
            <p:txBody>
              <a:bodyPr/>
              <a:lstStyle/>
              <a:p>
                <a:r>
                  <a:rPr lang="en-VN">
                    <a:noFill/>
                  </a:rPr>
                  <a:t> </a:t>
                </a:r>
              </a:p>
            </p:txBody>
          </p:sp>
        </mc:Fallback>
      </mc:AlternateContent>
    </p:spTree>
    <p:extLst>
      <p:ext uri="{BB962C8B-B14F-4D97-AF65-F5344CB8AC3E}">
        <p14:creationId xmlns:p14="http://schemas.microsoft.com/office/powerpoint/2010/main" val="907670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2361-ED8D-2A60-4D2B-A521639091A2}"/>
              </a:ext>
            </a:extLst>
          </p:cNvPr>
          <p:cNvSpPr>
            <a:spLocks noGrp="1"/>
          </p:cNvSpPr>
          <p:nvPr>
            <p:ph type="title"/>
          </p:nvPr>
        </p:nvSpPr>
        <p:spPr/>
        <p:txBody>
          <a:bodyPr/>
          <a:lstStyle/>
          <a:p>
            <a:r>
              <a:rPr lang="en-VN" dirty="0"/>
              <a:t>MÔ HÌNH KHÔNG GIAN TRẠNG THÁI HỆ THỐNG</a:t>
            </a:r>
          </a:p>
        </p:txBody>
      </p:sp>
      <p:sp>
        <p:nvSpPr>
          <p:cNvPr id="3" name="Content Placeholder 2">
            <a:extLst>
              <a:ext uri="{FF2B5EF4-FFF2-40B4-BE49-F238E27FC236}">
                <a16:creationId xmlns:a16="http://schemas.microsoft.com/office/drawing/2014/main" id="{104590B6-B8BA-C970-66C0-0D06409AB13F}"/>
              </a:ext>
            </a:extLst>
          </p:cNvPr>
          <p:cNvSpPr>
            <a:spLocks noGrp="1"/>
          </p:cNvSpPr>
          <p:nvPr>
            <p:ph idx="1"/>
          </p:nvPr>
        </p:nvSpPr>
        <p:spPr>
          <a:xfrm>
            <a:off x="1451579" y="1244015"/>
            <a:ext cx="9603275" cy="481916"/>
          </a:xfrm>
        </p:spPr>
        <p:txBody>
          <a:bodyPr/>
          <a:lstStyle/>
          <a:p>
            <a:r>
              <a:rPr lang="en-VN" dirty="0"/>
              <a:t>Tổ hợp tuyến tính </a:t>
            </a:r>
            <a:r>
              <a:rPr lang="en-VN" i="1" dirty="0"/>
              <a:t>(Linear combination)</a:t>
            </a:r>
          </a:p>
        </p:txBody>
      </p:sp>
      <p:pic>
        <p:nvPicPr>
          <p:cNvPr id="5" name="Picture 4">
            <a:extLst>
              <a:ext uri="{FF2B5EF4-FFF2-40B4-BE49-F238E27FC236}">
                <a16:creationId xmlns:a16="http://schemas.microsoft.com/office/drawing/2014/main" id="{4A2CB2E8-6427-6AA0-C97D-69E914D791E7}"/>
              </a:ext>
            </a:extLst>
          </p:cNvPr>
          <p:cNvPicPr>
            <a:picLocks noChangeAspect="1"/>
          </p:cNvPicPr>
          <p:nvPr/>
        </p:nvPicPr>
        <p:blipFill>
          <a:blip r:embed="rId2"/>
          <a:stretch>
            <a:fillRect/>
          </a:stretch>
        </p:blipFill>
        <p:spPr>
          <a:xfrm>
            <a:off x="3656330" y="1809750"/>
            <a:ext cx="4673600" cy="723900"/>
          </a:xfrm>
          <a:prstGeom prst="rect">
            <a:avLst/>
          </a:prstGeom>
        </p:spPr>
      </p:pic>
      <p:sp>
        <p:nvSpPr>
          <p:cNvPr id="6" name="Content Placeholder 2">
            <a:extLst>
              <a:ext uri="{FF2B5EF4-FFF2-40B4-BE49-F238E27FC236}">
                <a16:creationId xmlns:a16="http://schemas.microsoft.com/office/drawing/2014/main" id="{D7B1CCAF-963F-49F2-347D-48BBBB4BAA19}"/>
              </a:ext>
            </a:extLst>
          </p:cNvPr>
          <p:cNvSpPr txBox="1">
            <a:spLocks/>
          </p:cNvSpPr>
          <p:nvPr/>
        </p:nvSpPr>
        <p:spPr>
          <a:xfrm>
            <a:off x="1451578" y="2547034"/>
            <a:ext cx="9603275" cy="1282016"/>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VN" dirty="0"/>
              <a:t>Độc lập tuyến tính </a:t>
            </a:r>
            <a:r>
              <a:rPr lang="en-VN" i="1" dirty="0"/>
              <a:t>(Linear independence): </a:t>
            </a:r>
            <a:r>
              <a:rPr lang="en-VN" dirty="0"/>
              <a:t>Một tổ hợp các biến được gọi là độc lập tuyến tính nếu như không có biến nào trong số đó được biểu diễn dưới dạng tổ hợp tuyến tính của các biến còn lại.</a:t>
            </a:r>
            <a:endParaRPr lang="en-VN" i="1" dirty="0"/>
          </a:p>
        </p:txBody>
      </p:sp>
      <p:pic>
        <p:nvPicPr>
          <p:cNvPr id="8" name="Picture 7">
            <a:extLst>
              <a:ext uri="{FF2B5EF4-FFF2-40B4-BE49-F238E27FC236}">
                <a16:creationId xmlns:a16="http://schemas.microsoft.com/office/drawing/2014/main" id="{0FDA9321-6710-2D99-7CCF-B2783A62246C}"/>
              </a:ext>
            </a:extLst>
          </p:cNvPr>
          <p:cNvPicPr>
            <a:picLocks noChangeAspect="1"/>
          </p:cNvPicPr>
          <p:nvPr/>
        </p:nvPicPr>
        <p:blipFill>
          <a:blip r:embed="rId3"/>
          <a:stretch>
            <a:fillRect/>
          </a:stretch>
        </p:blipFill>
        <p:spPr>
          <a:xfrm>
            <a:off x="4880610" y="3842434"/>
            <a:ext cx="1790700" cy="381000"/>
          </a:xfrm>
          <a:prstGeom prst="rect">
            <a:avLst/>
          </a:prstGeom>
        </p:spPr>
      </p:pic>
      <p:pic>
        <p:nvPicPr>
          <p:cNvPr id="10" name="Picture 9">
            <a:extLst>
              <a:ext uri="{FF2B5EF4-FFF2-40B4-BE49-F238E27FC236}">
                <a16:creationId xmlns:a16="http://schemas.microsoft.com/office/drawing/2014/main" id="{870DA1CF-0A08-5E44-AD07-7475A2D7A6EE}"/>
              </a:ext>
            </a:extLst>
          </p:cNvPr>
          <p:cNvPicPr>
            <a:picLocks noChangeAspect="1"/>
          </p:cNvPicPr>
          <p:nvPr/>
        </p:nvPicPr>
        <p:blipFill>
          <a:blip r:embed="rId4"/>
          <a:stretch>
            <a:fillRect/>
          </a:stretch>
        </p:blipFill>
        <p:spPr>
          <a:xfrm>
            <a:off x="4512310" y="4767580"/>
            <a:ext cx="2527300" cy="431800"/>
          </a:xfrm>
          <a:prstGeom prst="rect">
            <a:avLst/>
          </a:prstGeom>
        </p:spPr>
      </p:pic>
    </p:spTree>
    <p:extLst>
      <p:ext uri="{BB962C8B-B14F-4D97-AF65-F5344CB8AC3E}">
        <p14:creationId xmlns:p14="http://schemas.microsoft.com/office/powerpoint/2010/main" val="1254554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2A65-1F96-2692-AE1E-A95FC71F8882}"/>
              </a:ext>
            </a:extLst>
          </p:cNvPr>
          <p:cNvSpPr>
            <a:spLocks noGrp="1"/>
          </p:cNvSpPr>
          <p:nvPr>
            <p:ph type="title"/>
          </p:nvPr>
        </p:nvSpPr>
        <p:spPr/>
        <p:txBody>
          <a:bodyPr/>
          <a:lstStyle/>
          <a:p>
            <a:r>
              <a:rPr lang="en-VN" dirty="0"/>
              <a:t>MÔ HÌNH KHÔNG GIAN TRẠNG THÁI HỆ THỐNG</a:t>
            </a:r>
          </a:p>
        </p:txBody>
      </p:sp>
      <p:pic>
        <p:nvPicPr>
          <p:cNvPr id="5" name="Content Placeholder 4">
            <a:extLst>
              <a:ext uri="{FF2B5EF4-FFF2-40B4-BE49-F238E27FC236}">
                <a16:creationId xmlns:a16="http://schemas.microsoft.com/office/drawing/2014/main" id="{BF50D762-C459-3E98-1981-E422FDB6E420}"/>
              </a:ext>
            </a:extLst>
          </p:cNvPr>
          <p:cNvPicPr>
            <a:picLocks noGrp="1" noChangeAspect="1"/>
          </p:cNvPicPr>
          <p:nvPr>
            <p:ph idx="1"/>
          </p:nvPr>
        </p:nvPicPr>
        <p:blipFill>
          <a:blip r:embed="rId2"/>
          <a:stretch>
            <a:fillRect/>
          </a:stretch>
        </p:blipFill>
        <p:spPr>
          <a:xfrm>
            <a:off x="7153115" y="1346597"/>
            <a:ext cx="4808245" cy="4164806"/>
          </a:xfr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1FF8B89-4AC4-1AE9-7AE0-AEDD8F1DBED2}"/>
                  </a:ext>
                </a:extLst>
              </p:cNvPr>
              <p:cNvSpPr txBox="1"/>
              <p:nvPr/>
            </p:nvSpPr>
            <p:spPr>
              <a:xfrm>
                <a:off x="902971" y="1186577"/>
                <a:ext cx="5543549" cy="5078313"/>
              </a:xfrm>
              <a:prstGeom prst="rect">
                <a:avLst/>
              </a:prstGeom>
              <a:noFill/>
            </p:spPr>
            <p:txBody>
              <a:bodyPr wrap="square" rtlCol="0">
                <a:spAutoFit/>
              </a:bodyPr>
              <a:lstStyle/>
              <a:p>
                <a:pPr algn="just"/>
                <a:r>
                  <a:rPr lang="en-VN" dirty="0">
                    <a:latin typeface="Arial" panose="020B0604020202020204" pitchFamily="34" charset="0"/>
                    <a:cs typeface="Arial" panose="020B0604020202020204" pitchFamily="34" charset="0"/>
                  </a:rPr>
                  <a:t>Biểu diễn</a:t>
                </a:r>
                <a:r>
                  <a:rPr lang="en-VN" b="1" dirty="0">
                    <a:latin typeface="Arial" panose="020B0604020202020204" pitchFamily="34" charset="0"/>
                    <a:cs typeface="Arial" panose="020B0604020202020204" pitchFamily="34" charset="0"/>
                  </a:rPr>
                  <a:t> </a:t>
                </a:r>
                <a:r>
                  <a:rPr lang="en-VN" dirty="0">
                    <a:latin typeface="Arial" panose="020B0604020202020204" pitchFamily="34" charset="0"/>
                    <a:cs typeface="Arial" panose="020B0604020202020204" pitchFamily="34" charset="0"/>
                  </a:rPr>
                  <a:t>trong không gian trạng thái:</a:t>
                </a:r>
              </a:p>
              <a:p>
                <a:pPr marL="285750" indent="-285750" algn="just">
                  <a:buFont typeface="Arial" panose="020B0604020202020204" pitchFamily="34" charset="0"/>
                  <a:buChar char="•"/>
                </a:pPr>
                <a:r>
                  <a:rPr lang="en-VN" i="1" dirty="0">
                    <a:solidFill>
                      <a:schemeClr val="accent1">
                        <a:lumMod val="75000"/>
                      </a:schemeClr>
                    </a:solidFill>
                    <a:latin typeface="Arial" panose="020B0604020202020204" pitchFamily="34" charset="0"/>
                    <a:cs typeface="Arial" panose="020B0604020202020204" pitchFamily="34" charset="0"/>
                  </a:rPr>
                  <a:t>Biến hệ thống: </a:t>
                </a:r>
                <a:r>
                  <a:rPr lang="en-VN" dirty="0">
                    <a:latin typeface="Arial" panose="020B0604020202020204" pitchFamily="34" charset="0"/>
                    <a:cs typeface="Arial" panose="020B0604020202020204" pitchFamily="34" charset="0"/>
                  </a:rPr>
                  <a:t>Tất cả các biến có đáp ứng với lối vào hoặc điều kiện ban đầu của hệ thống.</a:t>
                </a:r>
              </a:p>
              <a:p>
                <a:pPr marL="285750" indent="-285750" algn="just">
                  <a:buFont typeface="Arial" panose="020B0604020202020204" pitchFamily="34" charset="0"/>
                  <a:buChar char="•"/>
                </a:pPr>
                <a:r>
                  <a:rPr lang="en-VN" i="1" dirty="0">
                    <a:solidFill>
                      <a:schemeClr val="accent1">
                        <a:lumMod val="75000"/>
                      </a:schemeClr>
                    </a:solidFill>
                    <a:latin typeface="Arial" panose="020B0604020202020204" pitchFamily="34" charset="0"/>
                    <a:cs typeface="Arial" panose="020B0604020202020204" pitchFamily="34" charset="0"/>
                  </a:rPr>
                  <a:t>Biến trạng thái: </a:t>
                </a:r>
                <a:r>
                  <a:rPr lang="en-VN" dirty="0">
                    <a:latin typeface="Arial" panose="020B0604020202020204" pitchFamily="34" charset="0"/>
                    <a:cs typeface="Arial" panose="020B0604020202020204" pitchFamily="34" charset="0"/>
                  </a:rPr>
                  <a:t>Tập hợp nhỏ nhất các biến độc lập tuyến tính của hệ thống mà với điều kiện tại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oMath>
                </a14:m>
                <a:r>
                  <a:rPr lang="en-VN" dirty="0">
                    <a:latin typeface="Arial" panose="020B0604020202020204" pitchFamily="34" charset="0"/>
                    <a:cs typeface="Arial" panose="020B0604020202020204" pitchFamily="34" charset="0"/>
                  </a:rPr>
                  <a:t> cho trước sẽ giúp tìm được tất cả các biến còn lại của hệ thống tại thời điểm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oMath>
                </a14:m>
                <a:r>
                  <a:rPr lang="en-VN" dirty="0">
                    <a:latin typeface="Arial" panose="020B0604020202020204" pitchFamily="34" charset="0"/>
                    <a:cs typeface="Arial" panose="020B0604020202020204" pitchFamily="34" charset="0"/>
                  </a:rPr>
                  <a:t>.</a:t>
                </a:r>
              </a:p>
              <a:p>
                <a:pPr marL="285750" indent="-285750" algn="just">
                  <a:buFont typeface="Arial" panose="020B0604020202020204" pitchFamily="34" charset="0"/>
                  <a:buChar char="•"/>
                </a:pPr>
                <a:r>
                  <a:rPr lang="en-VN" i="1" dirty="0">
                    <a:solidFill>
                      <a:schemeClr val="accent1">
                        <a:lumMod val="75000"/>
                      </a:schemeClr>
                    </a:solidFill>
                    <a:latin typeface="Arial" panose="020B0604020202020204" pitchFamily="34" charset="0"/>
                    <a:cs typeface="Arial" panose="020B0604020202020204" pitchFamily="34" charset="0"/>
                  </a:rPr>
                  <a:t>Vector trạng thái: </a:t>
                </a:r>
                <a:r>
                  <a:rPr lang="en-VN" dirty="0">
                    <a:latin typeface="Arial" panose="020B0604020202020204" pitchFamily="34" charset="0"/>
                    <a:cs typeface="Arial" panose="020B0604020202020204" pitchFamily="34" charset="0"/>
                  </a:rPr>
                  <a:t>Vector</a:t>
                </a:r>
                <a:r>
                  <a:rPr lang="en-VN" i="1" dirty="0">
                    <a:solidFill>
                      <a:schemeClr val="accent1">
                        <a:lumMod val="75000"/>
                      </a:schemeClr>
                    </a:solidFill>
                    <a:latin typeface="Arial" panose="020B0604020202020204" pitchFamily="34" charset="0"/>
                    <a:cs typeface="Arial" panose="020B0604020202020204" pitchFamily="34" charset="0"/>
                  </a:rPr>
                  <a:t> </a:t>
                </a:r>
                <a:r>
                  <a:rPr lang="en-VN" dirty="0">
                    <a:latin typeface="Arial" panose="020B0604020202020204" pitchFamily="34" charset="0"/>
                    <a:cs typeface="Arial" panose="020B0604020202020204" pitchFamily="34" charset="0"/>
                  </a:rPr>
                  <a:t>với các thành phần là các biến trạng thái.</a:t>
                </a:r>
              </a:p>
              <a:p>
                <a:pPr marL="285750" indent="-285750" algn="just">
                  <a:buFont typeface="Arial" panose="020B0604020202020204" pitchFamily="34" charset="0"/>
                  <a:buChar char="•"/>
                </a:pPr>
                <a:r>
                  <a:rPr lang="en-VN" i="1" dirty="0">
                    <a:solidFill>
                      <a:schemeClr val="accent1">
                        <a:lumMod val="75000"/>
                      </a:schemeClr>
                    </a:solidFill>
                    <a:latin typeface="Arial" panose="020B0604020202020204" pitchFamily="34" charset="0"/>
                    <a:cs typeface="Arial" panose="020B0604020202020204" pitchFamily="34" charset="0"/>
                  </a:rPr>
                  <a:t>Không gian trạng thái: </a:t>
                </a:r>
                <a:r>
                  <a:rPr lang="en-VN" dirty="0">
                    <a:latin typeface="Arial" panose="020B0604020202020204" pitchFamily="34" charset="0"/>
                    <a:cs typeface="Arial" panose="020B0604020202020204" pitchFamily="34" charset="0"/>
                  </a:rPr>
                  <a:t>Không gian n chiều, trong đó các trục là các biến trạng thái.</a:t>
                </a:r>
              </a:p>
              <a:p>
                <a:pPr marL="285750" indent="-285750" algn="just">
                  <a:buFont typeface="Arial" panose="020B0604020202020204" pitchFamily="34" charset="0"/>
                  <a:buChar char="•"/>
                </a:pPr>
                <a:r>
                  <a:rPr lang="en-VN" i="1" dirty="0">
                    <a:solidFill>
                      <a:schemeClr val="accent1">
                        <a:lumMod val="75000"/>
                      </a:schemeClr>
                    </a:solidFill>
                    <a:latin typeface="Arial" panose="020B0604020202020204" pitchFamily="34" charset="0"/>
                    <a:cs typeface="Arial" panose="020B0604020202020204" pitchFamily="34" charset="0"/>
                  </a:rPr>
                  <a:t>Phương trình trạng thái: </a:t>
                </a:r>
                <a:r>
                  <a:rPr lang="en-VN" dirty="0">
                    <a:latin typeface="Arial" panose="020B0604020202020204" pitchFamily="34" charset="0"/>
                    <a:cs typeface="Arial" panose="020B0604020202020204" pitchFamily="34" charset="0"/>
                  </a:rPr>
                  <a:t>Hệ n phương trình vi phân bậc 1 với n biến, để tính toán n biến trạng thái.</a:t>
                </a:r>
              </a:p>
              <a:p>
                <a:pPr marL="285750" indent="-285750" algn="just">
                  <a:buFont typeface="Arial" panose="020B0604020202020204" pitchFamily="34" charset="0"/>
                  <a:buChar char="•"/>
                </a:pPr>
                <a:r>
                  <a:rPr lang="en-VN" i="1" dirty="0">
                    <a:solidFill>
                      <a:schemeClr val="accent1">
                        <a:lumMod val="75000"/>
                      </a:schemeClr>
                    </a:solidFill>
                    <a:latin typeface="Arial" panose="020B0604020202020204" pitchFamily="34" charset="0"/>
                    <a:cs typeface="Arial" panose="020B0604020202020204" pitchFamily="34" charset="0"/>
                  </a:rPr>
                  <a:t>Phương trình lối ra: </a:t>
                </a:r>
                <a:r>
                  <a:rPr lang="en-VN" dirty="0">
                    <a:latin typeface="Arial" panose="020B0604020202020204" pitchFamily="34" charset="0"/>
                    <a:cs typeface="Arial" panose="020B0604020202020204" pitchFamily="34" charset="0"/>
                  </a:rPr>
                  <a:t>Phương trình biểu diễn quan hệ giữa lối ra với các biến trạng thái và lối vào của hệ thống. </a:t>
                </a:r>
              </a:p>
              <a:p>
                <a:pPr marL="285750" indent="-285750" algn="just">
                  <a:buFont typeface="Arial" panose="020B0604020202020204" pitchFamily="34" charset="0"/>
                  <a:buChar char="•"/>
                </a:pPr>
                <a:endParaRPr lang="en-VN" i="1" dirty="0">
                  <a:solidFill>
                    <a:schemeClr val="accent1">
                      <a:lumMod val="75000"/>
                    </a:schemeClr>
                  </a:solidFill>
                  <a:latin typeface="Arial" panose="020B0604020202020204" pitchFamily="34" charset="0"/>
                  <a:cs typeface="Arial" panose="020B0604020202020204" pitchFamily="34" charset="0"/>
                </a:endParaRPr>
              </a:p>
            </p:txBody>
          </p:sp>
        </mc:Choice>
        <mc:Fallback>
          <p:sp>
            <p:nvSpPr>
              <p:cNvPr id="6" name="TextBox 5">
                <a:extLst>
                  <a:ext uri="{FF2B5EF4-FFF2-40B4-BE49-F238E27FC236}">
                    <a16:creationId xmlns:a16="http://schemas.microsoft.com/office/drawing/2014/main" id="{91FF8B89-4AC4-1AE9-7AE0-AEDD8F1DBED2}"/>
                  </a:ext>
                </a:extLst>
              </p:cNvPr>
              <p:cNvSpPr txBox="1">
                <a:spLocks noRot="1" noChangeAspect="1" noMove="1" noResize="1" noEditPoints="1" noAdjustHandles="1" noChangeArrowheads="1" noChangeShapeType="1" noTextEdit="1"/>
              </p:cNvSpPr>
              <p:nvPr/>
            </p:nvSpPr>
            <p:spPr>
              <a:xfrm>
                <a:off x="902971" y="1186577"/>
                <a:ext cx="5543549" cy="5078313"/>
              </a:xfrm>
              <a:prstGeom prst="rect">
                <a:avLst/>
              </a:prstGeom>
              <a:blipFill>
                <a:blip r:embed="rId3"/>
                <a:stretch>
                  <a:fillRect l="-915" t="-499" r="-915"/>
                </a:stretch>
              </a:blipFill>
            </p:spPr>
            <p:txBody>
              <a:bodyPr/>
              <a:lstStyle/>
              <a:p>
                <a:r>
                  <a:rPr lang="en-VN">
                    <a:noFill/>
                  </a:rPr>
                  <a:t> </a:t>
                </a:r>
              </a:p>
            </p:txBody>
          </p:sp>
        </mc:Fallback>
      </mc:AlternateContent>
    </p:spTree>
    <p:extLst>
      <p:ext uri="{BB962C8B-B14F-4D97-AF65-F5344CB8AC3E}">
        <p14:creationId xmlns:p14="http://schemas.microsoft.com/office/powerpoint/2010/main" val="780712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905E8-2EA7-637D-31ED-E98DD14CA6F7}"/>
              </a:ext>
            </a:extLst>
          </p:cNvPr>
          <p:cNvSpPr>
            <a:spLocks noGrp="1"/>
          </p:cNvSpPr>
          <p:nvPr>
            <p:ph type="title"/>
          </p:nvPr>
        </p:nvSpPr>
        <p:spPr/>
        <p:txBody>
          <a:bodyPr/>
          <a:lstStyle/>
          <a:p>
            <a:r>
              <a:rPr lang="en-VN" dirty="0"/>
              <a:t>MÔ HÌNH KHÔNG GIAN TRẠNG THÁI HỆ THỐNG</a:t>
            </a:r>
          </a:p>
        </p:txBody>
      </p:sp>
      <p:pic>
        <p:nvPicPr>
          <p:cNvPr id="5" name="Content Placeholder 4">
            <a:extLst>
              <a:ext uri="{FF2B5EF4-FFF2-40B4-BE49-F238E27FC236}">
                <a16:creationId xmlns:a16="http://schemas.microsoft.com/office/drawing/2014/main" id="{CA842350-8001-8046-D350-E988114F67D4}"/>
              </a:ext>
            </a:extLst>
          </p:cNvPr>
          <p:cNvPicPr>
            <a:picLocks noGrp="1" noChangeAspect="1"/>
          </p:cNvPicPr>
          <p:nvPr>
            <p:ph idx="1"/>
          </p:nvPr>
        </p:nvPicPr>
        <p:blipFill>
          <a:blip r:embed="rId2"/>
          <a:stretch>
            <a:fillRect/>
          </a:stretch>
        </p:blipFill>
        <p:spPr>
          <a:xfrm>
            <a:off x="1166812" y="2154396"/>
            <a:ext cx="2286000" cy="1663700"/>
          </a:xfrm>
        </p:spPr>
      </p:pic>
      <p:pic>
        <p:nvPicPr>
          <p:cNvPr id="7" name="Picture 6">
            <a:extLst>
              <a:ext uri="{FF2B5EF4-FFF2-40B4-BE49-F238E27FC236}">
                <a16:creationId xmlns:a16="http://schemas.microsoft.com/office/drawing/2014/main" id="{7B229161-4841-D85B-9F4E-254CC28C93E9}"/>
              </a:ext>
            </a:extLst>
          </p:cNvPr>
          <p:cNvPicPr>
            <a:picLocks noChangeAspect="1"/>
          </p:cNvPicPr>
          <p:nvPr/>
        </p:nvPicPr>
        <p:blipFill>
          <a:blip r:embed="rId3"/>
          <a:stretch>
            <a:fillRect/>
          </a:stretch>
        </p:blipFill>
        <p:spPr>
          <a:xfrm>
            <a:off x="4366260" y="1473200"/>
            <a:ext cx="7048500" cy="32258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A33BA34-7E94-8F01-6BBA-71BC9AB5828A}"/>
                  </a:ext>
                </a:extLst>
              </p:cNvPr>
              <p:cNvSpPr txBox="1"/>
              <p:nvPr/>
            </p:nvSpPr>
            <p:spPr>
              <a:xfrm>
                <a:off x="891540" y="4160520"/>
                <a:ext cx="2788920" cy="646331"/>
              </a:xfrm>
              <a:prstGeom prst="rect">
                <a:avLst/>
              </a:prstGeom>
              <a:noFill/>
            </p:spPr>
            <p:txBody>
              <a:bodyPr wrap="square" rtlCol="0">
                <a:spAutoFit/>
              </a:bodyPr>
              <a:lstStyle/>
              <a:p>
                <a:r>
                  <a:rPr lang="en-US" dirty="0"/>
                  <a:t>V</a:t>
                </a:r>
                <a:r>
                  <a:rPr lang="en-VN" dirty="0"/>
                  <a:t>ới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oMath>
                </a14:m>
                <a:r>
                  <a:rPr lang="en-VN" dirty="0"/>
                  <a:t>, điều kiện ban đầu </a:t>
                </a:r>
                <a14:m>
                  <m:oMath xmlns:m="http://schemas.openxmlformats.org/officeDocument/2006/math">
                    <m:r>
                      <a:rPr lang="en-US" b="1" i="0" smtClean="0">
                        <a:latin typeface="Cambria Math" panose="02040503050406030204" pitchFamily="18" charset="0"/>
                      </a:rPr>
                      <m:t>𝐗</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a14:m>
                <a:endParaRPr lang="en-VN" dirty="0"/>
              </a:p>
            </p:txBody>
          </p:sp>
        </mc:Choice>
        <mc:Fallback xmlns="">
          <p:sp>
            <p:nvSpPr>
              <p:cNvPr id="8" name="TextBox 7">
                <a:extLst>
                  <a:ext uri="{FF2B5EF4-FFF2-40B4-BE49-F238E27FC236}">
                    <a16:creationId xmlns:a16="http://schemas.microsoft.com/office/drawing/2014/main" id="{DA33BA34-7E94-8F01-6BBA-71BC9AB5828A}"/>
                  </a:ext>
                </a:extLst>
              </p:cNvPr>
              <p:cNvSpPr txBox="1">
                <a:spLocks noRot="1" noChangeAspect="1" noMove="1" noResize="1" noEditPoints="1" noAdjustHandles="1" noChangeArrowheads="1" noChangeShapeType="1" noTextEdit="1"/>
              </p:cNvSpPr>
              <p:nvPr/>
            </p:nvSpPr>
            <p:spPr>
              <a:xfrm>
                <a:off x="891540" y="4160520"/>
                <a:ext cx="2788920" cy="646331"/>
              </a:xfrm>
              <a:prstGeom prst="rect">
                <a:avLst/>
              </a:prstGeom>
              <a:blipFill>
                <a:blip r:embed="rId4"/>
                <a:stretch>
                  <a:fillRect l="-1818" t="-3846" b="-15385"/>
                </a:stretch>
              </a:blipFill>
            </p:spPr>
            <p:txBody>
              <a:bodyPr/>
              <a:lstStyle/>
              <a:p>
                <a:r>
                  <a:rPr lang="en-VN">
                    <a:noFill/>
                  </a:rPr>
                  <a:t> </a:t>
                </a:r>
              </a:p>
            </p:txBody>
          </p:sp>
        </mc:Fallback>
      </mc:AlternateContent>
      <p:sp>
        <p:nvSpPr>
          <p:cNvPr id="3" name="TextBox 2">
            <a:extLst>
              <a:ext uri="{FF2B5EF4-FFF2-40B4-BE49-F238E27FC236}">
                <a16:creationId xmlns:a16="http://schemas.microsoft.com/office/drawing/2014/main" id="{01F62126-EF28-77B1-EC38-35BC76B66B00}"/>
              </a:ext>
            </a:extLst>
          </p:cNvPr>
          <p:cNvSpPr txBox="1"/>
          <p:nvPr/>
        </p:nvSpPr>
        <p:spPr>
          <a:xfrm>
            <a:off x="986245" y="1627306"/>
            <a:ext cx="3037115"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Phương trình tổng quát:</a:t>
            </a:r>
          </a:p>
        </p:txBody>
      </p:sp>
    </p:spTree>
    <p:extLst>
      <p:ext uri="{BB962C8B-B14F-4D97-AF65-F5344CB8AC3E}">
        <p14:creationId xmlns:p14="http://schemas.microsoft.com/office/powerpoint/2010/main" val="4153448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7346-802D-6D94-D86F-B9C355571273}"/>
              </a:ext>
            </a:extLst>
          </p:cNvPr>
          <p:cNvSpPr>
            <a:spLocks noGrp="1"/>
          </p:cNvSpPr>
          <p:nvPr>
            <p:ph type="title"/>
          </p:nvPr>
        </p:nvSpPr>
        <p:spPr/>
        <p:txBody>
          <a:bodyPr/>
          <a:lstStyle/>
          <a:p>
            <a:r>
              <a:rPr lang="en-VN" dirty="0"/>
              <a:t>MÔ HÌNH KHÔNG GIAN TRẠNG THÁI HỆ THỐNG</a:t>
            </a:r>
          </a:p>
        </p:txBody>
      </p:sp>
      <p:sp>
        <p:nvSpPr>
          <p:cNvPr id="3" name="Content Placeholder 2">
            <a:extLst>
              <a:ext uri="{FF2B5EF4-FFF2-40B4-BE49-F238E27FC236}">
                <a16:creationId xmlns:a16="http://schemas.microsoft.com/office/drawing/2014/main" id="{D7C6E4EF-86DA-D9C9-9190-8A45E1BD4811}"/>
              </a:ext>
            </a:extLst>
          </p:cNvPr>
          <p:cNvSpPr>
            <a:spLocks noGrp="1"/>
          </p:cNvSpPr>
          <p:nvPr>
            <p:ph idx="1"/>
          </p:nvPr>
        </p:nvSpPr>
        <p:spPr>
          <a:xfrm>
            <a:off x="1451579" y="1244014"/>
            <a:ext cx="9074907" cy="4444399"/>
          </a:xfrm>
        </p:spPr>
        <p:txBody>
          <a:bodyPr/>
          <a:lstStyle/>
          <a:p>
            <a:pPr marL="0" indent="0" algn="just">
              <a:buNone/>
            </a:pPr>
            <a:r>
              <a:rPr lang="en-VN" dirty="0"/>
              <a:t>Lựa chọn biến trạng thái trong mạch điện có các phần tử lưu trữ năng lượng:</a:t>
            </a:r>
          </a:p>
          <a:p>
            <a:pPr algn="just"/>
            <a:r>
              <a:rPr lang="en-VN" dirty="0"/>
              <a:t>Số phần tử tích trữ năng lượng = Bậc của phương trình vi phân</a:t>
            </a:r>
          </a:p>
          <a:p>
            <a:pPr algn="just"/>
            <a:r>
              <a:rPr lang="en-VN" dirty="0"/>
              <a:t>(1) Viết phương trình vi phân đơn giản cho các phần tử tích trữ năng lượng. (2) Chọn các biến vi phân làm biến trạng thái. (3) Biểu diễn các biến khác trong phương trình vi phân theo lối vào và biến trạng thái. (4) Biểu diễn đầu ra theo đầu vào và biến trạng thái.</a:t>
            </a:r>
          </a:p>
        </p:txBody>
      </p:sp>
    </p:spTree>
    <p:extLst>
      <p:ext uri="{BB962C8B-B14F-4D97-AF65-F5344CB8AC3E}">
        <p14:creationId xmlns:p14="http://schemas.microsoft.com/office/powerpoint/2010/main" val="3721685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5D00C-B82D-9109-2407-0FE639987DC5}"/>
              </a:ext>
            </a:extLst>
          </p:cNvPr>
          <p:cNvSpPr>
            <a:spLocks noGrp="1"/>
          </p:cNvSpPr>
          <p:nvPr>
            <p:ph type="title"/>
          </p:nvPr>
        </p:nvSpPr>
        <p:spPr/>
        <p:txBody>
          <a:bodyPr/>
          <a:lstStyle/>
          <a:p>
            <a:r>
              <a:rPr lang="en-VN" dirty="0"/>
              <a:t>MÔ HÌNH KHÔNG GIAN TRẠNG THÁI HỆ THỐNG</a:t>
            </a:r>
          </a:p>
        </p:txBody>
      </p:sp>
      <p:pic>
        <p:nvPicPr>
          <p:cNvPr id="5" name="Content Placeholder 4">
            <a:extLst>
              <a:ext uri="{FF2B5EF4-FFF2-40B4-BE49-F238E27FC236}">
                <a16:creationId xmlns:a16="http://schemas.microsoft.com/office/drawing/2014/main" id="{2211C0CD-3F1A-7ACD-4839-694B53C4E08C}"/>
              </a:ext>
            </a:extLst>
          </p:cNvPr>
          <p:cNvPicPr>
            <a:picLocks noGrp="1" noChangeAspect="1"/>
          </p:cNvPicPr>
          <p:nvPr>
            <p:ph idx="1"/>
          </p:nvPr>
        </p:nvPicPr>
        <p:blipFill rotWithShape="1">
          <a:blip r:embed="rId2"/>
          <a:srcRect l="4813" t="6992"/>
          <a:stretch/>
        </p:blipFill>
        <p:spPr>
          <a:xfrm>
            <a:off x="6511910" y="2318656"/>
            <a:ext cx="4828508" cy="2010137"/>
          </a:xfrm>
        </p:spPr>
      </p:pic>
      <p:pic>
        <p:nvPicPr>
          <p:cNvPr id="7" name="Picture 6">
            <a:extLst>
              <a:ext uri="{FF2B5EF4-FFF2-40B4-BE49-F238E27FC236}">
                <a16:creationId xmlns:a16="http://schemas.microsoft.com/office/drawing/2014/main" id="{C6621A88-7C4D-61D5-BFBA-F27B9B75B720}"/>
              </a:ext>
            </a:extLst>
          </p:cNvPr>
          <p:cNvPicPr>
            <a:picLocks noChangeAspect="1"/>
          </p:cNvPicPr>
          <p:nvPr/>
        </p:nvPicPr>
        <p:blipFill>
          <a:blip r:embed="rId3"/>
          <a:stretch>
            <a:fillRect/>
          </a:stretch>
        </p:blipFill>
        <p:spPr>
          <a:xfrm>
            <a:off x="2316843" y="1724683"/>
            <a:ext cx="1209075" cy="1026886"/>
          </a:xfrm>
          <a:prstGeom prst="rect">
            <a:avLst/>
          </a:prstGeom>
        </p:spPr>
      </p:pic>
      <p:sp>
        <p:nvSpPr>
          <p:cNvPr id="9" name="TextBox 8">
            <a:extLst>
              <a:ext uri="{FF2B5EF4-FFF2-40B4-BE49-F238E27FC236}">
                <a16:creationId xmlns:a16="http://schemas.microsoft.com/office/drawing/2014/main" id="{CBFABF04-68CC-0244-FD36-8B84462A752D}"/>
              </a:ext>
            </a:extLst>
          </p:cNvPr>
          <p:cNvSpPr txBox="1"/>
          <p:nvPr/>
        </p:nvSpPr>
        <p:spPr>
          <a:xfrm>
            <a:off x="1217386" y="1226136"/>
            <a:ext cx="6101442" cy="369332"/>
          </a:xfrm>
          <a:prstGeom prst="rect">
            <a:avLst/>
          </a:prstGeom>
          <a:noFill/>
        </p:spPr>
        <p:txBody>
          <a:bodyPr wrap="square">
            <a:spAutoFit/>
          </a:bodyPr>
          <a:lstStyle/>
          <a:p>
            <a:r>
              <a:rPr lang="en-VN" dirty="0">
                <a:latin typeface="Arial" panose="020B0604020202020204" pitchFamily="34" charset="0"/>
                <a:cs typeface="Arial" panose="020B0604020202020204" pitchFamily="34" charset="0"/>
              </a:rPr>
              <a:t>Biểu diễn mô hình không gian trạng thái hệ thống</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FE3A48B-2B89-0624-48D2-E69C44A1D53B}"/>
                  </a:ext>
                </a:extLst>
              </p:cNvPr>
              <p:cNvSpPr txBox="1"/>
              <p:nvPr/>
            </p:nvSpPr>
            <p:spPr>
              <a:xfrm>
                <a:off x="1217386" y="2982686"/>
                <a:ext cx="5035830"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Chọn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𝐶</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𝐿</m:t>
                        </m:r>
                      </m:sub>
                    </m:sSub>
                  </m:oMath>
                </a14:m>
                <a:r>
                  <a:rPr lang="en-VN" dirty="0">
                    <a:latin typeface="Arial" panose="020B0604020202020204" pitchFamily="34" charset="0"/>
                    <a:cs typeface="Arial" panose="020B0604020202020204" pitchFamily="34" charset="0"/>
                  </a:rPr>
                  <a:t> là biến trạng thái của hệ thống</a:t>
                </a:r>
              </a:p>
            </p:txBody>
          </p:sp>
        </mc:Choice>
        <mc:Fallback>
          <p:sp>
            <p:nvSpPr>
              <p:cNvPr id="10" name="TextBox 9">
                <a:extLst>
                  <a:ext uri="{FF2B5EF4-FFF2-40B4-BE49-F238E27FC236}">
                    <a16:creationId xmlns:a16="http://schemas.microsoft.com/office/drawing/2014/main" id="{EFE3A48B-2B89-0624-48D2-E69C44A1D53B}"/>
                  </a:ext>
                </a:extLst>
              </p:cNvPr>
              <p:cNvSpPr txBox="1">
                <a:spLocks noRot="1" noChangeAspect="1" noMove="1" noResize="1" noEditPoints="1" noAdjustHandles="1" noChangeArrowheads="1" noChangeShapeType="1" noTextEdit="1"/>
              </p:cNvSpPr>
              <p:nvPr/>
            </p:nvSpPr>
            <p:spPr>
              <a:xfrm>
                <a:off x="1217386" y="2982686"/>
                <a:ext cx="5035830" cy="369332"/>
              </a:xfrm>
              <a:prstGeom prst="rect">
                <a:avLst/>
              </a:prstGeom>
              <a:blipFill>
                <a:blip r:embed="rId4"/>
                <a:stretch>
                  <a:fillRect l="-1259" t="-6667" b="-26667"/>
                </a:stretch>
              </a:blipFill>
            </p:spPr>
            <p:txBody>
              <a:bodyPr/>
              <a:lstStyle/>
              <a:p>
                <a:r>
                  <a:rPr lang="en-VN">
                    <a:noFill/>
                  </a:rPr>
                  <a:t> </a:t>
                </a:r>
              </a:p>
            </p:txBody>
          </p:sp>
        </mc:Fallback>
      </mc:AlternateContent>
      <p:pic>
        <p:nvPicPr>
          <p:cNvPr id="12" name="Picture 11">
            <a:extLst>
              <a:ext uri="{FF2B5EF4-FFF2-40B4-BE49-F238E27FC236}">
                <a16:creationId xmlns:a16="http://schemas.microsoft.com/office/drawing/2014/main" id="{789976DA-14B7-1ADB-1795-73BB7A7AF299}"/>
              </a:ext>
            </a:extLst>
          </p:cNvPr>
          <p:cNvPicPr>
            <a:picLocks noChangeAspect="1"/>
          </p:cNvPicPr>
          <p:nvPr/>
        </p:nvPicPr>
        <p:blipFill>
          <a:blip r:embed="rId5"/>
          <a:stretch>
            <a:fillRect/>
          </a:stretch>
        </p:blipFill>
        <p:spPr>
          <a:xfrm>
            <a:off x="522515" y="3505983"/>
            <a:ext cx="1794328" cy="936171"/>
          </a:xfrm>
          <a:prstGeom prst="rect">
            <a:avLst/>
          </a:prstGeom>
        </p:spPr>
      </p:pic>
      <p:pic>
        <p:nvPicPr>
          <p:cNvPr id="14" name="Picture 13">
            <a:extLst>
              <a:ext uri="{FF2B5EF4-FFF2-40B4-BE49-F238E27FC236}">
                <a16:creationId xmlns:a16="http://schemas.microsoft.com/office/drawing/2014/main" id="{389B9745-ABD6-9672-DFBC-A5F5B4304D16}"/>
              </a:ext>
            </a:extLst>
          </p:cNvPr>
          <p:cNvPicPr>
            <a:picLocks noChangeAspect="1"/>
          </p:cNvPicPr>
          <p:nvPr/>
        </p:nvPicPr>
        <p:blipFill>
          <a:blip r:embed="rId6"/>
          <a:stretch>
            <a:fillRect/>
          </a:stretch>
        </p:blipFill>
        <p:spPr>
          <a:xfrm>
            <a:off x="3271376" y="3688318"/>
            <a:ext cx="2286000" cy="571500"/>
          </a:xfrm>
          <a:prstGeom prst="rect">
            <a:avLst/>
          </a:prstGeom>
        </p:spPr>
      </p:pic>
      <p:pic>
        <p:nvPicPr>
          <p:cNvPr id="16" name="Picture 15">
            <a:extLst>
              <a:ext uri="{FF2B5EF4-FFF2-40B4-BE49-F238E27FC236}">
                <a16:creationId xmlns:a16="http://schemas.microsoft.com/office/drawing/2014/main" id="{7B2F670A-C5E6-82DA-00A0-C1B34E2FF392}"/>
              </a:ext>
            </a:extLst>
          </p:cNvPr>
          <p:cNvPicPr>
            <a:picLocks noChangeAspect="1"/>
          </p:cNvPicPr>
          <p:nvPr/>
        </p:nvPicPr>
        <p:blipFill>
          <a:blip r:embed="rId7"/>
          <a:stretch>
            <a:fillRect/>
          </a:stretch>
        </p:blipFill>
        <p:spPr>
          <a:xfrm>
            <a:off x="2536371" y="4887080"/>
            <a:ext cx="4541100" cy="1657862"/>
          </a:xfrm>
          <a:prstGeom prst="rect">
            <a:avLst/>
          </a:prstGeom>
        </p:spPr>
      </p:pic>
    </p:spTree>
    <p:extLst>
      <p:ext uri="{BB962C8B-B14F-4D97-AF65-F5344CB8AC3E}">
        <p14:creationId xmlns:p14="http://schemas.microsoft.com/office/powerpoint/2010/main" val="422224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E5EA-7900-6D4E-068D-298D9B1AFB4A}"/>
              </a:ext>
            </a:extLst>
          </p:cNvPr>
          <p:cNvSpPr>
            <a:spLocks noGrp="1"/>
          </p:cNvSpPr>
          <p:nvPr>
            <p:ph type="title"/>
          </p:nvPr>
        </p:nvSpPr>
        <p:spPr/>
        <p:txBody>
          <a:bodyPr/>
          <a:lstStyle/>
          <a:p>
            <a:r>
              <a:rPr lang="en-VN" dirty="0"/>
              <a:t>MÔ HÌNH KHÔNG GIAN TRẠNG THÁI HỆ THỐNG</a:t>
            </a:r>
          </a:p>
        </p:txBody>
      </p:sp>
      <p:pic>
        <p:nvPicPr>
          <p:cNvPr id="5" name="Content Placeholder 4">
            <a:extLst>
              <a:ext uri="{FF2B5EF4-FFF2-40B4-BE49-F238E27FC236}">
                <a16:creationId xmlns:a16="http://schemas.microsoft.com/office/drawing/2014/main" id="{D3732E45-C720-9A88-41A6-500EA1B1ED86}"/>
              </a:ext>
            </a:extLst>
          </p:cNvPr>
          <p:cNvPicPr>
            <a:picLocks noGrp="1" noChangeAspect="1"/>
          </p:cNvPicPr>
          <p:nvPr>
            <p:ph idx="1"/>
          </p:nvPr>
        </p:nvPicPr>
        <p:blipFill>
          <a:blip r:embed="rId2"/>
          <a:stretch>
            <a:fillRect/>
          </a:stretch>
        </p:blipFill>
        <p:spPr>
          <a:xfrm>
            <a:off x="2690812" y="2037556"/>
            <a:ext cx="7124700" cy="2857500"/>
          </a:xfrm>
        </p:spPr>
      </p:pic>
    </p:spTree>
    <p:extLst>
      <p:ext uri="{BB962C8B-B14F-4D97-AF65-F5344CB8AC3E}">
        <p14:creationId xmlns:p14="http://schemas.microsoft.com/office/powerpoint/2010/main" val="3309982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E9B63-F5EC-3736-A204-DBB4E6F17913}"/>
              </a:ext>
            </a:extLst>
          </p:cNvPr>
          <p:cNvSpPr>
            <a:spLocks noGrp="1"/>
          </p:cNvSpPr>
          <p:nvPr>
            <p:ph type="title"/>
          </p:nvPr>
        </p:nvSpPr>
        <p:spPr>
          <a:xfrm>
            <a:off x="1040099" y="198069"/>
            <a:ext cx="11144281" cy="674212"/>
          </a:xfrm>
        </p:spPr>
        <p:txBody>
          <a:bodyPr>
            <a:normAutofit fontScale="90000"/>
          </a:bodyPr>
          <a:lstStyle/>
          <a:p>
            <a:r>
              <a:rPr lang="en-VN" dirty="0"/>
              <a:t>CHUYỂN ĐỔI HÀM TRUYỀN SANG KHÔNG GIAN TRẠNG THÁI</a:t>
            </a:r>
          </a:p>
        </p:txBody>
      </p:sp>
      <p:pic>
        <p:nvPicPr>
          <p:cNvPr id="5" name="Content Placeholder 4">
            <a:extLst>
              <a:ext uri="{FF2B5EF4-FFF2-40B4-BE49-F238E27FC236}">
                <a16:creationId xmlns:a16="http://schemas.microsoft.com/office/drawing/2014/main" id="{A9DF98DF-699B-B347-E33B-AA5946F14EAE}"/>
              </a:ext>
            </a:extLst>
          </p:cNvPr>
          <p:cNvPicPr>
            <a:picLocks noGrp="1" noChangeAspect="1"/>
          </p:cNvPicPr>
          <p:nvPr>
            <p:ph idx="1"/>
          </p:nvPr>
        </p:nvPicPr>
        <p:blipFill>
          <a:blip r:embed="rId2"/>
          <a:stretch>
            <a:fillRect/>
          </a:stretch>
        </p:blipFill>
        <p:spPr>
          <a:xfrm>
            <a:off x="3104515" y="1746885"/>
            <a:ext cx="5575300" cy="952500"/>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FC1ED80-69D8-1174-F6E1-7BFE77E72B3D}"/>
                  </a:ext>
                </a:extLst>
              </p:cNvPr>
              <p:cNvSpPr txBox="1"/>
              <p:nvPr/>
            </p:nvSpPr>
            <p:spPr>
              <a:xfrm>
                <a:off x="2333942" y="2743200"/>
                <a:ext cx="2615248" cy="25626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VN"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𝑑𝑦</m:t>
                          </m:r>
                        </m:num>
                        <m:den>
                          <m:r>
                            <a:rPr lang="en-US" b="0" i="1" smtClean="0">
                              <a:latin typeface="Cambria Math" panose="02040503050406030204" pitchFamily="18" charset="0"/>
                            </a:rPr>
                            <m:t>𝑑𝑡</m:t>
                          </m:r>
                        </m:den>
                      </m:f>
                    </m:oMath>
                  </m:oMathPara>
                </a14:m>
                <a:endParaRPr lang="en-US" b="0" dirty="0"/>
              </a:p>
              <a:p>
                <a:pPr/>
                <a14:m>
                  <m:oMathPara xmlns:m="http://schemas.openxmlformats.org/officeDocument/2006/math">
                    <m:oMathParaPr>
                      <m:jc m:val="centerGroup"/>
                    </m:oMathParaPr>
                    <m:oMath xmlns:m="http://schemas.openxmlformats.org/officeDocument/2006/math">
                      <m:acc>
                        <m:accPr>
                          <m:chr m:val="̇"/>
                          <m:ctrlPr>
                            <a:rPr lang="en-VN"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𝑦</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oMath>
                  </m:oMathPara>
                </a14:m>
                <a:endParaRPr lang="en-US" b="0" dirty="0"/>
              </a:p>
              <a:p>
                <a:pPr/>
                <a14:m>
                  <m:oMathPara xmlns:m="http://schemas.openxmlformats.org/officeDocument/2006/math">
                    <m:oMathParaPr>
                      <m:jc m:val="centerGroup"/>
                    </m:oMathParaPr>
                    <m:oMath xmlns:m="http://schemas.openxmlformats.org/officeDocument/2006/math">
                      <m:acc>
                        <m:accPr>
                          <m:chr m:val="̇"/>
                          <m:ctrlPr>
                            <a:rPr lang="en-VN"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3</m:t>
                              </m:r>
                            </m:sup>
                          </m:sSup>
                          <m:r>
                            <a:rPr lang="en-US" b="0" i="1" smtClean="0">
                              <a:latin typeface="Cambria Math" panose="02040503050406030204" pitchFamily="18" charset="0"/>
                            </a:rPr>
                            <m:t>𝑦</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3</m:t>
                              </m:r>
                            </m:sup>
                          </m:sSup>
                        </m:den>
                      </m:f>
                    </m:oMath>
                  </m:oMathPara>
                </a14:m>
                <a:endParaRPr lang="en-US" b="0" dirty="0"/>
              </a:p>
              <a:p>
                <a:pPr algn="ctr"/>
                <a:r>
                  <a:rPr lang="en-VN" dirty="0"/>
                  <a:t>…</a:t>
                </a:r>
              </a:p>
              <a:p>
                <a:pPr algn="ctr"/>
                <a14:m>
                  <m:oMathPara xmlns:m="http://schemas.openxmlformats.org/officeDocument/2006/math">
                    <m:oMathParaPr>
                      <m:jc m:val="centerGroup"/>
                    </m:oMathParaPr>
                    <m:oMath xmlns:m="http://schemas.openxmlformats.org/officeDocument/2006/math">
                      <m:acc>
                        <m:accPr>
                          <m:chr m:val="̇"/>
                          <m:ctrlPr>
                            <a:rPr lang="en-VN"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𝑛</m:t>
                              </m:r>
                            </m:sup>
                          </m:sSup>
                          <m:r>
                            <a:rPr lang="en-US" b="0" i="1" smtClean="0">
                              <a:latin typeface="Cambria Math" panose="02040503050406030204" pitchFamily="18" charset="0"/>
                            </a:rPr>
                            <m:t>𝑦</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𝑛</m:t>
                              </m:r>
                            </m:sup>
                          </m:sSup>
                        </m:den>
                      </m:f>
                    </m:oMath>
                  </m:oMathPara>
                </a14:m>
                <a:endParaRPr lang="en-VN" dirty="0"/>
              </a:p>
            </p:txBody>
          </p:sp>
        </mc:Choice>
        <mc:Fallback xmlns="">
          <p:sp>
            <p:nvSpPr>
              <p:cNvPr id="6" name="TextBox 5">
                <a:extLst>
                  <a:ext uri="{FF2B5EF4-FFF2-40B4-BE49-F238E27FC236}">
                    <a16:creationId xmlns:a16="http://schemas.microsoft.com/office/drawing/2014/main" id="{2FC1ED80-69D8-1174-F6E1-7BFE77E72B3D}"/>
                  </a:ext>
                </a:extLst>
              </p:cNvPr>
              <p:cNvSpPr txBox="1">
                <a:spLocks noRot="1" noChangeAspect="1" noMove="1" noResize="1" noEditPoints="1" noAdjustHandles="1" noChangeArrowheads="1" noChangeShapeType="1" noTextEdit="1"/>
              </p:cNvSpPr>
              <p:nvPr/>
            </p:nvSpPr>
            <p:spPr>
              <a:xfrm>
                <a:off x="2333942" y="2743200"/>
                <a:ext cx="2615248" cy="2562625"/>
              </a:xfrm>
              <a:prstGeom prst="rect">
                <a:avLst/>
              </a:prstGeom>
              <a:blipFill>
                <a:blip r:embed="rId3"/>
                <a:stretch>
                  <a:fillRect/>
                </a:stretch>
              </a:blipFill>
            </p:spPr>
            <p:txBody>
              <a:bodyPr/>
              <a:lstStyle/>
              <a:p>
                <a:r>
                  <a:rPr lang="en-VN">
                    <a:noFill/>
                  </a:rPr>
                  <a:t> </a:t>
                </a:r>
              </a:p>
            </p:txBody>
          </p:sp>
        </mc:Fallback>
      </mc:AlternateContent>
      <p:sp>
        <p:nvSpPr>
          <p:cNvPr id="7" name="Right Arrow 6">
            <a:extLst>
              <a:ext uri="{FF2B5EF4-FFF2-40B4-BE49-F238E27FC236}">
                <a16:creationId xmlns:a16="http://schemas.microsoft.com/office/drawing/2014/main" id="{45BCA880-62E4-4833-13D1-55C84AF1295A}"/>
              </a:ext>
            </a:extLst>
          </p:cNvPr>
          <p:cNvSpPr/>
          <p:nvPr/>
        </p:nvSpPr>
        <p:spPr>
          <a:xfrm>
            <a:off x="4823460" y="3783330"/>
            <a:ext cx="365760" cy="2743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E7AB1E5-2438-E21A-AC11-63000CB15FA7}"/>
                  </a:ext>
                </a:extLst>
              </p:cNvPr>
              <p:cNvSpPr txBox="1"/>
              <p:nvPr/>
            </p:nvSpPr>
            <p:spPr>
              <a:xfrm>
                <a:off x="4949190" y="3044666"/>
                <a:ext cx="4994910" cy="1754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VN"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b="0" dirty="0"/>
              </a:p>
              <a:p>
                <a:pPr/>
                <a14:m>
                  <m:oMathPara xmlns:m="http://schemas.openxmlformats.org/officeDocument/2006/math">
                    <m:oMathParaPr>
                      <m:jc m:val="centerGroup"/>
                    </m:oMathParaPr>
                    <m:oMath xmlns:m="http://schemas.openxmlformats.org/officeDocument/2006/math">
                      <m:acc>
                        <m:accPr>
                          <m:chr m:val="̇"/>
                          <m:ctrlPr>
                            <a:rPr lang="en-VN"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US" b="0" dirty="0"/>
              </a:p>
              <a:p>
                <a:pPr/>
                <a14:m>
                  <m:oMathPara xmlns:m="http://schemas.openxmlformats.org/officeDocument/2006/math">
                    <m:oMathParaPr>
                      <m:jc m:val="centerGroup"/>
                    </m:oMathParaPr>
                    <m:oMath xmlns:m="http://schemas.openxmlformats.org/officeDocument/2006/math">
                      <m:acc>
                        <m:accPr>
                          <m:chr m:val="̇"/>
                          <m:ctrlPr>
                            <a:rPr lang="en-VN"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4</m:t>
                          </m:r>
                        </m:sub>
                      </m:sSub>
                    </m:oMath>
                  </m:oMathPara>
                </a14:m>
                <a:endParaRPr lang="en-US" b="0" dirty="0"/>
              </a:p>
              <a:p>
                <a:pPr algn="ctr"/>
                <a:r>
                  <a:rPr lang="en-VN" dirty="0"/>
                  <a:t>…</a:t>
                </a:r>
              </a:p>
              <a:p>
                <a:pPr algn="ctr"/>
                <a14:m>
                  <m:oMathPara xmlns:m="http://schemas.openxmlformats.org/officeDocument/2006/math">
                    <m:oMathParaPr>
                      <m:jc m:val="centerGroup"/>
                    </m:oMathParaPr>
                    <m:oMath xmlns:m="http://schemas.openxmlformats.org/officeDocument/2006/math">
                      <m:acc>
                        <m:accPr>
                          <m:chr m:val="̇"/>
                          <m:ctrlPr>
                            <a:rPr lang="en-VN"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oMath>
                  </m:oMathPara>
                </a14:m>
                <a:endParaRPr lang="en-VN" dirty="0"/>
              </a:p>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𝑛</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𝑢</m:t>
                      </m:r>
                    </m:oMath>
                  </m:oMathPara>
                </a14:m>
                <a:endParaRPr lang="en-VN" dirty="0"/>
              </a:p>
            </p:txBody>
          </p:sp>
        </mc:Choice>
        <mc:Fallback xmlns="">
          <p:sp>
            <p:nvSpPr>
              <p:cNvPr id="8" name="TextBox 7">
                <a:extLst>
                  <a:ext uri="{FF2B5EF4-FFF2-40B4-BE49-F238E27FC236}">
                    <a16:creationId xmlns:a16="http://schemas.microsoft.com/office/drawing/2014/main" id="{BE7AB1E5-2438-E21A-AC11-63000CB15FA7}"/>
                  </a:ext>
                </a:extLst>
              </p:cNvPr>
              <p:cNvSpPr txBox="1">
                <a:spLocks noRot="1" noChangeAspect="1" noMove="1" noResize="1" noEditPoints="1" noAdjustHandles="1" noChangeArrowheads="1" noChangeShapeType="1" noTextEdit="1"/>
              </p:cNvSpPr>
              <p:nvPr/>
            </p:nvSpPr>
            <p:spPr>
              <a:xfrm>
                <a:off x="4949190" y="3044666"/>
                <a:ext cx="4994910" cy="1754326"/>
              </a:xfrm>
              <a:prstGeom prst="rect">
                <a:avLst/>
              </a:prstGeom>
              <a:blipFill>
                <a:blip r:embed="rId4"/>
                <a:stretch>
                  <a:fillRect/>
                </a:stretch>
              </a:blipFill>
            </p:spPr>
            <p:txBody>
              <a:bodyPr/>
              <a:lstStyle/>
              <a:p>
                <a:r>
                  <a:rPr lang="en-VN">
                    <a:noFill/>
                  </a:rPr>
                  <a:t> </a:t>
                </a:r>
              </a:p>
            </p:txBody>
          </p:sp>
        </mc:Fallback>
      </mc:AlternateContent>
      <p:sp>
        <p:nvSpPr>
          <p:cNvPr id="10" name="TextBox 9">
            <a:extLst>
              <a:ext uri="{FF2B5EF4-FFF2-40B4-BE49-F238E27FC236}">
                <a16:creationId xmlns:a16="http://schemas.microsoft.com/office/drawing/2014/main" id="{CADABE86-CD74-15F0-A041-97BDBF7F2119}"/>
              </a:ext>
            </a:extLst>
          </p:cNvPr>
          <p:cNvSpPr txBox="1"/>
          <p:nvPr/>
        </p:nvSpPr>
        <p:spPr>
          <a:xfrm>
            <a:off x="685800" y="3655180"/>
            <a:ext cx="2125980" cy="369332"/>
          </a:xfrm>
          <a:prstGeom prst="rect">
            <a:avLst/>
          </a:prstGeom>
          <a:solidFill>
            <a:schemeClr val="accent2">
              <a:lumMod val="20000"/>
              <a:lumOff val="80000"/>
            </a:schemeClr>
          </a:solidFill>
        </p:spPr>
        <p:txBody>
          <a:bodyPr wrap="square">
            <a:spAutoFit/>
          </a:bodyPr>
          <a:lstStyle/>
          <a:p>
            <a:r>
              <a:rPr lang="en-US" dirty="0">
                <a:latin typeface="AdvTTI"/>
              </a:rPr>
              <a:t>P</a:t>
            </a:r>
            <a:r>
              <a:rPr lang="en-US" sz="1800" dirty="0">
                <a:effectLst/>
                <a:latin typeface="AdvTTI"/>
              </a:rPr>
              <a:t>hase variables form </a:t>
            </a:r>
            <a:endParaRPr lang="en-US"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5485C35-44B1-44E2-F45E-2A7F45D9E606}"/>
                  </a:ext>
                </a:extLst>
              </p:cNvPr>
              <p:cNvSpPr txBox="1"/>
              <p:nvPr/>
            </p:nvSpPr>
            <p:spPr>
              <a:xfrm>
                <a:off x="3441972" y="1241509"/>
                <a:ext cx="463133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𝑠</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𝑛</m:t>
                          </m:r>
                          <m:r>
                            <a:rPr lang="en-US" b="0" i="1" smtClean="0">
                              <a:latin typeface="Cambria Math" panose="02040503050406030204" pitchFamily="18" charset="0"/>
                            </a:rPr>
                            <m:t>−1</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𝑛</m:t>
                          </m:r>
                          <m:r>
                            <a:rPr lang="en-US" b="0" i="1" smtClean="0">
                              <a:latin typeface="Cambria Math" panose="02040503050406030204" pitchFamily="18" charset="0"/>
                            </a:rPr>
                            <m:t>−1</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VN" dirty="0"/>
              </a:p>
            </p:txBody>
          </p:sp>
        </mc:Choice>
        <mc:Fallback>
          <p:sp>
            <p:nvSpPr>
              <p:cNvPr id="3" name="TextBox 2">
                <a:extLst>
                  <a:ext uri="{FF2B5EF4-FFF2-40B4-BE49-F238E27FC236}">
                    <a16:creationId xmlns:a16="http://schemas.microsoft.com/office/drawing/2014/main" id="{95485C35-44B1-44E2-F45E-2A7F45D9E606}"/>
                  </a:ext>
                </a:extLst>
              </p:cNvPr>
              <p:cNvSpPr txBox="1">
                <a:spLocks noRot="1" noChangeAspect="1" noMove="1" noResize="1" noEditPoints="1" noAdjustHandles="1" noChangeArrowheads="1" noChangeShapeType="1" noTextEdit="1"/>
              </p:cNvSpPr>
              <p:nvPr/>
            </p:nvSpPr>
            <p:spPr>
              <a:xfrm>
                <a:off x="3441972" y="1241509"/>
                <a:ext cx="4631331" cy="276999"/>
              </a:xfrm>
              <a:prstGeom prst="rect">
                <a:avLst/>
              </a:prstGeom>
              <a:blipFill>
                <a:blip r:embed="rId5"/>
                <a:stretch>
                  <a:fillRect l="-1370" t="-4348" r="-1370" b="-34783"/>
                </a:stretch>
              </a:blipFill>
            </p:spPr>
            <p:txBody>
              <a:bodyPr/>
              <a:lstStyle/>
              <a:p>
                <a:r>
                  <a:rPr lang="en-VN">
                    <a:noFill/>
                  </a:rPr>
                  <a:t> </a:t>
                </a:r>
              </a:p>
            </p:txBody>
          </p:sp>
        </mc:Fallback>
      </mc:AlternateContent>
    </p:spTree>
    <p:extLst>
      <p:ext uri="{BB962C8B-B14F-4D97-AF65-F5344CB8AC3E}">
        <p14:creationId xmlns:p14="http://schemas.microsoft.com/office/powerpoint/2010/main" val="3302318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50623-D407-BD8F-AF47-EFB21C1740EC}"/>
              </a:ext>
            </a:extLst>
          </p:cNvPr>
          <p:cNvSpPr>
            <a:spLocks noGrp="1"/>
          </p:cNvSpPr>
          <p:nvPr>
            <p:ph type="title"/>
          </p:nvPr>
        </p:nvSpPr>
        <p:spPr>
          <a:xfrm>
            <a:off x="982949" y="198069"/>
            <a:ext cx="11178571" cy="674212"/>
          </a:xfrm>
        </p:spPr>
        <p:txBody>
          <a:bodyPr>
            <a:normAutofit fontScale="90000"/>
          </a:bodyPr>
          <a:lstStyle/>
          <a:p>
            <a:r>
              <a:rPr lang="en-VN" dirty="0"/>
              <a:t>CHUYỂN ĐỔI HÀM TRUYỀN SANG KHÔNG GIAN TRẠNG THÁI</a:t>
            </a:r>
          </a:p>
        </p:txBody>
      </p:sp>
      <p:pic>
        <p:nvPicPr>
          <p:cNvPr id="5" name="Content Placeholder 4">
            <a:extLst>
              <a:ext uri="{FF2B5EF4-FFF2-40B4-BE49-F238E27FC236}">
                <a16:creationId xmlns:a16="http://schemas.microsoft.com/office/drawing/2014/main" id="{E3E89929-41B1-CCCD-C003-8F4451264EA4}"/>
              </a:ext>
            </a:extLst>
          </p:cNvPr>
          <p:cNvPicPr>
            <a:picLocks noGrp="1" noChangeAspect="1"/>
          </p:cNvPicPr>
          <p:nvPr>
            <p:ph idx="1"/>
          </p:nvPr>
        </p:nvPicPr>
        <p:blipFill>
          <a:blip r:embed="rId2"/>
          <a:stretch>
            <a:fillRect/>
          </a:stretch>
        </p:blipFill>
        <p:spPr>
          <a:xfrm>
            <a:off x="1293812" y="1346436"/>
            <a:ext cx="9604375" cy="2502380"/>
          </a:xfrm>
        </p:spPr>
      </p:pic>
      <p:pic>
        <p:nvPicPr>
          <p:cNvPr id="7" name="Picture 6">
            <a:extLst>
              <a:ext uri="{FF2B5EF4-FFF2-40B4-BE49-F238E27FC236}">
                <a16:creationId xmlns:a16="http://schemas.microsoft.com/office/drawing/2014/main" id="{9F5352C2-DCCD-617B-2A5F-19F8E31CB67E}"/>
              </a:ext>
            </a:extLst>
          </p:cNvPr>
          <p:cNvPicPr>
            <a:picLocks noChangeAspect="1"/>
          </p:cNvPicPr>
          <p:nvPr/>
        </p:nvPicPr>
        <p:blipFill>
          <a:blip r:embed="rId3"/>
          <a:stretch>
            <a:fillRect/>
          </a:stretch>
        </p:blipFill>
        <p:spPr>
          <a:xfrm>
            <a:off x="4081145" y="4083230"/>
            <a:ext cx="4029709" cy="2383772"/>
          </a:xfrm>
          <a:prstGeom prst="rect">
            <a:avLst/>
          </a:prstGeom>
        </p:spPr>
      </p:pic>
    </p:spTree>
    <p:extLst>
      <p:ext uri="{BB962C8B-B14F-4D97-AF65-F5344CB8AC3E}">
        <p14:creationId xmlns:p14="http://schemas.microsoft.com/office/powerpoint/2010/main" val="4033300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55D4-7C7F-4388-2A74-2EB80EE015DE}"/>
              </a:ext>
            </a:extLst>
          </p:cNvPr>
          <p:cNvSpPr>
            <a:spLocks noGrp="1"/>
          </p:cNvSpPr>
          <p:nvPr>
            <p:ph type="title"/>
          </p:nvPr>
        </p:nvSpPr>
        <p:spPr>
          <a:xfrm>
            <a:off x="1131571" y="198069"/>
            <a:ext cx="11054854" cy="674212"/>
          </a:xfrm>
        </p:spPr>
        <p:txBody>
          <a:bodyPr>
            <a:normAutofit fontScale="90000"/>
          </a:bodyPr>
          <a:lstStyle/>
          <a:p>
            <a:r>
              <a:rPr lang="en-VN" dirty="0"/>
              <a:t>CHUYỂN ĐỔI HÀM TRUYỀN SANG KHÔNG GIAN TRẠNG THÁI</a:t>
            </a:r>
          </a:p>
        </p:txBody>
      </p:sp>
      <p:pic>
        <p:nvPicPr>
          <p:cNvPr id="5" name="Content Placeholder 4">
            <a:extLst>
              <a:ext uri="{FF2B5EF4-FFF2-40B4-BE49-F238E27FC236}">
                <a16:creationId xmlns:a16="http://schemas.microsoft.com/office/drawing/2014/main" id="{AE90B7AB-0DCF-E590-1A8A-9BAC929CD865}"/>
              </a:ext>
            </a:extLst>
          </p:cNvPr>
          <p:cNvPicPr>
            <a:picLocks noGrp="1" noChangeAspect="1"/>
          </p:cNvPicPr>
          <p:nvPr>
            <p:ph idx="1"/>
          </p:nvPr>
        </p:nvPicPr>
        <p:blipFill>
          <a:blip r:embed="rId2"/>
          <a:stretch>
            <a:fillRect/>
          </a:stretch>
        </p:blipFill>
        <p:spPr>
          <a:xfrm>
            <a:off x="3556000" y="1841500"/>
            <a:ext cx="5080000" cy="1130300"/>
          </a:xfrm>
        </p:spPr>
      </p:pic>
      <p:sp>
        <p:nvSpPr>
          <p:cNvPr id="6" name="TextBox 5">
            <a:extLst>
              <a:ext uri="{FF2B5EF4-FFF2-40B4-BE49-F238E27FC236}">
                <a16:creationId xmlns:a16="http://schemas.microsoft.com/office/drawing/2014/main" id="{C4D8A19C-D04D-664E-E7EF-7C8801B1BBAB}"/>
              </a:ext>
            </a:extLst>
          </p:cNvPr>
          <p:cNvSpPr txBox="1"/>
          <p:nvPr/>
        </p:nvSpPr>
        <p:spPr>
          <a:xfrm>
            <a:off x="2697480" y="1307598"/>
            <a:ext cx="9246870"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Biểu diễn hệ thống có hàm truyền sau trong không gian trạng thái?</a:t>
            </a:r>
          </a:p>
        </p:txBody>
      </p:sp>
      <p:pic>
        <p:nvPicPr>
          <p:cNvPr id="8" name="Picture 7">
            <a:extLst>
              <a:ext uri="{FF2B5EF4-FFF2-40B4-BE49-F238E27FC236}">
                <a16:creationId xmlns:a16="http://schemas.microsoft.com/office/drawing/2014/main" id="{29544E07-1CF8-11AF-41E4-DF8B7CD5317F}"/>
              </a:ext>
            </a:extLst>
          </p:cNvPr>
          <p:cNvPicPr>
            <a:picLocks noChangeAspect="1"/>
          </p:cNvPicPr>
          <p:nvPr/>
        </p:nvPicPr>
        <p:blipFill>
          <a:blip r:embed="rId3"/>
          <a:stretch>
            <a:fillRect/>
          </a:stretch>
        </p:blipFill>
        <p:spPr>
          <a:xfrm>
            <a:off x="2929890" y="3321050"/>
            <a:ext cx="6172200" cy="2616200"/>
          </a:xfrm>
          <a:prstGeom prst="rect">
            <a:avLst/>
          </a:prstGeom>
        </p:spPr>
      </p:pic>
    </p:spTree>
    <p:extLst>
      <p:ext uri="{BB962C8B-B14F-4D97-AF65-F5344CB8AC3E}">
        <p14:creationId xmlns:p14="http://schemas.microsoft.com/office/powerpoint/2010/main" val="234866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7F61-A442-C1C4-7160-78B45802CCC9}"/>
              </a:ext>
            </a:extLst>
          </p:cNvPr>
          <p:cNvSpPr>
            <a:spLocks noGrp="1"/>
          </p:cNvSpPr>
          <p:nvPr>
            <p:ph type="title"/>
          </p:nvPr>
        </p:nvSpPr>
        <p:spPr>
          <a:xfrm>
            <a:off x="1188689" y="198069"/>
            <a:ext cx="11007121" cy="674212"/>
          </a:xfrm>
        </p:spPr>
        <p:txBody>
          <a:bodyPr>
            <a:normAutofit fontScale="90000"/>
          </a:bodyPr>
          <a:lstStyle/>
          <a:p>
            <a:r>
              <a:rPr lang="en-VN" dirty="0"/>
              <a:t>CHUYỂN ĐỔI HÀM TRUYỀN SANG KHÔNG GIAN TRẠNG THÁI</a:t>
            </a:r>
          </a:p>
        </p:txBody>
      </p:sp>
      <p:pic>
        <p:nvPicPr>
          <p:cNvPr id="5" name="Content Placeholder 4">
            <a:extLst>
              <a:ext uri="{FF2B5EF4-FFF2-40B4-BE49-F238E27FC236}">
                <a16:creationId xmlns:a16="http://schemas.microsoft.com/office/drawing/2014/main" id="{9BE4E012-CBD4-D68A-463A-6B47FFE09628}"/>
              </a:ext>
            </a:extLst>
          </p:cNvPr>
          <p:cNvPicPr>
            <a:picLocks noGrp="1" noChangeAspect="1"/>
          </p:cNvPicPr>
          <p:nvPr>
            <p:ph idx="1"/>
          </p:nvPr>
        </p:nvPicPr>
        <p:blipFill>
          <a:blip r:embed="rId2"/>
          <a:stretch>
            <a:fillRect/>
          </a:stretch>
        </p:blipFill>
        <p:spPr>
          <a:xfrm>
            <a:off x="4025582" y="1374616"/>
            <a:ext cx="3746500" cy="1028700"/>
          </a:xfrm>
        </p:spPr>
      </p:pic>
      <p:pic>
        <p:nvPicPr>
          <p:cNvPr id="6" name="Picture 9" descr="j0134549[1]">
            <a:extLst>
              <a:ext uri="{FF2B5EF4-FFF2-40B4-BE49-F238E27FC236}">
                <a16:creationId xmlns:a16="http://schemas.microsoft.com/office/drawing/2014/main" id="{EF172AA1-945A-59FD-3445-E0F87A5FDA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481" y="1312703"/>
            <a:ext cx="5778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DBEFFB2C-5B7C-7644-8A29-107002747998}"/>
              </a:ext>
            </a:extLst>
          </p:cNvPr>
          <p:cNvPicPr>
            <a:picLocks noChangeAspect="1"/>
          </p:cNvPicPr>
          <p:nvPr/>
        </p:nvPicPr>
        <p:blipFill>
          <a:blip r:embed="rId4"/>
          <a:stretch>
            <a:fillRect/>
          </a:stretch>
        </p:blipFill>
        <p:spPr>
          <a:xfrm>
            <a:off x="2768600" y="3215640"/>
            <a:ext cx="6654800" cy="952500"/>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2320D91-CE73-0660-8DC9-28BCA487B98A}"/>
                  </a:ext>
                </a:extLst>
              </p:cNvPr>
              <p:cNvSpPr txBox="1"/>
              <p:nvPr/>
            </p:nvSpPr>
            <p:spPr>
              <a:xfrm>
                <a:off x="2768600" y="4331970"/>
                <a:ext cx="6654800" cy="92512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VN"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VN" dirty="0"/>
              </a:p>
            </p:txBody>
          </p:sp>
        </mc:Choice>
        <mc:Fallback>
          <p:sp>
            <p:nvSpPr>
              <p:cNvPr id="9" name="TextBox 8">
                <a:extLst>
                  <a:ext uri="{FF2B5EF4-FFF2-40B4-BE49-F238E27FC236}">
                    <a16:creationId xmlns:a16="http://schemas.microsoft.com/office/drawing/2014/main" id="{12320D91-CE73-0660-8DC9-28BCA487B98A}"/>
                  </a:ext>
                </a:extLst>
              </p:cNvPr>
              <p:cNvSpPr txBox="1">
                <a:spLocks noRot="1" noChangeAspect="1" noMove="1" noResize="1" noEditPoints="1" noAdjustHandles="1" noChangeArrowheads="1" noChangeShapeType="1" noTextEdit="1"/>
              </p:cNvSpPr>
              <p:nvPr/>
            </p:nvSpPr>
            <p:spPr>
              <a:xfrm>
                <a:off x="2768600" y="4331970"/>
                <a:ext cx="6654800" cy="925125"/>
              </a:xfrm>
              <a:prstGeom prst="rect">
                <a:avLst/>
              </a:prstGeom>
              <a:blipFill>
                <a:blip r:embed="rId5"/>
                <a:stretch>
                  <a:fillRect b="-4110"/>
                </a:stretch>
              </a:blipFill>
            </p:spPr>
            <p:txBody>
              <a:bodyPr/>
              <a:lstStyle/>
              <a:p>
                <a:r>
                  <a:rPr lang="en-VN">
                    <a:noFill/>
                  </a:rPr>
                  <a:t> </a:t>
                </a:r>
              </a:p>
            </p:txBody>
          </p:sp>
        </mc:Fallback>
      </mc:AlternateContent>
      <p:cxnSp>
        <p:nvCxnSpPr>
          <p:cNvPr id="11" name="Straight Arrow Connector 10">
            <a:extLst>
              <a:ext uri="{FF2B5EF4-FFF2-40B4-BE49-F238E27FC236}">
                <a16:creationId xmlns:a16="http://schemas.microsoft.com/office/drawing/2014/main" id="{007F78C0-5A22-C08C-8DAF-446C5CA23A68}"/>
              </a:ext>
            </a:extLst>
          </p:cNvPr>
          <p:cNvCxnSpPr/>
          <p:nvPr/>
        </p:nvCxnSpPr>
        <p:spPr>
          <a:xfrm>
            <a:off x="5749290" y="5229970"/>
            <a:ext cx="0" cy="32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8644E01-199D-C45D-C92F-09BAEFC07D19}"/>
              </a:ext>
            </a:extLst>
          </p:cNvPr>
          <p:cNvCxnSpPr>
            <a:cxnSpLocks/>
          </p:cNvCxnSpPr>
          <p:nvPr/>
        </p:nvCxnSpPr>
        <p:spPr>
          <a:xfrm>
            <a:off x="6913377" y="5229970"/>
            <a:ext cx="0" cy="32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B40DB10-F26F-6772-15AF-C068EFDE1687}"/>
              </a:ext>
            </a:extLst>
          </p:cNvPr>
          <p:cNvCxnSpPr>
            <a:cxnSpLocks/>
          </p:cNvCxnSpPr>
          <p:nvPr/>
        </p:nvCxnSpPr>
        <p:spPr>
          <a:xfrm>
            <a:off x="7624185" y="5229970"/>
            <a:ext cx="0" cy="32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3992FAD5-83BB-ECD9-3F04-047A021418CC}"/>
                  </a:ext>
                </a:extLst>
              </p:cNvPr>
              <p:cNvSpPr txBox="1"/>
              <p:nvPr/>
            </p:nvSpPr>
            <p:spPr>
              <a:xfrm>
                <a:off x="5606188" y="5550010"/>
                <a:ext cx="29264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VN" dirty="0"/>
              </a:p>
            </p:txBody>
          </p:sp>
        </mc:Choice>
        <mc:Fallback>
          <p:sp>
            <p:nvSpPr>
              <p:cNvPr id="15" name="TextBox 14">
                <a:extLst>
                  <a:ext uri="{FF2B5EF4-FFF2-40B4-BE49-F238E27FC236}">
                    <a16:creationId xmlns:a16="http://schemas.microsoft.com/office/drawing/2014/main" id="{3992FAD5-83BB-ECD9-3F04-047A021418CC}"/>
                  </a:ext>
                </a:extLst>
              </p:cNvPr>
              <p:cNvSpPr txBox="1">
                <a:spLocks noRot="1" noChangeAspect="1" noMove="1" noResize="1" noEditPoints="1" noAdjustHandles="1" noChangeArrowheads="1" noChangeShapeType="1" noTextEdit="1"/>
              </p:cNvSpPr>
              <p:nvPr/>
            </p:nvSpPr>
            <p:spPr>
              <a:xfrm>
                <a:off x="5606188" y="5550010"/>
                <a:ext cx="292644" cy="276999"/>
              </a:xfrm>
              <a:prstGeom prst="rect">
                <a:avLst/>
              </a:prstGeom>
              <a:blipFill>
                <a:blip r:embed="rId6"/>
                <a:stretch>
                  <a:fillRect l="-8333" r="-4167" b="-1304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F0D013C7-F4F3-99F8-C839-733DB4E23811}"/>
                  </a:ext>
                </a:extLst>
              </p:cNvPr>
              <p:cNvSpPr txBox="1"/>
              <p:nvPr/>
            </p:nvSpPr>
            <p:spPr>
              <a:xfrm>
                <a:off x="6829816" y="5550010"/>
                <a:ext cx="29264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VN" dirty="0"/>
              </a:p>
            </p:txBody>
          </p:sp>
        </mc:Choice>
        <mc:Fallback>
          <p:sp>
            <p:nvSpPr>
              <p:cNvPr id="16" name="TextBox 15">
                <a:extLst>
                  <a:ext uri="{FF2B5EF4-FFF2-40B4-BE49-F238E27FC236}">
                    <a16:creationId xmlns:a16="http://schemas.microsoft.com/office/drawing/2014/main" id="{F0D013C7-F4F3-99F8-C839-733DB4E23811}"/>
                  </a:ext>
                </a:extLst>
              </p:cNvPr>
              <p:cNvSpPr txBox="1">
                <a:spLocks noRot="1" noChangeAspect="1" noMove="1" noResize="1" noEditPoints="1" noAdjustHandles="1" noChangeArrowheads="1" noChangeShapeType="1" noTextEdit="1"/>
              </p:cNvSpPr>
              <p:nvPr/>
            </p:nvSpPr>
            <p:spPr>
              <a:xfrm>
                <a:off x="6829816" y="5550010"/>
                <a:ext cx="292644" cy="276999"/>
              </a:xfrm>
              <a:prstGeom prst="rect">
                <a:avLst/>
              </a:prstGeom>
              <a:blipFill>
                <a:blip r:embed="rId7"/>
                <a:stretch>
                  <a:fillRect l="-8333" r="-4167" b="-1304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283A2259-D91F-1083-D36D-9252491690EA}"/>
                  </a:ext>
                </a:extLst>
              </p:cNvPr>
              <p:cNvSpPr txBox="1"/>
              <p:nvPr/>
            </p:nvSpPr>
            <p:spPr>
              <a:xfrm>
                <a:off x="7482403" y="5550009"/>
                <a:ext cx="28732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VN" dirty="0"/>
              </a:p>
            </p:txBody>
          </p:sp>
        </mc:Choice>
        <mc:Fallback>
          <p:sp>
            <p:nvSpPr>
              <p:cNvPr id="17" name="TextBox 16">
                <a:extLst>
                  <a:ext uri="{FF2B5EF4-FFF2-40B4-BE49-F238E27FC236}">
                    <a16:creationId xmlns:a16="http://schemas.microsoft.com/office/drawing/2014/main" id="{283A2259-D91F-1083-D36D-9252491690EA}"/>
                  </a:ext>
                </a:extLst>
              </p:cNvPr>
              <p:cNvSpPr txBox="1">
                <a:spLocks noRot="1" noChangeAspect="1" noMove="1" noResize="1" noEditPoints="1" noAdjustHandles="1" noChangeArrowheads="1" noChangeShapeType="1" noTextEdit="1"/>
              </p:cNvSpPr>
              <p:nvPr/>
            </p:nvSpPr>
            <p:spPr>
              <a:xfrm>
                <a:off x="7482403" y="5550009"/>
                <a:ext cx="287323" cy="276999"/>
              </a:xfrm>
              <a:prstGeom prst="rect">
                <a:avLst/>
              </a:prstGeom>
              <a:blipFill>
                <a:blip r:embed="rId8"/>
                <a:stretch>
                  <a:fillRect l="-4167" r="-4167" b="-13043"/>
                </a:stretch>
              </a:blipFill>
            </p:spPr>
            <p:txBody>
              <a:bodyPr/>
              <a:lstStyle/>
              <a:p>
                <a:r>
                  <a:rPr lang="en-VN">
                    <a:noFill/>
                  </a:rPr>
                  <a:t> </a:t>
                </a:r>
              </a:p>
            </p:txBody>
          </p:sp>
        </mc:Fallback>
      </mc:AlternateContent>
    </p:spTree>
    <p:extLst>
      <p:ext uri="{BB962C8B-B14F-4D97-AF65-F5344CB8AC3E}">
        <p14:creationId xmlns:p14="http://schemas.microsoft.com/office/powerpoint/2010/main" val="311096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47FA9-7F38-B457-B941-FCE8738FBF7E}"/>
              </a:ext>
            </a:extLst>
          </p:cNvPr>
          <p:cNvSpPr>
            <a:spLocks noGrp="1"/>
          </p:cNvSpPr>
          <p:nvPr>
            <p:ph type="title"/>
          </p:nvPr>
        </p:nvSpPr>
        <p:spPr>
          <a:xfrm>
            <a:off x="1196086" y="198069"/>
            <a:ext cx="10960056" cy="674212"/>
          </a:xfrm>
        </p:spPr>
        <p:txBody>
          <a:bodyPr>
            <a:normAutofit fontScale="90000"/>
          </a:bodyPr>
          <a:lstStyle/>
          <a:p>
            <a:r>
              <a:rPr lang="en-VN" dirty="0"/>
              <a:t>CHUYỂN ĐỔI HÀM TRUYỀN SANG KHÔNG GIAN TRẠNG THÁI</a:t>
            </a:r>
          </a:p>
        </p:txBody>
      </p:sp>
      <p:pic>
        <p:nvPicPr>
          <p:cNvPr id="5" name="Picture 4">
            <a:extLst>
              <a:ext uri="{FF2B5EF4-FFF2-40B4-BE49-F238E27FC236}">
                <a16:creationId xmlns:a16="http://schemas.microsoft.com/office/drawing/2014/main" id="{4705A3B6-D99C-DD7C-C37B-EC61DB244978}"/>
              </a:ext>
            </a:extLst>
          </p:cNvPr>
          <p:cNvPicPr>
            <a:picLocks noChangeAspect="1"/>
          </p:cNvPicPr>
          <p:nvPr/>
        </p:nvPicPr>
        <p:blipFill>
          <a:blip r:embed="rId2"/>
          <a:stretch>
            <a:fillRect/>
          </a:stretch>
        </p:blipFill>
        <p:spPr>
          <a:xfrm>
            <a:off x="3844737" y="1382805"/>
            <a:ext cx="4502525" cy="1010771"/>
          </a:xfrm>
          <a:prstGeom prst="rect">
            <a:avLst/>
          </a:prstGeom>
        </p:spPr>
      </p:pic>
      <p:pic>
        <p:nvPicPr>
          <p:cNvPr id="7" name="Picture 6">
            <a:extLst>
              <a:ext uri="{FF2B5EF4-FFF2-40B4-BE49-F238E27FC236}">
                <a16:creationId xmlns:a16="http://schemas.microsoft.com/office/drawing/2014/main" id="{D983DDFD-F375-838D-6940-471E07DB8A74}"/>
              </a:ext>
            </a:extLst>
          </p:cNvPr>
          <p:cNvPicPr>
            <a:picLocks noChangeAspect="1"/>
          </p:cNvPicPr>
          <p:nvPr/>
        </p:nvPicPr>
        <p:blipFill>
          <a:blip r:embed="rId3"/>
          <a:stretch>
            <a:fillRect/>
          </a:stretch>
        </p:blipFill>
        <p:spPr>
          <a:xfrm>
            <a:off x="2743199" y="2658782"/>
            <a:ext cx="6705600" cy="1244600"/>
          </a:xfrm>
          <a:prstGeom prst="rect">
            <a:avLst/>
          </a:prstGeom>
        </p:spPr>
      </p:pic>
      <p:pic>
        <p:nvPicPr>
          <p:cNvPr id="9" name="Picture 8">
            <a:extLst>
              <a:ext uri="{FF2B5EF4-FFF2-40B4-BE49-F238E27FC236}">
                <a16:creationId xmlns:a16="http://schemas.microsoft.com/office/drawing/2014/main" id="{316D70C3-103B-B295-F9DF-9552825899E8}"/>
              </a:ext>
            </a:extLst>
          </p:cNvPr>
          <p:cNvPicPr>
            <a:picLocks noChangeAspect="1"/>
          </p:cNvPicPr>
          <p:nvPr/>
        </p:nvPicPr>
        <p:blipFill>
          <a:blip r:embed="rId4"/>
          <a:stretch>
            <a:fillRect/>
          </a:stretch>
        </p:blipFill>
        <p:spPr>
          <a:xfrm>
            <a:off x="679823" y="4560794"/>
            <a:ext cx="5332697" cy="1130300"/>
          </a:xfrm>
          <a:prstGeom prst="rect">
            <a:avLst/>
          </a:prstGeom>
        </p:spPr>
      </p:pic>
      <p:pic>
        <p:nvPicPr>
          <p:cNvPr id="11" name="Picture 10">
            <a:extLst>
              <a:ext uri="{FF2B5EF4-FFF2-40B4-BE49-F238E27FC236}">
                <a16:creationId xmlns:a16="http://schemas.microsoft.com/office/drawing/2014/main" id="{3D1FABEE-DF06-0A80-2993-3BD493CB5871}"/>
              </a:ext>
            </a:extLst>
          </p:cNvPr>
          <p:cNvPicPr>
            <a:picLocks noChangeAspect="1"/>
          </p:cNvPicPr>
          <p:nvPr/>
        </p:nvPicPr>
        <p:blipFill rotWithShape="1">
          <a:blip r:embed="rId5"/>
          <a:srcRect t="8739" b="5868"/>
          <a:stretch/>
        </p:blipFill>
        <p:spPr>
          <a:xfrm>
            <a:off x="6498131" y="4560793"/>
            <a:ext cx="5051188" cy="1129089"/>
          </a:xfrm>
          <a:prstGeom prst="rect">
            <a:avLst/>
          </a:prstGeom>
        </p:spPr>
      </p:pic>
    </p:spTree>
    <p:extLst>
      <p:ext uri="{BB962C8B-B14F-4D97-AF65-F5344CB8AC3E}">
        <p14:creationId xmlns:p14="http://schemas.microsoft.com/office/powerpoint/2010/main" val="4193707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2BB46-0F2B-9CC8-9442-FF7BA8EBF9A1}"/>
              </a:ext>
            </a:extLst>
          </p:cNvPr>
          <p:cNvSpPr>
            <a:spLocks noGrp="1"/>
          </p:cNvSpPr>
          <p:nvPr>
            <p:ph type="title"/>
          </p:nvPr>
        </p:nvSpPr>
        <p:spPr>
          <a:xfrm>
            <a:off x="467901" y="198069"/>
            <a:ext cx="11737948" cy="674212"/>
          </a:xfrm>
        </p:spPr>
        <p:txBody>
          <a:bodyPr>
            <a:normAutofit fontScale="90000"/>
          </a:bodyPr>
          <a:lstStyle/>
          <a:p>
            <a:r>
              <a:rPr lang="en-VN" dirty="0"/>
              <a:t>CHUYỂN ĐỔI TỪ KHÔNG GIAN TRẠNG THÁI SANG HÀM TRUYỀN</a:t>
            </a:r>
          </a:p>
        </p:txBody>
      </p:sp>
      <p:pic>
        <p:nvPicPr>
          <p:cNvPr id="5" name="Content Placeholder 4">
            <a:extLst>
              <a:ext uri="{FF2B5EF4-FFF2-40B4-BE49-F238E27FC236}">
                <a16:creationId xmlns:a16="http://schemas.microsoft.com/office/drawing/2014/main" id="{C12C4CCF-DF42-78B7-BB70-89DD2C385A2F}"/>
              </a:ext>
            </a:extLst>
          </p:cNvPr>
          <p:cNvPicPr>
            <a:picLocks noGrp="1" noChangeAspect="1"/>
          </p:cNvPicPr>
          <p:nvPr>
            <p:ph idx="1"/>
          </p:nvPr>
        </p:nvPicPr>
        <p:blipFill>
          <a:blip r:embed="rId2"/>
          <a:stretch>
            <a:fillRect/>
          </a:stretch>
        </p:blipFill>
        <p:spPr>
          <a:xfrm>
            <a:off x="2046432" y="2009270"/>
            <a:ext cx="1892300" cy="939800"/>
          </a:xfrm>
        </p:spPr>
      </p:pic>
      <p:sp>
        <p:nvSpPr>
          <p:cNvPr id="6" name="TextBox 5">
            <a:extLst>
              <a:ext uri="{FF2B5EF4-FFF2-40B4-BE49-F238E27FC236}">
                <a16:creationId xmlns:a16="http://schemas.microsoft.com/office/drawing/2014/main" id="{9EB1BA48-A3FD-14FD-9732-2C9A1DBD3CCA}"/>
              </a:ext>
            </a:extLst>
          </p:cNvPr>
          <p:cNvSpPr txBox="1"/>
          <p:nvPr/>
        </p:nvSpPr>
        <p:spPr>
          <a:xfrm>
            <a:off x="1330036" y="1440873"/>
            <a:ext cx="9047019"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Mô hình hệ thống trong không gian trạng thái:</a:t>
            </a:r>
          </a:p>
        </p:txBody>
      </p:sp>
      <p:sp>
        <p:nvSpPr>
          <p:cNvPr id="7" name="TextBox 6">
            <a:extLst>
              <a:ext uri="{FF2B5EF4-FFF2-40B4-BE49-F238E27FC236}">
                <a16:creationId xmlns:a16="http://schemas.microsoft.com/office/drawing/2014/main" id="{CDD5F606-B62A-535E-178A-B4FFBFF601F2}"/>
              </a:ext>
            </a:extLst>
          </p:cNvPr>
          <p:cNvSpPr txBox="1"/>
          <p:nvPr/>
        </p:nvSpPr>
        <p:spPr>
          <a:xfrm>
            <a:off x="4071216" y="2579738"/>
            <a:ext cx="1892300" cy="369332"/>
          </a:xfrm>
          <a:prstGeom prst="rect">
            <a:avLst/>
          </a:prstGeom>
          <a:solidFill>
            <a:schemeClr val="accent2">
              <a:lumMod val="20000"/>
              <a:lumOff val="80000"/>
            </a:schemeClr>
          </a:solidFill>
        </p:spPr>
        <p:txBody>
          <a:bodyPr wrap="square" rtlCol="0">
            <a:spAutoFit/>
          </a:bodyPr>
          <a:lstStyle/>
          <a:p>
            <a:pPr algn="ctr"/>
            <a:r>
              <a:rPr lang="en-VN" i="1" dirty="0"/>
              <a:t>Biến đổi Laplace</a:t>
            </a:r>
          </a:p>
        </p:txBody>
      </p:sp>
      <p:cxnSp>
        <p:nvCxnSpPr>
          <p:cNvPr id="8" name="Straight Arrow Connector 7">
            <a:extLst>
              <a:ext uri="{FF2B5EF4-FFF2-40B4-BE49-F238E27FC236}">
                <a16:creationId xmlns:a16="http://schemas.microsoft.com/office/drawing/2014/main" id="{8A9388C6-8152-3569-AA28-0017B11ABFD9}"/>
              </a:ext>
            </a:extLst>
          </p:cNvPr>
          <p:cNvCxnSpPr>
            <a:cxnSpLocks/>
          </p:cNvCxnSpPr>
          <p:nvPr/>
        </p:nvCxnSpPr>
        <p:spPr>
          <a:xfrm>
            <a:off x="4114800" y="2507614"/>
            <a:ext cx="18565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3503298-D5F1-FCEF-0A2D-869B9CA308DE}"/>
              </a:ext>
            </a:extLst>
          </p:cNvPr>
          <p:cNvPicPr>
            <a:picLocks noChangeAspect="1"/>
          </p:cNvPicPr>
          <p:nvPr/>
        </p:nvPicPr>
        <p:blipFill>
          <a:blip r:embed="rId3"/>
          <a:stretch>
            <a:fillRect/>
          </a:stretch>
        </p:blipFill>
        <p:spPr>
          <a:xfrm>
            <a:off x="6096000" y="2034670"/>
            <a:ext cx="2882900" cy="889000"/>
          </a:xfrm>
          <a:prstGeom prst="rect">
            <a:avLst/>
          </a:prstGeom>
        </p:spPr>
      </p:pic>
      <p:pic>
        <p:nvPicPr>
          <p:cNvPr id="17" name="Picture 16">
            <a:extLst>
              <a:ext uri="{FF2B5EF4-FFF2-40B4-BE49-F238E27FC236}">
                <a16:creationId xmlns:a16="http://schemas.microsoft.com/office/drawing/2014/main" id="{7AC81C34-F2CB-4C22-21FD-4E3D594B9EB6}"/>
              </a:ext>
            </a:extLst>
          </p:cNvPr>
          <p:cNvPicPr>
            <a:picLocks noChangeAspect="1"/>
          </p:cNvPicPr>
          <p:nvPr/>
        </p:nvPicPr>
        <p:blipFill>
          <a:blip r:embed="rId4"/>
          <a:stretch>
            <a:fillRect/>
          </a:stretch>
        </p:blipFill>
        <p:spPr>
          <a:xfrm>
            <a:off x="6248400" y="3680331"/>
            <a:ext cx="2578100" cy="508000"/>
          </a:xfrm>
          <a:prstGeom prst="rect">
            <a:avLst/>
          </a:prstGeom>
        </p:spPr>
      </p:pic>
      <p:pic>
        <p:nvPicPr>
          <p:cNvPr id="19" name="Picture 18">
            <a:extLst>
              <a:ext uri="{FF2B5EF4-FFF2-40B4-BE49-F238E27FC236}">
                <a16:creationId xmlns:a16="http://schemas.microsoft.com/office/drawing/2014/main" id="{28CBBBDD-137A-01DA-3F08-4F926E0D9D3D}"/>
              </a:ext>
            </a:extLst>
          </p:cNvPr>
          <p:cNvPicPr>
            <a:picLocks noChangeAspect="1"/>
          </p:cNvPicPr>
          <p:nvPr/>
        </p:nvPicPr>
        <p:blipFill>
          <a:blip r:embed="rId5"/>
          <a:stretch>
            <a:fillRect/>
          </a:stretch>
        </p:blipFill>
        <p:spPr>
          <a:xfrm>
            <a:off x="3822123" y="4400096"/>
            <a:ext cx="7124700" cy="647700"/>
          </a:xfrm>
          <a:prstGeom prst="rect">
            <a:avLst/>
          </a:prstGeom>
        </p:spPr>
      </p:pic>
      <p:cxnSp>
        <p:nvCxnSpPr>
          <p:cNvPr id="20" name="Straight Arrow Connector 19">
            <a:extLst>
              <a:ext uri="{FF2B5EF4-FFF2-40B4-BE49-F238E27FC236}">
                <a16:creationId xmlns:a16="http://schemas.microsoft.com/office/drawing/2014/main" id="{CFE232B6-AC2A-14FF-98FB-D98F3E47A30B}"/>
              </a:ext>
            </a:extLst>
          </p:cNvPr>
          <p:cNvCxnSpPr>
            <a:cxnSpLocks/>
          </p:cNvCxnSpPr>
          <p:nvPr/>
        </p:nvCxnSpPr>
        <p:spPr>
          <a:xfrm>
            <a:off x="7551882" y="2949070"/>
            <a:ext cx="0" cy="731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9BCD1F40-E06E-24B4-D7CC-2ED130DB8F13}"/>
              </a:ext>
            </a:extLst>
          </p:cNvPr>
          <p:cNvPicPr>
            <a:picLocks noChangeAspect="1"/>
          </p:cNvPicPr>
          <p:nvPr/>
        </p:nvPicPr>
        <p:blipFill>
          <a:blip r:embed="rId6"/>
          <a:stretch>
            <a:fillRect/>
          </a:stretch>
        </p:blipFill>
        <p:spPr>
          <a:xfrm>
            <a:off x="5494482" y="5441385"/>
            <a:ext cx="4114800" cy="927100"/>
          </a:xfrm>
          <a:prstGeom prst="rect">
            <a:avLst/>
          </a:prstGeom>
        </p:spPr>
      </p:pic>
      <p:sp>
        <p:nvSpPr>
          <p:cNvPr id="24" name="Right Arrow 23">
            <a:extLst>
              <a:ext uri="{FF2B5EF4-FFF2-40B4-BE49-F238E27FC236}">
                <a16:creationId xmlns:a16="http://schemas.microsoft.com/office/drawing/2014/main" id="{D4E132A2-AD9A-359A-82AA-1B9540751F8A}"/>
              </a:ext>
            </a:extLst>
          </p:cNvPr>
          <p:cNvSpPr/>
          <p:nvPr/>
        </p:nvSpPr>
        <p:spPr>
          <a:xfrm>
            <a:off x="4386985" y="5755436"/>
            <a:ext cx="623454" cy="2989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72602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blinds(horizontal)">
                                      <p:cBhvr>
                                        <p:cTn id="18" dur="500"/>
                                        <p:tgtEl>
                                          <p:spTgt spid="20"/>
                                        </p:tgtEl>
                                      </p:cBhvr>
                                    </p:animEffect>
                                  </p:childTnLst>
                                </p:cTn>
                              </p:par>
                              <p:par>
                                <p:cTn id="19" presetID="3" presetClass="entr" presetSubtype="1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linds(horizontal)">
                                      <p:cBhvr>
                                        <p:cTn id="21" dur="500"/>
                                        <p:tgtEl>
                                          <p:spTgt spid="17"/>
                                        </p:tgtEl>
                                      </p:cBhvr>
                                    </p:animEffect>
                                  </p:childTnLst>
                                </p:cTn>
                              </p:par>
                              <p:par>
                                <p:cTn id="22" presetID="3" presetClass="entr" presetSubtype="1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linds(horizontal)">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3F5E6-92C8-A71D-F27C-4AABC0A92818}"/>
              </a:ext>
            </a:extLst>
          </p:cNvPr>
          <p:cNvSpPr>
            <a:spLocks noGrp="1"/>
          </p:cNvSpPr>
          <p:nvPr>
            <p:ph type="title"/>
          </p:nvPr>
        </p:nvSpPr>
        <p:spPr>
          <a:xfrm>
            <a:off x="540330" y="211924"/>
            <a:ext cx="11651672" cy="674212"/>
          </a:xfrm>
        </p:spPr>
        <p:txBody>
          <a:bodyPr>
            <a:normAutofit fontScale="90000"/>
          </a:bodyPr>
          <a:lstStyle/>
          <a:p>
            <a:r>
              <a:rPr lang="en-VN" dirty="0"/>
              <a:t>CHUYỂN ĐỔI TỪ KHÔNG GIAN TRẠNG THÁI SANG HÀM TRUYỀN</a:t>
            </a:r>
          </a:p>
        </p:txBody>
      </p:sp>
      <p:pic>
        <p:nvPicPr>
          <p:cNvPr id="5" name="Content Placeholder 4">
            <a:extLst>
              <a:ext uri="{FF2B5EF4-FFF2-40B4-BE49-F238E27FC236}">
                <a16:creationId xmlns:a16="http://schemas.microsoft.com/office/drawing/2014/main" id="{D5B8FC24-9259-E60D-3A4E-DB5733FF62F1}"/>
              </a:ext>
            </a:extLst>
          </p:cNvPr>
          <p:cNvPicPr>
            <a:picLocks noGrp="1" noChangeAspect="1"/>
          </p:cNvPicPr>
          <p:nvPr>
            <p:ph idx="1"/>
          </p:nvPr>
        </p:nvPicPr>
        <p:blipFill>
          <a:blip r:embed="rId3"/>
          <a:stretch>
            <a:fillRect/>
          </a:stretch>
        </p:blipFill>
        <p:spPr>
          <a:xfrm>
            <a:off x="4123120" y="1979830"/>
            <a:ext cx="3945760" cy="1449170"/>
          </a:xfr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3DA524C-2586-F512-9C12-9C711F5D6D49}"/>
                  </a:ext>
                </a:extLst>
              </p:cNvPr>
              <p:cNvSpPr txBox="1"/>
              <p:nvPr/>
            </p:nvSpPr>
            <p:spPr>
              <a:xfrm>
                <a:off x="2036619" y="1296808"/>
                <a:ext cx="9628908"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Tìm hàm truyền của hệ thống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VN" dirty="0">
                    <a:latin typeface="Arial" panose="020B0604020202020204" pitchFamily="34" charset="0"/>
                    <a:cs typeface="Arial" panose="020B0604020202020204" pitchFamily="34" charset="0"/>
                  </a:rPr>
                  <a:t>, trong đó </a:t>
                </a:r>
                <a14:m>
                  <m:oMath xmlns:m="http://schemas.openxmlformats.org/officeDocument/2006/math">
                    <m:r>
                      <a:rPr lang="en-US" i="1">
                        <a:latin typeface="Cambria Math" panose="02040503050406030204" pitchFamily="18" charset="0"/>
                      </a:rPr>
                      <m:t>𝑈</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r>
                  <a:rPr lang="en-VN" dirty="0">
                    <a:latin typeface="Arial" panose="020B0604020202020204" pitchFamily="34" charset="0"/>
                    <a:cs typeface="Arial" panose="020B0604020202020204" pitchFamily="34" charset="0"/>
                  </a:rPr>
                  <a:t> là lối vào, </a:t>
                </a:r>
                <a14:m>
                  <m:oMath xmlns:m="http://schemas.openxmlformats.org/officeDocument/2006/math">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VN" dirty="0">
                    <a:latin typeface="Arial" panose="020B0604020202020204" pitchFamily="34" charset="0"/>
                    <a:cs typeface="Arial" panose="020B0604020202020204" pitchFamily="34" charset="0"/>
                  </a:rPr>
                  <a:t> là lối ra </a:t>
                </a:r>
              </a:p>
            </p:txBody>
          </p:sp>
        </mc:Choice>
        <mc:Fallback>
          <p:sp>
            <p:nvSpPr>
              <p:cNvPr id="6" name="TextBox 5">
                <a:extLst>
                  <a:ext uri="{FF2B5EF4-FFF2-40B4-BE49-F238E27FC236}">
                    <a16:creationId xmlns:a16="http://schemas.microsoft.com/office/drawing/2014/main" id="{93DA524C-2586-F512-9C12-9C711F5D6D49}"/>
                  </a:ext>
                </a:extLst>
              </p:cNvPr>
              <p:cNvSpPr txBox="1">
                <a:spLocks noRot="1" noChangeAspect="1" noMove="1" noResize="1" noEditPoints="1" noAdjustHandles="1" noChangeArrowheads="1" noChangeShapeType="1" noTextEdit="1"/>
              </p:cNvSpPr>
              <p:nvPr/>
            </p:nvSpPr>
            <p:spPr>
              <a:xfrm>
                <a:off x="2036619" y="1296808"/>
                <a:ext cx="9628908" cy="369332"/>
              </a:xfrm>
              <a:prstGeom prst="rect">
                <a:avLst/>
              </a:prstGeom>
              <a:blipFill>
                <a:blip r:embed="rId4"/>
                <a:stretch>
                  <a:fillRect l="-527" t="-10000" b="-23333"/>
                </a:stretch>
              </a:blipFill>
            </p:spPr>
            <p:txBody>
              <a:bodyPr/>
              <a:lstStyle/>
              <a:p>
                <a:r>
                  <a:rPr lang="en-VN">
                    <a:noFill/>
                  </a:rPr>
                  <a:t> </a:t>
                </a:r>
              </a:p>
            </p:txBody>
          </p:sp>
        </mc:Fallback>
      </mc:AlternateContent>
      <p:pic>
        <p:nvPicPr>
          <p:cNvPr id="8" name="Picture 7">
            <a:extLst>
              <a:ext uri="{FF2B5EF4-FFF2-40B4-BE49-F238E27FC236}">
                <a16:creationId xmlns:a16="http://schemas.microsoft.com/office/drawing/2014/main" id="{F39D9554-AD6D-2C86-7398-41FB7A70C679}"/>
              </a:ext>
            </a:extLst>
          </p:cNvPr>
          <p:cNvPicPr>
            <a:picLocks noChangeAspect="1"/>
          </p:cNvPicPr>
          <p:nvPr/>
        </p:nvPicPr>
        <p:blipFill>
          <a:blip r:embed="rId5"/>
          <a:stretch>
            <a:fillRect/>
          </a:stretch>
        </p:blipFill>
        <p:spPr>
          <a:xfrm>
            <a:off x="130920" y="3662340"/>
            <a:ext cx="6553200" cy="1016000"/>
          </a:xfrm>
          <a:prstGeom prst="rect">
            <a:avLst/>
          </a:prstGeom>
        </p:spPr>
      </p:pic>
      <p:pic>
        <p:nvPicPr>
          <p:cNvPr id="10" name="Picture 9">
            <a:extLst>
              <a:ext uri="{FF2B5EF4-FFF2-40B4-BE49-F238E27FC236}">
                <a16:creationId xmlns:a16="http://schemas.microsoft.com/office/drawing/2014/main" id="{4C7CC6E2-ECA9-AAF0-B4C0-4BDA1A2FF43A}"/>
              </a:ext>
            </a:extLst>
          </p:cNvPr>
          <p:cNvPicPr>
            <a:picLocks noChangeAspect="1"/>
          </p:cNvPicPr>
          <p:nvPr/>
        </p:nvPicPr>
        <p:blipFill>
          <a:blip r:embed="rId6"/>
          <a:stretch>
            <a:fillRect/>
          </a:stretch>
        </p:blipFill>
        <p:spPr>
          <a:xfrm>
            <a:off x="6096000" y="4918693"/>
            <a:ext cx="6032500" cy="1346200"/>
          </a:xfrm>
          <a:prstGeom prst="rect">
            <a:avLst/>
          </a:prstGeom>
        </p:spPr>
      </p:pic>
      <p:pic>
        <p:nvPicPr>
          <p:cNvPr id="12" name="Picture 11">
            <a:extLst>
              <a:ext uri="{FF2B5EF4-FFF2-40B4-BE49-F238E27FC236}">
                <a16:creationId xmlns:a16="http://schemas.microsoft.com/office/drawing/2014/main" id="{5C8AFEE2-054C-B9CA-0279-C9A73B78E9D5}"/>
              </a:ext>
            </a:extLst>
          </p:cNvPr>
          <p:cNvPicPr>
            <a:picLocks noChangeAspect="1"/>
          </p:cNvPicPr>
          <p:nvPr/>
        </p:nvPicPr>
        <p:blipFill>
          <a:blip r:embed="rId7"/>
          <a:stretch>
            <a:fillRect/>
          </a:stretch>
        </p:blipFill>
        <p:spPr>
          <a:xfrm>
            <a:off x="1517310" y="5255265"/>
            <a:ext cx="3443553" cy="1009628"/>
          </a:xfrm>
          <a:prstGeom prst="rect">
            <a:avLst/>
          </a:prstGeom>
        </p:spPr>
      </p:pic>
    </p:spTree>
    <p:extLst>
      <p:ext uri="{BB962C8B-B14F-4D97-AF65-F5344CB8AC3E}">
        <p14:creationId xmlns:p14="http://schemas.microsoft.com/office/powerpoint/2010/main" val="94226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par>
                                <p:cTn id="13" presetID="3" presetClass="entr" presetSubtype="1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ECDD-2A2E-FA31-41D9-ED2A3A1DB6CC}"/>
              </a:ext>
            </a:extLst>
          </p:cNvPr>
          <p:cNvSpPr>
            <a:spLocks noGrp="1"/>
          </p:cNvSpPr>
          <p:nvPr>
            <p:ph type="title"/>
          </p:nvPr>
        </p:nvSpPr>
        <p:spPr/>
        <p:txBody>
          <a:bodyPr/>
          <a:lstStyle/>
          <a:p>
            <a:r>
              <a:rPr lang="en-VN" dirty="0"/>
              <a:t>Bài tập</a:t>
            </a:r>
          </a:p>
        </p:txBody>
      </p:sp>
      <p:sp>
        <p:nvSpPr>
          <p:cNvPr id="3" name="Content Placeholder 2">
            <a:extLst>
              <a:ext uri="{FF2B5EF4-FFF2-40B4-BE49-F238E27FC236}">
                <a16:creationId xmlns:a16="http://schemas.microsoft.com/office/drawing/2014/main" id="{B31DDEA9-A6D7-2CD1-E5C2-03549B82E98E}"/>
              </a:ext>
            </a:extLst>
          </p:cNvPr>
          <p:cNvSpPr>
            <a:spLocks noGrp="1"/>
          </p:cNvSpPr>
          <p:nvPr>
            <p:ph idx="1"/>
          </p:nvPr>
        </p:nvSpPr>
        <p:spPr/>
        <p:txBody>
          <a:bodyPr/>
          <a:lstStyle/>
          <a:p>
            <a:endParaRPr lang="en-VN"/>
          </a:p>
        </p:txBody>
      </p:sp>
    </p:spTree>
    <p:extLst>
      <p:ext uri="{BB962C8B-B14F-4D97-AF65-F5344CB8AC3E}">
        <p14:creationId xmlns:p14="http://schemas.microsoft.com/office/powerpoint/2010/main" val="17535717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{DA89C2F4-FBD1-684E-A465-9AFB9D00BEE5}tf10001119</Template>
  <TotalTime>1813</TotalTime>
  <Words>1559</Words>
  <Application>Microsoft Macintosh PowerPoint</Application>
  <PresentationFormat>Widescreen</PresentationFormat>
  <Paragraphs>127</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AdvTTI</vt:lpstr>
      <vt:lpstr>Arial</vt:lpstr>
      <vt:lpstr>Calibri</vt:lpstr>
      <vt:lpstr>Cambria Math</vt:lpstr>
      <vt:lpstr>Gill Sans MT</vt:lpstr>
      <vt:lpstr>Gallery</vt:lpstr>
      <vt:lpstr>CHƯƠNG 3: MÔ HÌNH TRONG MIỀN THỜI GIAN</vt:lpstr>
      <vt:lpstr>Giới thiệu</vt:lpstr>
      <vt:lpstr>MÔ HÌNH KHÔNG GIAN TRẠNG THÁI HỆ THỐNG</vt:lpstr>
      <vt:lpstr>MÔ HÌNH KHÔNG GIAN TRẠNG THÁI HỆ THỐNG</vt:lpstr>
      <vt:lpstr>MÔ HÌNH KHÔNG GIAN TRẠNG THÁI HỆ THỐNG</vt:lpstr>
      <vt:lpstr>MÔ HÌNH KHÔNG GIAN TRẠNG THÁI HỆ THỐNG</vt:lpstr>
      <vt:lpstr>MÔ HÌNH KHÔNG GIAN TRẠNG THÁI HỆ THỐNG</vt:lpstr>
      <vt:lpstr>MÔ HÌNH KHÔNG GIAN TRẠNG THÁI HỆ THỐNG</vt:lpstr>
      <vt:lpstr>MÔ HÌNH KHÔNG GIAN TRẠNG THÁI HỆ THỐNG</vt:lpstr>
      <vt:lpstr>MÔ HÌNH KHÔNG GIAN TRẠNG THÁI HỆ THỐNG</vt:lpstr>
      <vt:lpstr>MÔ HÌNH KHÔNG GIAN TRẠNG THÁI HỆ THỐNG</vt:lpstr>
      <vt:lpstr>MÔ HÌNH KHÔNG GIAN TRẠNG THÁI HỆ THỐNG</vt:lpstr>
      <vt:lpstr>MÔ HÌNH KHÔNG GIAN TRẠNG THÁI HỆ THỐNG</vt:lpstr>
      <vt:lpstr>MÔ HÌNH KHÔNG GIAN TRẠNG THÁI HỆ THỐNG</vt:lpstr>
      <vt:lpstr>CHUYỂN ĐỔI HÀM TRUYỀN SANG KHÔNG GIAN TRẠNG THÁI</vt:lpstr>
      <vt:lpstr>CHUYỂN ĐỔI HÀM TRUYỀN SANG KHÔNG GIAN TRẠNG THÁI</vt:lpstr>
      <vt:lpstr>CHUYỂN ĐỔI HÀM TRUYỀN SANG KHÔNG GIAN TRẠNG THÁI</vt:lpstr>
      <vt:lpstr>CHUYỂN ĐỔI HÀM TRUYỀN SANG KHÔNG GIAN TRẠNG THÁI</vt:lpstr>
      <vt:lpstr>CHUYỂN ĐỔI HÀM TRUYỀN SANG KHÔNG GIAN TRẠNG THÁI</vt:lpstr>
      <vt:lpstr>CHUYỂN ĐỔI TỪ KHÔNG GIAN TRẠNG THÁI SANG HÀM TRUYỀN</vt:lpstr>
      <vt:lpstr>CHUYỂN ĐỔI TỪ KHÔNG GIAN TRẠNG THÁI SANG HÀM TRUYỀN</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MÔ HÌNH TRONG MIỀN TẦN SỐ</dc:title>
  <dc:creator>Nguyễn Thu Hằng</dc:creator>
  <cp:lastModifiedBy>Nguyễn Thu Hằng</cp:lastModifiedBy>
  <cp:revision>10</cp:revision>
  <dcterms:created xsi:type="dcterms:W3CDTF">2023-08-28T11:08:29Z</dcterms:created>
  <dcterms:modified xsi:type="dcterms:W3CDTF">2023-09-11T18:14:17Z</dcterms:modified>
</cp:coreProperties>
</file>