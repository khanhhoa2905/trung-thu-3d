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24"/>
  </p:notesMasterIdLst>
  <p:sldIdLst>
    <p:sldId id="256" r:id="rId2"/>
    <p:sldId id="274" r:id="rId3"/>
    <p:sldId id="275" r:id="rId4"/>
    <p:sldId id="276" r:id="rId5"/>
    <p:sldId id="277" r:id="rId6"/>
    <p:sldId id="278" r:id="rId7"/>
    <p:sldId id="279" r:id="rId8"/>
    <p:sldId id="280" r:id="rId9"/>
    <p:sldId id="281" r:id="rId10"/>
    <p:sldId id="282" r:id="rId11"/>
    <p:sldId id="283" r:id="rId12"/>
    <p:sldId id="284" r:id="rId13"/>
    <p:sldId id="285" r:id="rId14"/>
    <p:sldId id="287" r:id="rId15"/>
    <p:sldId id="288" r:id="rId16"/>
    <p:sldId id="286" r:id="rId17"/>
    <p:sldId id="289" r:id="rId18"/>
    <p:sldId id="290" r:id="rId19"/>
    <p:sldId id="291" r:id="rId20"/>
    <p:sldId id="292" r:id="rId21"/>
    <p:sldId id="293" r:id="rId22"/>
    <p:sldId id="27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106"/>
  </p:normalViewPr>
  <p:slideViewPr>
    <p:cSldViewPr snapToGrid="0">
      <p:cViewPr varScale="1">
        <p:scale>
          <a:sx n="116" d="100"/>
          <a:sy n="116" d="100"/>
        </p:scale>
        <p:origin x="224" y="192"/>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94BD01-BE95-4C45-8041-4857213F7C89}" type="datetimeFigureOut">
              <a:rPr lang="en-VN" smtClean="0"/>
              <a:t>10/10/2023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6CAC5-3B38-CA4B-BEE2-E48041197338}" type="slidenum">
              <a:rPr lang="en-VN" smtClean="0"/>
              <a:t>‹#›</a:t>
            </a:fld>
            <a:endParaRPr lang="en-VN"/>
          </a:p>
        </p:txBody>
      </p:sp>
    </p:spTree>
    <p:extLst>
      <p:ext uri="{BB962C8B-B14F-4D97-AF65-F5344CB8AC3E}">
        <p14:creationId xmlns:p14="http://schemas.microsoft.com/office/powerpoint/2010/main" val="1829158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94A6CAC5-3B38-CA4B-BEE2-E48041197338}" type="slidenum">
              <a:rPr lang="en-VN" smtClean="0"/>
              <a:t>18</a:t>
            </a:fld>
            <a:endParaRPr lang="en-VN"/>
          </a:p>
        </p:txBody>
      </p:sp>
    </p:spTree>
    <p:extLst>
      <p:ext uri="{BB962C8B-B14F-4D97-AF65-F5344CB8AC3E}">
        <p14:creationId xmlns:p14="http://schemas.microsoft.com/office/powerpoint/2010/main" val="2375404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10/10/2023</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AB7131A4-70E5-2C47-979D-CC0A508A1115}"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65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98069"/>
            <a:ext cx="9603275" cy="674212"/>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451579" y="1244014"/>
            <a:ext cx="9603275" cy="4444399"/>
          </a:xfrm>
        </p:spPr>
        <p:txBody>
          <a:bodyPr ancho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80060" y="479993"/>
            <a:ext cx="811019" cy="503578"/>
          </a:xfrm>
        </p:spPr>
        <p:txBody>
          <a:bodyPr/>
          <a:lstStyle>
            <a:lvl1pPr>
              <a:defRPr>
                <a:latin typeface="Arial" panose="020B0604020202020204" pitchFamily="34" charset="0"/>
                <a:cs typeface="Arial" panose="020B0604020202020204" pitchFamily="34" charset="0"/>
              </a:defRPr>
            </a:lvl1pPr>
          </a:lstStyle>
          <a:p>
            <a:fld id="{AB7131A4-70E5-2C47-979D-CC0A508A1115}" type="slidenum">
              <a:rPr lang="en-VN" smtClean="0"/>
              <a:pPr/>
              <a:t>‹#›</a:t>
            </a:fld>
            <a:endParaRPr lang="en-VN"/>
          </a:p>
        </p:txBody>
      </p:sp>
      <p:cxnSp>
        <p:nvCxnSpPr>
          <p:cNvPr id="33" name="Straight Connector 32"/>
          <p:cNvCxnSpPr/>
          <p:nvPr/>
        </p:nvCxnSpPr>
        <p:spPr>
          <a:xfrm>
            <a:off x="1447332" y="983571"/>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71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61E88-A186-394E-83B0-C95AB89BE3CE}" type="datetimeFigureOut">
              <a:rPr lang="en-VN" smtClean="0"/>
              <a:t>10/10/2023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45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F61E88-A186-394E-83B0-C95AB89BE3CE}" type="datetimeFigureOut">
              <a:rPr lang="en-VN" smtClean="0"/>
              <a:t>10/10/2023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319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F61E88-A186-394E-83B0-C95AB89BE3CE}" type="datetimeFigureOut">
              <a:rPr lang="en-VN" smtClean="0"/>
              <a:t>10/10/2023</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AB7131A4-70E5-2C47-979D-CC0A508A1115}"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07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F61E88-A186-394E-83B0-C95AB89BE3CE}" type="datetimeFigureOut">
              <a:rPr lang="en-VN" smtClean="0"/>
              <a:t>10/10/2023</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AB7131A4-70E5-2C47-979D-CC0A508A1115}"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69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1E88-A186-394E-83B0-C95AB89BE3CE}" type="datetimeFigureOut">
              <a:rPr lang="en-VN" smtClean="0"/>
              <a:t>10/10/2023</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AB7131A4-70E5-2C47-979D-CC0A508A1115}" type="slidenum">
              <a:rPr lang="en-VN" smtClean="0"/>
              <a:t>‹#›</a:t>
            </a:fld>
            <a:endParaRPr lang="en-VN"/>
          </a:p>
        </p:txBody>
      </p:sp>
    </p:spTree>
    <p:extLst>
      <p:ext uri="{BB962C8B-B14F-4D97-AF65-F5344CB8AC3E}">
        <p14:creationId xmlns:p14="http://schemas.microsoft.com/office/powerpoint/2010/main" val="352877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F61E88-A186-394E-83B0-C95AB89BE3CE}" type="datetimeFigureOut">
              <a:rPr lang="en-VN" smtClean="0"/>
              <a:t>10/10/2023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3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EF61E88-A186-394E-83B0-C95AB89BE3CE}" type="datetimeFigureOut">
              <a:rPr lang="en-VN" smtClean="0"/>
              <a:t>10/10/2023</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22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10/10/2023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0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10/10/2023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69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EF61E88-A186-394E-83B0-C95AB89BE3CE}" type="datetimeFigureOut">
              <a:rPr lang="en-VN" smtClean="0"/>
              <a:t>10/10/2023</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B7131A4-70E5-2C47-979D-CC0A508A1115}"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1593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oleObject" Target="../embeddings/oleObject7.bin"/><Relationship Id="rId18" Type="http://schemas.openxmlformats.org/officeDocument/2006/relationships/image" Target="../media/image22.emf"/><Relationship Id="rId3" Type="http://schemas.openxmlformats.org/officeDocument/2006/relationships/image" Target="../media/image16.emf"/><Relationship Id="rId7" Type="http://schemas.openxmlformats.org/officeDocument/2006/relationships/image" Target="../media/image18.emf"/><Relationship Id="rId12" Type="http://schemas.openxmlformats.org/officeDocument/2006/relationships/image" Target="../media/image21.png"/><Relationship Id="rId17" Type="http://schemas.openxmlformats.org/officeDocument/2006/relationships/oleObject" Target="../embeddings/oleObject8.bin"/><Relationship Id="rId2" Type="http://schemas.openxmlformats.org/officeDocument/2006/relationships/oleObject" Target="../embeddings/oleObject2.bin"/><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0.emf"/><Relationship Id="rId5" Type="http://schemas.openxmlformats.org/officeDocument/2006/relationships/image" Target="../media/image17.emf"/><Relationship Id="rId15" Type="http://schemas.openxmlformats.org/officeDocument/2006/relationships/image" Target="../media/image22.png"/><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9.emf"/><Relationship Id="rId14" Type="http://schemas.openxmlformats.org/officeDocument/2006/relationships/image" Target="../media/image21.emf"/></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51.emf"/><Relationship Id="rId13" Type="http://schemas.openxmlformats.org/officeDocument/2006/relationships/image" Target="../media/image54.e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oleObject" Target="../embeddings/oleObject14.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0.emf"/><Relationship Id="rId11" Type="http://schemas.openxmlformats.org/officeDocument/2006/relationships/image" Target="../media/image53.emf"/><Relationship Id="rId5" Type="http://schemas.openxmlformats.org/officeDocument/2006/relationships/oleObject" Target="../embeddings/oleObject11.bin"/><Relationship Id="rId10" Type="http://schemas.openxmlformats.org/officeDocument/2006/relationships/oleObject" Target="../embeddings/oleObject13.bin"/><Relationship Id="rId4" Type="http://schemas.openxmlformats.org/officeDocument/2006/relationships/image" Target="../media/image49.emf"/><Relationship Id="rId9"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3693-A035-3C4E-7F71-6028A05A4966}"/>
              </a:ext>
            </a:extLst>
          </p:cNvPr>
          <p:cNvSpPr>
            <a:spLocks noGrp="1"/>
          </p:cNvSpPr>
          <p:nvPr>
            <p:ph type="ctrTitle"/>
          </p:nvPr>
        </p:nvSpPr>
        <p:spPr>
          <a:xfrm>
            <a:off x="2417779" y="802298"/>
            <a:ext cx="9070028" cy="2541431"/>
          </a:xfrm>
        </p:spPr>
        <p:txBody>
          <a:bodyPr>
            <a:normAutofit/>
          </a:bodyPr>
          <a:lstStyle/>
          <a:p>
            <a:r>
              <a:rPr lang="en-VN" dirty="0">
                <a:latin typeface="Arial" panose="020B0604020202020204" pitchFamily="34" charset="0"/>
                <a:cs typeface="Arial" panose="020B0604020202020204" pitchFamily="34" charset="0"/>
              </a:rPr>
              <a:t>CHƯƠNG 6:TÍNH ỔN ĐỊNH CỦA HỆ THỐNG</a:t>
            </a:r>
          </a:p>
        </p:txBody>
      </p:sp>
      <p:sp>
        <p:nvSpPr>
          <p:cNvPr id="3" name="Subtitle 2">
            <a:extLst>
              <a:ext uri="{FF2B5EF4-FFF2-40B4-BE49-F238E27FC236}">
                <a16:creationId xmlns:a16="http://schemas.microsoft.com/office/drawing/2014/main" id="{AFEE02D5-7413-F104-1030-A7A1F479E957}"/>
              </a:ext>
            </a:extLst>
          </p:cNvPr>
          <p:cNvSpPr>
            <a:spLocks noGrp="1"/>
          </p:cNvSpPr>
          <p:nvPr>
            <p:ph type="subTitle" idx="1"/>
          </p:nvPr>
        </p:nvSpPr>
        <p:spPr/>
        <p:txBody>
          <a:bodyPr>
            <a:normAutofit/>
          </a:bodyPr>
          <a:lstStyle/>
          <a:p>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Stability</a:t>
            </a:r>
          </a:p>
        </p:txBody>
      </p:sp>
      <p:pic>
        <p:nvPicPr>
          <p:cNvPr id="1025" name="Picture 1" descr="page53image1145757968">
            <a:extLst>
              <a:ext uri="{FF2B5EF4-FFF2-40B4-BE49-F238E27FC236}">
                <a16:creationId xmlns:a16="http://schemas.microsoft.com/office/drawing/2014/main" id="{93647881-E3F9-0241-C1ED-5F534C819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19800" cy="4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96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994BF-904B-AB34-1E75-873365F338CC}"/>
              </a:ext>
            </a:extLst>
          </p:cNvPr>
          <p:cNvSpPr>
            <a:spLocks noGrp="1"/>
          </p:cNvSpPr>
          <p:nvPr>
            <p:ph type="title"/>
          </p:nvPr>
        </p:nvSpPr>
        <p:spPr/>
        <p:txBody>
          <a:bodyPr/>
          <a:lstStyle/>
          <a:p>
            <a:r>
              <a:rPr lang="en-VN" dirty="0"/>
              <a:t>GIỚI THIỆU</a:t>
            </a:r>
          </a:p>
        </p:txBody>
      </p:sp>
      <p:sp>
        <p:nvSpPr>
          <p:cNvPr id="3" name="Content Placeholder 2">
            <a:extLst>
              <a:ext uri="{FF2B5EF4-FFF2-40B4-BE49-F238E27FC236}">
                <a16:creationId xmlns:a16="http://schemas.microsoft.com/office/drawing/2014/main" id="{E8F4C75B-CFE7-56F6-D9BD-1BFD8F5D3E88}"/>
              </a:ext>
            </a:extLst>
          </p:cNvPr>
          <p:cNvSpPr>
            <a:spLocks noGrp="1"/>
          </p:cNvSpPr>
          <p:nvPr>
            <p:ph idx="1"/>
          </p:nvPr>
        </p:nvSpPr>
        <p:spPr/>
        <p:txBody>
          <a:bodyPr/>
          <a:lstStyle/>
          <a:p>
            <a:r>
              <a:rPr lang="en-VN" dirty="0"/>
              <a:t>Các đặc trưng quan trọng của một hệ thống điều khiển: Đáp ứng tức thời, Tính ổn định, Sai số ở trạng thái thường trực.</a:t>
            </a:r>
          </a:p>
          <a:p>
            <a:pPr marL="0" indent="0">
              <a:buNone/>
            </a:pPr>
            <a:endParaRPr lang="en-VN" dirty="0"/>
          </a:p>
          <a:p>
            <a:r>
              <a:rPr lang="en-VN" dirty="0"/>
              <a:t>Định nghĩa của hệ thống tuyến tính, bất biến (LTI) (theo đáp ứng tự nhiên):</a:t>
            </a:r>
          </a:p>
          <a:p>
            <a:pPr lvl="1"/>
            <a:r>
              <a:rPr lang="en-VN" dirty="0"/>
              <a:t>Hệ thống ổn định </a:t>
            </a:r>
            <a:r>
              <a:rPr lang="en-VN" i="1" dirty="0"/>
              <a:t>(stable) </a:t>
            </a:r>
            <a:r>
              <a:rPr lang="en-VN" dirty="0"/>
              <a:t>nếu đáp ứng tự nhiên của hệ thống tiến tới 0 khi thời gian tiến tới vô cùng.</a:t>
            </a:r>
          </a:p>
          <a:p>
            <a:pPr lvl="1"/>
            <a:r>
              <a:rPr lang="en-VN" dirty="0"/>
              <a:t>Hệ thống không ổn định </a:t>
            </a:r>
            <a:r>
              <a:rPr lang="en-VN" i="1" dirty="0"/>
              <a:t>(unstable) </a:t>
            </a:r>
            <a:r>
              <a:rPr lang="en-VN" dirty="0"/>
              <a:t>nếu đáp ứng tự nhiên của hệ thống tiến tới vô cùng khi thời gian tiến tới vô cùng.</a:t>
            </a:r>
          </a:p>
          <a:p>
            <a:pPr lvl="1"/>
            <a:r>
              <a:rPr lang="en-VN" dirty="0"/>
              <a:t>Hệ thống ổn định biên </a:t>
            </a:r>
            <a:r>
              <a:rPr lang="en-VN" i="1" dirty="0"/>
              <a:t>(maginally stable) </a:t>
            </a:r>
            <a:r>
              <a:rPr lang="en-VN" dirty="0"/>
              <a:t>nếu đáp ứng tự nhiên của hệ thống không tăng hay giảm mà giữ nguyên hoặc dao động theo thời gian.</a:t>
            </a:r>
          </a:p>
          <a:p>
            <a:pPr lvl="1"/>
            <a:endParaRPr lang="en-VN" dirty="0"/>
          </a:p>
        </p:txBody>
      </p:sp>
      <p:pic>
        <p:nvPicPr>
          <p:cNvPr id="5" name="Picture 4">
            <a:extLst>
              <a:ext uri="{FF2B5EF4-FFF2-40B4-BE49-F238E27FC236}">
                <a16:creationId xmlns:a16="http://schemas.microsoft.com/office/drawing/2014/main" id="{403933A7-1EBB-55D7-0E0D-9DE3DFB03B2A}"/>
              </a:ext>
            </a:extLst>
          </p:cNvPr>
          <p:cNvPicPr>
            <a:picLocks noChangeAspect="1"/>
          </p:cNvPicPr>
          <p:nvPr/>
        </p:nvPicPr>
        <p:blipFill>
          <a:blip r:embed="rId2"/>
          <a:stretch>
            <a:fillRect/>
          </a:stretch>
        </p:blipFill>
        <p:spPr>
          <a:xfrm>
            <a:off x="4653937" y="2043372"/>
            <a:ext cx="2884125" cy="547984"/>
          </a:xfrm>
          <a:prstGeom prst="rect">
            <a:avLst/>
          </a:prstGeom>
        </p:spPr>
      </p:pic>
    </p:spTree>
    <p:extLst>
      <p:ext uri="{BB962C8B-B14F-4D97-AF65-F5344CB8AC3E}">
        <p14:creationId xmlns:p14="http://schemas.microsoft.com/office/powerpoint/2010/main" val="4058122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59B31-D95B-1AC0-94DA-68B3391D7AB2}"/>
              </a:ext>
            </a:extLst>
          </p:cNvPr>
          <p:cNvSpPr>
            <a:spLocks noGrp="1"/>
          </p:cNvSpPr>
          <p:nvPr>
            <p:ph type="title"/>
          </p:nvPr>
        </p:nvSpPr>
        <p:spPr/>
        <p:txBody>
          <a:bodyPr/>
          <a:lstStyle/>
          <a:p>
            <a:r>
              <a:rPr lang="en-VN" dirty="0"/>
              <a:t>GIỚI THIỆU</a:t>
            </a:r>
          </a:p>
        </p:txBody>
      </p:sp>
      <p:sp>
        <p:nvSpPr>
          <p:cNvPr id="3" name="Content Placeholder 2">
            <a:extLst>
              <a:ext uri="{FF2B5EF4-FFF2-40B4-BE49-F238E27FC236}">
                <a16:creationId xmlns:a16="http://schemas.microsoft.com/office/drawing/2014/main" id="{0776C7D3-FCB9-E694-4BB1-569DB2171E15}"/>
              </a:ext>
            </a:extLst>
          </p:cNvPr>
          <p:cNvSpPr>
            <a:spLocks noGrp="1"/>
          </p:cNvSpPr>
          <p:nvPr>
            <p:ph idx="1"/>
          </p:nvPr>
        </p:nvSpPr>
        <p:spPr/>
        <p:txBody>
          <a:bodyPr/>
          <a:lstStyle/>
          <a:p>
            <a:r>
              <a:rPr lang="en-VN" dirty="0"/>
              <a:t>Định nghĩa ổn định của hệ thống tuyến tính, bất biến (theo đáp ứng tổng cộng):</a:t>
            </a:r>
          </a:p>
          <a:p>
            <a:pPr lvl="1"/>
            <a:r>
              <a:rPr lang="en-VN" dirty="0"/>
              <a:t>Hệ thống ổn định nếu tất cả các lối vào hệ thống bị chặn thì đáp ứng lối ra hệ thống cũng bị chặn (BIBO).</a:t>
            </a:r>
          </a:p>
          <a:p>
            <a:pPr lvl="1"/>
            <a:r>
              <a:rPr lang="en-VN" dirty="0"/>
              <a:t>Hệ thống không ổn định nếu có lối vào hệ thống bị chặn nhưng đáp ứng lối ra của hệ thống không bị chặn.</a:t>
            </a:r>
          </a:p>
        </p:txBody>
      </p:sp>
      <p:pic>
        <p:nvPicPr>
          <p:cNvPr id="5" name="Picture 4">
            <a:extLst>
              <a:ext uri="{FF2B5EF4-FFF2-40B4-BE49-F238E27FC236}">
                <a16:creationId xmlns:a16="http://schemas.microsoft.com/office/drawing/2014/main" id="{A07E84DE-1BE6-1845-43C6-1BC7E294913F}"/>
              </a:ext>
            </a:extLst>
          </p:cNvPr>
          <p:cNvPicPr>
            <a:picLocks noChangeAspect="1"/>
          </p:cNvPicPr>
          <p:nvPr/>
        </p:nvPicPr>
        <p:blipFill>
          <a:blip r:embed="rId2"/>
          <a:stretch>
            <a:fillRect/>
          </a:stretch>
        </p:blipFill>
        <p:spPr>
          <a:xfrm>
            <a:off x="758283" y="3311774"/>
            <a:ext cx="5061498" cy="2840095"/>
          </a:xfrm>
          <a:prstGeom prst="rect">
            <a:avLst/>
          </a:prstGeom>
        </p:spPr>
      </p:pic>
      <p:pic>
        <p:nvPicPr>
          <p:cNvPr id="7" name="Picture 6">
            <a:extLst>
              <a:ext uri="{FF2B5EF4-FFF2-40B4-BE49-F238E27FC236}">
                <a16:creationId xmlns:a16="http://schemas.microsoft.com/office/drawing/2014/main" id="{45043F80-152C-E72F-4B19-2F526C3E90B1}"/>
              </a:ext>
            </a:extLst>
          </p:cNvPr>
          <p:cNvPicPr>
            <a:picLocks noChangeAspect="1"/>
          </p:cNvPicPr>
          <p:nvPr/>
        </p:nvPicPr>
        <p:blipFill rotWithShape="1">
          <a:blip r:embed="rId3"/>
          <a:srcRect t="3376"/>
          <a:stretch/>
        </p:blipFill>
        <p:spPr>
          <a:xfrm>
            <a:off x="6875823" y="3311774"/>
            <a:ext cx="4935592" cy="2840095"/>
          </a:xfrm>
          <a:prstGeom prst="rect">
            <a:avLst/>
          </a:prstGeom>
        </p:spPr>
      </p:pic>
      <p:pic>
        <p:nvPicPr>
          <p:cNvPr id="4" name="Picture 3">
            <a:extLst>
              <a:ext uri="{FF2B5EF4-FFF2-40B4-BE49-F238E27FC236}">
                <a16:creationId xmlns:a16="http://schemas.microsoft.com/office/drawing/2014/main" id="{034BED3F-4F4C-8F89-AE64-F7DB75580B0A}"/>
              </a:ext>
            </a:extLst>
          </p:cNvPr>
          <p:cNvPicPr>
            <a:picLocks noChangeAspect="1"/>
          </p:cNvPicPr>
          <p:nvPr/>
        </p:nvPicPr>
        <p:blipFill>
          <a:blip r:embed="rId4"/>
          <a:stretch>
            <a:fillRect/>
          </a:stretch>
        </p:blipFill>
        <p:spPr>
          <a:xfrm>
            <a:off x="10546397" y="6311830"/>
            <a:ext cx="1645603" cy="546170"/>
          </a:xfrm>
          <a:prstGeom prst="rect">
            <a:avLst/>
          </a:prstGeom>
        </p:spPr>
      </p:pic>
    </p:spTree>
    <p:extLst>
      <p:ext uri="{BB962C8B-B14F-4D97-AF65-F5344CB8AC3E}">
        <p14:creationId xmlns:p14="http://schemas.microsoft.com/office/powerpoint/2010/main" val="2403440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4954D-EDF0-4E4E-FB46-259B3C51BDDD}"/>
              </a:ext>
            </a:extLst>
          </p:cNvPr>
          <p:cNvSpPr>
            <a:spLocks noGrp="1"/>
          </p:cNvSpPr>
          <p:nvPr>
            <p:ph type="title"/>
          </p:nvPr>
        </p:nvSpPr>
        <p:spPr/>
        <p:txBody>
          <a:bodyPr/>
          <a:lstStyle/>
          <a:p>
            <a:r>
              <a:rPr lang="en-VN" dirty="0"/>
              <a:t>GIỚI THIỆU</a:t>
            </a:r>
          </a:p>
        </p:txBody>
      </p:sp>
      <p:sp>
        <p:nvSpPr>
          <p:cNvPr id="4" name="Line 33">
            <a:extLst>
              <a:ext uri="{FF2B5EF4-FFF2-40B4-BE49-F238E27FC236}">
                <a16:creationId xmlns:a16="http://schemas.microsoft.com/office/drawing/2014/main" id="{2146B646-E02B-F050-6CB2-B7BB0176C6CA}"/>
              </a:ext>
            </a:extLst>
          </p:cNvPr>
          <p:cNvSpPr>
            <a:spLocks noChangeShapeType="1"/>
          </p:cNvSpPr>
          <p:nvPr/>
        </p:nvSpPr>
        <p:spPr bwMode="auto">
          <a:xfrm>
            <a:off x="1676400" y="3854605"/>
            <a:ext cx="3810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VN"/>
          </a:p>
        </p:txBody>
      </p:sp>
      <p:sp>
        <p:nvSpPr>
          <p:cNvPr id="5" name="Line 35">
            <a:extLst>
              <a:ext uri="{FF2B5EF4-FFF2-40B4-BE49-F238E27FC236}">
                <a16:creationId xmlns:a16="http://schemas.microsoft.com/office/drawing/2014/main" id="{698166AF-7151-4D4C-CC9F-5F459000E1DF}"/>
              </a:ext>
            </a:extLst>
          </p:cNvPr>
          <p:cNvSpPr>
            <a:spLocks noChangeShapeType="1"/>
          </p:cNvSpPr>
          <p:nvPr/>
        </p:nvSpPr>
        <p:spPr bwMode="auto">
          <a:xfrm flipV="1">
            <a:off x="3505200" y="2102005"/>
            <a:ext cx="0" cy="3352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VN"/>
          </a:p>
        </p:txBody>
      </p:sp>
      <p:sp>
        <p:nvSpPr>
          <p:cNvPr id="6" name="Text Box 36">
            <a:extLst>
              <a:ext uri="{FF2B5EF4-FFF2-40B4-BE49-F238E27FC236}">
                <a16:creationId xmlns:a16="http://schemas.microsoft.com/office/drawing/2014/main" id="{759F0FF7-8897-0FAB-897B-78BE07E3AB48}"/>
              </a:ext>
            </a:extLst>
          </p:cNvPr>
          <p:cNvSpPr txBox="1">
            <a:spLocks noChangeArrowheads="1"/>
          </p:cNvSpPr>
          <p:nvPr/>
        </p:nvSpPr>
        <p:spPr bwMode="auto">
          <a:xfrm>
            <a:off x="3251200" y="38292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t>0</a:t>
            </a:r>
          </a:p>
        </p:txBody>
      </p:sp>
      <p:sp>
        <p:nvSpPr>
          <p:cNvPr id="7" name="Rectangle 39">
            <a:extLst>
              <a:ext uri="{FF2B5EF4-FFF2-40B4-BE49-F238E27FC236}">
                <a16:creationId xmlns:a16="http://schemas.microsoft.com/office/drawing/2014/main" id="{7D80CBDC-9E07-4D45-8A3B-BE0E7D2999E2}"/>
              </a:ext>
            </a:extLst>
          </p:cNvPr>
          <p:cNvSpPr>
            <a:spLocks noChangeArrowheads="1"/>
          </p:cNvSpPr>
          <p:nvPr/>
        </p:nvSpPr>
        <p:spPr bwMode="auto">
          <a:xfrm>
            <a:off x="5410200" y="3686330"/>
            <a:ext cx="401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i="1">
                <a:sym typeface="Symbol" pitchFamily="2" charset="2"/>
              </a:rPr>
              <a:t></a:t>
            </a:r>
            <a:r>
              <a:rPr lang="en-US" altLang="en-US" sz="2000"/>
              <a:t> </a:t>
            </a:r>
          </a:p>
        </p:txBody>
      </p:sp>
      <p:graphicFrame>
        <p:nvGraphicFramePr>
          <p:cNvPr id="8" name="Object 41">
            <a:extLst>
              <a:ext uri="{FF2B5EF4-FFF2-40B4-BE49-F238E27FC236}">
                <a16:creationId xmlns:a16="http://schemas.microsoft.com/office/drawing/2014/main" id="{79A84E97-DB06-962D-8A0F-D1BA671DFE09}"/>
              </a:ext>
            </a:extLst>
          </p:cNvPr>
          <p:cNvGraphicFramePr>
            <a:graphicFrameLocks noChangeAspect="1"/>
          </p:cNvGraphicFramePr>
          <p:nvPr>
            <p:extLst>
              <p:ext uri="{D42A27DB-BD31-4B8C-83A1-F6EECF244321}">
                <p14:modId xmlns:p14="http://schemas.microsoft.com/office/powerpoint/2010/main" val="1545325159"/>
              </p:ext>
            </p:extLst>
          </p:nvPr>
        </p:nvGraphicFramePr>
        <p:xfrm>
          <a:off x="3505200" y="1905155"/>
          <a:ext cx="342900" cy="285750"/>
        </p:xfrm>
        <a:graphic>
          <a:graphicData uri="http://schemas.openxmlformats.org/presentationml/2006/ole">
            <mc:AlternateContent xmlns:mc="http://schemas.openxmlformats.org/markup-compatibility/2006">
              <mc:Choice xmlns:v="urn:schemas-microsoft-com:vml" Requires="v">
                <p:oleObj name="Equation" r:id="rId2" imgW="5270500" imgH="4394200" progId="Equation.DSMT4">
                  <p:embed/>
                </p:oleObj>
              </mc:Choice>
              <mc:Fallback>
                <p:oleObj name="Equation" r:id="rId2" imgW="5270500" imgH="4394200" progId="Equation.DSMT4">
                  <p:embed/>
                  <p:pic>
                    <p:nvPicPr>
                      <p:cNvPr id="10271" name="Object 41">
                        <a:extLst>
                          <a:ext uri="{FF2B5EF4-FFF2-40B4-BE49-F238E27FC236}">
                            <a16:creationId xmlns:a16="http://schemas.microsoft.com/office/drawing/2014/main" id="{ACE7EDB7-BFFC-22D6-93C1-04D2B09712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905155"/>
                        <a:ext cx="3429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42">
            <a:extLst>
              <a:ext uri="{FF2B5EF4-FFF2-40B4-BE49-F238E27FC236}">
                <a16:creationId xmlns:a16="http://schemas.microsoft.com/office/drawing/2014/main" id="{661D73E1-FE5B-2A0E-33D4-0F031FF3FB07}"/>
              </a:ext>
            </a:extLst>
          </p:cNvPr>
          <p:cNvSpPr txBox="1">
            <a:spLocks noChangeArrowheads="1"/>
          </p:cNvSpPr>
          <p:nvPr/>
        </p:nvSpPr>
        <p:spPr bwMode="auto">
          <a:xfrm>
            <a:off x="2438400" y="31688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tx2"/>
                </a:solidFill>
              </a:rPr>
              <a:t>o</a:t>
            </a:r>
          </a:p>
        </p:txBody>
      </p:sp>
      <p:sp>
        <p:nvSpPr>
          <p:cNvPr id="10" name="Text Box 43">
            <a:extLst>
              <a:ext uri="{FF2B5EF4-FFF2-40B4-BE49-F238E27FC236}">
                <a16:creationId xmlns:a16="http://schemas.microsoft.com/office/drawing/2014/main" id="{09BBCD83-D3E1-EACE-98BC-D7539933CB81}"/>
              </a:ext>
            </a:extLst>
          </p:cNvPr>
          <p:cNvSpPr txBox="1">
            <a:spLocks noChangeArrowheads="1"/>
          </p:cNvSpPr>
          <p:nvPr/>
        </p:nvSpPr>
        <p:spPr bwMode="auto">
          <a:xfrm>
            <a:off x="4267200" y="31688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tx2"/>
                </a:solidFill>
              </a:rPr>
              <a:t>o</a:t>
            </a:r>
          </a:p>
        </p:txBody>
      </p:sp>
      <p:sp>
        <p:nvSpPr>
          <p:cNvPr id="11" name="Text Box 44">
            <a:extLst>
              <a:ext uri="{FF2B5EF4-FFF2-40B4-BE49-F238E27FC236}">
                <a16:creationId xmlns:a16="http://schemas.microsoft.com/office/drawing/2014/main" id="{11597BF4-85B1-CB49-3C24-5EF35639CEF4}"/>
              </a:ext>
            </a:extLst>
          </p:cNvPr>
          <p:cNvSpPr txBox="1">
            <a:spLocks noChangeArrowheads="1"/>
          </p:cNvSpPr>
          <p:nvPr/>
        </p:nvSpPr>
        <p:spPr bwMode="auto">
          <a:xfrm>
            <a:off x="3327400" y="4799168"/>
            <a:ext cx="381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tx2"/>
                </a:solidFill>
              </a:rPr>
              <a:t>o</a:t>
            </a:r>
          </a:p>
        </p:txBody>
      </p:sp>
      <p:sp>
        <p:nvSpPr>
          <p:cNvPr id="12" name="Text Box 45">
            <a:extLst>
              <a:ext uri="{FF2B5EF4-FFF2-40B4-BE49-F238E27FC236}">
                <a16:creationId xmlns:a16="http://schemas.microsoft.com/office/drawing/2014/main" id="{86AEE582-D7E7-E503-52BD-3F5F228BA33E}"/>
              </a:ext>
            </a:extLst>
          </p:cNvPr>
          <p:cNvSpPr txBox="1">
            <a:spLocks noChangeArrowheads="1"/>
          </p:cNvSpPr>
          <p:nvPr/>
        </p:nvSpPr>
        <p:spPr bwMode="auto">
          <a:xfrm>
            <a:off x="3340100" y="25465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tx2"/>
                </a:solidFill>
              </a:rPr>
              <a:t>o</a:t>
            </a:r>
          </a:p>
        </p:txBody>
      </p:sp>
      <p:sp>
        <p:nvSpPr>
          <p:cNvPr id="13" name="Text Box 46">
            <a:extLst>
              <a:ext uri="{FF2B5EF4-FFF2-40B4-BE49-F238E27FC236}">
                <a16:creationId xmlns:a16="http://schemas.microsoft.com/office/drawing/2014/main" id="{9874BF8A-FD21-1E25-74EE-998DB9CC0C15}"/>
              </a:ext>
            </a:extLst>
          </p:cNvPr>
          <p:cNvSpPr txBox="1">
            <a:spLocks noChangeArrowheads="1"/>
          </p:cNvSpPr>
          <p:nvPr/>
        </p:nvSpPr>
        <p:spPr bwMode="auto">
          <a:xfrm>
            <a:off x="1981200" y="37022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hlink"/>
                </a:solidFill>
              </a:rPr>
              <a:t>x</a:t>
            </a:r>
          </a:p>
        </p:txBody>
      </p:sp>
      <p:sp>
        <p:nvSpPr>
          <p:cNvPr id="14" name="Text Box 47">
            <a:extLst>
              <a:ext uri="{FF2B5EF4-FFF2-40B4-BE49-F238E27FC236}">
                <a16:creationId xmlns:a16="http://schemas.microsoft.com/office/drawing/2014/main" id="{7B27BF77-0EB1-C971-B7A7-D9A3ABCE329F}"/>
              </a:ext>
            </a:extLst>
          </p:cNvPr>
          <p:cNvSpPr txBox="1">
            <a:spLocks noChangeArrowheads="1"/>
          </p:cNvSpPr>
          <p:nvPr/>
        </p:nvSpPr>
        <p:spPr bwMode="auto">
          <a:xfrm>
            <a:off x="4648200" y="37022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hlink"/>
                </a:solidFill>
              </a:rPr>
              <a:t>x</a:t>
            </a:r>
          </a:p>
        </p:txBody>
      </p:sp>
      <p:sp>
        <p:nvSpPr>
          <p:cNvPr id="15" name="Text Box 48">
            <a:extLst>
              <a:ext uri="{FF2B5EF4-FFF2-40B4-BE49-F238E27FC236}">
                <a16:creationId xmlns:a16="http://schemas.microsoft.com/office/drawing/2014/main" id="{1B2BED80-EA77-E289-CF63-9F7CD1AABD97}"/>
              </a:ext>
            </a:extLst>
          </p:cNvPr>
          <p:cNvSpPr txBox="1">
            <a:spLocks noChangeArrowheads="1"/>
          </p:cNvSpPr>
          <p:nvPr/>
        </p:nvSpPr>
        <p:spPr bwMode="auto">
          <a:xfrm>
            <a:off x="3327400" y="37149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hlink"/>
                </a:solidFill>
              </a:rPr>
              <a:t>x</a:t>
            </a:r>
          </a:p>
        </p:txBody>
      </p:sp>
      <p:sp>
        <p:nvSpPr>
          <p:cNvPr id="16" name="Text Box 49">
            <a:extLst>
              <a:ext uri="{FF2B5EF4-FFF2-40B4-BE49-F238E27FC236}">
                <a16:creationId xmlns:a16="http://schemas.microsoft.com/office/drawing/2014/main" id="{39368808-F509-C990-448B-7A5A7AA25751}"/>
              </a:ext>
            </a:extLst>
          </p:cNvPr>
          <p:cNvSpPr txBox="1">
            <a:spLocks noChangeArrowheads="1"/>
          </p:cNvSpPr>
          <p:nvPr/>
        </p:nvSpPr>
        <p:spPr bwMode="auto">
          <a:xfrm>
            <a:off x="2743200" y="42356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hlink"/>
                </a:solidFill>
              </a:rPr>
              <a:t>x</a:t>
            </a:r>
          </a:p>
        </p:txBody>
      </p:sp>
      <p:sp>
        <p:nvSpPr>
          <p:cNvPr id="17" name="Text Box 50">
            <a:extLst>
              <a:ext uri="{FF2B5EF4-FFF2-40B4-BE49-F238E27FC236}">
                <a16:creationId xmlns:a16="http://schemas.microsoft.com/office/drawing/2014/main" id="{38E87309-85CE-BED5-029C-2FFA5B4D55AC}"/>
              </a:ext>
            </a:extLst>
          </p:cNvPr>
          <p:cNvSpPr txBox="1">
            <a:spLocks noChangeArrowheads="1"/>
          </p:cNvSpPr>
          <p:nvPr/>
        </p:nvSpPr>
        <p:spPr bwMode="auto">
          <a:xfrm>
            <a:off x="2743200" y="3168805"/>
            <a:ext cx="38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200">
                <a:solidFill>
                  <a:schemeClr val="hlink"/>
                </a:solidFill>
              </a:rPr>
              <a:t>x</a:t>
            </a:r>
          </a:p>
        </p:txBody>
      </p:sp>
      <p:grpSp>
        <p:nvGrpSpPr>
          <p:cNvPr id="18" name="Group 71">
            <a:extLst>
              <a:ext uri="{FF2B5EF4-FFF2-40B4-BE49-F238E27FC236}">
                <a16:creationId xmlns:a16="http://schemas.microsoft.com/office/drawing/2014/main" id="{62F2611E-2C8F-CE5B-77A4-5AA711B8E9AC}"/>
              </a:ext>
            </a:extLst>
          </p:cNvPr>
          <p:cNvGrpSpPr>
            <a:grpSpLocks/>
          </p:cNvGrpSpPr>
          <p:nvPr/>
        </p:nvGrpSpPr>
        <p:grpSpPr bwMode="auto">
          <a:xfrm>
            <a:off x="762000" y="1721005"/>
            <a:ext cx="2667000" cy="3962400"/>
            <a:chOff x="1104" y="1632"/>
            <a:chExt cx="1680" cy="2496"/>
          </a:xfrm>
        </p:grpSpPr>
        <p:sp>
          <p:nvSpPr>
            <p:cNvPr id="19" name="Line 62">
              <a:extLst>
                <a:ext uri="{FF2B5EF4-FFF2-40B4-BE49-F238E27FC236}">
                  <a16:creationId xmlns:a16="http://schemas.microsoft.com/office/drawing/2014/main" id="{C95C96C8-86FC-7891-725B-D8885D097CE5}"/>
                </a:ext>
              </a:extLst>
            </p:cNvPr>
            <p:cNvSpPr>
              <a:spLocks noChangeShapeType="1"/>
            </p:cNvSpPr>
            <p:nvPr/>
          </p:nvSpPr>
          <p:spPr bwMode="auto">
            <a:xfrm flipH="1">
              <a:off x="1104" y="1872"/>
              <a:ext cx="1008" cy="1008"/>
            </a:xfrm>
            <a:prstGeom prst="line">
              <a:avLst/>
            </a:prstGeom>
            <a:noFill/>
            <a:ln w="19050">
              <a:solidFill>
                <a:srgbClr val="00B0F0"/>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20" name="Line 63">
              <a:extLst>
                <a:ext uri="{FF2B5EF4-FFF2-40B4-BE49-F238E27FC236}">
                  <a16:creationId xmlns:a16="http://schemas.microsoft.com/office/drawing/2014/main" id="{0911F717-6826-14F5-0E68-ECDFF3A9E50A}"/>
                </a:ext>
              </a:extLst>
            </p:cNvPr>
            <p:cNvSpPr>
              <a:spLocks noChangeShapeType="1"/>
            </p:cNvSpPr>
            <p:nvPr/>
          </p:nvSpPr>
          <p:spPr bwMode="auto">
            <a:xfrm flipH="1">
              <a:off x="1200" y="1920"/>
              <a:ext cx="1344" cy="1344"/>
            </a:xfrm>
            <a:prstGeom prst="line">
              <a:avLst/>
            </a:prstGeom>
            <a:noFill/>
            <a:ln w="19050">
              <a:solidFill>
                <a:srgbClr val="00B0F0"/>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21" name="Line 64">
              <a:extLst>
                <a:ext uri="{FF2B5EF4-FFF2-40B4-BE49-F238E27FC236}">
                  <a16:creationId xmlns:a16="http://schemas.microsoft.com/office/drawing/2014/main" id="{695427C0-A6EA-965F-BBDC-3043CA843C84}"/>
                </a:ext>
              </a:extLst>
            </p:cNvPr>
            <p:cNvSpPr>
              <a:spLocks noChangeShapeType="1"/>
            </p:cNvSpPr>
            <p:nvPr/>
          </p:nvSpPr>
          <p:spPr bwMode="auto">
            <a:xfrm flipH="1">
              <a:off x="1296" y="2160"/>
              <a:ext cx="1488" cy="1488"/>
            </a:xfrm>
            <a:prstGeom prst="line">
              <a:avLst/>
            </a:prstGeom>
            <a:noFill/>
            <a:ln w="19050">
              <a:solidFill>
                <a:srgbClr val="00B0F0"/>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22" name="Line 65">
              <a:extLst>
                <a:ext uri="{FF2B5EF4-FFF2-40B4-BE49-F238E27FC236}">
                  <a16:creationId xmlns:a16="http://schemas.microsoft.com/office/drawing/2014/main" id="{8DFDA0B1-9B3E-6B86-7B4C-3525A63F261D}"/>
                </a:ext>
              </a:extLst>
            </p:cNvPr>
            <p:cNvSpPr>
              <a:spLocks noChangeShapeType="1"/>
            </p:cNvSpPr>
            <p:nvPr/>
          </p:nvSpPr>
          <p:spPr bwMode="auto">
            <a:xfrm flipH="1">
              <a:off x="1536" y="2688"/>
              <a:ext cx="1248" cy="1200"/>
            </a:xfrm>
            <a:prstGeom prst="line">
              <a:avLst/>
            </a:prstGeom>
            <a:noFill/>
            <a:ln w="19050">
              <a:solidFill>
                <a:srgbClr val="00B0F0"/>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23" name="Line 66">
              <a:extLst>
                <a:ext uri="{FF2B5EF4-FFF2-40B4-BE49-F238E27FC236}">
                  <a16:creationId xmlns:a16="http://schemas.microsoft.com/office/drawing/2014/main" id="{86923022-FFF5-E046-1527-764D82D3A80D}"/>
                </a:ext>
              </a:extLst>
            </p:cNvPr>
            <p:cNvSpPr>
              <a:spLocks noChangeShapeType="1"/>
            </p:cNvSpPr>
            <p:nvPr/>
          </p:nvSpPr>
          <p:spPr bwMode="auto">
            <a:xfrm flipH="1">
              <a:off x="1728" y="3168"/>
              <a:ext cx="960" cy="960"/>
            </a:xfrm>
            <a:prstGeom prst="line">
              <a:avLst/>
            </a:prstGeom>
            <a:noFill/>
            <a:ln w="19050">
              <a:solidFill>
                <a:srgbClr val="00B0F0"/>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24" name="Line 67">
              <a:extLst>
                <a:ext uri="{FF2B5EF4-FFF2-40B4-BE49-F238E27FC236}">
                  <a16:creationId xmlns:a16="http://schemas.microsoft.com/office/drawing/2014/main" id="{90D073EE-7BB1-87C5-2E2D-700EB7773A90}"/>
                </a:ext>
              </a:extLst>
            </p:cNvPr>
            <p:cNvSpPr>
              <a:spLocks noChangeShapeType="1"/>
            </p:cNvSpPr>
            <p:nvPr/>
          </p:nvSpPr>
          <p:spPr bwMode="auto">
            <a:xfrm flipH="1">
              <a:off x="2160" y="3552"/>
              <a:ext cx="576" cy="528"/>
            </a:xfrm>
            <a:prstGeom prst="line">
              <a:avLst/>
            </a:prstGeom>
            <a:noFill/>
            <a:ln w="19050">
              <a:solidFill>
                <a:srgbClr val="00B0F0"/>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25" name="Text Box 68">
              <a:extLst>
                <a:ext uri="{FF2B5EF4-FFF2-40B4-BE49-F238E27FC236}">
                  <a16:creationId xmlns:a16="http://schemas.microsoft.com/office/drawing/2014/main" id="{81045BF5-DD01-F705-C4E4-F223FE526BFB}"/>
                </a:ext>
              </a:extLst>
            </p:cNvPr>
            <p:cNvSpPr txBox="1">
              <a:spLocks noChangeArrowheads="1"/>
            </p:cNvSpPr>
            <p:nvPr/>
          </p:nvSpPr>
          <p:spPr bwMode="auto">
            <a:xfrm>
              <a:off x="1344" y="1632"/>
              <a:ext cx="11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800">
                  <a:latin typeface="Times New Roman" panose="02020603050405020304" pitchFamily="18" charset="0"/>
                </a:rPr>
                <a:t>Vùng ổn định</a:t>
              </a:r>
            </a:p>
          </p:txBody>
        </p:sp>
      </p:grpSp>
      <p:grpSp>
        <p:nvGrpSpPr>
          <p:cNvPr id="26" name="Group 72">
            <a:extLst>
              <a:ext uri="{FF2B5EF4-FFF2-40B4-BE49-F238E27FC236}">
                <a16:creationId xmlns:a16="http://schemas.microsoft.com/office/drawing/2014/main" id="{3213C17E-DCCB-825C-C571-575689E4575A}"/>
              </a:ext>
            </a:extLst>
          </p:cNvPr>
          <p:cNvGrpSpPr>
            <a:grpSpLocks/>
          </p:cNvGrpSpPr>
          <p:nvPr/>
        </p:nvGrpSpPr>
        <p:grpSpPr bwMode="auto">
          <a:xfrm>
            <a:off x="2209800" y="1033618"/>
            <a:ext cx="2590800" cy="4802187"/>
            <a:chOff x="2016" y="1199"/>
            <a:chExt cx="1632" cy="3025"/>
          </a:xfrm>
        </p:grpSpPr>
        <p:sp>
          <p:nvSpPr>
            <p:cNvPr id="27" name="Line 69">
              <a:extLst>
                <a:ext uri="{FF2B5EF4-FFF2-40B4-BE49-F238E27FC236}">
                  <a16:creationId xmlns:a16="http://schemas.microsoft.com/office/drawing/2014/main" id="{AD754CBC-1AE4-7AA1-A35E-82FAB92EB80F}"/>
                </a:ext>
              </a:extLst>
            </p:cNvPr>
            <p:cNvSpPr>
              <a:spLocks noChangeShapeType="1"/>
            </p:cNvSpPr>
            <p:nvPr/>
          </p:nvSpPr>
          <p:spPr bwMode="auto">
            <a:xfrm>
              <a:off x="2832" y="1440"/>
              <a:ext cx="0" cy="2784"/>
            </a:xfrm>
            <a:prstGeom prst="line">
              <a:avLst/>
            </a:prstGeom>
            <a:noFill/>
            <a:ln w="57150">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28" name="Text Box 70">
              <a:extLst>
                <a:ext uri="{FF2B5EF4-FFF2-40B4-BE49-F238E27FC236}">
                  <a16:creationId xmlns:a16="http://schemas.microsoft.com/office/drawing/2014/main" id="{9375E11C-BE4D-3416-B516-89B8B80845F3}"/>
                </a:ext>
              </a:extLst>
            </p:cNvPr>
            <p:cNvSpPr txBox="1">
              <a:spLocks noChangeArrowheads="1"/>
            </p:cNvSpPr>
            <p:nvPr/>
          </p:nvSpPr>
          <p:spPr bwMode="auto">
            <a:xfrm>
              <a:off x="2016" y="1199"/>
              <a:ext cx="16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800" dirty="0" err="1">
                  <a:solidFill>
                    <a:schemeClr val="folHlink"/>
                  </a:solidFill>
                  <a:latin typeface="Times New Roman" panose="02020603050405020304" pitchFamily="18" charset="0"/>
                </a:rPr>
                <a:t>Biên</a:t>
              </a:r>
              <a:r>
                <a:rPr lang="en-US" altLang="en-US" sz="1800" dirty="0">
                  <a:solidFill>
                    <a:schemeClr val="folHlink"/>
                  </a:solidFill>
                  <a:latin typeface="Times New Roman" panose="02020603050405020304" pitchFamily="18" charset="0"/>
                </a:rPr>
                <a:t> </a:t>
              </a:r>
              <a:r>
                <a:rPr lang="en-US" altLang="en-US" sz="1800" dirty="0" err="1">
                  <a:solidFill>
                    <a:schemeClr val="folHlink"/>
                  </a:solidFill>
                  <a:latin typeface="Times New Roman" panose="02020603050405020304" pitchFamily="18" charset="0"/>
                </a:rPr>
                <a:t>giới</a:t>
              </a:r>
              <a:r>
                <a:rPr lang="en-US" altLang="en-US" sz="1800" dirty="0">
                  <a:solidFill>
                    <a:schemeClr val="folHlink"/>
                  </a:solidFill>
                  <a:latin typeface="Times New Roman" panose="02020603050405020304" pitchFamily="18" charset="0"/>
                </a:rPr>
                <a:t> </a:t>
              </a:r>
              <a:r>
                <a:rPr lang="en-US" altLang="en-US" sz="1800" dirty="0" err="1">
                  <a:solidFill>
                    <a:schemeClr val="folHlink"/>
                  </a:solidFill>
                  <a:latin typeface="Times New Roman" panose="02020603050405020304" pitchFamily="18" charset="0"/>
                </a:rPr>
                <a:t>ổn</a:t>
              </a:r>
              <a:r>
                <a:rPr lang="en-US" altLang="en-US" sz="1800" dirty="0">
                  <a:solidFill>
                    <a:schemeClr val="folHlink"/>
                  </a:solidFill>
                  <a:latin typeface="Times New Roman" panose="02020603050405020304" pitchFamily="18" charset="0"/>
                </a:rPr>
                <a:t> </a:t>
              </a:r>
              <a:r>
                <a:rPr lang="en-US" altLang="en-US" sz="1800" dirty="0" err="1">
                  <a:solidFill>
                    <a:schemeClr val="folHlink"/>
                  </a:solidFill>
                  <a:latin typeface="Times New Roman" panose="02020603050405020304" pitchFamily="18" charset="0"/>
                </a:rPr>
                <a:t>định</a:t>
              </a:r>
              <a:endParaRPr lang="en-US" altLang="en-US" sz="1800" dirty="0">
                <a:solidFill>
                  <a:schemeClr val="folHlink"/>
                </a:solidFill>
                <a:latin typeface="Times New Roman" panose="02020603050405020304" pitchFamily="18" charset="0"/>
              </a:endParaRPr>
            </a:p>
          </p:txBody>
        </p:sp>
      </p:grpSp>
      <p:grpSp>
        <p:nvGrpSpPr>
          <p:cNvPr id="29" name="Group 88">
            <a:extLst>
              <a:ext uri="{FF2B5EF4-FFF2-40B4-BE49-F238E27FC236}">
                <a16:creationId xmlns:a16="http://schemas.microsoft.com/office/drawing/2014/main" id="{2F98C9CC-35AC-E326-84C0-533B0C845B42}"/>
              </a:ext>
            </a:extLst>
          </p:cNvPr>
          <p:cNvGrpSpPr>
            <a:grpSpLocks/>
          </p:cNvGrpSpPr>
          <p:nvPr/>
        </p:nvGrpSpPr>
        <p:grpSpPr bwMode="auto">
          <a:xfrm>
            <a:off x="3657600" y="1721005"/>
            <a:ext cx="2438400" cy="3886200"/>
            <a:chOff x="2928" y="1632"/>
            <a:chExt cx="1536" cy="2448"/>
          </a:xfrm>
        </p:grpSpPr>
        <p:sp>
          <p:nvSpPr>
            <p:cNvPr id="30" name="Line 74">
              <a:extLst>
                <a:ext uri="{FF2B5EF4-FFF2-40B4-BE49-F238E27FC236}">
                  <a16:creationId xmlns:a16="http://schemas.microsoft.com/office/drawing/2014/main" id="{65E326CB-1EAA-C0C9-129D-2BFC0A134E09}"/>
                </a:ext>
              </a:extLst>
            </p:cNvPr>
            <p:cNvSpPr>
              <a:spLocks noChangeShapeType="1"/>
            </p:cNvSpPr>
            <p:nvPr/>
          </p:nvSpPr>
          <p:spPr bwMode="auto">
            <a:xfrm>
              <a:off x="2976" y="1632"/>
              <a:ext cx="0" cy="2448"/>
            </a:xfrm>
            <a:prstGeom prst="line">
              <a:avLst/>
            </a:prstGeom>
            <a:noFill/>
            <a:ln w="19050">
              <a:solidFill>
                <a:schemeClr val="accent1">
                  <a:lumMod val="60000"/>
                  <a:lumOff val="40000"/>
                </a:schemeClr>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31" name="Line 75">
              <a:extLst>
                <a:ext uri="{FF2B5EF4-FFF2-40B4-BE49-F238E27FC236}">
                  <a16:creationId xmlns:a16="http://schemas.microsoft.com/office/drawing/2014/main" id="{54DE3326-1231-5AF6-70EE-9EA47753CBE1}"/>
                </a:ext>
              </a:extLst>
            </p:cNvPr>
            <p:cNvSpPr>
              <a:spLocks noChangeShapeType="1"/>
            </p:cNvSpPr>
            <p:nvPr/>
          </p:nvSpPr>
          <p:spPr bwMode="auto">
            <a:xfrm>
              <a:off x="3168" y="1632"/>
              <a:ext cx="0" cy="2448"/>
            </a:xfrm>
            <a:prstGeom prst="line">
              <a:avLst/>
            </a:prstGeom>
            <a:noFill/>
            <a:ln w="19050">
              <a:solidFill>
                <a:schemeClr val="accent1">
                  <a:lumMod val="60000"/>
                  <a:lumOff val="40000"/>
                </a:schemeClr>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32" name="Line 76">
              <a:extLst>
                <a:ext uri="{FF2B5EF4-FFF2-40B4-BE49-F238E27FC236}">
                  <a16:creationId xmlns:a16="http://schemas.microsoft.com/office/drawing/2014/main" id="{9F3BB512-4A6C-B361-5C81-1CBB6917F9BC}"/>
                </a:ext>
              </a:extLst>
            </p:cNvPr>
            <p:cNvSpPr>
              <a:spLocks noChangeShapeType="1"/>
            </p:cNvSpPr>
            <p:nvPr/>
          </p:nvSpPr>
          <p:spPr bwMode="auto">
            <a:xfrm>
              <a:off x="3360" y="1632"/>
              <a:ext cx="0" cy="2448"/>
            </a:xfrm>
            <a:prstGeom prst="line">
              <a:avLst/>
            </a:prstGeom>
            <a:noFill/>
            <a:ln w="19050">
              <a:solidFill>
                <a:schemeClr val="accent1">
                  <a:lumMod val="60000"/>
                  <a:lumOff val="40000"/>
                </a:schemeClr>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33" name="Line 77">
              <a:extLst>
                <a:ext uri="{FF2B5EF4-FFF2-40B4-BE49-F238E27FC236}">
                  <a16:creationId xmlns:a16="http://schemas.microsoft.com/office/drawing/2014/main" id="{1A05EB43-6E88-E611-F0F9-BB33995F230F}"/>
                </a:ext>
              </a:extLst>
            </p:cNvPr>
            <p:cNvSpPr>
              <a:spLocks noChangeShapeType="1"/>
            </p:cNvSpPr>
            <p:nvPr/>
          </p:nvSpPr>
          <p:spPr bwMode="auto">
            <a:xfrm>
              <a:off x="3600" y="1632"/>
              <a:ext cx="0" cy="2448"/>
            </a:xfrm>
            <a:prstGeom prst="line">
              <a:avLst/>
            </a:prstGeom>
            <a:noFill/>
            <a:ln w="19050">
              <a:solidFill>
                <a:schemeClr val="accent1">
                  <a:lumMod val="60000"/>
                  <a:lumOff val="40000"/>
                </a:schemeClr>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34" name="Line 78">
              <a:extLst>
                <a:ext uri="{FF2B5EF4-FFF2-40B4-BE49-F238E27FC236}">
                  <a16:creationId xmlns:a16="http://schemas.microsoft.com/office/drawing/2014/main" id="{87216735-7188-DE28-BD80-69402C8776C5}"/>
                </a:ext>
              </a:extLst>
            </p:cNvPr>
            <p:cNvSpPr>
              <a:spLocks noChangeShapeType="1"/>
            </p:cNvSpPr>
            <p:nvPr/>
          </p:nvSpPr>
          <p:spPr bwMode="auto">
            <a:xfrm>
              <a:off x="3840" y="1632"/>
              <a:ext cx="0" cy="2448"/>
            </a:xfrm>
            <a:prstGeom prst="line">
              <a:avLst/>
            </a:prstGeom>
            <a:noFill/>
            <a:ln w="19050">
              <a:solidFill>
                <a:schemeClr val="accent1">
                  <a:lumMod val="60000"/>
                  <a:lumOff val="40000"/>
                </a:schemeClr>
              </a:solidFill>
              <a:miter lim="800000"/>
              <a:headEnd/>
              <a:tailEnd/>
            </a:ln>
            <a:extLst>
              <a:ext uri="{909E8E84-426E-40DD-AFC4-6F175D3DCCD1}">
                <a14:hiddenFill xmlns:a14="http://schemas.microsoft.com/office/drawing/2010/main">
                  <a:noFill/>
                </a14:hiddenFill>
              </a:ext>
            </a:extLst>
          </p:spPr>
          <p:txBody>
            <a:bodyPr wrap="none"/>
            <a:lstStyle/>
            <a:p>
              <a:endParaRPr lang="en-VN"/>
            </a:p>
          </p:txBody>
        </p:sp>
        <p:sp>
          <p:nvSpPr>
            <p:cNvPr id="35" name="Text Box 87">
              <a:extLst>
                <a:ext uri="{FF2B5EF4-FFF2-40B4-BE49-F238E27FC236}">
                  <a16:creationId xmlns:a16="http://schemas.microsoft.com/office/drawing/2014/main" id="{D46036EE-4BE6-9DB4-03DC-832D7EA569BB}"/>
                </a:ext>
              </a:extLst>
            </p:cNvPr>
            <p:cNvSpPr txBox="1">
              <a:spLocks noChangeArrowheads="1"/>
            </p:cNvSpPr>
            <p:nvPr/>
          </p:nvSpPr>
          <p:spPr bwMode="auto">
            <a:xfrm>
              <a:off x="2928" y="2208"/>
              <a:ext cx="15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800">
                  <a:solidFill>
                    <a:schemeClr val="hlink"/>
                  </a:solidFill>
                  <a:latin typeface="Times New Roman" panose="02020603050405020304" pitchFamily="18" charset="0"/>
                </a:rPr>
                <a:t>Vùng không ổn định</a:t>
              </a:r>
            </a:p>
          </p:txBody>
        </p:sp>
      </p:grpSp>
      <p:pic>
        <p:nvPicPr>
          <p:cNvPr id="37" name="Picture 36">
            <a:extLst>
              <a:ext uri="{FF2B5EF4-FFF2-40B4-BE49-F238E27FC236}">
                <a16:creationId xmlns:a16="http://schemas.microsoft.com/office/drawing/2014/main" id="{CEF490C7-1152-FE4E-F93C-BF9F393DAB23}"/>
              </a:ext>
            </a:extLst>
          </p:cNvPr>
          <p:cNvPicPr>
            <a:picLocks noChangeAspect="1"/>
          </p:cNvPicPr>
          <p:nvPr/>
        </p:nvPicPr>
        <p:blipFill rotWithShape="1">
          <a:blip r:embed="rId4"/>
          <a:srcRect l="25035" t="19608" r="24607" b="60184"/>
          <a:stretch/>
        </p:blipFill>
        <p:spPr>
          <a:xfrm>
            <a:off x="7018167" y="1336493"/>
            <a:ext cx="4094470" cy="1026907"/>
          </a:xfrm>
          <a:prstGeom prst="rect">
            <a:avLst/>
          </a:prstGeom>
        </p:spPr>
      </p:pic>
      <p:pic>
        <p:nvPicPr>
          <p:cNvPr id="38" name="Picture 37">
            <a:extLst>
              <a:ext uri="{FF2B5EF4-FFF2-40B4-BE49-F238E27FC236}">
                <a16:creationId xmlns:a16="http://schemas.microsoft.com/office/drawing/2014/main" id="{2315DAF2-2D18-4BDB-F980-06EBA105691F}"/>
              </a:ext>
            </a:extLst>
          </p:cNvPr>
          <p:cNvPicPr>
            <a:picLocks noChangeAspect="1"/>
          </p:cNvPicPr>
          <p:nvPr/>
        </p:nvPicPr>
        <p:blipFill rotWithShape="1">
          <a:blip r:embed="rId4"/>
          <a:srcRect l="27451" t="43759" r="26471" b="32549"/>
          <a:stretch/>
        </p:blipFill>
        <p:spPr>
          <a:xfrm>
            <a:off x="7070200" y="2597172"/>
            <a:ext cx="4014849" cy="1290227"/>
          </a:xfrm>
          <a:prstGeom prst="rect">
            <a:avLst/>
          </a:prstGeom>
        </p:spPr>
      </p:pic>
      <p:pic>
        <p:nvPicPr>
          <p:cNvPr id="39" name="Picture 38">
            <a:extLst>
              <a:ext uri="{FF2B5EF4-FFF2-40B4-BE49-F238E27FC236}">
                <a16:creationId xmlns:a16="http://schemas.microsoft.com/office/drawing/2014/main" id="{CBF220A6-BBE0-D3A4-FC06-7BD27A4A60F9}"/>
              </a:ext>
            </a:extLst>
          </p:cNvPr>
          <p:cNvPicPr>
            <a:picLocks noChangeAspect="1"/>
          </p:cNvPicPr>
          <p:nvPr/>
        </p:nvPicPr>
        <p:blipFill rotWithShape="1">
          <a:blip r:embed="rId4"/>
          <a:srcRect l="28431" t="71258" r="28524" b="7827"/>
          <a:stretch/>
        </p:blipFill>
        <p:spPr>
          <a:xfrm>
            <a:off x="7070201" y="4090601"/>
            <a:ext cx="4026340" cy="1222728"/>
          </a:xfrm>
          <a:prstGeom prst="rect">
            <a:avLst/>
          </a:prstGeom>
        </p:spPr>
      </p:pic>
    </p:spTree>
    <p:extLst>
      <p:ext uri="{BB962C8B-B14F-4D97-AF65-F5344CB8AC3E}">
        <p14:creationId xmlns:p14="http://schemas.microsoft.com/office/powerpoint/2010/main" val="12974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strips(downLeft)">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up)">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B745-EA02-5ED3-E311-1DC47F11AD62}"/>
              </a:ext>
            </a:extLst>
          </p:cNvPr>
          <p:cNvSpPr>
            <a:spLocks noGrp="1"/>
          </p:cNvSpPr>
          <p:nvPr>
            <p:ph type="title"/>
          </p:nvPr>
        </p:nvSpPr>
        <p:spPr/>
        <p:txBody>
          <a:bodyPr/>
          <a:lstStyle/>
          <a:p>
            <a:r>
              <a:rPr lang="en-VN" dirty="0"/>
              <a:t>GIỚI THIỆU</a:t>
            </a:r>
          </a:p>
        </p:txBody>
      </p:sp>
      <p:pic>
        <p:nvPicPr>
          <p:cNvPr id="5" name="Content Placeholder 4">
            <a:extLst>
              <a:ext uri="{FF2B5EF4-FFF2-40B4-BE49-F238E27FC236}">
                <a16:creationId xmlns:a16="http://schemas.microsoft.com/office/drawing/2014/main" id="{3B6F6CA1-DED0-2583-80C9-FE78A245A709}"/>
              </a:ext>
            </a:extLst>
          </p:cNvPr>
          <p:cNvPicPr>
            <a:picLocks noGrp="1" noChangeAspect="1"/>
          </p:cNvPicPr>
          <p:nvPr>
            <p:ph idx="1"/>
          </p:nvPr>
        </p:nvPicPr>
        <p:blipFill>
          <a:blip r:embed="rId2"/>
          <a:stretch>
            <a:fillRect/>
          </a:stretch>
        </p:blipFill>
        <p:spPr>
          <a:xfrm>
            <a:off x="756097" y="1181217"/>
            <a:ext cx="3921266" cy="1743631"/>
          </a:xfrm>
        </p:spPr>
      </p:pic>
      <p:pic>
        <p:nvPicPr>
          <p:cNvPr id="7" name="Picture 6">
            <a:extLst>
              <a:ext uri="{FF2B5EF4-FFF2-40B4-BE49-F238E27FC236}">
                <a16:creationId xmlns:a16="http://schemas.microsoft.com/office/drawing/2014/main" id="{5A67DB81-359E-1ACA-C82C-A187FA33C5AA}"/>
              </a:ext>
            </a:extLst>
          </p:cNvPr>
          <p:cNvPicPr>
            <a:picLocks noChangeAspect="1"/>
          </p:cNvPicPr>
          <p:nvPr/>
        </p:nvPicPr>
        <p:blipFill>
          <a:blip r:embed="rId3"/>
          <a:stretch>
            <a:fillRect/>
          </a:stretch>
        </p:blipFill>
        <p:spPr>
          <a:xfrm>
            <a:off x="231493" y="3028447"/>
            <a:ext cx="4970474" cy="1439381"/>
          </a:xfrm>
          <a:prstGeom prst="rect">
            <a:avLst/>
          </a:prstGeom>
        </p:spPr>
      </p:pic>
      <p:pic>
        <p:nvPicPr>
          <p:cNvPr id="9" name="Picture 8">
            <a:extLst>
              <a:ext uri="{FF2B5EF4-FFF2-40B4-BE49-F238E27FC236}">
                <a16:creationId xmlns:a16="http://schemas.microsoft.com/office/drawing/2014/main" id="{C2C2C833-D857-B9C9-D627-E6492C29EC43}"/>
              </a:ext>
            </a:extLst>
          </p:cNvPr>
          <p:cNvPicPr>
            <a:picLocks noChangeAspect="1"/>
          </p:cNvPicPr>
          <p:nvPr/>
        </p:nvPicPr>
        <p:blipFill>
          <a:blip r:embed="rId4"/>
          <a:stretch>
            <a:fillRect/>
          </a:stretch>
        </p:blipFill>
        <p:spPr>
          <a:xfrm>
            <a:off x="5503522" y="1391064"/>
            <a:ext cx="4771985" cy="1323935"/>
          </a:xfrm>
          <a:prstGeom prst="rect">
            <a:avLst/>
          </a:prstGeom>
        </p:spPr>
      </p:pic>
      <p:pic>
        <p:nvPicPr>
          <p:cNvPr id="11" name="Picture 10">
            <a:extLst>
              <a:ext uri="{FF2B5EF4-FFF2-40B4-BE49-F238E27FC236}">
                <a16:creationId xmlns:a16="http://schemas.microsoft.com/office/drawing/2014/main" id="{C1B7F977-7F43-6F59-1629-FB2D5B4FE3C1}"/>
              </a:ext>
            </a:extLst>
          </p:cNvPr>
          <p:cNvPicPr>
            <a:picLocks noChangeAspect="1"/>
          </p:cNvPicPr>
          <p:nvPr/>
        </p:nvPicPr>
        <p:blipFill>
          <a:blip r:embed="rId5"/>
          <a:stretch>
            <a:fillRect/>
          </a:stretch>
        </p:blipFill>
        <p:spPr>
          <a:xfrm>
            <a:off x="5623971" y="2956662"/>
            <a:ext cx="4531086" cy="1582949"/>
          </a:xfrm>
          <a:prstGeom prst="rect">
            <a:avLst/>
          </a:prstGeom>
        </p:spPr>
      </p:pic>
      <p:pic>
        <p:nvPicPr>
          <p:cNvPr id="13" name="Picture 12">
            <a:extLst>
              <a:ext uri="{FF2B5EF4-FFF2-40B4-BE49-F238E27FC236}">
                <a16:creationId xmlns:a16="http://schemas.microsoft.com/office/drawing/2014/main" id="{975E0639-0392-C3F5-CD80-82A537834DAB}"/>
              </a:ext>
            </a:extLst>
          </p:cNvPr>
          <p:cNvPicPr>
            <a:picLocks noChangeAspect="1"/>
          </p:cNvPicPr>
          <p:nvPr/>
        </p:nvPicPr>
        <p:blipFill>
          <a:blip r:embed="rId6"/>
          <a:stretch>
            <a:fillRect/>
          </a:stretch>
        </p:blipFill>
        <p:spPr>
          <a:xfrm>
            <a:off x="47488" y="5098245"/>
            <a:ext cx="4970475" cy="1252202"/>
          </a:xfrm>
          <a:prstGeom prst="rect">
            <a:avLst/>
          </a:prstGeom>
        </p:spPr>
      </p:pic>
      <p:pic>
        <p:nvPicPr>
          <p:cNvPr id="15" name="Picture 14">
            <a:extLst>
              <a:ext uri="{FF2B5EF4-FFF2-40B4-BE49-F238E27FC236}">
                <a16:creationId xmlns:a16="http://schemas.microsoft.com/office/drawing/2014/main" id="{64A80914-ADBA-E6D9-FEC6-BEB1E16E84C1}"/>
              </a:ext>
            </a:extLst>
          </p:cNvPr>
          <p:cNvPicPr>
            <a:picLocks noChangeAspect="1"/>
          </p:cNvPicPr>
          <p:nvPr/>
        </p:nvPicPr>
        <p:blipFill>
          <a:blip r:embed="rId7"/>
          <a:stretch>
            <a:fillRect/>
          </a:stretch>
        </p:blipFill>
        <p:spPr>
          <a:xfrm>
            <a:off x="5445246" y="5057895"/>
            <a:ext cx="4824934" cy="1292551"/>
          </a:xfrm>
          <a:prstGeom prst="rect">
            <a:avLst/>
          </a:prstGeom>
        </p:spPr>
      </p:pic>
      <p:sp>
        <p:nvSpPr>
          <p:cNvPr id="16" name="Right Brace 15">
            <a:extLst>
              <a:ext uri="{FF2B5EF4-FFF2-40B4-BE49-F238E27FC236}">
                <a16:creationId xmlns:a16="http://schemas.microsoft.com/office/drawing/2014/main" id="{420A5FD1-73D0-2F48-D29A-41172F382AF5}"/>
              </a:ext>
            </a:extLst>
          </p:cNvPr>
          <p:cNvSpPr/>
          <p:nvPr/>
        </p:nvSpPr>
        <p:spPr>
          <a:xfrm>
            <a:off x="10350270" y="1267809"/>
            <a:ext cx="347241" cy="3362064"/>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p:sp>
        <p:nvSpPr>
          <p:cNvPr id="17" name="TextBox 16">
            <a:extLst>
              <a:ext uri="{FF2B5EF4-FFF2-40B4-BE49-F238E27FC236}">
                <a16:creationId xmlns:a16="http://schemas.microsoft.com/office/drawing/2014/main" id="{CF0D64B7-EC2C-8E41-10C8-8779062B0598}"/>
              </a:ext>
            </a:extLst>
          </p:cNvPr>
          <p:cNvSpPr txBox="1"/>
          <p:nvPr/>
        </p:nvSpPr>
        <p:spPr>
          <a:xfrm>
            <a:off x="10813246" y="2452073"/>
            <a:ext cx="1169043" cy="923330"/>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Hệ thống không ổn định</a:t>
            </a:r>
          </a:p>
        </p:txBody>
      </p:sp>
      <p:sp>
        <p:nvSpPr>
          <p:cNvPr id="18" name="TextBox 17">
            <a:extLst>
              <a:ext uri="{FF2B5EF4-FFF2-40B4-BE49-F238E27FC236}">
                <a16:creationId xmlns:a16="http://schemas.microsoft.com/office/drawing/2014/main" id="{9AECFCA6-95CF-B961-7955-19469E1B3E7D}"/>
              </a:ext>
            </a:extLst>
          </p:cNvPr>
          <p:cNvSpPr txBox="1"/>
          <p:nvPr/>
        </p:nvSpPr>
        <p:spPr>
          <a:xfrm>
            <a:off x="10813245" y="5098245"/>
            <a:ext cx="1169043" cy="923330"/>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Hệ thống ổn định biên</a:t>
            </a:r>
          </a:p>
        </p:txBody>
      </p:sp>
      <p:sp>
        <p:nvSpPr>
          <p:cNvPr id="19" name="Right Brace 18">
            <a:extLst>
              <a:ext uri="{FF2B5EF4-FFF2-40B4-BE49-F238E27FC236}">
                <a16:creationId xmlns:a16="http://schemas.microsoft.com/office/drawing/2014/main" id="{8E4A7895-4221-8441-1DB2-A5F1786CA599}"/>
              </a:ext>
            </a:extLst>
          </p:cNvPr>
          <p:cNvSpPr/>
          <p:nvPr/>
        </p:nvSpPr>
        <p:spPr>
          <a:xfrm>
            <a:off x="10375132" y="4868009"/>
            <a:ext cx="322332" cy="1791922"/>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p:spTree>
    <p:extLst>
      <p:ext uri="{BB962C8B-B14F-4D97-AF65-F5344CB8AC3E}">
        <p14:creationId xmlns:p14="http://schemas.microsoft.com/office/powerpoint/2010/main" val="1535744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FF58-2B9D-00FF-27C9-52A84415463D}"/>
              </a:ext>
            </a:extLst>
          </p:cNvPr>
          <p:cNvSpPr>
            <a:spLocks noGrp="1"/>
          </p:cNvSpPr>
          <p:nvPr>
            <p:ph type="title"/>
          </p:nvPr>
        </p:nvSpPr>
        <p:spPr/>
        <p:txBody>
          <a:bodyPr/>
          <a:lstStyle/>
          <a:p>
            <a:r>
              <a:rPr lang="en-VN" dirty="0"/>
              <a:t>GIỚI THIỆU</a:t>
            </a:r>
          </a:p>
        </p:txBody>
      </p:sp>
      <p:sp>
        <p:nvSpPr>
          <p:cNvPr id="3" name="Content Placeholder 2">
            <a:extLst>
              <a:ext uri="{FF2B5EF4-FFF2-40B4-BE49-F238E27FC236}">
                <a16:creationId xmlns:a16="http://schemas.microsoft.com/office/drawing/2014/main" id="{B084EF26-2327-34EF-1B50-7C4BA668C501}"/>
              </a:ext>
            </a:extLst>
          </p:cNvPr>
          <p:cNvSpPr>
            <a:spLocks noGrp="1"/>
          </p:cNvSpPr>
          <p:nvPr>
            <p:ph idx="1"/>
          </p:nvPr>
        </p:nvSpPr>
        <p:spPr>
          <a:xfrm>
            <a:off x="1451579" y="1244014"/>
            <a:ext cx="6080189" cy="4444399"/>
          </a:xfrm>
        </p:spPr>
        <p:txBody>
          <a:bodyPr/>
          <a:lstStyle/>
          <a:p>
            <a:r>
              <a:rPr lang="en-VN" b="1" dirty="0">
                <a:solidFill>
                  <a:srgbClr val="C00000"/>
                </a:solidFill>
              </a:rPr>
              <a:t>Hệ thống ổn định: </a:t>
            </a:r>
            <a:r>
              <a:rPr lang="en-VN" dirty="0"/>
              <a:t>Tất cả các điểm cực của hàm truyền vòng kín </a:t>
            </a:r>
            <a:r>
              <a:rPr lang="en-VN" i="1" dirty="0"/>
              <a:t>(closed-loop transfer function) </a:t>
            </a:r>
            <a:r>
              <a:rPr lang="en-VN" dirty="0"/>
              <a:t>đều có phần thực mang giá trị âm (nửa trái mặt phẳng s – lhp).</a:t>
            </a:r>
          </a:p>
          <a:p>
            <a:r>
              <a:rPr lang="en-VN" b="1" dirty="0">
                <a:solidFill>
                  <a:srgbClr val="C00000"/>
                </a:solidFill>
              </a:rPr>
              <a:t>Hệ thống không ổn định: </a:t>
            </a:r>
            <a:r>
              <a:rPr lang="en-VN" dirty="0"/>
              <a:t>Có ít nhất 1 điểm cực có phần thực mang giá trị dương (nửa phải mặt phẳng s – rhp) và/hoặc có điểm cực phức lặp lại nhiều hơn 1 lần.</a:t>
            </a:r>
          </a:p>
          <a:p>
            <a:r>
              <a:rPr lang="en-VN" b="1" dirty="0">
                <a:solidFill>
                  <a:srgbClr val="C00000"/>
                </a:solidFill>
              </a:rPr>
              <a:t>Hệ thống ổn định biên: </a:t>
            </a:r>
            <a:r>
              <a:rPr lang="en-VN" dirty="0"/>
              <a:t>Điểm cực phức không trùng lặp và các điểm cực còn lại nằm ở nửa bên trái mặt phẳng s. </a:t>
            </a:r>
          </a:p>
        </p:txBody>
      </p:sp>
      <p:pic>
        <p:nvPicPr>
          <p:cNvPr id="2050" name="Picture 2" descr="Solved] If a system has simple poles lying on the imaginary axis and">
            <a:extLst>
              <a:ext uri="{FF2B5EF4-FFF2-40B4-BE49-F238E27FC236}">
                <a16:creationId xmlns:a16="http://schemas.microsoft.com/office/drawing/2014/main" id="{43CB4C91-B740-0463-5B07-952D6D36A5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8341"/>
          <a:stretch/>
        </p:blipFill>
        <p:spPr bwMode="auto">
          <a:xfrm>
            <a:off x="8958995" y="0"/>
            <a:ext cx="11440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olved] If a system has simple poles lying on the imaginary axis and">
            <a:extLst>
              <a:ext uri="{FF2B5EF4-FFF2-40B4-BE49-F238E27FC236}">
                <a16:creationId xmlns:a16="http://schemas.microsoft.com/office/drawing/2014/main" id="{226A27BA-1C19-4083-77CC-D2CC890B9C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989"/>
          <a:stretch/>
        </p:blipFill>
        <p:spPr bwMode="auto">
          <a:xfrm>
            <a:off x="10103004" y="0"/>
            <a:ext cx="106323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25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58528-D9B6-089D-EEFA-5833642ABB8C}"/>
              </a:ext>
            </a:extLst>
          </p:cNvPr>
          <p:cNvSpPr>
            <a:spLocks noGrp="1"/>
          </p:cNvSpPr>
          <p:nvPr>
            <p:ph type="title"/>
          </p:nvPr>
        </p:nvSpPr>
        <p:spPr/>
        <p:txBody>
          <a:bodyPr>
            <a:normAutofit/>
          </a:bodyPr>
          <a:lstStyle/>
          <a:p>
            <a:r>
              <a:rPr lang="en-VN" dirty="0"/>
              <a:t>ĐIỀU KIỆN ỔN ĐỊNH </a:t>
            </a:r>
            <a:r>
              <a:rPr lang="en-US" dirty="0"/>
              <a:t>Routh – Hurwitz (RH)</a:t>
            </a:r>
            <a:endParaRPr lang="en-VN" dirty="0"/>
          </a:p>
        </p:txBody>
      </p:sp>
      <p:graphicFrame>
        <p:nvGraphicFramePr>
          <p:cNvPr id="5" name="Group 174">
            <a:extLst>
              <a:ext uri="{FF2B5EF4-FFF2-40B4-BE49-F238E27FC236}">
                <a16:creationId xmlns:a16="http://schemas.microsoft.com/office/drawing/2014/main" id="{886EDEEF-305B-1CF4-2C2B-6E70F3577809}"/>
              </a:ext>
            </a:extLst>
          </p:cNvPr>
          <p:cNvGraphicFramePr>
            <a:graphicFrameLocks noGrp="1"/>
          </p:cNvGraphicFramePr>
          <p:nvPr>
            <p:extLst>
              <p:ext uri="{D42A27DB-BD31-4B8C-83A1-F6EECF244321}">
                <p14:modId xmlns:p14="http://schemas.microsoft.com/office/powerpoint/2010/main" val="3583493552"/>
              </p:ext>
            </p:extLst>
          </p:nvPr>
        </p:nvGraphicFramePr>
        <p:xfrm>
          <a:off x="224355" y="1677152"/>
          <a:ext cx="7543800" cy="3441702"/>
        </p:xfrm>
        <a:graphic>
          <a:graphicData uri="http://schemas.openxmlformats.org/drawingml/2006/table">
            <a:tbl>
              <a:tblPr/>
              <a:tblGrid>
                <a:gridCol w="533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4381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s</a:t>
                      </a:r>
                      <a:r>
                        <a:rPr kumimoji="0" lang="en-US" sz="1800" b="0" i="0" u="none" strike="noStrike" cap="none" normalizeH="0" baseline="30000">
                          <a:ln>
                            <a:noFill/>
                          </a:ln>
                          <a:solidFill>
                            <a:schemeClr val="tx1"/>
                          </a:solidFill>
                          <a:effectLst/>
                          <a:latin typeface="Times New Roman" pitchFamily="18" charset="0"/>
                        </a:rPr>
                        <a:t>n</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E30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a:t>
                      </a:r>
                      <a:r>
                        <a:rPr kumimoji="0" lang="en-US" sz="1800" b="0" i="0" u="none" strike="noStrike" cap="none" normalizeH="0" baseline="-25000">
                          <a:ln>
                            <a:noFill/>
                          </a:ln>
                          <a:solidFill>
                            <a:schemeClr val="tx1"/>
                          </a:solidFill>
                          <a:effectLst/>
                          <a:latin typeface="Times New Roman" pitchFamily="18" charset="0"/>
                        </a:rPr>
                        <a:t>o</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a:t>
                      </a:r>
                      <a:r>
                        <a:rPr kumimoji="0" lang="en-US" sz="1800" b="0" i="0" u="none" strike="noStrike" cap="none" normalizeH="0" baseline="-25000">
                          <a:ln>
                            <a:noFill/>
                          </a:ln>
                          <a:solidFill>
                            <a:schemeClr val="tx1"/>
                          </a:solidFill>
                          <a:effectLst/>
                          <a:latin typeface="Times New Roman" pitchFamily="18" charset="0"/>
                        </a:rPr>
                        <a:t>2</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a:t>
                      </a:r>
                      <a:r>
                        <a:rPr kumimoji="0" lang="en-US" sz="1800" b="0" i="0" u="none" strike="noStrike" cap="none" normalizeH="0" baseline="-25000">
                          <a:ln>
                            <a:noFill/>
                          </a:ln>
                          <a:solidFill>
                            <a:schemeClr val="tx1"/>
                          </a:solidFill>
                          <a:effectLst/>
                          <a:latin typeface="Times New Roman" pitchFamily="18" charset="0"/>
                        </a:rPr>
                        <a:t>4</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a:t>
                      </a:r>
                      <a:r>
                        <a:rPr kumimoji="0" lang="en-US" sz="1800" b="0" i="0" u="none" strike="noStrike" cap="none" normalizeH="0" baseline="-25000">
                          <a:ln>
                            <a:noFill/>
                          </a:ln>
                          <a:solidFill>
                            <a:schemeClr val="tx1"/>
                          </a:solidFill>
                          <a:effectLst/>
                          <a:latin typeface="Times New Roman" pitchFamily="18" charset="0"/>
                        </a:rPr>
                        <a:t>6</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4000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s</a:t>
                      </a:r>
                      <a:r>
                        <a:rPr kumimoji="0" lang="en-US" sz="1800" b="0" i="0" u="none" strike="noStrike" cap="none" normalizeH="0" baseline="30000">
                          <a:ln>
                            <a:noFill/>
                          </a:ln>
                          <a:solidFill>
                            <a:schemeClr val="tx1"/>
                          </a:solidFill>
                          <a:effectLst/>
                          <a:latin typeface="Times New Roman" pitchFamily="18" charset="0"/>
                        </a:rPr>
                        <a:t>n-1</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E30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Times New Roman" pitchFamily="18" charset="0"/>
                        </a:rPr>
                        <a:t>a</a:t>
                      </a:r>
                      <a:r>
                        <a:rPr kumimoji="0" lang="en-US" sz="1800" b="0" i="0" u="none" strike="noStrike" cap="none" normalizeH="0" baseline="-25000" dirty="0">
                          <a:ln>
                            <a:noFill/>
                          </a:ln>
                          <a:solidFill>
                            <a:schemeClr val="tx1"/>
                          </a:solidFill>
                          <a:effectLst/>
                          <a:latin typeface="Times New Roman" pitchFamily="18" charset="0"/>
                        </a:rPr>
                        <a:t>1</a:t>
                      </a:r>
                      <a:endParaRPr kumimoji="0" lang="en-US" sz="1800" b="0" i="0" u="none" strike="noStrike" cap="none" normalizeH="0" baseline="0" dirty="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a:t>
                      </a:r>
                      <a:r>
                        <a:rPr kumimoji="0" lang="en-US" sz="1800" b="0" i="0" u="none" strike="noStrike" cap="none" normalizeH="0" baseline="-25000">
                          <a:ln>
                            <a:noFill/>
                          </a:ln>
                          <a:solidFill>
                            <a:schemeClr val="tx1"/>
                          </a:solidFill>
                          <a:effectLst/>
                          <a:latin typeface="Times New Roman" pitchFamily="18" charset="0"/>
                        </a:rPr>
                        <a:t>3</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a:t>
                      </a:r>
                      <a:r>
                        <a:rPr kumimoji="0" lang="en-US" sz="1800" b="0" i="0" u="none" strike="noStrike" cap="none" normalizeH="0" baseline="-25000">
                          <a:ln>
                            <a:noFill/>
                          </a:ln>
                          <a:solidFill>
                            <a:schemeClr val="tx1"/>
                          </a:solidFill>
                          <a:effectLst/>
                          <a:latin typeface="Times New Roman" pitchFamily="18" charset="0"/>
                        </a:rPr>
                        <a:t>5</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a:t>
                      </a:r>
                      <a:r>
                        <a:rPr kumimoji="0" lang="en-US" sz="1800" b="0" i="0" u="none" strike="noStrike" cap="none" normalizeH="0" baseline="-25000">
                          <a:ln>
                            <a:noFill/>
                          </a:ln>
                          <a:solidFill>
                            <a:schemeClr val="tx1"/>
                          </a:solidFill>
                          <a:effectLst/>
                          <a:latin typeface="Times New Roman" pitchFamily="18" charset="0"/>
                        </a:rPr>
                        <a:t>7</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5127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s</a:t>
                      </a:r>
                      <a:r>
                        <a:rPr kumimoji="0" lang="en-US" sz="1800" b="0" i="0" u="none" strike="noStrike" cap="none" normalizeH="0" baseline="30000">
                          <a:ln>
                            <a:noFill/>
                          </a:ln>
                          <a:solidFill>
                            <a:schemeClr val="tx1"/>
                          </a:solidFill>
                          <a:effectLst/>
                          <a:latin typeface="Times New Roman" pitchFamily="18" charset="0"/>
                        </a:rPr>
                        <a:t>n-2</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E301"/>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4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40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s</a:t>
                      </a:r>
                      <a:r>
                        <a:rPr kumimoji="0" lang="en-US" sz="1800" b="0" i="0" u="none" strike="noStrike" cap="none" normalizeH="0" baseline="30000">
                          <a:ln>
                            <a:noFill/>
                          </a:ln>
                          <a:solidFill>
                            <a:schemeClr val="tx1"/>
                          </a:solidFill>
                          <a:effectLst/>
                          <a:latin typeface="Times New Roman" pitchFamily="18" charset="0"/>
                        </a:rPr>
                        <a:t>n-3</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E301"/>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27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E301"/>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11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B8E301"/>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27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s</a:t>
                      </a:r>
                      <a:r>
                        <a:rPr kumimoji="0" lang="en-US" sz="1800" b="0" i="0" u="none" strike="noStrike" cap="none" normalizeH="0" baseline="30000">
                          <a:ln>
                            <a:noFill/>
                          </a:ln>
                          <a:solidFill>
                            <a:schemeClr val="tx1"/>
                          </a:solidFill>
                          <a:effectLst/>
                          <a:latin typeface="Times New Roman" pitchFamily="18" charset="0"/>
                        </a:rPr>
                        <a:t>0</a:t>
                      </a: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B8E301"/>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a:ln>
                          <a:noFill/>
                        </a:ln>
                        <a:solidFill>
                          <a:schemeClr val="tx1"/>
                        </a:solidFill>
                        <a:effectLst/>
                        <a:latin typeface="Times New Roman" pitchFamily="18" charset="0"/>
                      </a:endParaRPr>
                    </a:p>
                  </a:txBody>
                  <a:tcPr marT="18288" marB="1828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Times New Roman" pitchFamily="18" charset="0"/>
                        </a:rPr>
                        <a:t>...</a:t>
                      </a:r>
                    </a:p>
                  </a:txBody>
                  <a:tcPr marT="18288" marB="1828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6" name="Object 129">
            <a:extLst>
              <a:ext uri="{FF2B5EF4-FFF2-40B4-BE49-F238E27FC236}">
                <a16:creationId xmlns:a16="http://schemas.microsoft.com/office/drawing/2014/main" id="{DAA83FF6-E978-1AB1-EE8D-1446F9EC2F1B}"/>
              </a:ext>
            </a:extLst>
          </p:cNvPr>
          <p:cNvGraphicFramePr>
            <a:graphicFrameLocks noChangeAspect="1"/>
          </p:cNvGraphicFramePr>
          <p:nvPr>
            <p:extLst>
              <p:ext uri="{D42A27DB-BD31-4B8C-83A1-F6EECF244321}">
                <p14:modId xmlns:p14="http://schemas.microsoft.com/office/powerpoint/2010/main" val="768019114"/>
              </p:ext>
            </p:extLst>
          </p:nvPr>
        </p:nvGraphicFramePr>
        <p:xfrm>
          <a:off x="833955" y="2469315"/>
          <a:ext cx="1295400" cy="579437"/>
        </p:xfrm>
        <a:graphic>
          <a:graphicData uri="http://schemas.openxmlformats.org/presentationml/2006/ole">
            <mc:AlternateContent xmlns:mc="http://schemas.openxmlformats.org/markup-compatibility/2006">
              <mc:Choice xmlns:v="urn:schemas-microsoft-com:vml" Requires="v">
                <p:oleObj name="Equation" r:id="rId2" imgW="22237700" imgH="9944100" progId="Equation.DSMT4">
                  <p:embed/>
                </p:oleObj>
              </mc:Choice>
              <mc:Fallback>
                <p:oleObj name="Equation" r:id="rId2" imgW="22237700" imgH="9944100" progId="Equation.DSMT4">
                  <p:embed/>
                  <p:pic>
                    <p:nvPicPr>
                      <p:cNvPr id="12374" name="Object 129">
                        <a:extLst>
                          <a:ext uri="{FF2B5EF4-FFF2-40B4-BE49-F238E27FC236}">
                            <a16:creationId xmlns:a16="http://schemas.microsoft.com/office/drawing/2014/main" id="{D03B9A58-5A24-AD21-81E4-AB32AD89A2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955" y="2469315"/>
                        <a:ext cx="12954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42">
            <a:extLst>
              <a:ext uri="{FF2B5EF4-FFF2-40B4-BE49-F238E27FC236}">
                <a16:creationId xmlns:a16="http://schemas.microsoft.com/office/drawing/2014/main" id="{DD47462B-218E-AE00-06A9-38CC671A4D99}"/>
              </a:ext>
            </a:extLst>
          </p:cNvPr>
          <p:cNvGraphicFramePr>
            <a:graphicFrameLocks noChangeAspect="1"/>
          </p:cNvGraphicFramePr>
          <p:nvPr>
            <p:extLst>
              <p:ext uri="{D42A27DB-BD31-4B8C-83A1-F6EECF244321}">
                <p14:modId xmlns:p14="http://schemas.microsoft.com/office/powerpoint/2010/main" val="1589426297"/>
              </p:ext>
            </p:extLst>
          </p:nvPr>
        </p:nvGraphicFramePr>
        <p:xfrm>
          <a:off x="2238893" y="2469315"/>
          <a:ext cx="1447800" cy="627062"/>
        </p:xfrm>
        <a:graphic>
          <a:graphicData uri="http://schemas.openxmlformats.org/presentationml/2006/ole">
            <mc:AlternateContent xmlns:mc="http://schemas.openxmlformats.org/markup-compatibility/2006">
              <mc:Choice xmlns:v="urn:schemas-microsoft-com:vml" Requires="v">
                <p:oleObj r:id="rId4" imgW="22821900" imgH="9944100" progId="Equation.DSMT4">
                  <p:embed/>
                </p:oleObj>
              </mc:Choice>
              <mc:Fallback>
                <p:oleObj r:id="rId4" imgW="22821900" imgH="9944100" progId="Equation.DSMT4">
                  <p:embed/>
                  <p:pic>
                    <p:nvPicPr>
                      <p:cNvPr id="12375" name="Object 142">
                        <a:extLst>
                          <a:ext uri="{FF2B5EF4-FFF2-40B4-BE49-F238E27FC236}">
                            <a16:creationId xmlns:a16="http://schemas.microsoft.com/office/drawing/2014/main" id="{6952DCA5-30F0-4DDF-286D-8D91435639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893" y="2469315"/>
                        <a:ext cx="1447800"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44">
            <a:extLst>
              <a:ext uri="{FF2B5EF4-FFF2-40B4-BE49-F238E27FC236}">
                <a16:creationId xmlns:a16="http://schemas.microsoft.com/office/drawing/2014/main" id="{08C8E24C-FDA8-ECDC-92C5-FFF0B5267DF8}"/>
              </a:ext>
            </a:extLst>
          </p:cNvPr>
          <p:cNvGraphicFramePr>
            <a:graphicFrameLocks noChangeAspect="1"/>
          </p:cNvGraphicFramePr>
          <p:nvPr>
            <p:extLst>
              <p:ext uri="{D42A27DB-BD31-4B8C-83A1-F6EECF244321}">
                <p14:modId xmlns:p14="http://schemas.microsoft.com/office/powerpoint/2010/main" val="4238909906"/>
              </p:ext>
            </p:extLst>
          </p:nvPr>
        </p:nvGraphicFramePr>
        <p:xfrm>
          <a:off x="833955" y="3031290"/>
          <a:ext cx="1219200" cy="565150"/>
        </p:xfrm>
        <a:graphic>
          <a:graphicData uri="http://schemas.openxmlformats.org/presentationml/2006/ole">
            <mc:AlternateContent xmlns:mc="http://schemas.openxmlformats.org/markup-compatibility/2006">
              <mc:Choice xmlns:v="urn:schemas-microsoft-com:vml" Requires="v">
                <p:oleObj r:id="rId6" imgW="21361400" imgH="9944100" progId="Equation.DSMT4">
                  <p:embed/>
                </p:oleObj>
              </mc:Choice>
              <mc:Fallback>
                <p:oleObj r:id="rId6" imgW="21361400" imgH="9944100" progId="Equation.DSMT4">
                  <p:embed/>
                  <p:pic>
                    <p:nvPicPr>
                      <p:cNvPr id="12376" name="Object 144">
                        <a:extLst>
                          <a:ext uri="{FF2B5EF4-FFF2-40B4-BE49-F238E27FC236}">
                            <a16:creationId xmlns:a16="http://schemas.microsoft.com/office/drawing/2014/main" id="{35E428A5-A462-C523-C77E-AE07A1F551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3955" y="3031290"/>
                        <a:ext cx="12192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46">
            <a:extLst>
              <a:ext uri="{FF2B5EF4-FFF2-40B4-BE49-F238E27FC236}">
                <a16:creationId xmlns:a16="http://schemas.microsoft.com/office/drawing/2014/main" id="{9E95CF83-B04A-3A21-DFC7-7AC8D4BA3FB4}"/>
              </a:ext>
            </a:extLst>
          </p:cNvPr>
          <p:cNvGraphicFramePr>
            <a:graphicFrameLocks noChangeAspect="1"/>
          </p:cNvGraphicFramePr>
          <p:nvPr>
            <p:extLst>
              <p:ext uri="{D42A27DB-BD31-4B8C-83A1-F6EECF244321}">
                <p14:modId xmlns:p14="http://schemas.microsoft.com/office/powerpoint/2010/main" val="985678024"/>
              </p:ext>
            </p:extLst>
          </p:nvPr>
        </p:nvGraphicFramePr>
        <p:xfrm>
          <a:off x="2324618" y="3026527"/>
          <a:ext cx="1252537" cy="569913"/>
        </p:xfrm>
        <a:graphic>
          <a:graphicData uri="http://schemas.openxmlformats.org/presentationml/2006/ole">
            <mc:AlternateContent xmlns:mc="http://schemas.openxmlformats.org/markup-compatibility/2006">
              <mc:Choice xmlns:v="urn:schemas-microsoft-com:vml" Requires="v">
                <p:oleObj r:id="rId8" imgW="21653500" imgH="9944100" progId="Equation.DSMT4">
                  <p:embed/>
                </p:oleObj>
              </mc:Choice>
              <mc:Fallback>
                <p:oleObj r:id="rId8" imgW="21653500" imgH="9944100" progId="Equation.DSMT4">
                  <p:embed/>
                  <p:pic>
                    <p:nvPicPr>
                      <p:cNvPr id="12377" name="Object 146">
                        <a:extLst>
                          <a:ext uri="{FF2B5EF4-FFF2-40B4-BE49-F238E27FC236}">
                            <a16:creationId xmlns:a16="http://schemas.microsoft.com/office/drawing/2014/main" id="{4C03CF5D-B76D-C7A7-41D2-59B49BF1260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24618" y="3026527"/>
                        <a:ext cx="1252537"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70">
            <a:extLst>
              <a:ext uri="{FF2B5EF4-FFF2-40B4-BE49-F238E27FC236}">
                <a16:creationId xmlns:a16="http://schemas.microsoft.com/office/drawing/2014/main" id="{30EABCCA-41EE-2D1A-4038-158A89305610}"/>
              </a:ext>
            </a:extLst>
          </p:cNvPr>
          <p:cNvGraphicFramePr>
            <a:graphicFrameLocks noChangeAspect="1"/>
          </p:cNvGraphicFramePr>
          <p:nvPr>
            <p:extLst>
              <p:ext uri="{D42A27DB-BD31-4B8C-83A1-F6EECF244321}">
                <p14:modId xmlns:p14="http://schemas.microsoft.com/office/powerpoint/2010/main" val="2115037181"/>
              </p:ext>
            </p:extLst>
          </p:nvPr>
        </p:nvGraphicFramePr>
        <p:xfrm>
          <a:off x="3777180" y="2456615"/>
          <a:ext cx="1385888" cy="606425"/>
        </p:xfrm>
        <a:graphic>
          <a:graphicData uri="http://schemas.openxmlformats.org/presentationml/2006/ole">
            <mc:AlternateContent xmlns:mc="http://schemas.openxmlformats.org/markup-compatibility/2006">
              <mc:Choice xmlns:v="urn:schemas-microsoft-com:vml" Requires="v">
                <p:oleObj r:id="rId10" imgW="22529800" imgH="9944100" progId="Equation.DSMT4">
                  <p:embed/>
                </p:oleObj>
              </mc:Choice>
              <mc:Fallback>
                <p:oleObj r:id="rId10" imgW="22529800" imgH="9944100" progId="Equation.DSMT4">
                  <p:embed/>
                  <p:pic>
                    <p:nvPicPr>
                      <p:cNvPr id="12380" name="Object 170">
                        <a:extLst>
                          <a:ext uri="{FF2B5EF4-FFF2-40B4-BE49-F238E27FC236}">
                            <a16:creationId xmlns:a16="http://schemas.microsoft.com/office/drawing/2014/main" id="{1BC7260E-BC6C-6407-3C2F-72A73F97B0D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77180" y="2456615"/>
                        <a:ext cx="13858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Line 176">
            <a:extLst>
              <a:ext uri="{FF2B5EF4-FFF2-40B4-BE49-F238E27FC236}">
                <a16:creationId xmlns:a16="http://schemas.microsoft.com/office/drawing/2014/main" id="{D5494534-2D04-7791-1BB4-69232D23DE76}"/>
              </a:ext>
            </a:extLst>
          </p:cNvPr>
          <p:cNvSpPr>
            <a:spLocks noChangeShapeType="1"/>
          </p:cNvSpPr>
          <p:nvPr/>
        </p:nvSpPr>
        <p:spPr bwMode="auto">
          <a:xfrm flipV="1">
            <a:off x="1672155" y="1939090"/>
            <a:ext cx="1066800" cy="3810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VN"/>
          </a:p>
        </p:txBody>
      </p:sp>
      <p:sp>
        <p:nvSpPr>
          <p:cNvPr id="12" name="Line 177">
            <a:extLst>
              <a:ext uri="{FF2B5EF4-FFF2-40B4-BE49-F238E27FC236}">
                <a16:creationId xmlns:a16="http://schemas.microsoft.com/office/drawing/2014/main" id="{801E0515-E794-4358-1179-4ED4A0D74355}"/>
              </a:ext>
            </a:extLst>
          </p:cNvPr>
          <p:cNvSpPr>
            <a:spLocks noChangeShapeType="1"/>
          </p:cNvSpPr>
          <p:nvPr/>
        </p:nvSpPr>
        <p:spPr bwMode="auto">
          <a:xfrm>
            <a:off x="1691205" y="1939090"/>
            <a:ext cx="1066800" cy="3810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VN"/>
          </a:p>
        </p:txBody>
      </p:sp>
      <p:sp>
        <p:nvSpPr>
          <p:cNvPr id="13" name="Line 178">
            <a:extLst>
              <a:ext uri="{FF2B5EF4-FFF2-40B4-BE49-F238E27FC236}">
                <a16:creationId xmlns:a16="http://schemas.microsoft.com/office/drawing/2014/main" id="{697B43E3-64AD-9BB8-973A-ECB107818A95}"/>
              </a:ext>
            </a:extLst>
          </p:cNvPr>
          <p:cNvSpPr>
            <a:spLocks noChangeShapeType="1"/>
          </p:cNvSpPr>
          <p:nvPr/>
        </p:nvSpPr>
        <p:spPr bwMode="auto">
          <a:xfrm flipV="1">
            <a:off x="1748355" y="1905752"/>
            <a:ext cx="2590800" cy="381000"/>
          </a:xfrm>
          <a:prstGeom prst="line">
            <a:avLst/>
          </a:prstGeom>
          <a:noFill/>
          <a:ln w="9525">
            <a:solidFill>
              <a:schemeClr val="tx1"/>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endParaRPr lang="en-VN"/>
          </a:p>
        </p:txBody>
      </p:sp>
      <p:sp>
        <p:nvSpPr>
          <p:cNvPr id="14" name="Line 179">
            <a:extLst>
              <a:ext uri="{FF2B5EF4-FFF2-40B4-BE49-F238E27FC236}">
                <a16:creationId xmlns:a16="http://schemas.microsoft.com/office/drawing/2014/main" id="{D1DE74A3-9705-52AF-E499-A970B516E779}"/>
              </a:ext>
            </a:extLst>
          </p:cNvPr>
          <p:cNvSpPr>
            <a:spLocks noChangeShapeType="1"/>
          </p:cNvSpPr>
          <p:nvPr/>
        </p:nvSpPr>
        <p:spPr bwMode="auto">
          <a:xfrm>
            <a:off x="1672155" y="1905752"/>
            <a:ext cx="2667000" cy="381000"/>
          </a:xfrm>
          <a:prstGeom prst="line">
            <a:avLst/>
          </a:prstGeom>
          <a:noFill/>
          <a:ln w="9525">
            <a:solidFill>
              <a:schemeClr val="tx1"/>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endParaRPr lang="en-VN"/>
          </a:p>
        </p:txBody>
      </p:sp>
      <p:grpSp>
        <p:nvGrpSpPr>
          <p:cNvPr id="15" name="Group 182">
            <a:extLst>
              <a:ext uri="{FF2B5EF4-FFF2-40B4-BE49-F238E27FC236}">
                <a16:creationId xmlns:a16="http://schemas.microsoft.com/office/drawing/2014/main" id="{73ED6341-8267-33AD-DBE3-917A49F62945}"/>
              </a:ext>
            </a:extLst>
          </p:cNvPr>
          <p:cNvGrpSpPr>
            <a:grpSpLocks/>
          </p:cNvGrpSpPr>
          <p:nvPr/>
        </p:nvGrpSpPr>
        <p:grpSpPr bwMode="auto">
          <a:xfrm>
            <a:off x="1367355" y="4768015"/>
            <a:ext cx="990600" cy="701675"/>
            <a:chOff x="1428" y="4128"/>
            <a:chExt cx="624" cy="442"/>
          </a:xfrm>
        </p:grpSpPr>
        <p:sp>
          <p:nvSpPr>
            <p:cNvPr id="16" name="Line 180">
              <a:extLst>
                <a:ext uri="{FF2B5EF4-FFF2-40B4-BE49-F238E27FC236}">
                  <a16:creationId xmlns:a16="http://schemas.microsoft.com/office/drawing/2014/main" id="{536C540B-DC0B-3234-8BDE-49E18DC94E50}"/>
                </a:ext>
              </a:extLst>
            </p:cNvPr>
            <p:cNvSpPr>
              <a:spLocks noChangeShapeType="1"/>
            </p:cNvSpPr>
            <p:nvPr/>
          </p:nvSpPr>
          <p:spPr bwMode="auto">
            <a:xfrm flipV="1">
              <a:off x="1488" y="4128"/>
              <a:ext cx="0" cy="384"/>
            </a:xfrm>
            <a:prstGeom prst="line">
              <a:avLst/>
            </a:prstGeom>
            <a:noFill/>
            <a:ln w="571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VN"/>
            </a:p>
          </p:txBody>
        </p:sp>
        <p:sp>
          <p:nvSpPr>
            <p:cNvPr id="17" name="Text Box 181">
              <a:extLst>
                <a:ext uri="{FF2B5EF4-FFF2-40B4-BE49-F238E27FC236}">
                  <a16:creationId xmlns:a16="http://schemas.microsoft.com/office/drawing/2014/main" id="{A281B5C7-779F-D119-2468-F1034A139310}"/>
                </a:ext>
              </a:extLst>
            </p:cNvPr>
            <p:cNvSpPr txBox="1">
              <a:spLocks noChangeArrowheads="1"/>
            </p:cNvSpPr>
            <p:nvPr/>
          </p:nvSpPr>
          <p:spPr bwMode="auto">
            <a:xfrm>
              <a:off x="1428" y="433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1800" b="1">
                  <a:solidFill>
                    <a:schemeClr val="hlink"/>
                  </a:solidFill>
                  <a:latin typeface="Times New Roman" panose="02020603050405020304" pitchFamily="18" charset="0"/>
                </a:rPr>
                <a:t>Cột 1</a:t>
              </a:r>
            </a:p>
          </p:txBody>
        </p:sp>
      </p:grpSp>
      <p:sp>
        <p:nvSpPr>
          <p:cNvPr id="18" name="TextBox 17">
            <a:extLst>
              <a:ext uri="{FF2B5EF4-FFF2-40B4-BE49-F238E27FC236}">
                <a16:creationId xmlns:a16="http://schemas.microsoft.com/office/drawing/2014/main" id="{AE8D4794-E2CD-04F0-3878-C32E46133F28}"/>
              </a:ext>
            </a:extLst>
          </p:cNvPr>
          <p:cNvSpPr txBox="1"/>
          <p:nvPr/>
        </p:nvSpPr>
        <p:spPr>
          <a:xfrm>
            <a:off x="2807136" y="5352048"/>
            <a:ext cx="8955737"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Lập bảng Routh-Hurwitz cho các hệ số của Phương trình đặc trưng</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5F6C636-0C8D-49B7-5EF5-537C4F2FD592}"/>
                  </a:ext>
                </a:extLst>
              </p:cNvPr>
              <p:cNvSpPr txBox="1"/>
              <p:nvPr/>
            </p:nvSpPr>
            <p:spPr>
              <a:xfrm>
                <a:off x="8071451" y="1530362"/>
                <a:ext cx="4403558" cy="830997"/>
              </a:xfrm>
              <a:prstGeom prst="rect">
                <a:avLst/>
              </a:prstGeom>
              <a:noFill/>
            </p:spPr>
            <p:txBody>
              <a:bodyPr wrap="square" rtlCol="0">
                <a:spAutoFit/>
              </a:bodyPr>
              <a:lstStyle/>
              <a:p>
                <a:pPr marL="285750" indent="-285750">
                  <a:buFont typeface="Arial" panose="020B0604020202020204" pitchFamily="34" charset="0"/>
                  <a:buChar char="•"/>
                </a:pPr>
                <a:r>
                  <a:rPr lang="en-VN" sz="1600" dirty="0">
                    <a:latin typeface="Arial" panose="020B0604020202020204" pitchFamily="34" charset="0"/>
                    <a:cs typeface="Arial" panose="020B0604020202020204" pitchFamily="34" charset="0"/>
                  </a:rPr>
                  <a:t>Bước 1: Điền 2 hàng đầu tiên của bảng</a:t>
                </a:r>
              </a:p>
              <a:p>
                <a:pPr marL="285750" indent="-285750">
                  <a:buFont typeface="Arial" panose="020B0604020202020204" pitchFamily="34" charset="0"/>
                  <a:buChar char="•"/>
                </a:pPr>
                <a:r>
                  <a:rPr lang="en-VN" sz="1600" dirty="0">
                    <a:latin typeface="Arial" panose="020B0604020202020204" pitchFamily="34" charset="0"/>
                    <a:cs typeface="Arial" panose="020B0604020202020204" pitchFamily="34" charset="0"/>
                  </a:rPr>
                  <a:t>Bước 2: Điền các hàng từ 3 đến </a:t>
                </a:r>
                <a14:m>
                  <m:oMath xmlns:m="http://schemas.openxmlformats.org/officeDocument/2006/math">
                    <m:r>
                      <a:rPr lang="en-US" sz="1600" b="0" i="1" smtClean="0">
                        <a:latin typeface="Cambria Math" panose="02040503050406030204" pitchFamily="18" charset="0"/>
                        <a:cs typeface="Arial" panose="020B0604020202020204" pitchFamily="34" charset="0"/>
                      </a:rPr>
                      <m:t>𝑛</m:t>
                    </m:r>
                    <m:r>
                      <a:rPr lang="en-US" sz="1600" b="0" i="1" smtClean="0">
                        <a:latin typeface="Cambria Math" panose="02040503050406030204" pitchFamily="18" charset="0"/>
                        <a:cs typeface="Arial" panose="020B0604020202020204" pitchFamily="34" charset="0"/>
                      </a:rPr>
                      <m:t>+1</m:t>
                    </m:r>
                  </m:oMath>
                </a14:m>
                <a:endParaRPr lang="en-VN" sz="160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Giả sử 2 hàng </a:t>
                </a:r>
                <a14:m>
                  <m:oMath xmlns:m="http://schemas.openxmlformats.org/officeDocument/2006/math">
                    <m:r>
                      <a:rPr lang="en-US" sz="1600" b="0" i="1" smtClean="0">
                        <a:latin typeface="Cambria Math" panose="02040503050406030204" pitchFamily="18" charset="0"/>
                        <a:cs typeface="Arial" panose="020B0604020202020204" pitchFamily="34" charset="0"/>
                      </a:rPr>
                      <m:t>𝑘</m:t>
                    </m:r>
                    <m:r>
                      <a:rPr lang="en-US" sz="1600" b="0" i="1" smtClean="0">
                        <a:latin typeface="Cambria Math" panose="02040503050406030204" pitchFamily="18" charset="0"/>
                        <a:cs typeface="Arial" panose="020B0604020202020204" pitchFamily="34" charset="0"/>
                      </a:rPr>
                      <m:t>−2</m:t>
                    </m:r>
                  </m:oMath>
                </a14:m>
                <a:r>
                  <a:rPr lang="en-VN" sz="1600" dirty="0">
                    <a:latin typeface="Arial" panose="020B0604020202020204" pitchFamily="34" charset="0"/>
                    <a:cs typeface="Arial" panose="020B0604020202020204" pitchFamily="34" charset="0"/>
                  </a:rPr>
                  <a:t> và </a:t>
                </a:r>
                <a14:m>
                  <m:oMath xmlns:m="http://schemas.openxmlformats.org/officeDocument/2006/math">
                    <m:r>
                      <a:rPr lang="en-US" sz="1600" b="0" i="1" smtClean="0">
                        <a:latin typeface="Cambria Math" panose="02040503050406030204" pitchFamily="18" charset="0"/>
                        <a:cs typeface="Arial" panose="020B0604020202020204" pitchFamily="34" charset="0"/>
                      </a:rPr>
                      <m:t>𝑘</m:t>
                    </m:r>
                    <m:r>
                      <a:rPr lang="en-US" sz="1600" b="0" i="1" smtClean="0">
                        <a:latin typeface="Cambria Math" panose="02040503050406030204" pitchFamily="18" charset="0"/>
                        <a:cs typeface="Arial" panose="020B0604020202020204" pitchFamily="34" charset="0"/>
                      </a:rPr>
                      <m:t>−1</m:t>
                    </m:r>
                  </m:oMath>
                </a14:m>
                <a:r>
                  <a:rPr lang="en-VN" sz="1600" dirty="0">
                    <a:latin typeface="Arial" panose="020B0604020202020204" pitchFamily="34" charset="0"/>
                    <a:cs typeface="Arial" panose="020B0604020202020204" pitchFamily="34" charset="0"/>
                  </a:rPr>
                  <a:t> đã được điền</a:t>
                </a:r>
              </a:p>
            </p:txBody>
          </p:sp>
        </mc:Choice>
        <mc:Fallback xmlns="">
          <p:sp>
            <p:nvSpPr>
              <p:cNvPr id="19" name="TextBox 18">
                <a:extLst>
                  <a:ext uri="{FF2B5EF4-FFF2-40B4-BE49-F238E27FC236}">
                    <a16:creationId xmlns:a16="http://schemas.microsoft.com/office/drawing/2014/main" id="{E5F6C636-0C8D-49B7-5EF5-537C4F2FD592}"/>
                  </a:ext>
                </a:extLst>
              </p:cNvPr>
              <p:cNvSpPr txBox="1">
                <a:spLocks noRot="1" noChangeAspect="1" noMove="1" noResize="1" noEditPoints="1" noAdjustHandles="1" noChangeArrowheads="1" noChangeShapeType="1" noTextEdit="1"/>
              </p:cNvSpPr>
              <p:nvPr/>
            </p:nvSpPr>
            <p:spPr>
              <a:xfrm>
                <a:off x="8071451" y="1530362"/>
                <a:ext cx="4403558" cy="830997"/>
              </a:xfrm>
              <a:prstGeom prst="rect">
                <a:avLst/>
              </a:prstGeom>
              <a:blipFill>
                <a:blip r:embed="rId12"/>
                <a:stretch>
                  <a:fillRect l="-575" t="-1515" b="-9091"/>
                </a:stretch>
              </a:blipFill>
            </p:spPr>
            <p:txBody>
              <a:bodyPr/>
              <a:lstStyle/>
              <a:p>
                <a:r>
                  <a:rPr lang="en-VN">
                    <a:noFill/>
                  </a:rPr>
                  <a:t> </a:t>
                </a:r>
              </a:p>
            </p:txBody>
          </p:sp>
        </mc:Fallback>
      </mc:AlternateContent>
      <p:graphicFrame>
        <p:nvGraphicFramePr>
          <p:cNvPr id="27" name="Object 26">
            <a:extLst>
              <a:ext uri="{FF2B5EF4-FFF2-40B4-BE49-F238E27FC236}">
                <a16:creationId xmlns:a16="http://schemas.microsoft.com/office/drawing/2014/main" id="{60FD69CE-4562-F54F-771A-8DD643CB8D6A}"/>
              </a:ext>
            </a:extLst>
          </p:cNvPr>
          <p:cNvGraphicFramePr>
            <a:graphicFrameLocks noChangeAspect="1"/>
          </p:cNvGraphicFramePr>
          <p:nvPr>
            <p:extLst>
              <p:ext uri="{D42A27DB-BD31-4B8C-83A1-F6EECF244321}">
                <p14:modId xmlns:p14="http://schemas.microsoft.com/office/powerpoint/2010/main" val="3209777920"/>
              </p:ext>
            </p:extLst>
          </p:nvPr>
        </p:nvGraphicFramePr>
        <p:xfrm>
          <a:off x="1720005" y="1129464"/>
          <a:ext cx="3714299" cy="386556"/>
        </p:xfrm>
        <a:graphic>
          <a:graphicData uri="http://schemas.openxmlformats.org/presentationml/2006/ole">
            <mc:AlternateContent xmlns:mc="http://schemas.openxmlformats.org/markup-compatibility/2006">
              <mc:Choice xmlns:v="urn:schemas-microsoft-com:vml" Requires="v">
                <p:oleObj r:id="rId13" imgW="64655700" imgH="6731000" progId="Equation.3">
                  <p:embed/>
                </p:oleObj>
              </mc:Choice>
              <mc:Fallback>
                <p:oleObj r:id="rId13" imgW="64655700" imgH="6731000" progId="Equation.3">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20005" y="1129464"/>
                        <a:ext cx="3714299" cy="386556"/>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DB5C2AE7-D18A-64E2-861D-E61F829BE9A7}"/>
                  </a:ext>
                </a:extLst>
              </p:cNvPr>
              <p:cNvGraphicFramePr>
                <a:graphicFrameLocks noGrp="1"/>
              </p:cNvGraphicFramePr>
              <p:nvPr>
                <p:extLst>
                  <p:ext uri="{D42A27DB-BD31-4B8C-83A1-F6EECF244321}">
                    <p14:modId xmlns:p14="http://schemas.microsoft.com/office/powerpoint/2010/main" val="2315055712"/>
                  </p:ext>
                </p:extLst>
              </p:nvPr>
            </p:nvGraphicFramePr>
            <p:xfrm>
              <a:off x="8158162" y="2626707"/>
              <a:ext cx="3589890" cy="955737"/>
            </p:xfrm>
            <a:graphic>
              <a:graphicData uri="http://schemas.openxmlformats.org/drawingml/2006/table">
                <a:tbl>
                  <a:tblPr firstRow="1" firstCol="1" lastRow="1" lastCol="1" bandRow="1" bandCol="1">
                    <a:tableStyleId>{5C22544A-7EE6-4342-B048-85BDC9FD1C3A}</a:tableStyleId>
                  </a:tblPr>
                  <a:tblGrid>
                    <a:gridCol w="598315">
                      <a:extLst>
                        <a:ext uri="{9D8B030D-6E8A-4147-A177-3AD203B41FA5}">
                          <a16:colId xmlns:a16="http://schemas.microsoft.com/office/drawing/2014/main" val="1319855188"/>
                        </a:ext>
                      </a:extLst>
                    </a:gridCol>
                    <a:gridCol w="598315">
                      <a:extLst>
                        <a:ext uri="{9D8B030D-6E8A-4147-A177-3AD203B41FA5}">
                          <a16:colId xmlns:a16="http://schemas.microsoft.com/office/drawing/2014/main" val="2922059059"/>
                        </a:ext>
                      </a:extLst>
                    </a:gridCol>
                    <a:gridCol w="598315">
                      <a:extLst>
                        <a:ext uri="{9D8B030D-6E8A-4147-A177-3AD203B41FA5}">
                          <a16:colId xmlns:a16="http://schemas.microsoft.com/office/drawing/2014/main" val="871954036"/>
                        </a:ext>
                      </a:extLst>
                    </a:gridCol>
                    <a:gridCol w="598315">
                      <a:extLst>
                        <a:ext uri="{9D8B030D-6E8A-4147-A177-3AD203B41FA5}">
                          <a16:colId xmlns:a16="http://schemas.microsoft.com/office/drawing/2014/main" val="4156065728"/>
                        </a:ext>
                      </a:extLst>
                    </a:gridCol>
                    <a:gridCol w="598315">
                      <a:extLst>
                        <a:ext uri="{9D8B030D-6E8A-4147-A177-3AD203B41FA5}">
                          <a16:colId xmlns:a16="http://schemas.microsoft.com/office/drawing/2014/main" val="2785349408"/>
                        </a:ext>
                      </a:extLst>
                    </a:gridCol>
                    <a:gridCol w="598315">
                      <a:extLst>
                        <a:ext uri="{9D8B030D-6E8A-4147-A177-3AD203B41FA5}">
                          <a16:colId xmlns:a16="http://schemas.microsoft.com/office/drawing/2014/main" val="1879836581"/>
                        </a:ext>
                      </a:extLst>
                    </a:gridCol>
                  </a:tblGrid>
                  <a:tr h="479748">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p>
                                  <m:sSup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𝒔</m:t>
                                    </m:r>
                                  </m:e>
                                  <m:sup>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𝒏</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𝒌</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𝟑</m:t>
                                    </m:r>
                                  </m:sup>
                                </m:sSup>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b>
                                  <m:sSub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b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𝒙</m:t>
                                    </m:r>
                                  </m:e>
                                  <m:sub>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𝟏</m:t>
                                    </m:r>
                                  </m:sub>
                                </m:sSub>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b>
                                  <m:sSub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b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𝒙</m:t>
                                    </m:r>
                                  </m:e>
                                  <m:sub>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𝒊</m:t>
                                    </m:r>
                                  </m:sub>
                                </m:sSub>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b>
                                  <m:sSub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b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𝒙</m:t>
                                    </m:r>
                                  </m:e>
                                  <m:sub>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𝒊</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𝟏</m:t>
                                    </m:r>
                                  </m:sub>
                                </m:sSub>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9976061"/>
                      </a:ext>
                    </a:extLst>
                  </a:tr>
                  <a:tr h="475989">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p>
                                  <m:sSup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𝒔</m:t>
                                    </m:r>
                                  </m:e>
                                  <m:sup>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𝒏</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𝒌</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𝟐</m:t>
                                    </m:r>
                                  </m:sup>
                                </m:sSup>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b>
                                  <m:sSub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b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𝒚</m:t>
                                    </m:r>
                                  </m:e>
                                  <m:sub>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𝟏</m:t>
                                    </m:r>
                                  </m:sub>
                                </m:sSub>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b>
                                  <m:sSub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b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𝒚</m:t>
                                    </m:r>
                                  </m:e>
                                  <m:sub>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𝒊</m:t>
                                    </m:r>
                                  </m:sub>
                                </m:sSub>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14:m>
                            <m:oMathPara xmlns:m="http://schemas.openxmlformats.org/officeDocument/2006/math">
                              <m:oMathParaPr>
                                <m:jc m:val="centerGroup"/>
                              </m:oMathParaPr>
                              <m:oMath xmlns:m="http://schemas.openxmlformats.org/officeDocument/2006/math">
                                <m:sSub>
                                  <m:sSubPr>
                                    <m:ctrlP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ctrlPr>
                                  </m:sSubPr>
                                  <m:e>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𝒚</m:t>
                                    </m:r>
                                  </m:e>
                                  <m:sub>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𝒊</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m:t>
                                    </m:r>
                                    <m:r>
                                      <a:rPr lang="en-US" sz="1300" b="1" i="1" smtClean="0">
                                        <a:solidFill>
                                          <a:schemeClr val="tx1"/>
                                        </a:solidFill>
                                        <a:effectLst/>
                                        <a:latin typeface="Cambria Math" panose="02040503050406030204" pitchFamily="18" charset="0"/>
                                        <a:ea typeface="Times New Roman" panose="02020603050405020304" pitchFamily="18" charset="0"/>
                                        <a:cs typeface="Arial" panose="020B0604020202020204" pitchFamily="34" charset="0"/>
                                      </a:rPr>
                                      <m:t>𝟏</m:t>
                                    </m:r>
                                  </m:sub>
                                </m:sSub>
                              </m:oMath>
                            </m:oMathPara>
                          </a14:m>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837534"/>
                      </a:ext>
                    </a:extLst>
                  </a:tr>
                </a:tbl>
              </a:graphicData>
            </a:graphic>
          </p:graphicFrame>
        </mc:Choice>
        <mc:Fallback xmlns="">
          <p:graphicFrame>
            <p:nvGraphicFramePr>
              <p:cNvPr id="28" name="Table 27">
                <a:extLst>
                  <a:ext uri="{FF2B5EF4-FFF2-40B4-BE49-F238E27FC236}">
                    <a16:creationId xmlns:a16="http://schemas.microsoft.com/office/drawing/2014/main" id="{DB5C2AE7-D18A-64E2-861D-E61F829BE9A7}"/>
                  </a:ext>
                </a:extLst>
              </p:cNvPr>
              <p:cNvGraphicFramePr>
                <a:graphicFrameLocks noGrp="1"/>
              </p:cNvGraphicFramePr>
              <p:nvPr>
                <p:extLst>
                  <p:ext uri="{D42A27DB-BD31-4B8C-83A1-F6EECF244321}">
                    <p14:modId xmlns:p14="http://schemas.microsoft.com/office/powerpoint/2010/main" val="2315055712"/>
                  </p:ext>
                </p:extLst>
              </p:nvPr>
            </p:nvGraphicFramePr>
            <p:xfrm>
              <a:off x="8158162" y="2626707"/>
              <a:ext cx="3589890" cy="955737"/>
            </p:xfrm>
            <a:graphic>
              <a:graphicData uri="http://schemas.openxmlformats.org/drawingml/2006/table">
                <a:tbl>
                  <a:tblPr firstRow="1" firstCol="1" lastRow="1" lastCol="1" bandRow="1" bandCol="1">
                    <a:tableStyleId>{5C22544A-7EE6-4342-B048-85BDC9FD1C3A}</a:tableStyleId>
                  </a:tblPr>
                  <a:tblGrid>
                    <a:gridCol w="598315">
                      <a:extLst>
                        <a:ext uri="{9D8B030D-6E8A-4147-A177-3AD203B41FA5}">
                          <a16:colId xmlns:a16="http://schemas.microsoft.com/office/drawing/2014/main" val="1319855188"/>
                        </a:ext>
                      </a:extLst>
                    </a:gridCol>
                    <a:gridCol w="598315">
                      <a:extLst>
                        <a:ext uri="{9D8B030D-6E8A-4147-A177-3AD203B41FA5}">
                          <a16:colId xmlns:a16="http://schemas.microsoft.com/office/drawing/2014/main" val="2922059059"/>
                        </a:ext>
                      </a:extLst>
                    </a:gridCol>
                    <a:gridCol w="598315">
                      <a:extLst>
                        <a:ext uri="{9D8B030D-6E8A-4147-A177-3AD203B41FA5}">
                          <a16:colId xmlns:a16="http://schemas.microsoft.com/office/drawing/2014/main" val="871954036"/>
                        </a:ext>
                      </a:extLst>
                    </a:gridCol>
                    <a:gridCol w="598315">
                      <a:extLst>
                        <a:ext uri="{9D8B030D-6E8A-4147-A177-3AD203B41FA5}">
                          <a16:colId xmlns:a16="http://schemas.microsoft.com/office/drawing/2014/main" val="4156065728"/>
                        </a:ext>
                      </a:extLst>
                    </a:gridCol>
                    <a:gridCol w="598315">
                      <a:extLst>
                        <a:ext uri="{9D8B030D-6E8A-4147-A177-3AD203B41FA5}">
                          <a16:colId xmlns:a16="http://schemas.microsoft.com/office/drawing/2014/main" val="2785349408"/>
                        </a:ext>
                      </a:extLst>
                    </a:gridCol>
                    <a:gridCol w="598315">
                      <a:extLst>
                        <a:ext uri="{9D8B030D-6E8A-4147-A177-3AD203B41FA5}">
                          <a16:colId xmlns:a16="http://schemas.microsoft.com/office/drawing/2014/main" val="1879836581"/>
                        </a:ext>
                      </a:extLst>
                    </a:gridCol>
                  </a:tblGrid>
                  <a:tr h="479748">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128" t="-10256" r="-506383" b="-100000"/>
                          </a:stretch>
                        </a:blipFill>
                      </a:tcPr>
                    </a:tc>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100000" t="-10256" r="-395833" b="-100000"/>
                          </a:stretch>
                        </a:blip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304255" t="-10256" r="-204255" b="-100000"/>
                          </a:stretch>
                        </a:blipFill>
                      </a:tcPr>
                    </a:tc>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395833" t="-10256" r="-100000" b="-100000"/>
                          </a:stretch>
                        </a:blip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9976061"/>
                      </a:ext>
                    </a:extLst>
                  </a:tr>
                  <a:tr h="475989">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128" t="-113158" r="-506383" b="-2632"/>
                          </a:stretch>
                        </a:blipFill>
                      </a:tcPr>
                    </a:tc>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100000" t="-113158" r="-395833" b="-2632"/>
                          </a:stretch>
                        </a:blip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304255" t="-113158" r="-204255" b="-2632"/>
                          </a:stretch>
                        </a:blipFill>
                      </a:tcPr>
                    </a:tc>
                    <a:tc>
                      <a:txBody>
                        <a:bodyPr/>
                        <a:lstStyle/>
                        <a:p>
                          <a:endParaRPr lang="en-VN"/>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395833" t="-113158" r="-100000" b="-2632"/>
                          </a:stretch>
                        </a:blipFill>
                      </a:tcPr>
                    </a:tc>
                    <a:tc>
                      <a:txBody>
                        <a:bodyPr/>
                        <a:lstStyle/>
                        <a:p>
                          <a:pPr algn="just">
                            <a:spcBef>
                              <a:spcPts val="600"/>
                            </a:spcBef>
                            <a:spcAft>
                              <a:spcPts val="600"/>
                            </a:spcAft>
                            <a:tabLst>
                              <a:tab pos="-2057400" algn="r"/>
                              <a:tab pos="228600" algn="l"/>
                            </a:tabLst>
                          </a:pPr>
                          <a:r>
                            <a:rPr lang="en-US" sz="1300" dirty="0">
                              <a:solidFill>
                                <a:schemeClr val="tx1"/>
                              </a:solidFill>
                              <a:effectLst/>
                              <a:latin typeface="Arial" panose="020B0604020202020204" pitchFamily="34" charset="0"/>
                              <a:cs typeface="Arial" panose="020B0604020202020204" pitchFamily="34" charset="0"/>
                            </a:rPr>
                            <a:t>...</a:t>
                          </a:r>
                          <a:endParaRPr lang="en-VN" sz="1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837534"/>
                      </a:ext>
                    </a:extLst>
                  </a:tr>
                </a:tbl>
              </a:graphicData>
            </a:graphic>
          </p:graphicFrame>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C42244E-F57F-204A-E5D0-9E1AF0BFC207}"/>
                  </a:ext>
                </a:extLst>
              </p:cNvPr>
              <p:cNvSpPr txBox="1"/>
              <p:nvPr/>
            </p:nvSpPr>
            <p:spPr>
              <a:xfrm>
                <a:off x="8071451" y="3695381"/>
                <a:ext cx="4403558" cy="584775"/>
              </a:xfrm>
              <a:prstGeom prst="rect">
                <a:avLst/>
              </a:prstGeom>
              <a:noFill/>
            </p:spPr>
            <p:txBody>
              <a:bodyPr wrap="square" rtlCol="0">
                <a:spAutoFit/>
              </a:bodyPr>
              <a:lstStyle/>
              <a:p>
                <a:r>
                  <a:rPr lang="en-VN" sz="1600" dirty="0">
                    <a:latin typeface="Arial" panose="020B0604020202020204" pitchFamily="34" charset="0"/>
                    <a:cs typeface="Arial" panose="020B0604020202020204" pitchFamily="34" charset="0"/>
                  </a:rPr>
                  <a:t>Điền tiếp hàng thứ </a:t>
                </a:r>
                <a14:m>
                  <m:oMath xmlns:m="http://schemas.openxmlformats.org/officeDocument/2006/math">
                    <m:r>
                      <a:rPr lang="en-US" sz="1600" b="0" i="1" smtClean="0">
                        <a:latin typeface="Cambria Math" panose="02040503050406030204" pitchFamily="18" charset="0"/>
                        <a:cs typeface="Arial" panose="020B0604020202020204" pitchFamily="34" charset="0"/>
                      </a:rPr>
                      <m:t>𝑘</m:t>
                    </m:r>
                  </m:oMath>
                </a14:m>
                <a:endParaRPr lang="en-US" sz="1600" b="0" dirty="0">
                  <a:latin typeface="Arial" panose="020B0604020202020204" pitchFamily="34" charset="0"/>
                  <a:cs typeface="Arial" panose="020B0604020202020204" pitchFamily="34" charset="0"/>
                </a:endParaRPr>
              </a:p>
              <a:p>
                <a:r>
                  <a:rPr lang="en-VN" sz="1600" dirty="0">
                    <a:latin typeface="Arial" panose="020B0604020202020204" pitchFamily="34" charset="0"/>
                    <a:cs typeface="Arial" panose="020B0604020202020204" pitchFamily="34" charset="0"/>
                  </a:rPr>
                  <a:t> </a:t>
                </a:r>
              </a:p>
            </p:txBody>
          </p:sp>
        </mc:Choice>
        <mc:Fallback xmlns="">
          <p:sp>
            <p:nvSpPr>
              <p:cNvPr id="29" name="TextBox 28">
                <a:extLst>
                  <a:ext uri="{FF2B5EF4-FFF2-40B4-BE49-F238E27FC236}">
                    <a16:creationId xmlns:a16="http://schemas.microsoft.com/office/drawing/2014/main" id="{4C42244E-F57F-204A-E5D0-9E1AF0BFC207}"/>
                  </a:ext>
                </a:extLst>
              </p:cNvPr>
              <p:cNvSpPr txBox="1">
                <a:spLocks noRot="1" noChangeAspect="1" noMove="1" noResize="1" noEditPoints="1" noAdjustHandles="1" noChangeArrowheads="1" noChangeShapeType="1" noTextEdit="1"/>
              </p:cNvSpPr>
              <p:nvPr/>
            </p:nvSpPr>
            <p:spPr>
              <a:xfrm>
                <a:off x="8071451" y="3695381"/>
                <a:ext cx="4403558" cy="584775"/>
              </a:xfrm>
              <a:prstGeom prst="rect">
                <a:avLst/>
              </a:prstGeom>
              <a:blipFill>
                <a:blip r:embed="rId16"/>
                <a:stretch>
                  <a:fillRect l="-575" t="-2128"/>
                </a:stretch>
              </a:blipFill>
            </p:spPr>
            <p:txBody>
              <a:bodyPr/>
              <a:lstStyle/>
              <a:p>
                <a:r>
                  <a:rPr lang="en-VN">
                    <a:noFill/>
                  </a:rPr>
                  <a:t> </a:t>
                </a:r>
              </a:p>
            </p:txBody>
          </p:sp>
        </mc:Fallback>
      </mc:AlternateContent>
      <p:graphicFrame>
        <p:nvGraphicFramePr>
          <p:cNvPr id="31" name="Object 30">
            <a:extLst>
              <a:ext uri="{FF2B5EF4-FFF2-40B4-BE49-F238E27FC236}">
                <a16:creationId xmlns:a16="http://schemas.microsoft.com/office/drawing/2014/main" id="{938B4CD3-C409-0039-465A-9AEB29150379}"/>
              </a:ext>
            </a:extLst>
          </p:cNvPr>
          <p:cNvGraphicFramePr>
            <a:graphicFrameLocks noChangeAspect="1"/>
          </p:cNvGraphicFramePr>
          <p:nvPr>
            <p:extLst>
              <p:ext uri="{D42A27DB-BD31-4B8C-83A1-F6EECF244321}">
                <p14:modId xmlns:p14="http://schemas.microsoft.com/office/powerpoint/2010/main" val="1909607613"/>
              </p:ext>
            </p:extLst>
          </p:nvPr>
        </p:nvGraphicFramePr>
        <p:xfrm>
          <a:off x="8514854" y="4104365"/>
          <a:ext cx="3318250" cy="663650"/>
        </p:xfrm>
        <a:graphic>
          <a:graphicData uri="http://schemas.openxmlformats.org/presentationml/2006/ole">
            <mc:AlternateContent xmlns:mc="http://schemas.openxmlformats.org/markup-compatibility/2006">
              <mc:Choice xmlns:v="urn:schemas-microsoft-com:vml" Requires="v">
                <p:oleObj r:id="rId17" imgW="58508900" imgH="11696700" progId="Equation.3">
                  <p:embed/>
                </p:oleObj>
              </mc:Choice>
              <mc:Fallback>
                <p:oleObj r:id="rId17" imgW="58508900" imgH="11696700" progId="Equation.3">
                  <p:embed/>
                  <p:pic>
                    <p:nvPicPr>
                      <p:cNvPr id="0" name="Object 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14854" y="4104365"/>
                        <a:ext cx="3318250" cy="663650"/>
                      </a:xfrm>
                      <a:prstGeom prst="rect">
                        <a:avLst/>
                      </a:prstGeom>
                      <a:noFill/>
                    </p:spPr>
                  </p:pic>
                </p:oleObj>
              </mc:Fallback>
            </mc:AlternateContent>
          </a:graphicData>
        </a:graphic>
      </p:graphicFrame>
    </p:spTree>
    <p:extLst>
      <p:ext uri="{BB962C8B-B14F-4D97-AF65-F5344CB8AC3E}">
        <p14:creationId xmlns:p14="http://schemas.microsoft.com/office/powerpoint/2010/main" val="330125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0-#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6EDB-CB05-0888-56CC-1721222BB5CD}"/>
              </a:ext>
            </a:extLst>
          </p:cNvPr>
          <p:cNvSpPr>
            <a:spLocks noGrp="1"/>
          </p:cNvSpPr>
          <p:nvPr>
            <p:ph type="title"/>
          </p:nvPr>
        </p:nvSpPr>
        <p:spPr/>
        <p:txBody>
          <a:bodyPr/>
          <a:lstStyle/>
          <a:p>
            <a:r>
              <a:rPr lang="en-VN" dirty="0"/>
              <a:t>ĐIỀU KIỆN ỔN ĐỊNH </a:t>
            </a:r>
            <a:r>
              <a:rPr lang="en-US" dirty="0"/>
              <a:t>Routh – Hurwitz (RH)</a:t>
            </a:r>
            <a:endParaRPr lang="en-VN" dirty="0"/>
          </a:p>
        </p:txBody>
      </p:sp>
      <p:pic>
        <p:nvPicPr>
          <p:cNvPr id="5" name="Content Placeholder 4">
            <a:extLst>
              <a:ext uri="{FF2B5EF4-FFF2-40B4-BE49-F238E27FC236}">
                <a16:creationId xmlns:a16="http://schemas.microsoft.com/office/drawing/2014/main" id="{B4743E52-A6F8-2793-D33E-C47B6EC2CD11}"/>
              </a:ext>
            </a:extLst>
          </p:cNvPr>
          <p:cNvPicPr>
            <a:picLocks noGrp="1" noChangeAspect="1"/>
          </p:cNvPicPr>
          <p:nvPr>
            <p:ph idx="1"/>
          </p:nvPr>
        </p:nvPicPr>
        <p:blipFill>
          <a:blip r:embed="rId2"/>
          <a:stretch>
            <a:fillRect/>
          </a:stretch>
        </p:blipFill>
        <p:spPr>
          <a:xfrm>
            <a:off x="663879" y="1450209"/>
            <a:ext cx="3958225" cy="1476223"/>
          </a:xfrm>
        </p:spPr>
      </p:pic>
      <p:pic>
        <p:nvPicPr>
          <p:cNvPr id="7" name="Picture 6">
            <a:extLst>
              <a:ext uri="{FF2B5EF4-FFF2-40B4-BE49-F238E27FC236}">
                <a16:creationId xmlns:a16="http://schemas.microsoft.com/office/drawing/2014/main" id="{72709499-C68A-23C9-2E07-A448CEAB1A5D}"/>
              </a:ext>
            </a:extLst>
          </p:cNvPr>
          <p:cNvPicPr>
            <a:picLocks noChangeAspect="1"/>
          </p:cNvPicPr>
          <p:nvPr/>
        </p:nvPicPr>
        <p:blipFill>
          <a:blip r:embed="rId3"/>
          <a:stretch>
            <a:fillRect/>
          </a:stretch>
        </p:blipFill>
        <p:spPr>
          <a:xfrm>
            <a:off x="435148" y="3504360"/>
            <a:ext cx="4415685" cy="2478580"/>
          </a:xfrm>
          <a:prstGeom prst="rect">
            <a:avLst/>
          </a:prstGeom>
        </p:spPr>
      </p:pic>
      <p:pic>
        <p:nvPicPr>
          <p:cNvPr id="9" name="Picture 8">
            <a:extLst>
              <a:ext uri="{FF2B5EF4-FFF2-40B4-BE49-F238E27FC236}">
                <a16:creationId xmlns:a16="http://schemas.microsoft.com/office/drawing/2014/main" id="{4E835A82-FF84-1E7B-FE31-BCC3DEA18E34}"/>
              </a:ext>
            </a:extLst>
          </p:cNvPr>
          <p:cNvPicPr>
            <a:picLocks noChangeAspect="1"/>
          </p:cNvPicPr>
          <p:nvPr/>
        </p:nvPicPr>
        <p:blipFill>
          <a:blip r:embed="rId4"/>
          <a:stretch>
            <a:fillRect/>
          </a:stretch>
        </p:blipFill>
        <p:spPr>
          <a:xfrm>
            <a:off x="5016180" y="1678486"/>
            <a:ext cx="7049951" cy="4133885"/>
          </a:xfrm>
          <a:prstGeom prst="rect">
            <a:avLst/>
          </a:prstGeom>
        </p:spPr>
      </p:pic>
    </p:spTree>
    <p:extLst>
      <p:ext uri="{BB962C8B-B14F-4D97-AF65-F5344CB8AC3E}">
        <p14:creationId xmlns:p14="http://schemas.microsoft.com/office/powerpoint/2010/main" val="2867140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62D0-3300-4889-01E3-6CF8DE6F4928}"/>
              </a:ext>
            </a:extLst>
          </p:cNvPr>
          <p:cNvSpPr>
            <a:spLocks noGrp="1"/>
          </p:cNvSpPr>
          <p:nvPr>
            <p:ph type="title"/>
          </p:nvPr>
        </p:nvSpPr>
        <p:spPr/>
        <p:txBody>
          <a:bodyPr/>
          <a:lstStyle/>
          <a:p>
            <a:r>
              <a:rPr lang="en-VN" dirty="0"/>
              <a:t>ĐIỀU KIỆN ỔN ĐỊNH </a:t>
            </a:r>
            <a:r>
              <a:rPr lang="en-US" dirty="0"/>
              <a:t>Routh – Hurwitz (RH)</a:t>
            </a:r>
            <a:endParaRPr lang="en-VN" dirty="0"/>
          </a:p>
        </p:txBody>
      </p:sp>
      <p:pic>
        <p:nvPicPr>
          <p:cNvPr id="5" name="Content Placeholder 4">
            <a:extLst>
              <a:ext uri="{FF2B5EF4-FFF2-40B4-BE49-F238E27FC236}">
                <a16:creationId xmlns:a16="http://schemas.microsoft.com/office/drawing/2014/main" id="{E92693D2-140A-AC8C-3FE6-C16A527EBCA7}"/>
              </a:ext>
            </a:extLst>
          </p:cNvPr>
          <p:cNvPicPr>
            <a:picLocks noGrp="1" noChangeAspect="1"/>
          </p:cNvPicPr>
          <p:nvPr>
            <p:ph idx="1"/>
          </p:nvPr>
        </p:nvPicPr>
        <p:blipFill>
          <a:blip r:embed="rId2"/>
          <a:stretch>
            <a:fillRect/>
          </a:stretch>
        </p:blipFill>
        <p:spPr>
          <a:xfrm>
            <a:off x="3929116" y="1416213"/>
            <a:ext cx="4648200" cy="1219200"/>
          </a:xfrm>
        </p:spPr>
      </p:pic>
      <p:sp>
        <p:nvSpPr>
          <p:cNvPr id="6" name="TextBox 5">
            <a:extLst>
              <a:ext uri="{FF2B5EF4-FFF2-40B4-BE49-F238E27FC236}">
                <a16:creationId xmlns:a16="http://schemas.microsoft.com/office/drawing/2014/main" id="{2E5CC826-A985-23DD-03C2-248C4FE96898}"/>
              </a:ext>
            </a:extLst>
          </p:cNvPr>
          <p:cNvSpPr txBox="1"/>
          <p:nvPr/>
        </p:nvSpPr>
        <p:spPr>
          <a:xfrm>
            <a:off x="4096011" y="2810013"/>
            <a:ext cx="5561556"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Lập bảng Routh-Hurwitz cho hệ thống sau</a:t>
            </a:r>
          </a:p>
        </p:txBody>
      </p:sp>
      <p:pic>
        <p:nvPicPr>
          <p:cNvPr id="8" name="Picture 7">
            <a:extLst>
              <a:ext uri="{FF2B5EF4-FFF2-40B4-BE49-F238E27FC236}">
                <a16:creationId xmlns:a16="http://schemas.microsoft.com/office/drawing/2014/main" id="{9723E215-DA61-B8FD-96DA-4D6995980F0C}"/>
              </a:ext>
            </a:extLst>
          </p:cNvPr>
          <p:cNvPicPr>
            <a:picLocks noChangeAspect="1"/>
          </p:cNvPicPr>
          <p:nvPr/>
        </p:nvPicPr>
        <p:blipFill>
          <a:blip r:embed="rId3"/>
          <a:stretch>
            <a:fillRect/>
          </a:stretch>
        </p:blipFill>
        <p:spPr>
          <a:xfrm>
            <a:off x="781310" y="3930475"/>
            <a:ext cx="4206911" cy="1079935"/>
          </a:xfrm>
          <a:prstGeom prst="rect">
            <a:avLst/>
          </a:prstGeom>
        </p:spPr>
      </p:pic>
      <p:pic>
        <p:nvPicPr>
          <p:cNvPr id="10" name="Picture 9">
            <a:extLst>
              <a:ext uri="{FF2B5EF4-FFF2-40B4-BE49-F238E27FC236}">
                <a16:creationId xmlns:a16="http://schemas.microsoft.com/office/drawing/2014/main" id="{FE61DE30-50B3-EED8-E90C-CF0310C66C6F}"/>
              </a:ext>
            </a:extLst>
          </p:cNvPr>
          <p:cNvPicPr>
            <a:picLocks noChangeAspect="1"/>
          </p:cNvPicPr>
          <p:nvPr/>
        </p:nvPicPr>
        <p:blipFill>
          <a:blip r:embed="rId4"/>
          <a:stretch>
            <a:fillRect/>
          </a:stretch>
        </p:blipFill>
        <p:spPr>
          <a:xfrm>
            <a:off x="5398717" y="3356932"/>
            <a:ext cx="6535185" cy="2432425"/>
          </a:xfrm>
          <a:prstGeom prst="rect">
            <a:avLst/>
          </a:prstGeom>
        </p:spPr>
      </p:pic>
    </p:spTree>
    <p:extLst>
      <p:ext uri="{BB962C8B-B14F-4D97-AF65-F5344CB8AC3E}">
        <p14:creationId xmlns:p14="http://schemas.microsoft.com/office/powerpoint/2010/main" val="53092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AE7A3-EC9C-2A5C-78F4-2E1670B7EF55}"/>
              </a:ext>
            </a:extLst>
          </p:cNvPr>
          <p:cNvSpPr>
            <a:spLocks noGrp="1"/>
          </p:cNvSpPr>
          <p:nvPr>
            <p:ph type="title"/>
          </p:nvPr>
        </p:nvSpPr>
        <p:spPr/>
        <p:txBody>
          <a:bodyPr/>
          <a:lstStyle/>
          <a:p>
            <a:r>
              <a:rPr lang="en-VN" dirty="0"/>
              <a:t>ĐIỀU KIỆN ỔN ĐỊNH </a:t>
            </a:r>
            <a:r>
              <a:rPr lang="en-US" dirty="0"/>
              <a:t>Routh – Hurwitz (RH)</a:t>
            </a:r>
            <a:endParaRPr lang="en-VN" dirty="0"/>
          </a:p>
        </p:txBody>
      </p:sp>
      <p:sp>
        <p:nvSpPr>
          <p:cNvPr id="3" name="Content Placeholder 2">
            <a:extLst>
              <a:ext uri="{FF2B5EF4-FFF2-40B4-BE49-F238E27FC236}">
                <a16:creationId xmlns:a16="http://schemas.microsoft.com/office/drawing/2014/main" id="{964D2EC9-B872-EFC1-3906-CABCC8969032}"/>
              </a:ext>
            </a:extLst>
          </p:cNvPr>
          <p:cNvSpPr>
            <a:spLocks noGrp="1"/>
          </p:cNvSpPr>
          <p:nvPr>
            <p:ph idx="1"/>
          </p:nvPr>
        </p:nvSpPr>
        <p:spPr/>
        <p:txBody>
          <a:bodyPr/>
          <a:lstStyle/>
          <a:p>
            <a:pPr algn="just"/>
            <a:r>
              <a:rPr lang="vi-VN" dirty="0"/>
              <a:t>Điều kiện Routh-Hurwitz được phát biểu như sau: Số nghiệm của phương trình đặc trưng có phần thực dương đúng bằng số lần đổi dấu của các phần tử trong cột thứ nhất của bảng Routh-Hurwitz. Điều đó có nghĩa là, điều kiện cần và đủ để hệ thống ổn định là tất cả các phần tử của cột thứ nhất trong bảng Routh-Hurwitz đều có cùng dấu. </a:t>
            </a:r>
            <a:endParaRPr lang="en-VN" dirty="0"/>
          </a:p>
        </p:txBody>
      </p:sp>
    </p:spTree>
    <p:extLst>
      <p:ext uri="{BB962C8B-B14F-4D97-AF65-F5344CB8AC3E}">
        <p14:creationId xmlns:p14="http://schemas.microsoft.com/office/powerpoint/2010/main" val="3050693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DE8B-B2AB-706F-4C64-24B8C4718B1B}"/>
              </a:ext>
            </a:extLst>
          </p:cNvPr>
          <p:cNvSpPr>
            <a:spLocks noGrp="1"/>
          </p:cNvSpPr>
          <p:nvPr>
            <p:ph type="title"/>
          </p:nvPr>
        </p:nvSpPr>
        <p:spPr/>
        <p:txBody>
          <a:bodyPr/>
          <a:lstStyle/>
          <a:p>
            <a:r>
              <a:rPr lang="en-VN" dirty="0"/>
              <a:t>ĐIỀU KIỆN ỔN ĐỊNH </a:t>
            </a:r>
            <a:r>
              <a:rPr lang="en-US" dirty="0"/>
              <a:t>Routh – Hurwitz (RH)</a:t>
            </a:r>
            <a:endParaRPr lang="en-VN" dirty="0"/>
          </a:p>
        </p:txBody>
      </p:sp>
      <p:pic>
        <p:nvPicPr>
          <p:cNvPr id="5" name="Content Placeholder 4">
            <a:extLst>
              <a:ext uri="{FF2B5EF4-FFF2-40B4-BE49-F238E27FC236}">
                <a16:creationId xmlns:a16="http://schemas.microsoft.com/office/drawing/2014/main" id="{0FEDD692-6BB9-1A02-0610-1E57F31CCEA4}"/>
              </a:ext>
            </a:extLst>
          </p:cNvPr>
          <p:cNvPicPr>
            <a:picLocks noGrp="1" noChangeAspect="1"/>
          </p:cNvPicPr>
          <p:nvPr>
            <p:ph idx="1"/>
          </p:nvPr>
        </p:nvPicPr>
        <p:blipFill>
          <a:blip r:embed="rId2"/>
          <a:stretch>
            <a:fillRect/>
          </a:stretch>
        </p:blipFill>
        <p:spPr>
          <a:xfrm>
            <a:off x="2957604" y="1660482"/>
            <a:ext cx="6276791" cy="491965"/>
          </a:xfrm>
        </p:spPr>
      </p:pic>
      <p:sp>
        <p:nvSpPr>
          <p:cNvPr id="6" name="TextBox 5">
            <a:extLst>
              <a:ext uri="{FF2B5EF4-FFF2-40B4-BE49-F238E27FC236}">
                <a16:creationId xmlns:a16="http://schemas.microsoft.com/office/drawing/2014/main" id="{74126796-43EE-0305-72EF-265540CD3DAA}"/>
              </a:ext>
            </a:extLst>
          </p:cNvPr>
          <p:cNvSpPr txBox="1"/>
          <p:nvPr/>
        </p:nvSpPr>
        <p:spPr>
          <a:xfrm>
            <a:off x="2004163" y="2409180"/>
            <a:ext cx="8379913" cy="646331"/>
          </a:xfrm>
          <a:prstGeom prst="rect">
            <a:avLst/>
          </a:prstGeom>
          <a:noFill/>
        </p:spPr>
        <p:txBody>
          <a:bodyPr wrap="square" rtlCol="0">
            <a:spAutoFit/>
          </a:bodyPr>
          <a:lstStyle/>
          <a:p>
            <a:pPr algn="just"/>
            <a:r>
              <a:rPr lang="en-VN" dirty="0">
                <a:latin typeface="Arial" panose="020B0604020202020204" pitchFamily="34" charset="0"/>
                <a:cs typeface="Arial" panose="020B0604020202020204" pitchFamily="34" charset="0"/>
              </a:rPr>
              <a:t>Lập bảng Routh-Hurwitz cho đa thức sau, cho biết có bao nhiêu điểm cực nằm bên phải và bên trái của mặt phẳng s.</a:t>
            </a:r>
          </a:p>
        </p:txBody>
      </p:sp>
    </p:spTree>
    <p:extLst>
      <p:ext uri="{BB962C8B-B14F-4D97-AF65-F5344CB8AC3E}">
        <p14:creationId xmlns:p14="http://schemas.microsoft.com/office/powerpoint/2010/main" val="3517792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7BAD-0CF6-13E6-00A1-259F84EEA31E}"/>
              </a:ext>
            </a:extLst>
          </p:cNvPr>
          <p:cNvSpPr>
            <a:spLocks noGrp="1"/>
          </p:cNvSpPr>
          <p:nvPr>
            <p:ph type="title"/>
          </p:nvPr>
        </p:nvSpPr>
        <p:spPr/>
        <p:txBody>
          <a:bodyPr/>
          <a:lstStyle/>
          <a:p>
            <a:r>
              <a:rPr lang="en-VN" dirty="0"/>
              <a:t>ĐIỀU KIỆN ỔN ĐỊNH </a:t>
            </a:r>
            <a:r>
              <a:rPr lang="en-US" dirty="0"/>
              <a:t>Routh – Hurwitz (RH)</a:t>
            </a:r>
            <a:endParaRPr lang="en-VN" dirty="0"/>
          </a:p>
        </p:txBody>
      </p:sp>
      <p:sp>
        <p:nvSpPr>
          <p:cNvPr id="3" name="Content Placeholder 2">
            <a:extLst>
              <a:ext uri="{FF2B5EF4-FFF2-40B4-BE49-F238E27FC236}">
                <a16:creationId xmlns:a16="http://schemas.microsoft.com/office/drawing/2014/main" id="{533C78C2-945C-EB75-DA5A-1ADCD62648AC}"/>
              </a:ext>
            </a:extLst>
          </p:cNvPr>
          <p:cNvSpPr>
            <a:spLocks noGrp="1"/>
          </p:cNvSpPr>
          <p:nvPr>
            <p:ph idx="1"/>
          </p:nvPr>
        </p:nvSpPr>
        <p:spPr/>
        <p:txBody>
          <a:bodyPr/>
          <a:lstStyle/>
          <a:p>
            <a:r>
              <a:rPr lang="en-VN" b="1" dirty="0">
                <a:solidFill>
                  <a:srgbClr val="C00000"/>
                </a:solidFill>
              </a:rPr>
              <a:t>Trường hợp đặc biệt thứ nhất: </a:t>
            </a:r>
            <a:r>
              <a:rPr lang="vi-VN" dirty="0"/>
              <a:t>Một phần tử của cột thứ nhất bằng không, nhưng trong các phần tử cùng hàng với nó có ít nhất một phần tử khác không. </a:t>
            </a:r>
            <a:endParaRPr lang="en-VN" dirty="0"/>
          </a:p>
        </p:txBody>
      </p:sp>
      <p:pic>
        <p:nvPicPr>
          <p:cNvPr id="5" name="Picture 4">
            <a:extLst>
              <a:ext uri="{FF2B5EF4-FFF2-40B4-BE49-F238E27FC236}">
                <a16:creationId xmlns:a16="http://schemas.microsoft.com/office/drawing/2014/main" id="{D75FC1D9-D643-B559-7F0B-3584B2CABEC0}"/>
              </a:ext>
            </a:extLst>
          </p:cNvPr>
          <p:cNvPicPr>
            <a:picLocks noChangeAspect="1"/>
          </p:cNvPicPr>
          <p:nvPr/>
        </p:nvPicPr>
        <p:blipFill>
          <a:blip r:embed="rId2"/>
          <a:stretch>
            <a:fillRect/>
          </a:stretch>
        </p:blipFill>
        <p:spPr>
          <a:xfrm>
            <a:off x="464941" y="2230880"/>
            <a:ext cx="3746500" cy="863600"/>
          </a:xfrm>
          <a:prstGeom prst="rect">
            <a:avLst/>
          </a:prstGeom>
        </p:spPr>
      </p:pic>
      <p:pic>
        <p:nvPicPr>
          <p:cNvPr id="7" name="Picture 6">
            <a:extLst>
              <a:ext uri="{FF2B5EF4-FFF2-40B4-BE49-F238E27FC236}">
                <a16:creationId xmlns:a16="http://schemas.microsoft.com/office/drawing/2014/main" id="{0C74E85B-E7C0-B35A-736D-22C27D7333EB}"/>
              </a:ext>
            </a:extLst>
          </p:cNvPr>
          <p:cNvPicPr>
            <a:picLocks noChangeAspect="1"/>
          </p:cNvPicPr>
          <p:nvPr/>
        </p:nvPicPr>
        <p:blipFill>
          <a:blip r:embed="rId3"/>
          <a:stretch>
            <a:fillRect/>
          </a:stretch>
        </p:blipFill>
        <p:spPr>
          <a:xfrm>
            <a:off x="325241" y="3466213"/>
            <a:ext cx="3886200" cy="3238500"/>
          </a:xfrm>
          <a:prstGeom prst="rect">
            <a:avLst/>
          </a:prstGeom>
        </p:spPr>
      </p:pic>
      <p:pic>
        <p:nvPicPr>
          <p:cNvPr id="9" name="Picture 8">
            <a:extLst>
              <a:ext uri="{FF2B5EF4-FFF2-40B4-BE49-F238E27FC236}">
                <a16:creationId xmlns:a16="http://schemas.microsoft.com/office/drawing/2014/main" id="{CD56EFCD-3FD6-2CC3-B0DA-EB7FEB56FB94}"/>
              </a:ext>
            </a:extLst>
          </p:cNvPr>
          <p:cNvPicPr>
            <a:picLocks noChangeAspect="1"/>
          </p:cNvPicPr>
          <p:nvPr/>
        </p:nvPicPr>
        <p:blipFill>
          <a:blip r:embed="rId4"/>
          <a:stretch>
            <a:fillRect/>
          </a:stretch>
        </p:blipFill>
        <p:spPr>
          <a:xfrm>
            <a:off x="4912638" y="2230880"/>
            <a:ext cx="6350000" cy="3683000"/>
          </a:xfrm>
          <a:prstGeom prst="rect">
            <a:avLst/>
          </a:prstGeom>
        </p:spPr>
      </p:pic>
      <p:sp>
        <p:nvSpPr>
          <p:cNvPr id="10" name="Rectangle 9">
            <a:extLst>
              <a:ext uri="{FF2B5EF4-FFF2-40B4-BE49-F238E27FC236}">
                <a16:creationId xmlns:a16="http://schemas.microsoft.com/office/drawing/2014/main" id="{35AFEAD6-A689-FA11-B73E-08ECC879E2B0}"/>
              </a:ext>
            </a:extLst>
          </p:cNvPr>
          <p:cNvSpPr/>
          <p:nvPr/>
        </p:nvSpPr>
        <p:spPr>
          <a:xfrm>
            <a:off x="4912638" y="6150279"/>
            <a:ext cx="6350000" cy="554434"/>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latin typeface="Arial" panose="020B0604020202020204" pitchFamily="34" charset="0"/>
                <a:cs typeface="Arial" panose="020B0604020202020204" pitchFamily="34" charset="0"/>
              </a:rPr>
              <a:t>Hệ thống không ổn định</a:t>
            </a:r>
          </a:p>
        </p:txBody>
      </p:sp>
    </p:spTree>
    <p:extLst>
      <p:ext uri="{BB962C8B-B14F-4D97-AF65-F5344CB8AC3E}">
        <p14:creationId xmlns:p14="http://schemas.microsoft.com/office/powerpoint/2010/main" val="162486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84C81-3353-DFF5-D4EE-02C4AA317AFE}"/>
              </a:ext>
            </a:extLst>
          </p:cNvPr>
          <p:cNvSpPr>
            <a:spLocks noGrp="1"/>
          </p:cNvSpPr>
          <p:nvPr>
            <p:ph type="title"/>
          </p:nvPr>
        </p:nvSpPr>
        <p:spPr/>
        <p:txBody>
          <a:bodyPr/>
          <a:lstStyle/>
          <a:p>
            <a:r>
              <a:rPr lang="en-VN" dirty="0"/>
              <a:t>ĐIỀU KIỆN ỔN ĐỊNH </a:t>
            </a:r>
            <a:r>
              <a:rPr lang="en-US" dirty="0"/>
              <a:t>Routh – Hurwitz (RH)</a:t>
            </a:r>
            <a:endParaRPr lang="en-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438BED-6BE9-A96A-E526-FD29D98F112A}"/>
                  </a:ext>
                </a:extLst>
              </p:cNvPr>
              <p:cNvSpPr>
                <a:spLocks noGrp="1"/>
              </p:cNvSpPr>
              <p:nvPr>
                <p:ph idx="1"/>
              </p:nvPr>
            </p:nvSpPr>
            <p:spPr>
              <a:xfrm>
                <a:off x="1451579" y="1266316"/>
                <a:ext cx="9603275" cy="4444399"/>
              </a:xfrm>
            </p:spPr>
            <p:txBody>
              <a:bodyPr/>
              <a:lstStyle/>
              <a:p>
                <a:pPr algn="just"/>
                <a:r>
                  <a:rPr lang="en-VN" b="1" dirty="0">
                    <a:solidFill>
                      <a:srgbClr val="C00000"/>
                    </a:solidFill>
                  </a:rPr>
                  <a:t>Trường hợp đặc biệt thứ hai: </a:t>
                </a:r>
                <a:r>
                  <a:rPr lang="en-US" dirty="0" err="1"/>
                  <a:t>Mọi</a:t>
                </a:r>
                <a:r>
                  <a:rPr lang="en-US" dirty="0"/>
                  <a:t> </a:t>
                </a:r>
                <a:r>
                  <a:rPr lang="en-US" dirty="0" err="1"/>
                  <a:t>phần</a:t>
                </a:r>
                <a:r>
                  <a:rPr lang="en-US" dirty="0"/>
                  <a:t> </a:t>
                </a:r>
                <a:r>
                  <a:rPr lang="en-US" dirty="0" err="1"/>
                  <a:t>tử</a:t>
                </a:r>
                <a:r>
                  <a:rPr lang="en-US" dirty="0"/>
                  <a:t> </a:t>
                </a:r>
                <a:r>
                  <a:rPr lang="en-US" dirty="0" err="1"/>
                  <a:t>cùng</a:t>
                </a:r>
                <a:r>
                  <a:rPr lang="en-US" dirty="0"/>
                  <a:t> </a:t>
                </a:r>
                <a:r>
                  <a:rPr lang="en-US" dirty="0" err="1"/>
                  <a:t>hàng</a:t>
                </a:r>
                <a:r>
                  <a:rPr lang="en-US" dirty="0"/>
                  <a:t> </a:t>
                </a:r>
                <a:r>
                  <a:rPr lang="en-US" dirty="0" err="1"/>
                  <a:t>với</a:t>
                </a:r>
                <a:r>
                  <a:rPr lang="en-US" dirty="0"/>
                  <a:t> </a:t>
                </a:r>
                <a:r>
                  <a:rPr lang="en-US" dirty="0" err="1"/>
                  <a:t>một</a:t>
                </a:r>
                <a:r>
                  <a:rPr lang="en-US" dirty="0"/>
                  <a:t> </a:t>
                </a:r>
                <a:r>
                  <a:rPr lang="en-US" dirty="0" err="1"/>
                  <a:t>phần</a:t>
                </a:r>
                <a:r>
                  <a:rPr lang="en-US" dirty="0"/>
                  <a:t> </a:t>
                </a:r>
                <a:r>
                  <a:rPr lang="en-US" dirty="0" err="1"/>
                  <a:t>tử</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bằng</a:t>
                </a:r>
                <a:r>
                  <a:rPr lang="en-US" dirty="0"/>
                  <a:t> </a:t>
                </a:r>
                <a:r>
                  <a:rPr lang="en-US" dirty="0" err="1"/>
                  <a:t>không</a:t>
                </a:r>
                <a:r>
                  <a:rPr lang="en-US" dirty="0"/>
                  <a:t> </a:t>
                </a:r>
                <a:r>
                  <a:rPr lang="en-US" dirty="0" err="1"/>
                  <a:t>ở</a:t>
                </a:r>
                <a:r>
                  <a:rPr lang="en-US" dirty="0"/>
                  <a:t> </a:t>
                </a:r>
                <a:r>
                  <a:rPr lang="en-US" dirty="0" err="1"/>
                  <a:t>cột</a:t>
                </a:r>
                <a:r>
                  <a:rPr lang="en-US" dirty="0"/>
                  <a:t> </a:t>
                </a:r>
                <a:r>
                  <a:rPr lang="en-US" dirty="0" err="1"/>
                  <a:t>thứ</a:t>
                </a:r>
                <a:r>
                  <a:rPr lang="en-US" dirty="0"/>
                  <a:t> </a:t>
                </a:r>
                <a:r>
                  <a:rPr lang="en-US" dirty="0" err="1"/>
                  <a:t>nhất</a:t>
                </a:r>
                <a:r>
                  <a:rPr lang="en-US" dirty="0"/>
                  <a:t> </a:t>
                </a:r>
                <a:r>
                  <a:rPr lang="en-US" dirty="0" err="1"/>
                  <a:t>đều</a:t>
                </a:r>
                <a:r>
                  <a:rPr lang="en-US" dirty="0"/>
                  <a:t> </a:t>
                </a:r>
                <a:r>
                  <a:rPr lang="en-US" dirty="0" err="1"/>
                  <a:t>bằng</a:t>
                </a:r>
                <a:r>
                  <a:rPr lang="en-US" dirty="0"/>
                  <a:t> </a:t>
                </a:r>
                <a:r>
                  <a:rPr lang="en-US" dirty="0" err="1"/>
                  <a:t>không</a:t>
                </a:r>
                <a:r>
                  <a:rPr lang="en-US" dirty="0"/>
                  <a:t>. </a:t>
                </a:r>
                <a:r>
                  <a:rPr lang="vi-VN" dirty="0"/>
                  <a:t>Giả sử tất cả các phần tử ở hàng thứ </a:t>
                </a:r>
                <a14:m>
                  <m:oMath xmlns:m="http://schemas.openxmlformats.org/officeDocument/2006/math">
                    <m:r>
                      <a:rPr lang="en-US" b="0" i="1" smtClean="0">
                        <a:latin typeface="Cambria Math" panose="02040503050406030204" pitchFamily="18" charset="0"/>
                      </a:rPr>
                      <m:t>𝑘</m:t>
                    </m:r>
                  </m:oMath>
                </a14:m>
                <a:r>
                  <a:rPr lang="vi-VN" dirty="0"/>
                  <a:t> đều bằng không. Điều đó có nghĩa là tất cả các phần tử trong bảng từ hàng thứ </a:t>
                </a:r>
                <a14:m>
                  <m:oMath xmlns:m="http://schemas.openxmlformats.org/officeDocument/2006/math">
                    <m:r>
                      <a:rPr lang="en-US" b="0" i="1" smtClean="0">
                        <a:latin typeface="Cambria Math" panose="02040503050406030204" pitchFamily="18" charset="0"/>
                      </a:rPr>
                      <m:t>𝑘</m:t>
                    </m:r>
                  </m:oMath>
                </a14:m>
                <a:r>
                  <a:rPr lang="vi-VN" dirty="0"/>
                  <a:t> trở đi đều bằng không. Trường hợp này xảy ra khi phương trình đặc trưng có các nghiệm nằm đối xứng nhau qua tâm của trục tọa độ phức. Các nghiệm này chính là nghiệm của một phương trình phụ được thiết lập từ các phần tử ở hàng ngay trên của hàng đầu tiên toàn giá trị không, tức là hàng thứ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vi-VN" dirty="0"/>
                  <a:t>.</a:t>
                </a:r>
              </a:p>
              <a:p>
                <a:pPr algn="just"/>
                <a:endParaRPr lang="en-VN" dirty="0"/>
              </a:p>
            </p:txBody>
          </p:sp>
        </mc:Choice>
        <mc:Fallback xmlns="">
          <p:sp>
            <p:nvSpPr>
              <p:cNvPr id="3" name="Content Placeholder 2">
                <a:extLst>
                  <a:ext uri="{FF2B5EF4-FFF2-40B4-BE49-F238E27FC236}">
                    <a16:creationId xmlns:a16="http://schemas.microsoft.com/office/drawing/2014/main" id="{73438BED-6BE9-A96A-E526-FD29D98F112A}"/>
                  </a:ext>
                </a:extLst>
              </p:cNvPr>
              <p:cNvSpPr>
                <a:spLocks noGrp="1" noRot="1" noChangeAspect="1" noMove="1" noResize="1" noEditPoints="1" noAdjustHandles="1" noChangeArrowheads="1" noChangeShapeType="1" noTextEdit="1"/>
              </p:cNvSpPr>
              <p:nvPr>
                <p:ph idx="1"/>
              </p:nvPr>
            </p:nvSpPr>
            <p:spPr>
              <a:xfrm>
                <a:off x="1451579" y="1266316"/>
                <a:ext cx="9603275" cy="4444399"/>
              </a:xfrm>
              <a:blipFill>
                <a:blip r:embed="rId2"/>
                <a:stretch>
                  <a:fillRect l="-528" r="-661"/>
                </a:stretch>
              </a:blipFill>
            </p:spPr>
            <p:txBody>
              <a:bodyPr/>
              <a:lstStyle/>
              <a:p>
                <a:r>
                  <a:rPr lang="en-VN">
                    <a:noFill/>
                  </a:rPr>
                  <a:t> </a:t>
                </a:r>
              </a:p>
            </p:txBody>
          </p:sp>
        </mc:Fallback>
      </mc:AlternateContent>
      <p:sp>
        <p:nvSpPr>
          <p:cNvPr id="4" name="Rectangle 2">
            <a:extLst>
              <a:ext uri="{FF2B5EF4-FFF2-40B4-BE49-F238E27FC236}">
                <a16:creationId xmlns:a16="http://schemas.microsoft.com/office/drawing/2014/main" id="{DE1BC70A-6F21-CA12-AFD5-E8EF8847AC67}"/>
              </a:ext>
            </a:extLst>
          </p:cNvPr>
          <p:cNvSpPr>
            <a:spLocks noChangeArrowheads="1"/>
          </p:cNvSpPr>
          <p:nvPr/>
        </p:nvSpPr>
        <p:spPr bwMode="auto">
          <a:xfrm>
            <a:off x="4910203" y="4258848"/>
            <a:ext cx="3439146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graphicFrame>
        <p:nvGraphicFramePr>
          <p:cNvPr id="5" name="Object 4">
            <a:extLst>
              <a:ext uri="{FF2B5EF4-FFF2-40B4-BE49-F238E27FC236}">
                <a16:creationId xmlns:a16="http://schemas.microsoft.com/office/drawing/2014/main" id="{0F45B4AE-1E0E-F2EB-D47B-353433EBC6A8}"/>
              </a:ext>
            </a:extLst>
          </p:cNvPr>
          <p:cNvGraphicFramePr>
            <a:graphicFrameLocks noChangeAspect="1"/>
          </p:cNvGraphicFramePr>
          <p:nvPr>
            <p:extLst>
              <p:ext uri="{D42A27DB-BD31-4B8C-83A1-F6EECF244321}">
                <p14:modId xmlns:p14="http://schemas.microsoft.com/office/powerpoint/2010/main" val="1104029633"/>
              </p:ext>
            </p:extLst>
          </p:nvPr>
        </p:nvGraphicFramePr>
        <p:xfrm>
          <a:off x="5088622" y="4113883"/>
          <a:ext cx="1445992" cy="1041114"/>
        </p:xfrm>
        <a:graphic>
          <a:graphicData uri="http://schemas.openxmlformats.org/presentationml/2006/ole">
            <mc:AlternateContent xmlns:mc="http://schemas.openxmlformats.org/markup-compatibility/2006">
              <mc:Choice xmlns:v="urn:schemas-microsoft-com:vml" Requires="v">
                <p:oleObj r:id="rId3" imgW="14630400" imgH="10528300" progId="Equation.3">
                  <p:embed/>
                </p:oleObj>
              </mc:Choice>
              <mc:Fallback>
                <p:oleObj r:id="rId3" imgW="14630400" imgH="105283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8622" y="4113883"/>
                        <a:ext cx="1445992" cy="1041114"/>
                      </a:xfrm>
                      <a:prstGeom prst="rect">
                        <a:avLst/>
                      </a:prstGeom>
                      <a:noFill/>
                    </p:spPr>
                  </p:pic>
                </p:oleObj>
              </mc:Fallback>
            </mc:AlternateContent>
          </a:graphicData>
        </a:graphic>
      </p:graphicFrame>
    </p:spTree>
    <p:extLst>
      <p:ext uri="{BB962C8B-B14F-4D97-AF65-F5344CB8AC3E}">
        <p14:creationId xmlns:p14="http://schemas.microsoft.com/office/powerpoint/2010/main" val="287064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9F73-06AA-B54E-8CCD-0D1090535967}"/>
              </a:ext>
            </a:extLst>
          </p:cNvPr>
          <p:cNvSpPr>
            <a:spLocks noGrp="1"/>
          </p:cNvSpPr>
          <p:nvPr>
            <p:ph type="title"/>
          </p:nvPr>
        </p:nvSpPr>
        <p:spPr/>
        <p:txBody>
          <a:bodyPr/>
          <a:lstStyle/>
          <a:p>
            <a:r>
              <a:rPr lang="en-VN" dirty="0"/>
              <a:t>ĐIỀU KIỆN ỔN ĐỊNH </a:t>
            </a:r>
            <a:r>
              <a:rPr lang="en-US" dirty="0"/>
              <a:t>Routh – Hurwitz (RH)</a:t>
            </a:r>
            <a:endParaRPr lang="en-VN" dirty="0"/>
          </a:p>
        </p:txBody>
      </p:sp>
      <p:sp>
        <p:nvSpPr>
          <p:cNvPr id="3" name="Content Placeholder 2">
            <a:extLst>
              <a:ext uri="{FF2B5EF4-FFF2-40B4-BE49-F238E27FC236}">
                <a16:creationId xmlns:a16="http://schemas.microsoft.com/office/drawing/2014/main" id="{E6DD09C9-401A-559C-E0D1-3721172A3A3D}"/>
              </a:ext>
            </a:extLst>
          </p:cNvPr>
          <p:cNvSpPr>
            <a:spLocks noGrp="1"/>
          </p:cNvSpPr>
          <p:nvPr>
            <p:ph idx="1"/>
          </p:nvPr>
        </p:nvSpPr>
        <p:spPr>
          <a:xfrm>
            <a:off x="1451579" y="1244014"/>
            <a:ext cx="9603275" cy="674213"/>
          </a:xfrm>
        </p:spPr>
        <p:txBody>
          <a:bodyPr/>
          <a:lstStyle/>
          <a:p>
            <a:r>
              <a:rPr lang="en-VN" b="1" dirty="0">
                <a:solidFill>
                  <a:srgbClr val="C00000"/>
                </a:solidFill>
              </a:rPr>
              <a:t>Trường hợp đặc biệt thứ hai</a:t>
            </a:r>
            <a:endParaRPr lang="en-VN" dirty="0"/>
          </a:p>
        </p:txBody>
      </p:sp>
      <p:pic>
        <p:nvPicPr>
          <p:cNvPr id="5" name="Picture 4">
            <a:extLst>
              <a:ext uri="{FF2B5EF4-FFF2-40B4-BE49-F238E27FC236}">
                <a16:creationId xmlns:a16="http://schemas.microsoft.com/office/drawing/2014/main" id="{CC1D4876-034F-419A-57A8-7DDFEE2BBC98}"/>
              </a:ext>
            </a:extLst>
          </p:cNvPr>
          <p:cNvPicPr>
            <a:picLocks noChangeAspect="1"/>
          </p:cNvPicPr>
          <p:nvPr/>
        </p:nvPicPr>
        <p:blipFill>
          <a:blip r:embed="rId2"/>
          <a:stretch>
            <a:fillRect/>
          </a:stretch>
        </p:blipFill>
        <p:spPr>
          <a:xfrm>
            <a:off x="981846" y="1964930"/>
            <a:ext cx="4254033" cy="871064"/>
          </a:xfrm>
          <a:prstGeom prst="rect">
            <a:avLst/>
          </a:prstGeom>
        </p:spPr>
      </p:pic>
      <p:pic>
        <p:nvPicPr>
          <p:cNvPr id="7" name="Picture 6">
            <a:extLst>
              <a:ext uri="{FF2B5EF4-FFF2-40B4-BE49-F238E27FC236}">
                <a16:creationId xmlns:a16="http://schemas.microsoft.com/office/drawing/2014/main" id="{9A9B482F-F7E4-2E5D-746C-CB46A93AE531}"/>
              </a:ext>
            </a:extLst>
          </p:cNvPr>
          <p:cNvPicPr>
            <a:picLocks noChangeAspect="1"/>
          </p:cNvPicPr>
          <p:nvPr/>
        </p:nvPicPr>
        <p:blipFill>
          <a:blip r:embed="rId3"/>
          <a:stretch>
            <a:fillRect/>
          </a:stretch>
        </p:blipFill>
        <p:spPr>
          <a:xfrm>
            <a:off x="253797" y="3219955"/>
            <a:ext cx="5710129" cy="2845611"/>
          </a:xfrm>
          <a:prstGeom prst="rect">
            <a:avLst/>
          </a:prstGeom>
        </p:spPr>
      </p:pic>
      <p:pic>
        <p:nvPicPr>
          <p:cNvPr id="9" name="Picture 8">
            <a:extLst>
              <a:ext uri="{FF2B5EF4-FFF2-40B4-BE49-F238E27FC236}">
                <a16:creationId xmlns:a16="http://schemas.microsoft.com/office/drawing/2014/main" id="{2F5CA7DA-EAAE-2DEE-A408-F37EF877506D}"/>
              </a:ext>
            </a:extLst>
          </p:cNvPr>
          <p:cNvPicPr>
            <a:picLocks noChangeAspect="1"/>
          </p:cNvPicPr>
          <p:nvPr/>
        </p:nvPicPr>
        <p:blipFill>
          <a:blip r:embed="rId4"/>
          <a:stretch>
            <a:fillRect/>
          </a:stretch>
        </p:blipFill>
        <p:spPr>
          <a:xfrm>
            <a:off x="7599036" y="2469240"/>
            <a:ext cx="2755900" cy="635000"/>
          </a:xfrm>
          <a:prstGeom prst="rect">
            <a:avLst/>
          </a:prstGeom>
        </p:spPr>
      </p:pic>
      <p:pic>
        <p:nvPicPr>
          <p:cNvPr id="11" name="Picture 10">
            <a:extLst>
              <a:ext uri="{FF2B5EF4-FFF2-40B4-BE49-F238E27FC236}">
                <a16:creationId xmlns:a16="http://schemas.microsoft.com/office/drawing/2014/main" id="{F42702BE-C1AF-EB4F-B7BC-B82DCD2AEDCE}"/>
              </a:ext>
            </a:extLst>
          </p:cNvPr>
          <p:cNvPicPr>
            <a:picLocks noChangeAspect="1"/>
          </p:cNvPicPr>
          <p:nvPr/>
        </p:nvPicPr>
        <p:blipFill>
          <a:blip r:embed="rId5"/>
          <a:stretch>
            <a:fillRect/>
          </a:stretch>
        </p:blipFill>
        <p:spPr>
          <a:xfrm>
            <a:off x="7427586" y="3753761"/>
            <a:ext cx="3098800" cy="889000"/>
          </a:xfrm>
          <a:prstGeom prst="rect">
            <a:avLst/>
          </a:prstGeom>
        </p:spPr>
      </p:pic>
    </p:spTree>
    <p:extLst>
      <p:ext uri="{BB962C8B-B14F-4D97-AF65-F5344CB8AC3E}">
        <p14:creationId xmlns:p14="http://schemas.microsoft.com/office/powerpoint/2010/main" val="2693354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68DB-624A-1ED8-781D-805E927FA412}"/>
              </a:ext>
            </a:extLst>
          </p:cNvPr>
          <p:cNvSpPr>
            <a:spLocks noGrp="1"/>
          </p:cNvSpPr>
          <p:nvPr>
            <p:ph type="title"/>
          </p:nvPr>
        </p:nvSpPr>
        <p:spPr/>
        <p:txBody>
          <a:bodyPr/>
          <a:lstStyle/>
          <a:p>
            <a:r>
              <a:rPr lang="en-VN" dirty="0"/>
              <a:t>ĐIỀU KIỆN ỔN ĐỊNH </a:t>
            </a:r>
            <a:r>
              <a:rPr lang="en-US" dirty="0"/>
              <a:t>Routh – Hurwitz (RH)</a:t>
            </a:r>
            <a:endParaRPr lang="en-VN" dirty="0"/>
          </a:p>
        </p:txBody>
      </p:sp>
      <p:pic>
        <p:nvPicPr>
          <p:cNvPr id="5" name="Content Placeholder 4">
            <a:extLst>
              <a:ext uri="{FF2B5EF4-FFF2-40B4-BE49-F238E27FC236}">
                <a16:creationId xmlns:a16="http://schemas.microsoft.com/office/drawing/2014/main" id="{AC0B2088-AF90-F334-70EB-1AFDE6B7AE67}"/>
              </a:ext>
            </a:extLst>
          </p:cNvPr>
          <p:cNvPicPr>
            <a:picLocks noGrp="1" noChangeAspect="1"/>
          </p:cNvPicPr>
          <p:nvPr>
            <p:ph idx="1"/>
          </p:nvPr>
        </p:nvPicPr>
        <p:blipFill>
          <a:blip r:embed="rId2"/>
          <a:stretch>
            <a:fillRect/>
          </a:stretch>
        </p:blipFill>
        <p:spPr>
          <a:xfrm>
            <a:off x="6315309" y="1313259"/>
            <a:ext cx="4498172" cy="4231482"/>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35A01B0-62B4-9EC8-D1FC-8E291C40F23E}"/>
                  </a:ext>
                </a:extLst>
              </p:cNvPr>
              <p:cNvSpPr txBox="1"/>
              <p:nvPr/>
            </p:nvSpPr>
            <p:spPr>
              <a:xfrm>
                <a:off x="1039614" y="2263697"/>
                <a:ext cx="4627756" cy="1477328"/>
              </a:xfrm>
              <a:prstGeom prst="rect">
                <a:avLst/>
              </a:prstGeom>
              <a:noFill/>
            </p:spPr>
            <p:txBody>
              <a:bodyPr wrap="square" rtlCol="0">
                <a:spAutoFit/>
              </a:bodyPr>
              <a:lstStyle/>
              <a:p>
                <a:pPr algn="just"/>
                <a:r>
                  <a:rPr lang="en-VN" dirty="0">
                    <a:latin typeface="Arial" panose="020B0604020202020204" pitchFamily="34" charset="0"/>
                    <a:cs typeface="Arial" panose="020B0604020202020204" pitchFamily="34" charset="0"/>
                  </a:rPr>
                  <a:t>Các đa thức chẵn có các điểm cực đối xứng nhau qua tâm của trục toạ độ phức.</a:t>
                </a:r>
              </a:p>
              <a:p>
                <a:pPr algn="just"/>
                <a:r>
                  <a:rPr lang="en-VN" dirty="0">
                    <a:latin typeface="Arial" panose="020B0604020202020204" pitchFamily="34" charset="0"/>
                    <a:cs typeface="Arial" panose="020B0604020202020204" pitchFamily="34" charset="0"/>
                  </a:rPr>
                  <a:t>➔ Điều kiện cần để hệ thống có điểm cực nằm trên trục phức </a:t>
                </a:r>
                <a14:m>
                  <m:oMath xmlns:m="http://schemas.openxmlformats.org/officeDocument/2006/math">
                    <m:r>
                      <a:rPr lang="en-US" b="0" i="1" smtClean="0">
                        <a:latin typeface="Cambria Math" panose="02040503050406030204" pitchFamily="18" charset="0"/>
                        <a:cs typeface="Arial" panose="020B0604020202020204" pitchFamily="34" charset="0"/>
                      </a:rPr>
                      <m:t>𝑗</m:t>
                    </m:r>
                    <m:r>
                      <a:rPr lang="en-US" b="0" i="1" smtClean="0">
                        <a:latin typeface="Cambria Math" panose="02040503050406030204" pitchFamily="18" charset="0"/>
                        <a:cs typeface="Arial" panose="020B0604020202020204" pitchFamily="34" charset="0"/>
                      </a:rPr>
                      <m:t>𝜔</m:t>
                    </m:r>
                  </m:oMath>
                </a14:m>
                <a:r>
                  <a:rPr lang="en-VN" dirty="0">
                    <a:latin typeface="Arial" panose="020B0604020202020204" pitchFamily="34" charset="0"/>
                    <a:cs typeface="Arial" panose="020B0604020202020204" pitchFamily="34" charset="0"/>
                  </a:rPr>
                  <a:t> là xuất hiện một hàng trong bảng RH bằng 0.</a:t>
                </a:r>
              </a:p>
            </p:txBody>
          </p:sp>
        </mc:Choice>
        <mc:Fallback xmlns="">
          <p:sp>
            <p:nvSpPr>
              <p:cNvPr id="6" name="TextBox 5">
                <a:extLst>
                  <a:ext uri="{FF2B5EF4-FFF2-40B4-BE49-F238E27FC236}">
                    <a16:creationId xmlns:a16="http://schemas.microsoft.com/office/drawing/2014/main" id="{335A01B0-62B4-9EC8-D1FC-8E291C40F23E}"/>
                  </a:ext>
                </a:extLst>
              </p:cNvPr>
              <p:cNvSpPr txBox="1">
                <a:spLocks noRot="1" noChangeAspect="1" noMove="1" noResize="1" noEditPoints="1" noAdjustHandles="1" noChangeArrowheads="1" noChangeShapeType="1" noTextEdit="1"/>
              </p:cNvSpPr>
              <p:nvPr/>
            </p:nvSpPr>
            <p:spPr>
              <a:xfrm>
                <a:off x="1039614" y="2263697"/>
                <a:ext cx="4627756" cy="1477328"/>
              </a:xfrm>
              <a:prstGeom prst="rect">
                <a:avLst/>
              </a:prstGeom>
              <a:blipFill>
                <a:blip r:embed="rId3"/>
                <a:stretch>
                  <a:fillRect l="-1370" t="-1709" r="-1096" b="-5128"/>
                </a:stretch>
              </a:blipFill>
            </p:spPr>
            <p:txBody>
              <a:bodyPr/>
              <a:lstStyle/>
              <a:p>
                <a:r>
                  <a:rPr lang="en-VN">
                    <a:noFill/>
                  </a:rPr>
                  <a:t> </a:t>
                </a:r>
              </a:p>
            </p:txBody>
          </p:sp>
        </mc:Fallback>
      </mc:AlternateContent>
    </p:spTree>
    <p:extLst>
      <p:ext uri="{BB962C8B-B14F-4D97-AF65-F5344CB8AC3E}">
        <p14:creationId xmlns:p14="http://schemas.microsoft.com/office/powerpoint/2010/main" val="2531901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A6D2E-F404-673D-431F-C30AB1A4187C}"/>
              </a:ext>
            </a:extLst>
          </p:cNvPr>
          <p:cNvSpPr>
            <a:spLocks noGrp="1"/>
          </p:cNvSpPr>
          <p:nvPr>
            <p:ph type="title"/>
          </p:nvPr>
        </p:nvSpPr>
        <p:spPr/>
        <p:txBody>
          <a:bodyPr/>
          <a:lstStyle/>
          <a:p>
            <a:r>
              <a:rPr lang="en-VN" dirty="0"/>
              <a:t>ĐIỀU KIỆN ỔN ĐỊNH </a:t>
            </a:r>
            <a:r>
              <a:rPr lang="en-US" dirty="0"/>
              <a:t>Routh – Hurwitz (RH)</a:t>
            </a:r>
            <a:endParaRPr lang="en-VN" dirty="0"/>
          </a:p>
        </p:txBody>
      </p:sp>
      <p:pic>
        <p:nvPicPr>
          <p:cNvPr id="7" name="Picture 6">
            <a:extLst>
              <a:ext uri="{FF2B5EF4-FFF2-40B4-BE49-F238E27FC236}">
                <a16:creationId xmlns:a16="http://schemas.microsoft.com/office/drawing/2014/main" id="{89832819-AB5A-5AA0-5052-97B9836EBE73}"/>
              </a:ext>
            </a:extLst>
          </p:cNvPr>
          <p:cNvPicPr>
            <a:picLocks noChangeAspect="1"/>
          </p:cNvPicPr>
          <p:nvPr/>
        </p:nvPicPr>
        <p:blipFill>
          <a:blip r:embed="rId2"/>
          <a:stretch>
            <a:fillRect/>
          </a:stretch>
        </p:blipFill>
        <p:spPr>
          <a:xfrm>
            <a:off x="148373" y="2938663"/>
            <a:ext cx="7772400" cy="3721268"/>
          </a:xfrm>
          <a:prstGeom prst="rect">
            <a:avLst/>
          </a:prstGeom>
        </p:spPr>
      </p:pic>
      <p:pic>
        <p:nvPicPr>
          <p:cNvPr id="9" name="Picture 8">
            <a:extLst>
              <a:ext uri="{FF2B5EF4-FFF2-40B4-BE49-F238E27FC236}">
                <a16:creationId xmlns:a16="http://schemas.microsoft.com/office/drawing/2014/main" id="{515DFFD2-3050-630C-F1F1-3FF027970C17}"/>
              </a:ext>
            </a:extLst>
          </p:cNvPr>
          <p:cNvPicPr>
            <a:picLocks noChangeAspect="1"/>
          </p:cNvPicPr>
          <p:nvPr/>
        </p:nvPicPr>
        <p:blipFill>
          <a:blip r:embed="rId3"/>
          <a:stretch>
            <a:fillRect/>
          </a:stretch>
        </p:blipFill>
        <p:spPr>
          <a:xfrm>
            <a:off x="5993486" y="4857179"/>
            <a:ext cx="6043590" cy="1802752"/>
          </a:xfrm>
          <a:prstGeom prst="rect">
            <a:avLst/>
          </a:prstGeom>
        </p:spPr>
      </p:pic>
      <p:sp>
        <p:nvSpPr>
          <p:cNvPr id="10" name="Rectangle 9">
            <a:extLst>
              <a:ext uri="{FF2B5EF4-FFF2-40B4-BE49-F238E27FC236}">
                <a16:creationId xmlns:a16="http://schemas.microsoft.com/office/drawing/2014/main" id="{6BC9D452-58B7-F311-5B3B-CF008BAD11D3}"/>
              </a:ext>
            </a:extLst>
          </p:cNvPr>
          <p:cNvSpPr/>
          <p:nvPr/>
        </p:nvSpPr>
        <p:spPr>
          <a:xfrm>
            <a:off x="148373" y="3345366"/>
            <a:ext cx="1914603" cy="981307"/>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D38D6B3C-501A-472F-1E25-4F0D3E86DC12}"/>
              </a:ext>
            </a:extLst>
          </p:cNvPr>
          <p:cNvSpPr/>
          <p:nvPr/>
        </p:nvSpPr>
        <p:spPr>
          <a:xfrm>
            <a:off x="89208" y="3929127"/>
            <a:ext cx="1914603" cy="2616639"/>
          </a:xfrm>
          <a:prstGeom prst="rect">
            <a:avLst/>
          </a:prstGeom>
          <a:noFill/>
          <a:ln>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Oval 11">
            <a:extLst>
              <a:ext uri="{FF2B5EF4-FFF2-40B4-BE49-F238E27FC236}">
                <a16:creationId xmlns:a16="http://schemas.microsoft.com/office/drawing/2014/main" id="{F549C132-88EF-2629-920D-742F63392833}"/>
              </a:ext>
            </a:extLst>
          </p:cNvPr>
          <p:cNvSpPr/>
          <p:nvPr/>
        </p:nvSpPr>
        <p:spPr>
          <a:xfrm>
            <a:off x="1242881" y="4604946"/>
            <a:ext cx="868021" cy="8312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Oval 12">
            <a:extLst>
              <a:ext uri="{FF2B5EF4-FFF2-40B4-BE49-F238E27FC236}">
                <a16:creationId xmlns:a16="http://schemas.microsoft.com/office/drawing/2014/main" id="{EFCC1110-E373-4ACC-4679-0BA443B11C6F}"/>
              </a:ext>
            </a:extLst>
          </p:cNvPr>
          <p:cNvSpPr/>
          <p:nvPr/>
        </p:nvSpPr>
        <p:spPr>
          <a:xfrm>
            <a:off x="1242881" y="5077665"/>
            <a:ext cx="868021" cy="8312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7" name="Content Placeholder 16">
            <a:extLst>
              <a:ext uri="{FF2B5EF4-FFF2-40B4-BE49-F238E27FC236}">
                <a16:creationId xmlns:a16="http://schemas.microsoft.com/office/drawing/2014/main" id="{EDEBA721-BE6C-9D59-DD4B-82F41A8121A0}"/>
              </a:ext>
            </a:extLst>
          </p:cNvPr>
          <p:cNvPicPr>
            <a:picLocks noGrp="1" noChangeAspect="1"/>
          </p:cNvPicPr>
          <p:nvPr>
            <p:ph idx="1"/>
          </p:nvPr>
        </p:nvPicPr>
        <p:blipFill>
          <a:blip r:embed="rId4"/>
          <a:stretch>
            <a:fillRect/>
          </a:stretch>
        </p:blipFill>
        <p:spPr>
          <a:xfrm>
            <a:off x="148373" y="1219591"/>
            <a:ext cx="6218137" cy="1308564"/>
          </a:xfrm>
        </p:spPr>
      </p:pic>
      <p:pic>
        <p:nvPicPr>
          <p:cNvPr id="19" name="Picture 18">
            <a:extLst>
              <a:ext uri="{FF2B5EF4-FFF2-40B4-BE49-F238E27FC236}">
                <a16:creationId xmlns:a16="http://schemas.microsoft.com/office/drawing/2014/main" id="{7C5B37AE-F4FF-3E7F-D8DA-A47932BFF8D4}"/>
              </a:ext>
            </a:extLst>
          </p:cNvPr>
          <p:cNvPicPr>
            <a:picLocks noChangeAspect="1"/>
          </p:cNvPicPr>
          <p:nvPr/>
        </p:nvPicPr>
        <p:blipFill>
          <a:blip r:embed="rId5"/>
          <a:stretch>
            <a:fillRect/>
          </a:stretch>
        </p:blipFill>
        <p:spPr>
          <a:xfrm>
            <a:off x="6518451" y="1477159"/>
            <a:ext cx="5525176" cy="667291"/>
          </a:xfrm>
          <a:prstGeom prst="rect">
            <a:avLst/>
          </a:prstGeom>
        </p:spPr>
      </p:pic>
    </p:spTree>
    <p:extLst>
      <p:ext uri="{BB962C8B-B14F-4D97-AF65-F5344CB8AC3E}">
        <p14:creationId xmlns:p14="http://schemas.microsoft.com/office/powerpoint/2010/main" val="163403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6C95D-F026-B6BD-86EF-583201FF7B85}"/>
              </a:ext>
            </a:extLst>
          </p:cNvPr>
          <p:cNvSpPr>
            <a:spLocks noGrp="1"/>
          </p:cNvSpPr>
          <p:nvPr>
            <p:ph type="title"/>
          </p:nvPr>
        </p:nvSpPr>
        <p:spPr/>
        <p:txBody>
          <a:bodyPr/>
          <a:lstStyle/>
          <a:p>
            <a:r>
              <a:rPr lang="en-VN" dirty="0"/>
              <a:t>ĐIỀU KIỆN ỔN ĐỊNH </a:t>
            </a:r>
            <a:r>
              <a:rPr lang="en-US" dirty="0"/>
              <a:t>Routh – Hurwitz (RH)</a:t>
            </a:r>
            <a:endParaRPr lang="en-VN" dirty="0"/>
          </a:p>
        </p:txBody>
      </p:sp>
      <p:pic>
        <p:nvPicPr>
          <p:cNvPr id="5" name="Content Placeholder 4">
            <a:extLst>
              <a:ext uri="{FF2B5EF4-FFF2-40B4-BE49-F238E27FC236}">
                <a16:creationId xmlns:a16="http://schemas.microsoft.com/office/drawing/2014/main" id="{B1FDA4F6-3203-F382-089D-0A3C990D9A7D}"/>
              </a:ext>
            </a:extLst>
          </p:cNvPr>
          <p:cNvPicPr>
            <a:picLocks noGrp="1" noChangeAspect="1"/>
          </p:cNvPicPr>
          <p:nvPr>
            <p:ph idx="1"/>
          </p:nvPr>
        </p:nvPicPr>
        <p:blipFill>
          <a:blip r:embed="rId2"/>
          <a:stretch>
            <a:fillRect/>
          </a:stretch>
        </p:blipFill>
        <p:spPr>
          <a:xfrm>
            <a:off x="2701816" y="1457474"/>
            <a:ext cx="6788368" cy="741775"/>
          </a:xfrm>
        </p:spPr>
      </p:pic>
      <p:sp>
        <p:nvSpPr>
          <p:cNvPr id="6" name="TextBox 5">
            <a:extLst>
              <a:ext uri="{FF2B5EF4-FFF2-40B4-BE49-F238E27FC236}">
                <a16:creationId xmlns:a16="http://schemas.microsoft.com/office/drawing/2014/main" id="{90942EB9-39A6-B914-4B3B-775FD3D1C3B9}"/>
              </a:ext>
            </a:extLst>
          </p:cNvPr>
          <p:cNvSpPr txBox="1"/>
          <p:nvPr/>
        </p:nvSpPr>
        <p:spPr>
          <a:xfrm>
            <a:off x="2701816" y="2438400"/>
            <a:ext cx="6694432" cy="646331"/>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Xác định số điểm cực nằm bên trái, bên phải và trên trục phức của mặt phẳng s</a:t>
            </a:r>
          </a:p>
        </p:txBody>
      </p:sp>
      <p:pic>
        <p:nvPicPr>
          <p:cNvPr id="8" name="Picture 7">
            <a:extLst>
              <a:ext uri="{FF2B5EF4-FFF2-40B4-BE49-F238E27FC236}">
                <a16:creationId xmlns:a16="http://schemas.microsoft.com/office/drawing/2014/main" id="{8B445939-C1B7-7C3C-0319-545C2B73046E}"/>
              </a:ext>
            </a:extLst>
          </p:cNvPr>
          <p:cNvPicPr>
            <a:picLocks noChangeAspect="1"/>
          </p:cNvPicPr>
          <p:nvPr/>
        </p:nvPicPr>
        <p:blipFill>
          <a:blip r:embed="rId3"/>
          <a:stretch>
            <a:fillRect/>
          </a:stretch>
        </p:blipFill>
        <p:spPr>
          <a:xfrm>
            <a:off x="98316" y="3084731"/>
            <a:ext cx="7772400" cy="3611821"/>
          </a:xfrm>
          <a:prstGeom prst="rect">
            <a:avLst/>
          </a:prstGeom>
        </p:spPr>
      </p:pic>
      <p:pic>
        <p:nvPicPr>
          <p:cNvPr id="10" name="Picture 9">
            <a:extLst>
              <a:ext uri="{FF2B5EF4-FFF2-40B4-BE49-F238E27FC236}">
                <a16:creationId xmlns:a16="http://schemas.microsoft.com/office/drawing/2014/main" id="{96B31C42-7E5B-B02C-19E3-53991E58332D}"/>
              </a:ext>
            </a:extLst>
          </p:cNvPr>
          <p:cNvPicPr>
            <a:picLocks noChangeAspect="1"/>
          </p:cNvPicPr>
          <p:nvPr/>
        </p:nvPicPr>
        <p:blipFill>
          <a:blip r:embed="rId4"/>
          <a:stretch>
            <a:fillRect/>
          </a:stretch>
        </p:blipFill>
        <p:spPr>
          <a:xfrm>
            <a:off x="8019724" y="4008832"/>
            <a:ext cx="3909717" cy="1299840"/>
          </a:xfrm>
          <a:prstGeom prst="rect">
            <a:avLst/>
          </a:prstGeom>
        </p:spPr>
      </p:pic>
    </p:spTree>
    <p:extLst>
      <p:ext uri="{BB962C8B-B14F-4D97-AF65-F5344CB8AC3E}">
        <p14:creationId xmlns:p14="http://schemas.microsoft.com/office/powerpoint/2010/main" val="126668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8CD9-B07F-5934-1676-573F748A4C57}"/>
              </a:ext>
            </a:extLst>
          </p:cNvPr>
          <p:cNvSpPr>
            <a:spLocks noGrp="1"/>
          </p:cNvSpPr>
          <p:nvPr>
            <p:ph type="title"/>
          </p:nvPr>
        </p:nvSpPr>
        <p:spPr/>
        <p:txBody>
          <a:bodyPr/>
          <a:lstStyle/>
          <a:p>
            <a:r>
              <a:rPr lang="en-VN" dirty="0"/>
              <a:t>ĐIỀU KIỆN ỔN ĐỊNH </a:t>
            </a:r>
            <a:r>
              <a:rPr lang="en-US" dirty="0"/>
              <a:t>Routh – Hurwitz (RH)</a:t>
            </a:r>
            <a:endParaRPr lang="en-VN" dirty="0"/>
          </a:p>
        </p:txBody>
      </p:sp>
      <p:sp>
        <p:nvSpPr>
          <p:cNvPr id="3" name="Content Placeholder 2">
            <a:extLst>
              <a:ext uri="{FF2B5EF4-FFF2-40B4-BE49-F238E27FC236}">
                <a16:creationId xmlns:a16="http://schemas.microsoft.com/office/drawing/2014/main" id="{4DA31D52-5230-A9AC-AEF5-3B0832BC25A7}"/>
              </a:ext>
            </a:extLst>
          </p:cNvPr>
          <p:cNvSpPr>
            <a:spLocks noGrp="1"/>
          </p:cNvSpPr>
          <p:nvPr>
            <p:ph idx="1"/>
          </p:nvPr>
        </p:nvSpPr>
        <p:spPr>
          <a:xfrm>
            <a:off x="1451579" y="1244015"/>
            <a:ext cx="9603275" cy="1425444"/>
          </a:xfrm>
        </p:spPr>
        <p:txBody>
          <a:bodyPr/>
          <a:lstStyle/>
          <a:p>
            <a:pPr marL="0" indent="0">
              <a:buNone/>
            </a:pPr>
            <a:r>
              <a:rPr lang="vi-VN" dirty="0"/>
              <a:t>Một ổ đĩa máy tính có sơ đồ khối được biểu diễn trong Hình 6.1, ở đó G(s) là hàm chuyển thể hiện động lực của cơ cấu đầu đọc ghi và D(s) là hàm chuyển của bộ phận điều khiển. Xác định điều kiện để hệ thống ổn định.</a:t>
            </a:r>
          </a:p>
          <a:p>
            <a:pPr marL="0" indent="0">
              <a:buNone/>
            </a:pPr>
            <a:endParaRPr lang="en-VN" dirty="0"/>
          </a:p>
        </p:txBody>
      </p:sp>
      <p:sp>
        <p:nvSpPr>
          <p:cNvPr id="4" name="Rectangle 2">
            <a:extLst>
              <a:ext uri="{FF2B5EF4-FFF2-40B4-BE49-F238E27FC236}">
                <a16:creationId xmlns:a16="http://schemas.microsoft.com/office/drawing/2014/main" id="{33ECD468-0825-EDDD-A7A3-4AEF875375DF}"/>
              </a:ext>
            </a:extLst>
          </p:cNvPr>
          <p:cNvSpPr>
            <a:spLocks noChangeArrowheads="1"/>
          </p:cNvSpPr>
          <p:nvPr/>
        </p:nvSpPr>
        <p:spPr bwMode="auto">
          <a:xfrm>
            <a:off x="1578077" y="25839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VN"/>
          </a:p>
        </p:txBody>
      </p:sp>
      <p:graphicFrame>
        <p:nvGraphicFramePr>
          <p:cNvPr id="5" name="Object 4">
            <a:extLst>
              <a:ext uri="{FF2B5EF4-FFF2-40B4-BE49-F238E27FC236}">
                <a16:creationId xmlns:a16="http://schemas.microsoft.com/office/drawing/2014/main" id="{F1FBC69E-1622-81AB-4F07-72DAA2FB5F29}"/>
              </a:ext>
            </a:extLst>
          </p:cNvPr>
          <p:cNvGraphicFramePr>
            <a:graphicFrameLocks noChangeAspect="1"/>
          </p:cNvGraphicFramePr>
          <p:nvPr>
            <p:extLst>
              <p:ext uri="{D42A27DB-BD31-4B8C-83A1-F6EECF244321}">
                <p14:modId xmlns:p14="http://schemas.microsoft.com/office/powerpoint/2010/main" val="4201929389"/>
              </p:ext>
            </p:extLst>
          </p:nvPr>
        </p:nvGraphicFramePr>
        <p:xfrm>
          <a:off x="206476" y="2583992"/>
          <a:ext cx="2675799" cy="844989"/>
        </p:xfrm>
        <a:graphic>
          <a:graphicData uri="http://schemas.openxmlformats.org/presentationml/2006/ole">
            <mc:AlternateContent xmlns:mc="http://schemas.openxmlformats.org/markup-compatibility/2006">
              <mc:Choice xmlns:v="urn:schemas-microsoft-com:vml" Requires="v">
                <p:oleObj r:id="rId3" imgW="33350200" imgH="10528300" progId="Equation.3">
                  <p:embed/>
                </p:oleObj>
              </mc:Choice>
              <mc:Fallback>
                <p:oleObj r:id="rId3" imgW="33350200" imgH="105283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476" y="2583992"/>
                        <a:ext cx="2675799" cy="844989"/>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DA753BBC-F677-688D-AA65-4BFE2EA6F705}"/>
              </a:ext>
            </a:extLst>
          </p:cNvPr>
          <p:cNvSpPr>
            <a:spLocks noChangeArrowheads="1"/>
          </p:cNvSpPr>
          <p:nvPr/>
        </p:nvSpPr>
        <p:spPr bwMode="auto">
          <a:xfrm>
            <a:off x="5537199" y="2669458"/>
            <a:ext cx="16407105" cy="49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graphicFrame>
        <p:nvGraphicFramePr>
          <p:cNvPr id="7" name="Object 6">
            <a:extLst>
              <a:ext uri="{FF2B5EF4-FFF2-40B4-BE49-F238E27FC236}">
                <a16:creationId xmlns:a16="http://schemas.microsoft.com/office/drawing/2014/main" id="{BCA872B3-E39D-04C3-CD60-FD5077AE5FA1}"/>
              </a:ext>
            </a:extLst>
          </p:cNvPr>
          <p:cNvGraphicFramePr>
            <a:graphicFrameLocks noChangeAspect="1"/>
          </p:cNvGraphicFramePr>
          <p:nvPr>
            <p:extLst>
              <p:ext uri="{D42A27DB-BD31-4B8C-83A1-F6EECF244321}">
                <p14:modId xmlns:p14="http://schemas.microsoft.com/office/powerpoint/2010/main" val="3797338518"/>
              </p:ext>
            </p:extLst>
          </p:nvPr>
        </p:nvGraphicFramePr>
        <p:xfrm>
          <a:off x="4165600" y="2669459"/>
          <a:ext cx="2187022" cy="844986"/>
        </p:xfrm>
        <a:graphic>
          <a:graphicData uri="http://schemas.openxmlformats.org/presentationml/2006/ole">
            <mc:AlternateContent xmlns:mc="http://schemas.openxmlformats.org/markup-compatibility/2006">
              <mc:Choice xmlns:v="urn:schemas-microsoft-com:vml" Requires="v">
                <p:oleObj r:id="rId5" imgW="25742900" imgH="9944100" progId="Equation.3">
                  <p:embed/>
                </p:oleObj>
              </mc:Choice>
              <mc:Fallback>
                <p:oleObj r:id="rId5" imgW="25742900" imgH="9944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5600" y="2669459"/>
                        <a:ext cx="2187022" cy="844986"/>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59B3336C-D684-9438-CE40-B0EDDF7C4038}"/>
              </a:ext>
            </a:extLst>
          </p:cNvPr>
          <p:cNvSpPr>
            <a:spLocks noChangeArrowheads="1"/>
          </p:cNvSpPr>
          <p:nvPr/>
        </p:nvSpPr>
        <p:spPr bwMode="auto">
          <a:xfrm>
            <a:off x="2330244" y="4009435"/>
            <a:ext cx="1569156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graphicFrame>
        <p:nvGraphicFramePr>
          <p:cNvPr id="9" name="Object 8">
            <a:extLst>
              <a:ext uri="{FF2B5EF4-FFF2-40B4-BE49-F238E27FC236}">
                <a16:creationId xmlns:a16="http://schemas.microsoft.com/office/drawing/2014/main" id="{5818EA13-1C35-3493-379E-37837AFB5BC2}"/>
              </a:ext>
            </a:extLst>
          </p:cNvPr>
          <p:cNvGraphicFramePr>
            <a:graphicFrameLocks noChangeAspect="1"/>
          </p:cNvGraphicFramePr>
          <p:nvPr>
            <p:extLst>
              <p:ext uri="{D42A27DB-BD31-4B8C-83A1-F6EECF244321}">
                <p14:modId xmlns:p14="http://schemas.microsoft.com/office/powerpoint/2010/main" val="806769451"/>
              </p:ext>
            </p:extLst>
          </p:nvPr>
        </p:nvGraphicFramePr>
        <p:xfrm>
          <a:off x="835640" y="3891696"/>
          <a:ext cx="6430963" cy="2149475"/>
        </p:xfrm>
        <a:graphic>
          <a:graphicData uri="http://schemas.openxmlformats.org/presentationml/2006/ole">
            <mc:AlternateContent xmlns:mc="http://schemas.openxmlformats.org/markup-compatibility/2006">
              <mc:Choice xmlns:v="urn:schemas-microsoft-com:vml" Requires="v">
                <p:oleObj name="Picture" r:id="rId7" imgW="4191000" imgH="1397000" progId="Word.Picture.8">
                  <p:embed/>
                </p:oleObj>
              </mc:Choice>
              <mc:Fallback>
                <p:oleObj name="Picture" r:id="rId7" imgW="4191000" imgH="1397000" progId="Word.Picture.8">
                  <p:embed/>
                  <p:pic>
                    <p:nvPicPr>
                      <p:cNvPr id="0" name="Object 5"/>
                      <p:cNvPicPr>
                        <a:picLocks noChangeAspect="1" noChangeArrowheads="1"/>
                      </p:cNvPicPr>
                      <p:nvPr/>
                    </p:nvPicPr>
                    <p:blipFill>
                      <a:blip r:embed="rId8"/>
                      <a:srcRect/>
                      <a:stretch>
                        <a:fillRect/>
                      </a:stretch>
                    </p:blipFill>
                    <p:spPr bwMode="auto">
                      <a:xfrm>
                        <a:off x="835640" y="3891696"/>
                        <a:ext cx="6430963" cy="2149475"/>
                      </a:xfrm>
                      <a:prstGeom prst="rect">
                        <a:avLst/>
                      </a:prstGeom>
                      <a:noFill/>
                    </p:spPr>
                  </p:pic>
                </p:oleObj>
              </mc:Fallback>
            </mc:AlternateContent>
          </a:graphicData>
        </a:graphic>
      </p:graphicFrame>
      <p:pic>
        <p:nvPicPr>
          <p:cNvPr id="10" name="Content Placeholder 4">
            <a:extLst>
              <a:ext uri="{FF2B5EF4-FFF2-40B4-BE49-F238E27FC236}">
                <a16:creationId xmlns:a16="http://schemas.microsoft.com/office/drawing/2014/main" id="{CB7E86AE-74A0-3C0D-370F-4E82F21BAA6E}"/>
              </a:ext>
            </a:extLst>
          </p:cNvPr>
          <p:cNvPicPr>
            <a:picLocks noChangeAspect="1"/>
          </p:cNvPicPr>
          <p:nvPr/>
        </p:nvPicPr>
        <p:blipFill>
          <a:blip r:embed="rId9"/>
          <a:stretch>
            <a:fillRect/>
          </a:stretch>
        </p:blipFill>
        <p:spPr>
          <a:xfrm>
            <a:off x="8060382" y="2669457"/>
            <a:ext cx="3925142" cy="2009044"/>
          </a:xfrm>
          <a:prstGeom prst="rect">
            <a:avLst/>
          </a:prstGeom>
        </p:spPr>
      </p:pic>
      <p:sp>
        <p:nvSpPr>
          <p:cNvPr id="11" name="Rectangle 8">
            <a:extLst>
              <a:ext uri="{FF2B5EF4-FFF2-40B4-BE49-F238E27FC236}">
                <a16:creationId xmlns:a16="http://schemas.microsoft.com/office/drawing/2014/main" id="{82C2A219-5993-EA7A-3F89-53D35E1216D4}"/>
              </a:ext>
            </a:extLst>
          </p:cNvPr>
          <p:cNvSpPr>
            <a:spLocks noChangeArrowheads="1"/>
          </p:cNvSpPr>
          <p:nvPr/>
        </p:nvSpPr>
        <p:spPr bwMode="auto">
          <a:xfrm>
            <a:off x="8429091" y="4914044"/>
            <a:ext cx="1859163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VN"/>
          </a:p>
        </p:txBody>
      </p:sp>
      <p:graphicFrame>
        <p:nvGraphicFramePr>
          <p:cNvPr id="12" name="Object 11">
            <a:extLst>
              <a:ext uri="{FF2B5EF4-FFF2-40B4-BE49-F238E27FC236}">
                <a16:creationId xmlns:a16="http://schemas.microsoft.com/office/drawing/2014/main" id="{2FFEA94E-B447-C454-C0BB-54E7CD951AA7}"/>
              </a:ext>
            </a:extLst>
          </p:cNvPr>
          <p:cNvGraphicFramePr>
            <a:graphicFrameLocks noChangeAspect="1"/>
          </p:cNvGraphicFramePr>
          <p:nvPr>
            <p:extLst>
              <p:ext uri="{D42A27DB-BD31-4B8C-83A1-F6EECF244321}">
                <p14:modId xmlns:p14="http://schemas.microsoft.com/office/powerpoint/2010/main" val="3230665350"/>
              </p:ext>
            </p:extLst>
          </p:nvPr>
        </p:nvGraphicFramePr>
        <p:xfrm>
          <a:off x="8429092" y="4914045"/>
          <a:ext cx="1214602" cy="699940"/>
        </p:xfrm>
        <a:graphic>
          <a:graphicData uri="http://schemas.openxmlformats.org/presentationml/2006/ole">
            <mc:AlternateContent xmlns:mc="http://schemas.openxmlformats.org/markup-compatibility/2006">
              <mc:Choice xmlns:v="urn:schemas-microsoft-com:vml" Requires="v">
                <p:oleObj r:id="rId10" imgW="17259300" imgH="9944100" progId="Equation.3">
                  <p:embed/>
                </p:oleObj>
              </mc:Choice>
              <mc:Fallback>
                <p:oleObj r:id="rId10" imgW="17259300" imgH="99441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29092" y="4914045"/>
                        <a:ext cx="1214602" cy="699940"/>
                      </a:xfrm>
                      <a:prstGeom prst="rect">
                        <a:avLst/>
                      </a:prstGeom>
                      <a:noFill/>
                    </p:spPr>
                  </p:pic>
                </p:oleObj>
              </mc:Fallback>
            </mc:AlternateContent>
          </a:graphicData>
        </a:graphic>
      </p:graphicFrame>
      <p:graphicFrame>
        <p:nvGraphicFramePr>
          <p:cNvPr id="14" name="Object 13">
            <a:extLst>
              <a:ext uri="{FF2B5EF4-FFF2-40B4-BE49-F238E27FC236}">
                <a16:creationId xmlns:a16="http://schemas.microsoft.com/office/drawing/2014/main" id="{5CC604B8-5D6B-C615-0B59-88885EA2A8BC}"/>
              </a:ext>
            </a:extLst>
          </p:cNvPr>
          <p:cNvGraphicFramePr>
            <a:graphicFrameLocks noChangeAspect="1"/>
          </p:cNvGraphicFramePr>
          <p:nvPr>
            <p:extLst>
              <p:ext uri="{D42A27DB-BD31-4B8C-83A1-F6EECF244321}">
                <p14:modId xmlns:p14="http://schemas.microsoft.com/office/powerpoint/2010/main" val="228571299"/>
              </p:ext>
            </p:extLst>
          </p:nvPr>
        </p:nvGraphicFramePr>
        <p:xfrm>
          <a:off x="10015238" y="4907698"/>
          <a:ext cx="2079231" cy="699939"/>
        </p:xfrm>
        <a:graphic>
          <a:graphicData uri="http://schemas.openxmlformats.org/presentationml/2006/ole">
            <mc:AlternateContent xmlns:mc="http://schemas.openxmlformats.org/markup-compatibility/2006">
              <mc:Choice xmlns:v="urn:schemas-microsoft-com:vml" Requires="v">
                <p:oleObj r:id="rId12" imgW="29552900" imgH="9944100" progId="Equation.3">
                  <p:embed/>
                </p:oleObj>
              </mc:Choice>
              <mc:Fallback>
                <p:oleObj r:id="rId12" imgW="29552900" imgH="99441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15238" y="4907698"/>
                        <a:ext cx="2079231" cy="699939"/>
                      </a:xfrm>
                      <a:prstGeom prst="rect">
                        <a:avLst/>
                      </a:prstGeom>
                      <a:noFill/>
                    </p:spPr>
                  </p:pic>
                </p:oleObj>
              </mc:Fallback>
            </mc:AlternateContent>
          </a:graphicData>
        </a:graphic>
      </p:graphicFrame>
      <p:sp>
        <p:nvSpPr>
          <p:cNvPr id="16" name="TextBox 15">
            <a:extLst>
              <a:ext uri="{FF2B5EF4-FFF2-40B4-BE49-F238E27FC236}">
                <a16:creationId xmlns:a16="http://schemas.microsoft.com/office/drawing/2014/main" id="{C6622668-0DDA-054F-9809-C80E73C75F27}"/>
              </a:ext>
            </a:extLst>
          </p:cNvPr>
          <p:cNvSpPr txBox="1"/>
          <p:nvPr/>
        </p:nvSpPr>
        <p:spPr>
          <a:xfrm>
            <a:off x="9643694" y="5647882"/>
            <a:ext cx="13509522" cy="461665"/>
          </a:xfrm>
          <a:prstGeom prst="rect">
            <a:avLst/>
          </a:prstGeom>
          <a:noFill/>
        </p:spPr>
        <p:txBody>
          <a:bodyPr wrap="square">
            <a:spAutoFit/>
          </a:bodyPr>
          <a:lstStyle/>
          <a:p>
            <a:r>
              <a:rPr lang="en-US" sz="2400" i="1" dirty="0">
                <a:effectLst/>
                <a:latin typeface="Times New Roman" panose="02020603050405020304" pitchFamily="18" charset="0"/>
                <a:ea typeface="Times New Roman" panose="02020603050405020304" pitchFamily="18" charset="0"/>
              </a:rPr>
              <a:t>Ka</a:t>
            </a:r>
            <a:r>
              <a:rPr lang="en-US" sz="2400" dirty="0">
                <a:effectLst/>
                <a:latin typeface="Times New Roman" panose="02020603050405020304" pitchFamily="18" charset="0"/>
                <a:ea typeface="Times New Roman" panose="02020603050405020304" pitchFamily="18" charset="0"/>
              </a:rPr>
              <a:t> &gt; 0</a:t>
            </a:r>
            <a:r>
              <a:rPr lang="en-VN" sz="2400" dirty="0">
                <a:effectLst/>
              </a:rPr>
              <a:t> </a:t>
            </a:r>
            <a:endParaRPr lang="en-VN" sz="2400" dirty="0"/>
          </a:p>
        </p:txBody>
      </p:sp>
    </p:spTree>
    <p:extLst>
      <p:ext uri="{BB962C8B-B14F-4D97-AF65-F5344CB8AC3E}">
        <p14:creationId xmlns:p14="http://schemas.microsoft.com/office/powerpoint/2010/main" val="96574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CD6C4-8611-0E7C-65CC-08B505241A23}"/>
              </a:ext>
            </a:extLst>
          </p:cNvPr>
          <p:cNvSpPr>
            <a:spLocks noGrp="1"/>
          </p:cNvSpPr>
          <p:nvPr>
            <p:ph type="title"/>
          </p:nvPr>
        </p:nvSpPr>
        <p:spPr/>
        <p:txBody>
          <a:bodyPr>
            <a:normAutofit fontScale="90000"/>
          </a:bodyPr>
          <a:lstStyle/>
          <a:p>
            <a:r>
              <a:rPr lang="en-VN" dirty="0"/>
              <a:t>TÍNH ỔN ĐỊNH TRONG KHÔNG GIAN TRẠNG THÁI</a:t>
            </a:r>
          </a:p>
        </p:txBody>
      </p:sp>
      <p:pic>
        <p:nvPicPr>
          <p:cNvPr id="8" name="Content Placeholder 4">
            <a:extLst>
              <a:ext uri="{FF2B5EF4-FFF2-40B4-BE49-F238E27FC236}">
                <a16:creationId xmlns:a16="http://schemas.microsoft.com/office/drawing/2014/main" id="{27F794A6-1241-8557-0BBE-3F9B798FF254}"/>
              </a:ext>
            </a:extLst>
          </p:cNvPr>
          <p:cNvPicPr>
            <a:picLocks noChangeAspect="1"/>
          </p:cNvPicPr>
          <p:nvPr/>
        </p:nvPicPr>
        <p:blipFill>
          <a:blip r:embed="rId2"/>
          <a:stretch>
            <a:fillRect/>
          </a:stretch>
        </p:blipFill>
        <p:spPr>
          <a:xfrm>
            <a:off x="2046432" y="1856869"/>
            <a:ext cx="1892300" cy="939800"/>
          </a:xfrm>
          <a:prstGeom prst="rect">
            <a:avLst/>
          </a:prstGeom>
        </p:spPr>
      </p:pic>
      <p:sp>
        <p:nvSpPr>
          <p:cNvPr id="9" name="TextBox 8">
            <a:extLst>
              <a:ext uri="{FF2B5EF4-FFF2-40B4-BE49-F238E27FC236}">
                <a16:creationId xmlns:a16="http://schemas.microsoft.com/office/drawing/2014/main" id="{C5D7CD32-2A46-F7CD-7360-B0F159DA6B2A}"/>
              </a:ext>
            </a:extLst>
          </p:cNvPr>
          <p:cNvSpPr txBox="1"/>
          <p:nvPr/>
        </p:nvSpPr>
        <p:spPr>
          <a:xfrm>
            <a:off x="1264722" y="1327030"/>
            <a:ext cx="9047019"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Mô hình hệ thống trong không gian trạng thái:</a:t>
            </a:r>
          </a:p>
        </p:txBody>
      </p:sp>
      <p:sp>
        <p:nvSpPr>
          <p:cNvPr id="10" name="TextBox 9">
            <a:extLst>
              <a:ext uri="{FF2B5EF4-FFF2-40B4-BE49-F238E27FC236}">
                <a16:creationId xmlns:a16="http://schemas.microsoft.com/office/drawing/2014/main" id="{2D5DD46E-EC36-86F7-9771-51F8210F0224}"/>
              </a:ext>
            </a:extLst>
          </p:cNvPr>
          <p:cNvSpPr txBox="1"/>
          <p:nvPr/>
        </p:nvSpPr>
        <p:spPr>
          <a:xfrm>
            <a:off x="4071216" y="2427337"/>
            <a:ext cx="1892300" cy="369332"/>
          </a:xfrm>
          <a:prstGeom prst="rect">
            <a:avLst/>
          </a:prstGeom>
          <a:solidFill>
            <a:schemeClr val="accent2">
              <a:lumMod val="20000"/>
              <a:lumOff val="80000"/>
            </a:schemeClr>
          </a:solidFill>
        </p:spPr>
        <p:txBody>
          <a:bodyPr wrap="square" rtlCol="0">
            <a:spAutoFit/>
          </a:bodyPr>
          <a:lstStyle/>
          <a:p>
            <a:pPr algn="ctr"/>
            <a:r>
              <a:rPr lang="en-VN" i="1" dirty="0"/>
              <a:t>Biến đổi Laplace</a:t>
            </a:r>
          </a:p>
        </p:txBody>
      </p:sp>
      <p:cxnSp>
        <p:nvCxnSpPr>
          <p:cNvPr id="11" name="Straight Arrow Connector 10">
            <a:extLst>
              <a:ext uri="{FF2B5EF4-FFF2-40B4-BE49-F238E27FC236}">
                <a16:creationId xmlns:a16="http://schemas.microsoft.com/office/drawing/2014/main" id="{21073532-FD6F-9BF0-7780-7A5E13524DB0}"/>
              </a:ext>
            </a:extLst>
          </p:cNvPr>
          <p:cNvCxnSpPr>
            <a:cxnSpLocks/>
          </p:cNvCxnSpPr>
          <p:nvPr/>
        </p:nvCxnSpPr>
        <p:spPr>
          <a:xfrm>
            <a:off x="4114800" y="2355213"/>
            <a:ext cx="18565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C23138C5-BE4A-96AB-6EB2-721A1D1A3B03}"/>
              </a:ext>
            </a:extLst>
          </p:cNvPr>
          <p:cNvPicPr>
            <a:picLocks noChangeAspect="1"/>
          </p:cNvPicPr>
          <p:nvPr/>
        </p:nvPicPr>
        <p:blipFill>
          <a:blip r:embed="rId3"/>
          <a:stretch>
            <a:fillRect/>
          </a:stretch>
        </p:blipFill>
        <p:spPr>
          <a:xfrm>
            <a:off x="6096000" y="1882269"/>
            <a:ext cx="2882900" cy="889000"/>
          </a:xfrm>
          <a:prstGeom prst="rect">
            <a:avLst/>
          </a:prstGeom>
        </p:spPr>
      </p:pic>
      <p:pic>
        <p:nvPicPr>
          <p:cNvPr id="13" name="Picture 12">
            <a:extLst>
              <a:ext uri="{FF2B5EF4-FFF2-40B4-BE49-F238E27FC236}">
                <a16:creationId xmlns:a16="http://schemas.microsoft.com/office/drawing/2014/main" id="{EEA7BAA2-AA0F-D0E0-6657-48039E23B4C6}"/>
              </a:ext>
            </a:extLst>
          </p:cNvPr>
          <p:cNvPicPr>
            <a:picLocks noChangeAspect="1"/>
          </p:cNvPicPr>
          <p:nvPr/>
        </p:nvPicPr>
        <p:blipFill>
          <a:blip r:embed="rId4"/>
          <a:stretch>
            <a:fillRect/>
          </a:stretch>
        </p:blipFill>
        <p:spPr>
          <a:xfrm>
            <a:off x="6248400" y="3527930"/>
            <a:ext cx="2578100" cy="508000"/>
          </a:xfrm>
          <a:prstGeom prst="rect">
            <a:avLst/>
          </a:prstGeom>
        </p:spPr>
      </p:pic>
      <p:pic>
        <p:nvPicPr>
          <p:cNvPr id="14" name="Picture 13">
            <a:extLst>
              <a:ext uri="{FF2B5EF4-FFF2-40B4-BE49-F238E27FC236}">
                <a16:creationId xmlns:a16="http://schemas.microsoft.com/office/drawing/2014/main" id="{C04FCBE5-70E6-1316-DD63-5E7E8CC594ED}"/>
              </a:ext>
            </a:extLst>
          </p:cNvPr>
          <p:cNvPicPr>
            <a:picLocks noChangeAspect="1"/>
          </p:cNvPicPr>
          <p:nvPr/>
        </p:nvPicPr>
        <p:blipFill>
          <a:blip r:embed="rId5"/>
          <a:stretch>
            <a:fillRect/>
          </a:stretch>
        </p:blipFill>
        <p:spPr>
          <a:xfrm>
            <a:off x="3822123" y="4247695"/>
            <a:ext cx="7124700" cy="647700"/>
          </a:xfrm>
          <a:prstGeom prst="rect">
            <a:avLst/>
          </a:prstGeom>
        </p:spPr>
      </p:pic>
      <p:cxnSp>
        <p:nvCxnSpPr>
          <p:cNvPr id="15" name="Straight Arrow Connector 14">
            <a:extLst>
              <a:ext uri="{FF2B5EF4-FFF2-40B4-BE49-F238E27FC236}">
                <a16:creationId xmlns:a16="http://schemas.microsoft.com/office/drawing/2014/main" id="{ECC4D0B8-ED32-195D-D097-5B935F1DFCD2}"/>
              </a:ext>
            </a:extLst>
          </p:cNvPr>
          <p:cNvCxnSpPr>
            <a:cxnSpLocks/>
          </p:cNvCxnSpPr>
          <p:nvPr/>
        </p:nvCxnSpPr>
        <p:spPr>
          <a:xfrm>
            <a:off x="7551882" y="2796669"/>
            <a:ext cx="0" cy="731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4246040E-0704-672B-3BD8-C95A999FE1C1}"/>
              </a:ext>
            </a:extLst>
          </p:cNvPr>
          <p:cNvPicPr>
            <a:picLocks noChangeAspect="1"/>
          </p:cNvPicPr>
          <p:nvPr/>
        </p:nvPicPr>
        <p:blipFill>
          <a:blip r:embed="rId6"/>
          <a:stretch>
            <a:fillRect/>
          </a:stretch>
        </p:blipFill>
        <p:spPr>
          <a:xfrm>
            <a:off x="5494482" y="5288984"/>
            <a:ext cx="4114800" cy="927100"/>
          </a:xfrm>
          <a:prstGeom prst="rect">
            <a:avLst/>
          </a:prstGeom>
        </p:spPr>
      </p:pic>
      <p:sp>
        <p:nvSpPr>
          <p:cNvPr id="17" name="Right Arrow 16">
            <a:extLst>
              <a:ext uri="{FF2B5EF4-FFF2-40B4-BE49-F238E27FC236}">
                <a16:creationId xmlns:a16="http://schemas.microsoft.com/office/drawing/2014/main" id="{83A8ADD9-C227-A1C7-CC97-B102CAEE946F}"/>
              </a:ext>
            </a:extLst>
          </p:cNvPr>
          <p:cNvSpPr/>
          <p:nvPr/>
        </p:nvSpPr>
        <p:spPr>
          <a:xfrm>
            <a:off x="4386985" y="5603035"/>
            <a:ext cx="623454" cy="2989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52380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linds(horizontal)">
                                      <p:cBhvr>
                                        <p:cTn id="18" dur="500"/>
                                        <p:tgtEl>
                                          <p:spTgt spid="15"/>
                                        </p:tgtEl>
                                      </p:cBhvr>
                                    </p:animEffect>
                                  </p:childTnLst>
                                </p:cTn>
                              </p:par>
                              <p:par>
                                <p:cTn id="19" presetID="3" presetClass="entr" presetSubtype="1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par>
                                <p:cTn id="22" presetID="3" presetClass="entr" presetSubtype="1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linds(horizontal)">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linds(horizontal)">
                                      <p:cBhvr>
                                        <p:cTn id="29" dur="500"/>
                                        <p:tgtEl>
                                          <p:spTgt spid="16"/>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1C02-420D-9567-F18F-F5E1C478127F}"/>
              </a:ext>
            </a:extLst>
          </p:cNvPr>
          <p:cNvSpPr>
            <a:spLocks noGrp="1"/>
          </p:cNvSpPr>
          <p:nvPr>
            <p:ph type="title"/>
          </p:nvPr>
        </p:nvSpPr>
        <p:spPr/>
        <p:txBody>
          <a:bodyPr>
            <a:normAutofit fontScale="90000"/>
          </a:bodyPr>
          <a:lstStyle/>
          <a:p>
            <a:r>
              <a:rPr lang="en-VN" dirty="0"/>
              <a:t>TÍNH ỔN ĐỊNH TRONG KHÔNG GIAN TRẠNG THÁI</a:t>
            </a:r>
          </a:p>
        </p:txBody>
      </p:sp>
      <p:graphicFrame>
        <p:nvGraphicFramePr>
          <p:cNvPr id="5" name="Object 4">
            <a:extLst>
              <a:ext uri="{FF2B5EF4-FFF2-40B4-BE49-F238E27FC236}">
                <a16:creationId xmlns:a16="http://schemas.microsoft.com/office/drawing/2014/main" id="{6310220C-3CAE-FA75-4043-05E8E968AEC3}"/>
              </a:ext>
            </a:extLst>
          </p:cNvPr>
          <p:cNvGraphicFramePr>
            <a:graphicFrameLocks noChangeAspect="1"/>
          </p:cNvGraphicFramePr>
          <p:nvPr>
            <p:extLst>
              <p:ext uri="{D42A27DB-BD31-4B8C-83A1-F6EECF244321}">
                <p14:modId xmlns:p14="http://schemas.microsoft.com/office/powerpoint/2010/main" val="2537353762"/>
              </p:ext>
            </p:extLst>
          </p:nvPr>
        </p:nvGraphicFramePr>
        <p:xfrm>
          <a:off x="4348215" y="1244600"/>
          <a:ext cx="3810001" cy="849086"/>
        </p:xfrm>
        <a:graphic>
          <a:graphicData uri="http://schemas.openxmlformats.org/presentationml/2006/ole">
            <mc:AlternateContent xmlns:mc="http://schemas.openxmlformats.org/markup-compatibility/2006">
              <mc:Choice xmlns:v="urn:schemas-microsoft-com:vml" Requires="v">
                <p:oleObj r:id="rId2" imgW="51206400" imgH="11404600" progId="Equation.3">
                  <p:embed/>
                </p:oleObj>
              </mc:Choice>
              <mc:Fallback>
                <p:oleObj r:id="rId2" imgW="51206400" imgH="114046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8215" y="1244600"/>
                        <a:ext cx="3810001" cy="849086"/>
                      </a:xfrm>
                      <a:prstGeom prst="rect">
                        <a:avLst/>
                      </a:prstGeom>
                      <a:noFill/>
                    </p:spPr>
                  </p:pic>
                </p:oleObj>
              </mc:Fallback>
            </mc:AlternateContent>
          </a:graphicData>
        </a:graphic>
      </p:graphicFrame>
      <p:sp>
        <p:nvSpPr>
          <p:cNvPr id="6" name="TextBox 5">
            <a:extLst>
              <a:ext uri="{FF2B5EF4-FFF2-40B4-BE49-F238E27FC236}">
                <a16:creationId xmlns:a16="http://schemas.microsoft.com/office/drawing/2014/main" id="{CB4C9D1F-3A50-6882-EA98-4AC90C197EDA}"/>
              </a:ext>
            </a:extLst>
          </p:cNvPr>
          <p:cNvSpPr txBox="1"/>
          <p:nvPr/>
        </p:nvSpPr>
        <p:spPr>
          <a:xfrm>
            <a:off x="1451579" y="2271486"/>
            <a:ext cx="9603275" cy="1754326"/>
          </a:xfrm>
          <a:prstGeom prst="rect">
            <a:avLst/>
          </a:prstGeom>
          <a:noFill/>
        </p:spPr>
        <p:txBody>
          <a:bodyPr wrap="square" rtlCol="0">
            <a:spAutoFit/>
          </a:bodyPr>
          <a:lstStyle/>
          <a:p>
            <a:r>
              <a:rPr lang="en-VN" sz="2000" dirty="0">
                <a:latin typeface="Arial" panose="020B0604020202020204" pitchFamily="34" charset="0"/>
                <a:cs typeface="Arial" panose="020B0604020202020204" pitchFamily="34" charset="0"/>
              </a:rPr>
              <a:t>Phương trình đặc trưng của hệ thống:</a:t>
            </a:r>
          </a:p>
          <a:p>
            <a:pPr algn="ctr"/>
            <a:r>
              <a:rPr lang="en-US" sz="2400" i="1" dirty="0">
                <a:effectLst/>
                <a:latin typeface="Times New Roman" panose="02020603050405020304" pitchFamily="18" charset="0"/>
                <a:ea typeface="Times New Roman" panose="02020603050405020304" pitchFamily="18" charset="0"/>
              </a:rPr>
              <a:t>q</a:t>
            </a:r>
            <a:r>
              <a:rPr lang="en-US" sz="2400" dirty="0">
                <a:effectLst/>
                <a:latin typeface="Times New Roman" panose="02020603050405020304" pitchFamily="18" charset="0"/>
                <a:ea typeface="Times New Roman" panose="02020603050405020304" pitchFamily="18" charset="0"/>
              </a:rPr>
              <a:t>(</a:t>
            </a:r>
            <a:r>
              <a:rPr lang="en-US" sz="2400" i="1" dirty="0">
                <a:effectLst/>
                <a:latin typeface="Times New Roman" panose="02020603050405020304" pitchFamily="18" charset="0"/>
                <a:ea typeface="Times New Roman" panose="02020603050405020304" pitchFamily="18" charset="0"/>
              </a:rPr>
              <a:t>s</a:t>
            </a:r>
            <a:r>
              <a:rPr lang="en-US" sz="2400" dirty="0">
                <a:effectLst/>
                <a:latin typeface="Times New Roman" panose="02020603050405020304" pitchFamily="18" charset="0"/>
                <a:ea typeface="Times New Roman" panose="02020603050405020304" pitchFamily="18" charset="0"/>
              </a:rPr>
              <a:t>) = det(</a:t>
            </a:r>
            <a:r>
              <a:rPr lang="en-US" sz="2400" i="1" dirty="0" err="1">
                <a:effectLst/>
                <a:latin typeface="Times New Roman" panose="02020603050405020304" pitchFamily="18" charset="0"/>
                <a:ea typeface="Times New Roman" panose="02020603050405020304" pitchFamily="18" charset="0"/>
              </a:rPr>
              <a:t>s</a:t>
            </a:r>
            <a:r>
              <a:rPr lang="en-US" sz="2400" b="1" dirty="0" err="1">
                <a:effectLst/>
                <a:latin typeface="Times New Roman" panose="02020603050405020304" pitchFamily="18" charset="0"/>
                <a:ea typeface="Times New Roman" panose="02020603050405020304" pitchFamily="18" charset="0"/>
              </a:rPr>
              <a:t>I</a:t>
            </a:r>
            <a:r>
              <a:rPr lang="en-US" sz="24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sym typeface="Symbol" pitchFamily="2" charset="2"/>
              </a:rPr>
              <a:t></a:t>
            </a:r>
            <a:r>
              <a:rPr lang="en-US" sz="240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A</a:t>
            </a:r>
            <a:r>
              <a:rPr lang="en-US" sz="2400" dirty="0">
                <a:effectLst/>
                <a:latin typeface="Times New Roman" panose="02020603050405020304" pitchFamily="18" charset="0"/>
                <a:ea typeface="Times New Roman" panose="02020603050405020304" pitchFamily="18" charset="0"/>
              </a:rPr>
              <a:t>) = 0</a:t>
            </a:r>
          </a:p>
          <a:p>
            <a:pPr algn="just"/>
            <a:r>
              <a:rPr lang="en-US" sz="2400" dirty="0">
                <a:latin typeface="Times New Roman" panose="02020603050405020304" pitchFamily="18" charset="0"/>
              </a:rPr>
              <a:t>➔ </a:t>
            </a:r>
            <a:r>
              <a:rPr lang="en-US" sz="2000" dirty="0" err="1">
                <a:latin typeface="Arial" panose="020B0604020202020204" pitchFamily="34" charset="0"/>
                <a:cs typeface="Arial" panose="020B0604020202020204" pitchFamily="34" charset="0"/>
              </a:rPr>
              <a:t>Dùng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kiện</a:t>
            </a:r>
            <a:r>
              <a:rPr lang="en-US" sz="2000" dirty="0">
                <a:latin typeface="Arial" panose="020B0604020202020204" pitchFamily="34" charset="0"/>
                <a:cs typeface="Arial" panose="020B0604020202020204" pitchFamily="34" charset="0"/>
              </a:rPr>
              <a:t> RH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xem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cực</a:t>
            </a:r>
            <a:r>
              <a:rPr lang="en-US" sz="2000" dirty="0">
                <a:latin typeface="Arial" panose="020B0604020202020204" pitchFamily="34" charset="0"/>
                <a:cs typeface="Arial" panose="020B0604020202020204" pitchFamily="34" charset="0"/>
              </a:rPr>
              <a:t> </a:t>
            </a:r>
            <a:r>
              <a:rPr lang="en-VN" sz="2000" dirty="0">
                <a:latin typeface="Arial" panose="020B0604020202020204" pitchFamily="34" charset="0"/>
                <a:cs typeface="Arial" panose="020B0604020202020204" pitchFamily="34" charset="0"/>
              </a:rPr>
              <a:t>trên mặt phẳng s. Các nghiệm của phương trình này chính là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riêng</a:t>
            </a:r>
            <a:r>
              <a:rPr lang="en-US" sz="2000" dirty="0">
                <a:latin typeface="Arial" panose="020B0604020202020204" pitchFamily="34" charset="0"/>
                <a:cs typeface="Arial" panose="020B0604020202020204" pitchFamily="34" charset="0"/>
              </a:rPr>
              <a:t> (eigenvalues)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ma </a:t>
            </a:r>
            <a:r>
              <a:rPr lang="en-US" sz="2000" dirty="0" err="1">
                <a:latin typeface="Arial" panose="020B0604020202020204" pitchFamily="34" charset="0"/>
                <a:cs typeface="Arial" panose="020B0604020202020204" pitchFamily="34" charset="0"/>
              </a:rPr>
              <a:t>trận</a:t>
            </a:r>
            <a:r>
              <a:rPr lang="en-US" sz="2000" dirty="0">
                <a:latin typeface="Arial" panose="020B0604020202020204" pitchFamily="34" charset="0"/>
                <a:cs typeface="Arial" panose="020B0604020202020204" pitchFamily="34" charset="0"/>
              </a:rPr>
              <a:t> A.</a:t>
            </a:r>
          </a:p>
        </p:txBody>
      </p:sp>
    </p:spTree>
    <p:extLst>
      <p:ext uri="{BB962C8B-B14F-4D97-AF65-F5344CB8AC3E}">
        <p14:creationId xmlns:p14="http://schemas.microsoft.com/office/powerpoint/2010/main" val="3836910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5965D-FF7E-5891-26F5-33B128460728}"/>
              </a:ext>
            </a:extLst>
          </p:cNvPr>
          <p:cNvSpPr>
            <a:spLocks noGrp="1"/>
          </p:cNvSpPr>
          <p:nvPr>
            <p:ph type="title"/>
          </p:nvPr>
        </p:nvSpPr>
        <p:spPr/>
        <p:txBody>
          <a:bodyPr>
            <a:normAutofit fontScale="90000"/>
          </a:bodyPr>
          <a:lstStyle/>
          <a:p>
            <a:r>
              <a:rPr lang="en-VN" dirty="0"/>
              <a:t>TÍNH ỔN ĐỊNH TRONG KHÔNG GIAN TRẠNG THÁI</a:t>
            </a:r>
          </a:p>
        </p:txBody>
      </p:sp>
      <p:pic>
        <p:nvPicPr>
          <p:cNvPr id="5" name="Content Placeholder 4">
            <a:extLst>
              <a:ext uri="{FF2B5EF4-FFF2-40B4-BE49-F238E27FC236}">
                <a16:creationId xmlns:a16="http://schemas.microsoft.com/office/drawing/2014/main" id="{650C205A-B336-7999-27CA-95E96FA5DED4}"/>
              </a:ext>
            </a:extLst>
          </p:cNvPr>
          <p:cNvPicPr>
            <a:picLocks noGrp="1" noChangeAspect="1"/>
          </p:cNvPicPr>
          <p:nvPr>
            <p:ph idx="1"/>
          </p:nvPr>
        </p:nvPicPr>
        <p:blipFill>
          <a:blip r:embed="rId2"/>
          <a:stretch>
            <a:fillRect/>
          </a:stretch>
        </p:blipFill>
        <p:spPr>
          <a:xfrm>
            <a:off x="4343400" y="1358324"/>
            <a:ext cx="3973566" cy="1796832"/>
          </a:xfrm>
        </p:spPr>
      </p:pic>
      <p:sp>
        <p:nvSpPr>
          <p:cNvPr id="6" name="TextBox 5">
            <a:extLst>
              <a:ext uri="{FF2B5EF4-FFF2-40B4-BE49-F238E27FC236}">
                <a16:creationId xmlns:a16="http://schemas.microsoft.com/office/drawing/2014/main" id="{1C16A7FB-BAD2-8E4E-F324-CF7EB2136D32}"/>
              </a:ext>
            </a:extLst>
          </p:cNvPr>
          <p:cNvSpPr txBox="1"/>
          <p:nvPr/>
        </p:nvSpPr>
        <p:spPr>
          <a:xfrm>
            <a:off x="2260600" y="3276600"/>
            <a:ext cx="7239000" cy="646331"/>
          </a:xfrm>
          <a:prstGeom prst="rect">
            <a:avLst/>
          </a:prstGeom>
          <a:noFill/>
        </p:spPr>
        <p:txBody>
          <a:bodyPr wrap="square" rtlCol="0">
            <a:spAutoFit/>
          </a:bodyPr>
          <a:lstStyle/>
          <a:p>
            <a:pPr algn="ctr"/>
            <a:r>
              <a:rPr lang="en-VN" dirty="0">
                <a:latin typeface="Arial" panose="020B0604020202020204" pitchFamily="34" charset="0"/>
                <a:cs typeface="Arial" panose="020B0604020202020204" pitchFamily="34" charset="0"/>
              </a:rPr>
              <a:t>Xác định tính ổn định của hệ thống có mô hình trong không gian trạng thái như sau.</a:t>
            </a:r>
          </a:p>
        </p:txBody>
      </p:sp>
      <p:pic>
        <p:nvPicPr>
          <p:cNvPr id="8" name="Picture 7">
            <a:extLst>
              <a:ext uri="{FF2B5EF4-FFF2-40B4-BE49-F238E27FC236}">
                <a16:creationId xmlns:a16="http://schemas.microsoft.com/office/drawing/2014/main" id="{B05F7B29-5167-9275-7CBE-59D11E9AFAC5}"/>
              </a:ext>
            </a:extLst>
          </p:cNvPr>
          <p:cNvPicPr>
            <a:picLocks noChangeAspect="1"/>
          </p:cNvPicPr>
          <p:nvPr/>
        </p:nvPicPr>
        <p:blipFill>
          <a:blip r:embed="rId3"/>
          <a:stretch>
            <a:fillRect/>
          </a:stretch>
        </p:blipFill>
        <p:spPr>
          <a:xfrm>
            <a:off x="304800" y="4044375"/>
            <a:ext cx="6845300" cy="1111786"/>
          </a:xfrm>
          <a:prstGeom prst="rect">
            <a:avLst/>
          </a:prstGeom>
        </p:spPr>
      </p:pic>
      <p:pic>
        <p:nvPicPr>
          <p:cNvPr id="10" name="Picture 9">
            <a:extLst>
              <a:ext uri="{FF2B5EF4-FFF2-40B4-BE49-F238E27FC236}">
                <a16:creationId xmlns:a16="http://schemas.microsoft.com/office/drawing/2014/main" id="{BB600EE8-CF45-88C9-70A5-81B8D9961505}"/>
              </a:ext>
            </a:extLst>
          </p:cNvPr>
          <p:cNvPicPr>
            <a:picLocks noChangeAspect="1"/>
          </p:cNvPicPr>
          <p:nvPr/>
        </p:nvPicPr>
        <p:blipFill>
          <a:blip r:embed="rId4"/>
          <a:stretch>
            <a:fillRect/>
          </a:stretch>
        </p:blipFill>
        <p:spPr>
          <a:xfrm>
            <a:off x="1562100" y="5403735"/>
            <a:ext cx="4203700" cy="644115"/>
          </a:xfrm>
          <a:prstGeom prst="rect">
            <a:avLst/>
          </a:prstGeom>
        </p:spPr>
      </p:pic>
      <p:pic>
        <p:nvPicPr>
          <p:cNvPr id="12" name="Picture 11">
            <a:extLst>
              <a:ext uri="{FF2B5EF4-FFF2-40B4-BE49-F238E27FC236}">
                <a16:creationId xmlns:a16="http://schemas.microsoft.com/office/drawing/2014/main" id="{D4073ECA-FFD2-D088-F78A-30E2A982719E}"/>
              </a:ext>
            </a:extLst>
          </p:cNvPr>
          <p:cNvPicPr>
            <a:picLocks noChangeAspect="1"/>
          </p:cNvPicPr>
          <p:nvPr/>
        </p:nvPicPr>
        <p:blipFill>
          <a:blip r:embed="rId5"/>
          <a:stretch>
            <a:fillRect/>
          </a:stretch>
        </p:blipFill>
        <p:spPr>
          <a:xfrm>
            <a:off x="7386691" y="4464183"/>
            <a:ext cx="4805309" cy="1832072"/>
          </a:xfrm>
          <a:prstGeom prst="rect">
            <a:avLst/>
          </a:prstGeom>
        </p:spPr>
      </p:pic>
    </p:spTree>
    <p:extLst>
      <p:ext uri="{BB962C8B-B14F-4D97-AF65-F5344CB8AC3E}">
        <p14:creationId xmlns:p14="http://schemas.microsoft.com/office/powerpoint/2010/main" val="115142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CDD-2A2E-FA31-41D9-ED2A3A1DB6CC}"/>
              </a:ext>
            </a:extLst>
          </p:cNvPr>
          <p:cNvSpPr>
            <a:spLocks noGrp="1"/>
          </p:cNvSpPr>
          <p:nvPr>
            <p:ph type="title"/>
          </p:nvPr>
        </p:nvSpPr>
        <p:spPr/>
        <p:txBody>
          <a:bodyPr/>
          <a:lstStyle/>
          <a:p>
            <a:r>
              <a:rPr lang="en-VN" dirty="0"/>
              <a:t>Bài tập</a:t>
            </a:r>
          </a:p>
        </p:txBody>
      </p:sp>
      <p:sp>
        <p:nvSpPr>
          <p:cNvPr id="3" name="Content Placeholder 2">
            <a:extLst>
              <a:ext uri="{FF2B5EF4-FFF2-40B4-BE49-F238E27FC236}">
                <a16:creationId xmlns:a16="http://schemas.microsoft.com/office/drawing/2014/main" id="{B31DDEA9-A6D7-2CD1-E5C2-03549B82E98E}"/>
              </a:ext>
            </a:extLst>
          </p:cNvPr>
          <p:cNvSpPr>
            <a:spLocks noGrp="1"/>
          </p:cNvSpPr>
          <p:nvPr>
            <p:ph idx="1"/>
          </p:nvPr>
        </p:nvSpPr>
        <p:spPr/>
        <p:txBody>
          <a:bodyPr/>
          <a:lstStyle/>
          <a:p>
            <a:r>
              <a:rPr lang="en-VN" dirty="0"/>
              <a:t>Bài 4, 6, 33, 35 </a:t>
            </a:r>
          </a:p>
        </p:txBody>
      </p:sp>
    </p:spTree>
    <p:extLst>
      <p:ext uri="{BB962C8B-B14F-4D97-AF65-F5344CB8AC3E}">
        <p14:creationId xmlns:p14="http://schemas.microsoft.com/office/powerpoint/2010/main" val="1753571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{DA89C2F4-FBD1-684E-A465-9AFB9D00BEE5}tf10001119</Template>
  <TotalTime>3203</TotalTime>
  <Words>1121</Words>
  <Application>Microsoft Macintosh PowerPoint</Application>
  <PresentationFormat>Widescreen</PresentationFormat>
  <Paragraphs>122</Paragraphs>
  <Slides>22</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4</vt:i4>
      </vt:variant>
      <vt:variant>
        <vt:lpstr>Slide Titles</vt:lpstr>
      </vt:variant>
      <vt:variant>
        <vt:i4>22</vt:i4>
      </vt:variant>
    </vt:vector>
  </HeadingPairs>
  <TitlesOfParts>
    <vt:vector size="34" baseType="lpstr">
      <vt:lpstr>Arial</vt:lpstr>
      <vt:lpstr>Calibri</vt:lpstr>
      <vt:lpstr>Cambria Math</vt:lpstr>
      <vt:lpstr>Gill Sans MT</vt:lpstr>
      <vt:lpstr>Tahoma</vt:lpstr>
      <vt:lpstr>Times New Roman</vt:lpstr>
      <vt:lpstr>Wingdings</vt:lpstr>
      <vt:lpstr>Gallery</vt:lpstr>
      <vt:lpstr>Equation</vt:lpstr>
      <vt:lpstr>Equation.DSMT4</vt:lpstr>
      <vt:lpstr>Equation.3</vt:lpstr>
      <vt:lpstr>Picture</vt:lpstr>
      <vt:lpstr>CHƯƠNG 6:TÍNH ỔN ĐỊNH CỦA HỆ THỐNG</vt:lpstr>
      <vt:lpstr>GIỚI THIỆU</vt:lpstr>
      <vt:lpstr>GIỚI THIỆU</vt:lpstr>
      <vt:lpstr>GIỚI THIỆU</vt:lpstr>
      <vt:lpstr>GIỚI THIỆU</vt:lpstr>
      <vt:lpstr>GIỚI THIỆU</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ĐIỀU KIỆN ỔN ĐỊNH Routh – Hurwitz (RH)</vt:lpstr>
      <vt:lpstr>TÍNH ỔN ĐỊNH TRONG KHÔNG GIAN TRẠNG THÁI</vt:lpstr>
      <vt:lpstr>TÍNH ỔN ĐỊNH TRONG KHÔNG GIAN TRẠNG THÁI</vt:lpstr>
      <vt:lpstr>TÍNH ỔN ĐỊNH TRONG KHÔNG GIAN TRẠNG THÁI</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TRONG MIỀN TẦN SỐ</dc:title>
  <dc:creator>Nguyễn Thu Hằng</dc:creator>
  <cp:lastModifiedBy>Nguyễn Thu Hằng</cp:lastModifiedBy>
  <cp:revision>25</cp:revision>
  <dcterms:created xsi:type="dcterms:W3CDTF">2023-08-28T11:08:29Z</dcterms:created>
  <dcterms:modified xsi:type="dcterms:W3CDTF">2023-10-10T02:22:32Z</dcterms:modified>
</cp:coreProperties>
</file>